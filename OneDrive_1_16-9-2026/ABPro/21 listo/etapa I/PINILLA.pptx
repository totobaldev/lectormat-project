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5"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9" autoAdjust="0"/>
    <p:restoredTop sz="94660"/>
  </p:normalViewPr>
  <p:slideViewPr>
    <p:cSldViewPr snapToGrid="0">
      <p:cViewPr varScale="1">
        <p:scale>
          <a:sx n="83" d="100"/>
          <a:sy n="83" d="100"/>
        </p:scale>
        <p:origin x="224"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28T12:43:05.108" idx="1">
    <p:pos x="2749" y="656"/>
    <p:text>muy bien planteados los temas</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1-28T12:43:19.928" idx="2">
    <p:pos x="10" y="10"/>
    <p:text>mejorar redacción </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1-28T12:43:34.179" idx="3">
    <p:pos x="10" y="10"/>
    <p:text>las preguntas son de investigación, es decir, una guía para resolver el problema y cumplir el objetivo, se responde "con el proceso" no con respuestas escritas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1-28T12:44:56.861" idx="4">
    <p:pos x="10" y="10"/>
    <p:text>éste cronograma se puede mejorar</p:text>
    <p:extLst>
      <p:ext uri="{C676402C-5697-4E1C-873F-D02D1690AC5C}">
        <p15:threadingInfo xmlns:p15="http://schemas.microsoft.com/office/powerpoint/2012/main" timeZoneBias="180"/>
      </p:ext>
    </p:extLst>
  </p:cm>
  <p:cm authorId="1" dt="2023-11-28T12:45:08.504" idx="5">
    <p:pos x="146" y="146"/>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F239A9A-B4B0-4B32-B8CD-2E25E95134C4}" type="datetimeFigureOut">
              <a:rPr lang="en-US" dirty="0"/>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91E21DC-8981-44E6-BC8C-2BA8F673FFBB}" type="datetimeFigureOut">
              <a:rPr lang="en-US" dirty="0"/>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EB9C5D3-0140-4E75-8D7F-C0623D06DFD7}" type="datetimeFigureOut">
              <a:rPr lang="en-US" dirty="0"/>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A5666F9-5B40-48E0-8DFD-99EF944CDD22}"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0322" y="3030008"/>
            <a:ext cx="4698355"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594123" y="3030008"/>
            <a:ext cx="4700059" cy="29061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A698D6B-2C72-4E21-9893-A649C6E2A47D}" type="datetimeFigureOut">
              <a:rPr lang="en-US" dirty="0"/>
              <a:t>11/28/23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86811C9-A66C-49F0-970E-F7B68D9109A0}" type="datetimeFigureOut">
              <a:rPr lang="en-US" dirty="0"/>
              <a:t>11/28/23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C01AE78-96A2-4A23-B183-3B6DB4374FE7}" type="datetimeFigureOut">
              <a:rPr lang="en-US" dirty="0"/>
              <a:t>11/28/23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3AE0757-B101-4811-9189-10EB2F458E2D}"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EBDC078-589F-40E3-816C-EE21D62B5BBA}"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25518A9-B687-4302-9395-2322403C6656}"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A99A684-0CB7-41E9-A4DF-5D1C2CA5BF6F}"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FEDD7C35-9E19-4518-A4B2-3B09CD8CC756}"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26196DA8-8897-4DDF-BFB6-5D83863C837A}" type="datetimeFigureOut">
              <a:rPr lang="en-US" dirty="0"/>
              <a:t>11/28/23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DCBBA708-C5F0-412D-90E2-1919F0D196AE}" type="datetimeFigureOut">
              <a:rPr lang="en-US" dirty="0"/>
              <a:t>11/28/23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A9C8F8FA-EF43-4642-9368-3F4E33039BD9}" type="datetimeFigureOut">
              <a:rPr lang="en-US" dirty="0"/>
              <a:t>11/28/23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61E721-B01C-4D5D-A3CA-2E5518383F10}" type="datetimeFigureOut">
              <a:rPr lang="en-US" dirty="0"/>
              <a:t>11/28/23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513FEF9-69D0-4F8C-A336-59491FBEDC47}" type="datetimeFigureOut">
              <a:rPr lang="en-US" dirty="0"/>
              <a:t>11/28/23</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7004436-CA73-4D53-89B4-2A5C7347BF2F}" type="datetimeFigureOut">
              <a:rPr lang="en-US" dirty="0"/>
              <a:t>11/28/23</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omments" Target="../comments/comment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7E8340-8055-7767-E0BB-DB83D627F24D}"/>
              </a:ext>
            </a:extLst>
          </p:cNvPr>
          <p:cNvSpPr>
            <a:spLocks noGrp="1"/>
          </p:cNvSpPr>
          <p:nvPr>
            <p:ph type="ctrTitle"/>
          </p:nvPr>
        </p:nvSpPr>
        <p:spPr/>
        <p:txBody>
          <a:bodyPr/>
          <a:lstStyle/>
          <a:p>
            <a:r>
              <a:rPr lang="es-MX" dirty="0"/>
              <a:t>Batería auxiliar</a:t>
            </a:r>
            <a:endParaRPr lang="es-CL" dirty="0"/>
          </a:p>
        </p:txBody>
      </p:sp>
      <p:sp>
        <p:nvSpPr>
          <p:cNvPr id="3" name="Subtítulo 2">
            <a:extLst>
              <a:ext uri="{FF2B5EF4-FFF2-40B4-BE49-F238E27FC236}">
                <a16:creationId xmlns:a16="http://schemas.microsoft.com/office/drawing/2014/main" id="{80E0D83F-A3A7-9441-980D-E92779C59037}"/>
              </a:ext>
            </a:extLst>
          </p:cNvPr>
          <p:cNvSpPr>
            <a:spLocks noGrp="1"/>
          </p:cNvSpPr>
          <p:nvPr>
            <p:ph type="subTitle" idx="1"/>
          </p:nvPr>
        </p:nvSpPr>
        <p:spPr>
          <a:xfrm>
            <a:off x="3913852" y="4460300"/>
            <a:ext cx="8144134" cy="1977732"/>
          </a:xfrm>
        </p:spPr>
        <p:txBody>
          <a:bodyPr>
            <a:normAutofit/>
          </a:bodyPr>
          <a:lstStyle/>
          <a:p>
            <a:pPr algn="ctr"/>
            <a:r>
              <a:rPr lang="es-MX" dirty="0"/>
              <a:t>Integrantes: Cristopher Pinilla, Ángelo Zurita, Marcos </a:t>
            </a:r>
            <a:r>
              <a:rPr lang="es-MX" dirty="0" err="1"/>
              <a:t>Paineval</a:t>
            </a:r>
            <a:r>
              <a:rPr lang="es-MX" dirty="0"/>
              <a:t>.</a:t>
            </a:r>
          </a:p>
          <a:p>
            <a:pPr algn="ctr"/>
            <a:r>
              <a:rPr lang="es-MX" dirty="0"/>
              <a:t>Docente: Lissette Salamanca. </a:t>
            </a:r>
          </a:p>
          <a:p>
            <a:pPr algn="ctr"/>
            <a:r>
              <a:rPr lang="es-MX" dirty="0"/>
              <a:t>Asignatura: Funciones y Geometría. </a:t>
            </a:r>
          </a:p>
          <a:p>
            <a:pPr algn="ctr"/>
            <a:r>
              <a:rPr lang="es-MX" dirty="0"/>
              <a:t>Carrera: Mecánica y Electromovilidad Automotriz.</a:t>
            </a:r>
          </a:p>
          <a:p>
            <a:pPr algn="ctr"/>
            <a:r>
              <a:rPr lang="es-MX" dirty="0"/>
              <a:t>Sección: 21 </a:t>
            </a:r>
            <a:endParaRPr lang="es-CL" dirty="0"/>
          </a:p>
        </p:txBody>
      </p:sp>
    </p:spTree>
    <p:extLst>
      <p:ext uri="{BB962C8B-B14F-4D97-AF65-F5344CB8AC3E}">
        <p14:creationId xmlns:p14="http://schemas.microsoft.com/office/powerpoint/2010/main" val="100782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929461-5DC2-01B2-E41D-28FF84673386}"/>
              </a:ext>
            </a:extLst>
          </p:cNvPr>
          <p:cNvSpPr>
            <a:spLocks noGrp="1"/>
          </p:cNvSpPr>
          <p:nvPr>
            <p:ph type="title"/>
          </p:nvPr>
        </p:nvSpPr>
        <p:spPr>
          <a:xfrm>
            <a:off x="680321" y="713471"/>
            <a:ext cx="9613861" cy="1080938"/>
          </a:xfrm>
        </p:spPr>
        <p:txBody>
          <a:bodyPr/>
          <a:lstStyle/>
          <a:p>
            <a:r>
              <a:rPr lang="es-MX" dirty="0"/>
              <a:t>Proyecto</a:t>
            </a:r>
            <a:endParaRPr lang="es-CL" dirty="0"/>
          </a:p>
        </p:txBody>
      </p:sp>
      <p:sp>
        <p:nvSpPr>
          <p:cNvPr id="3" name="Marcador de contenido 2">
            <a:extLst>
              <a:ext uri="{FF2B5EF4-FFF2-40B4-BE49-F238E27FC236}">
                <a16:creationId xmlns:a16="http://schemas.microsoft.com/office/drawing/2014/main" id="{E0407945-D464-BCFE-7661-549B8520DBA5}"/>
              </a:ext>
            </a:extLst>
          </p:cNvPr>
          <p:cNvSpPr>
            <a:spLocks noGrp="1"/>
          </p:cNvSpPr>
          <p:nvPr>
            <p:ph idx="1"/>
          </p:nvPr>
        </p:nvSpPr>
        <p:spPr/>
        <p:txBody>
          <a:bodyPr/>
          <a:lstStyle/>
          <a:p>
            <a:r>
              <a:rPr lang="es-MX" dirty="0"/>
              <a:t>Nuestra función principal, es dar solución a la puesta en marcha de los vehículos convencionales, cuando su batería de servicio esté descargada, por múltiples razones, sean la presentación de la falla de la misma, uso excesivo de los accesorios de vehículo o simplemente un descuido. </a:t>
            </a:r>
          </a:p>
          <a:p>
            <a:r>
              <a:rPr lang="es-MX" dirty="0"/>
              <a:t>Se busca darle solución mediante una batería adicional que se encuentra fuera de línea mientras este el vehículo en funcionamiento o apagado, previniendo de una descarga de la batería auxiliar, manteniendo esta siempre cargada y disponible para la puesta en marcha del vehículo. </a:t>
            </a:r>
            <a:endParaRPr lang="es-CL" dirty="0"/>
          </a:p>
        </p:txBody>
      </p:sp>
    </p:spTree>
    <p:extLst>
      <p:ext uri="{BB962C8B-B14F-4D97-AF65-F5344CB8AC3E}">
        <p14:creationId xmlns:p14="http://schemas.microsoft.com/office/powerpoint/2010/main" val="284862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77A0B1-8BC3-723C-C949-CE1B912C82BE}"/>
              </a:ext>
            </a:extLst>
          </p:cNvPr>
          <p:cNvSpPr>
            <a:spLocks noGrp="1"/>
          </p:cNvSpPr>
          <p:nvPr>
            <p:ph type="title"/>
          </p:nvPr>
        </p:nvSpPr>
        <p:spPr/>
        <p:txBody>
          <a:bodyPr/>
          <a:lstStyle/>
          <a:p>
            <a:r>
              <a:rPr lang="es-MX" dirty="0"/>
              <a:t>Temas a investigar</a:t>
            </a:r>
            <a:endParaRPr lang="es-CL" dirty="0"/>
          </a:p>
        </p:txBody>
      </p:sp>
      <p:sp>
        <p:nvSpPr>
          <p:cNvPr id="3" name="Marcador de contenido 2">
            <a:extLst>
              <a:ext uri="{FF2B5EF4-FFF2-40B4-BE49-F238E27FC236}">
                <a16:creationId xmlns:a16="http://schemas.microsoft.com/office/drawing/2014/main" id="{27CB7F64-ABB2-AD12-9240-0BABE6EC691D}"/>
              </a:ext>
            </a:extLst>
          </p:cNvPr>
          <p:cNvSpPr>
            <a:spLocks noGrp="1"/>
          </p:cNvSpPr>
          <p:nvPr>
            <p:ph idx="1"/>
          </p:nvPr>
        </p:nvSpPr>
        <p:spPr/>
        <p:txBody>
          <a:bodyPr>
            <a:normAutofit lnSpcReduction="10000"/>
          </a:bodyPr>
          <a:lstStyle/>
          <a:p>
            <a:r>
              <a:rPr lang="es-MX" dirty="0"/>
              <a:t>Nuestra primera problemática será solucionar, como cargaremos dos baterías y deberemos calcular la energía que debe entregar el alternador, en base al vehículo a abordar, dado que distintos vehículos presentan sistemas distintos de partida y de capacidades variables según modelo.(ley de Ohm)</a:t>
            </a:r>
          </a:p>
          <a:p>
            <a:r>
              <a:rPr lang="es-MX" dirty="0"/>
              <a:t> la segunda variable será calcular las capacidades del circuito de conexión y desconexión del circuito auxiliar, puesto que este lo diseñaremos de cero y debemos calcular la capacidad de los distintos componentes incluso de la capacidad de los cables de la conexión principal además de los sistemas de protección del circuito.</a:t>
            </a:r>
            <a:endParaRPr lang="es-CL" dirty="0"/>
          </a:p>
        </p:txBody>
      </p:sp>
    </p:spTree>
    <p:extLst>
      <p:ext uri="{BB962C8B-B14F-4D97-AF65-F5344CB8AC3E}">
        <p14:creationId xmlns:p14="http://schemas.microsoft.com/office/powerpoint/2010/main" val="3801960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61AFF7-42F4-1231-7472-29D0D58A54FB}"/>
              </a:ext>
            </a:extLst>
          </p:cNvPr>
          <p:cNvSpPr>
            <a:spLocks noGrp="1"/>
          </p:cNvSpPr>
          <p:nvPr>
            <p:ph type="title"/>
          </p:nvPr>
        </p:nvSpPr>
        <p:spPr/>
        <p:txBody>
          <a:bodyPr/>
          <a:lstStyle/>
          <a:p>
            <a:r>
              <a:rPr lang="es-MX" dirty="0"/>
              <a:t>Objetivo</a:t>
            </a:r>
            <a:endParaRPr lang="es-CL" dirty="0"/>
          </a:p>
        </p:txBody>
      </p:sp>
      <p:sp>
        <p:nvSpPr>
          <p:cNvPr id="3" name="Marcador de contenido 2">
            <a:extLst>
              <a:ext uri="{FF2B5EF4-FFF2-40B4-BE49-F238E27FC236}">
                <a16:creationId xmlns:a16="http://schemas.microsoft.com/office/drawing/2014/main" id="{95702CCB-D333-4B98-C6B0-2C5AC20FEA41}"/>
              </a:ext>
            </a:extLst>
          </p:cNvPr>
          <p:cNvSpPr>
            <a:spLocks noGrp="1"/>
          </p:cNvSpPr>
          <p:nvPr>
            <p:ph idx="1"/>
          </p:nvPr>
        </p:nvSpPr>
        <p:spPr/>
        <p:txBody>
          <a:bodyPr/>
          <a:lstStyle/>
          <a:p>
            <a:r>
              <a:rPr lang="es-MX" dirty="0"/>
              <a:t>El objetivo principal es que el vehículo no presente problemas al momento de la puesta en marcha del motor, dotando al vehículo de un sistema auxiliar de suministro eléctrico, suficiente para la puesta en marcha y que esta línea sea un circuito aparte que no se descargue junto con el circuito de fábrica. A fin de cuentas, que este circuito nos permita salir de algunos percances sin la necesidad de requerir ayuda.</a:t>
            </a:r>
            <a:endParaRPr lang="es-CL" dirty="0"/>
          </a:p>
        </p:txBody>
      </p:sp>
    </p:spTree>
    <p:extLst>
      <p:ext uri="{BB962C8B-B14F-4D97-AF65-F5344CB8AC3E}">
        <p14:creationId xmlns:p14="http://schemas.microsoft.com/office/powerpoint/2010/main" val="668284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7FBAF1-5A94-E6E7-2DD3-58421FB9D03D}"/>
              </a:ext>
            </a:extLst>
          </p:cNvPr>
          <p:cNvSpPr>
            <a:spLocks noGrp="1"/>
          </p:cNvSpPr>
          <p:nvPr>
            <p:ph type="title"/>
          </p:nvPr>
        </p:nvSpPr>
        <p:spPr/>
        <p:txBody>
          <a:bodyPr/>
          <a:lstStyle/>
          <a:p>
            <a:r>
              <a:rPr lang="es-MX" dirty="0"/>
              <a:t>Preguntas</a:t>
            </a:r>
            <a:endParaRPr lang="es-CL" dirty="0"/>
          </a:p>
        </p:txBody>
      </p:sp>
      <p:sp>
        <p:nvSpPr>
          <p:cNvPr id="3" name="Marcador de contenido 2">
            <a:extLst>
              <a:ext uri="{FF2B5EF4-FFF2-40B4-BE49-F238E27FC236}">
                <a16:creationId xmlns:a16="http://schemas.microsoft.com/office/drawing/2014/main" id="{13C99C34-7D1B-CC58-267A-5B6FB29B8EF1}"/>
              </a:ext>
            </a:extLst>
          </p:cNvPr>
          <p:cNvSpPr>
            <a:spLocks noGrp="1"/>
          </p:cNvSpPr>
          <p:nvPr>
            <p:ph idx="1"/>
          </p:nvPr>
        </p:nvSpPr>
        <p:spPr/>
        <p:txBody>
          <a:bodyPr>
            <a:normAutofit fontScale="62500" lnSpcReduction="20000"/>
          </a:bodyPr>
          <a:lstStyle/>
          <a:p>
            <a:r>
              <a:rPr lang="es-MX" dirty="0"/>
              <a:t>¿En qué momento es necesario ocupar la segunda batería?</a:t>
            </a:r>
          </a:p>
          <a:p>
            <a:pPr marL="0" indent="0">
              <a:buNone/>
            </a:pPr>
            <a:r>
              <a:rPr lang="es-MX" dirty="0"/>
              <a:t>Al momento de la puesta en marcha del vehículo y que este carezca de la energía suficiente para dicha acción.</a:t>
            </a:r>
          </a:p>
          <a:p>
            <a:r>
              <a:rPr lang="es-MX" dirty="0"/>
              <a:t>¿Cuál es la mejora en nuestro vehículo, al tener una carga extra?</a:t>
            </a:r>
          </a:p>
          <a:p>
            <a:pPr marL="0" indent="0">
              <a:buNone/>
            </a:pPr>
            <a:r>
              <a:rPr lang="es-MX" dirty="0"/>
              <a:t>Tendremos una conexión auxiliar de suministro de energía eléctrica, la cual permitirá hacer un intercambio de batería, no de manera física , si no, a través de un interruptor</a:t>
            </a:r>
          </a:p>
          <a:p>
            <a:r>
              <a:rPr lang="es-MX" dirty="0"/>
              <a:t>¿En qué momento puede fallar la batería de servicio?</a:t>
            </a:r>
          </a:p>
          <a:p>
            <a:pPr marL="0" indent="0">
              <a:buNone/>
            </a:pPr>
            <a:r>
              <a:rPr lang="es-MX" dirty="0"/>
              <a:t>Cuando utilicemos instrumentos del vehículo mientras este no se encuentre con el motor funcionamiento, ya que de esta manera no se está recuperando la carga ocupada, puede ser por un descuido de las luces o solo por ocupar la radio un tiempo prolongado, batería en mal estado, entre otras.</a:t>
            </a:r>
          </a:p>
          <a:p>
            <a:r>
              <a:rPr lang="es-MX" dirty="0"/>
              <a:t>¿Por qué puede fallar la batería de servicio?</a:t>
            </a:r>
          </a:p>
          <a:p>
            <a:pPr marL="0" indent="0">
              <a:buNone/>
            </a:pPr>
            <a:r>
              <a:rPr lang="es-MX" dirty="0"/>
              <a:t>Esta puede fallar por el uso prolongado de esta ya que esta se va degradando con el paso del tiempo y tiene un plazo de vida útil, además intervienen varios factores, como un déficit de carga del alternador o un uso prolongado de esta sin que esta se valla recuperando, entre otras. Cabe mencionar que hasta el no uso de esta puede ser perjudicial para su vida útil.</a:t>
            </a:r>
            <a:endParaRPr lang="es-CL" dirty="0"/>
          </a:p>
        </p:txBody>
      </p:sp>
    </p:spTree>
    <p:extLst>
      <p:ext uri="{BB962C8B-B14F-4D97-AF65-F5344CB8AC3E}">
        <p14:creationId xmlns:p14="http://schemas.microsoft.com/office/powerpoint/2010/main" val="163858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F0F9AA-08B7-D294-786A-8815643E7D71}"/>
              </a:ext>
            </a:extLst>
          </p:cNvPr>
          <p:cNvSpPr>
            <a:spLocks noGrp="1"/>
          </p:cNvSpPr>
          <p:nvPr>
            <p:ph type="title"/>
          </p:nvPr>
        </p:nvSpPr>
        <p:spPr/>
        <p:txBody>
          <a:bodyPr/>
          <a:lstStyle/>
          <a:p>
            <a:r>
              <a:rPr lang="es-MX" dirty="0"/>
              <a:t>Temas iniciales a abordar</a:t>
            </a:r>
            <a:endParaRPr lang="es-CL" dirty="0"/>
          </a:p>
        </p:txBody>
      </p:sp>
      <p:sp>
        <p:nvSpPr>
          <p:cNvPr id="3" name="Marcador de contenido 2">
            <a:extLst>
              <a:ext uri="{FF2B5EF4-FFF2-40B4-BE49-F238E27FC236}">
                <a16:creationId xmlns:a16="http://schemas.microsoft.com/office/drawing/2014/main" id="{499C81AB-8CA2-4E89-3C1E-921B5A6A0CF4}"/>
              </a:ext>
            </a:extLst>
          </p:cNvPr>
          <p:cNvSpPr>
            <a:spLocks noGrp="1"/>
          </p:cNvSpPr>
          <p:nvPr>
            <p:ph idx="1"/>
          </p:nvPr>
        </p:nvSpPr>
        <p:spPr/>
        <p:txBody>
          <a:bodyPr/>
          <a:lstStyle/>
          <a:p>
            <a:r>
              <a:rPr lang="es-MX" dirty="0"/>
              <a:t>Duración de la batería</a:t>
            </a:r>
          </a:p>
          <a:p>
            <a:r>
              <a:rPr lang="es-MX" dirty="0"/>
              <a:t>Capacidad de carga del sistema de recuperación (alternador)</a:t>
            </a:r>
          </a:p>
          <a:p>
            <a:r>
              <a:rPr lang="es-CL" dirty="0"/>
              <a:t>Tecnología a utilizar</a:t>
            </a:r>
          </a:p>
          <a:p>
            <a:r>
              <a:rPr lang="es-CL" dirty="0"/>
              <a:t>Capacidad de los componentes necesarios y su durabilidad</a:t>
            </a:r>
          </a:p>
          <a:p>
            <a:r>
              <a:rPr lang="es-CL" dirty="0"/>
              <a:t>La fiabilidad</a:t>
            </a:r>
          </a:p>
          <a:p>
            <a:r>
              <a:rPr lang="es-CL" dirty="0"/>
              <a:t>Impacto ambiental</a:t>
            </a:r>
          </a:p>
          <a:p>
            <a:r>
              <a:rPr lang="es-CL" dirty="0"/>
              <a:t>Cálculo de los componentes</a:t>
            </a:r>
          </a:p>
        </p:txBody>
      </p:sp>
    </p:spTree>
    <p:extLst>
      <p:ext uri="{BB962C8B-B14F-4D97-AF65-F5344CB8AC3E}">
        <p14:creationId xmlns:p14="http://schemas.microsoft.com/office/powerpoint/2010/main" val="2943070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3FFC1-6F91-9CAA-008B-7E8630CB956A}"/>
              </a:ext>
            </a:extLst>
          </p:cNvPr>
          <p:cNvSpPr>
            <a:spLocks noGrp="1"/>
          </p:cNvSpPr>
          <p:nvPr>
            <p:ph type="title"/>
          </p:nvPr>
        </p:nvSpPr>
        <p:spPr/>
        <p:txBody>
          <a:bodyPr/>
          <a:lstStyle/>
          <a:p>
            <a:r>
              <a:rPr lang="es-MX" dirty="0"/>
              <a:t>Cronograma </a:t>
            </a:r>
            <a:endParaRPr lang="es-CL" dirty="0"/>
          </a:p>
        </p:txBody>
      </p:sp>
      <p:graphicFrame>
        <p:nvGraphicFramePr>
          <p:cNvPr id="4" name="Marcador de contenido 3">
            <a:extLst>
              <a:ext uri="{FF2B5EF4-FFF2-40B4-BE49-F238E27FC236}">
                <a16:creationId xmlns:a16="http://schemas.microsoft.com/office/drawing/2014/main" id="{B6FCC4B4-48FE-CB83-1A0B-A3621498DC38}"/>
              </a:ext>
            </a:extLst>
          </p:cNvPr>
          <p:cNvGraphicFramePr>
            <a:graphicFrameLocks noGrp="1"/>
          </p:cNvGraphicFramePr>
          <p:nvPr>
            <p:ph idx="1"/>
            <p:extLst>
              <p:ext uri="{D42A27DB-BD31-4B8C-83A1-F6EECF244321}">
                <p14:modId xmlns:p14="http://schemas.microsoft.com/office/powerpoint/2010/main" val="526860607"/>
              </p:ext>
            </p:extLst>
          </p:nvPr>
        </p:nvGraphicFramePr>
        <p:xfrm>
          <a:off x="681037" y="2336799"/>
          <a:ext cx="10238755" cy="4852504"/>
        </p:xfrm>
        <a:graphic>
          <a:graphicData uri="http://schemas.openxmlformats.org/drawingml/2006/table">
            <a:tbl>
              <a:tblPr firstRow="1" bandRow="1">
                <a:tableStyleId>{5C22544A-7EE6-4342-B048-85BDC9FD1C3A}</a:tableStyleId>
              </a:tblPr>
              <a:tblGrid>
                <a:gridCol w="2047751">
                  <a:extLst>
                    <a:ext uri="{9D8B030D-6E8A-4147-A177-3AD203B41FA5}">
                      <a16:colId xmlns:a16="http://schemas.microsoft.com/office/drawing/2014/main" val="2281175835"/>
                    </a:ext>
                  </a:extLst>
                </a:gridCol>
                <a:gridCol w="2047751">
                  <a:extLst>
                    <a:ext uri="{9D8B030D-6E8A-4147-A177-3AD203B41FA5}">
                      <a16:colId xmlns:a16="http://schemas.microsoft.com/office/drawing/2014/main" val="3030228447"/>
                    </a:ext>
                  </a:extLst>
                </a:gridCol>
                <a:gridCol w="2047751">
                  <a:extLst>
                    <a:ext uri="{9D8B030D-6E8A-4147-A177-3AD203B41FA5}">
                      <a16:colId xmlns:a16="http://schemas.microsoft.com/office/drawing/2014/main" val="845469224"/>
                    </a:ext>
                  </a:extLst>
                </a:gridCol>
                <a:gridCol w="2047751">
                  <a:extLst>
                    <a:ext uri="{9D8B030D-6E8A-4147-A177-3AD203B41FA5}">
                      <a16:colId xmlns:a16="http://schemas.microsoft.com/office/drawing/2014/main" val="3847616510"/>
                    </a:ext>
                  </a:extLst>
                </a:gridCol>
                <a:gridCol w="2047751">
                  <a:extLst>
                    <a:ext uri="{9D8B030D-6E8A-4147-A177-3AD203B41FA5}">
                      <a16:colId xmlns:a16="http://schemas.microsoft.com/office/drawing/2014/main" val="44625762"/>
                    </a:ext>
                  </a:extLst>
                </a:gridCol>
              </a:tblGrid>
              <a:tr h="737704">
                <a:tc>
                  <a:txBody>
                    <a:bodyPr/>
                    <a:lstStyle/>
                    <a:p>
                      <a:r>
                        <a:rPr lang="es-MX" dirty="0"/>
                        <a:t>Tareas </a:t>
                      </a:r>
                      <a:endParaRPr lang="es-CL" dirty="0"/>
                    </a:p>
                  </a:txBody>
                  <a:tcPr/>
                </a:tc>
                <a:tc>
                  <a:txBody>
                    <a:bodyPr/>
                    <a:lstStyle/>
                    <a:p>
                      <a:r>
                        <a:rPr lang="es-MX" dirty="0"/>
                        <a:t>Productos</a:t>
                      </a:r>
                      <a:endParaRPr lang="es-CL" dirty="0"/>
                    </a:p>
                  </a:txBody>
                  <a:tcPr/>
                </a:tc>
                <a:tc>
                  <a:txBody>
                    <a:bodyPr/>
                    <a:lstStyle/>
                    <a:p>
                      <a:r>
                        <a:rPr lang="es-MX" dirty="0"/>
                        <a:t>Plazos</a:t>
                      </a:r>
                      <a:endParaRPr lang="es-CL" dirty="0"/>
                    </a:p>
                  </a:txBody>
                  <a:tcPr/>
                </a:tc>
                <a:tc>
                  <a:txBody>
                    <a:bodyPr/>
                    <a:lstStyle/>
                    <a:p>
                      <a:r>
                        <a:rPr lang="es-MX" dirty="0"/>
                        <a:t>Responsables</a:t>
                      </a:r>
                      <a:endParaRPr lang="es-CL" dirty="0"/>
                    </a:p>
                  </a:txBody>
                  <a:tcPr/>
                </a:tc>
                <a:tc>
                  <a:txBody>
                    <a:bodyPr/>
                    <a:lstStyle/>
                    <a:p>
                      <a:r>
                        <a:rPr lang="es-MX" dirty="0"/>
                        <a:t>Insumos </a:t>
                      </a:r>
                      <a:endParaRPr lang="es-CL" dirty="0"/>
                    </a:p>
                  </a:txBody>
                  <a:tcPr/>
                </a:tc>
                <a:extLst>
                  <a:ext uri="{0D108BD9-81ED-4DB2-BD59-A6C34878D82A}">
                    <a16:rowId xmlns:a16="http://schemas.microsoft.com/office/drawing/2014/main" val="2990829146"/>
                  </a:ext>
                </a:extLst>
              </a:tr>
              <a:tr h="737704">
                <a:tc>
                  <a:txBody>
                    <a:bodyPr/>
                    <a:lstStyle/>
                    <a:p>
                      <a:r>
                        <a:rPr lang="es-MX" dirty="0"/>
                        <a:t>Calcularemos la capacidad necesaria del alternador</a:t>
                      </a:r>
                      <a:endParaRPr lang="es-CL" dirty="0"/>
                    </a:p>
                  </a:txBody>
                  <a:tcPr/>
                </a:tc>
                <a:tc>
                  <a:txBody>
                    <a:bodyPr/>
                    <a:lstStyle/>
                    <a:p>
                      <a:r>
                        <a:rPr lang="es-MX" dirty="0"/>
                        <a:t>Resultante de la capacidad del alternador que ocuparemos o si es necesario uno adicional.</a:t>
                      </a:r>
                      <a:endParaRPr lang="es-CL" dirty="0"/>
                    </a:p>
                  </a:txBody>
                  <a:tcPr/>
                </a:tc>
                <a:tc>
                  <a:txBody>
                    <a:bodyPr/>
                    <a:lstStyle/>
                    <a:p>
                      <a:r>
                        <a:rPr lang="es-MX" dirty="0"/>
                        <a:t>1 semana</a:t>
                      </a:r>
                      <a:endParaRPr lang="es-CL" dirty="0"/>
                    </a:p>
                  </a:txBody>
                  <a:tcPr/>
                </a:tc>
                <a:tc>
                  <a:txBody>
                    <a:bodyPr/>
                    <a:lstStyle/>
                    <a:p>
                      <a:r>
                        <a:rPr lang="es-MX" dirty="0"/>
                        <a:t>Cristopher Pinilla</a:t>
                      </a:r>
                    </a:p>
                    <a:p>
                      <a:r>
                        <a:rPr lang="es-MX" dirty="0"/>
                        <a:t>Ángelo Zurita </a:t>
                      </a:r>
                      <a:endParaRPr lang="es-CL" dirty="0"/>
                    </a:p>
                  </a:txBody>
                  <a:tcPr/>
                </a:tc>
                <a:tc>
                  <a:txBody>
                    <a:bodyPr/>
                    <a:lstStyle/>
                    <a:p>
                      <a:r>
                        <a:rPr lang="es-MX" dirty="0"/>
                        <a:t>Cuaderno, Lápiz y calculadora</a:t>
                      </a:r>
                      <a:endParaRPr lang="es-CL" dirty="0"/>
                    </a:p>
                  </a:txBody>
                  <a:tcPr/>
                </a:tc>
                <a:extLst>
                  <a:ext uri="{0D108BD9-81ED-4DB2-BD59-A6C34878D82A}">
                    <a16:rowId xmlns:a16="http://schemas.microsoft.com/office/drawing/2014/main" val="909632187"/>
                  </a:ext>
                </a:extLst>
              </a:tr>
              <a:tr h="737704">
                <a:tc>
                  <a:txBody>
                    <a:bodyPr/>
                    <a:lstStyle/>
                    <a:p>
                      <a:r>
                        <a:rPr lang="es-MX" dirty="0"/>
                        <a:t>Diseñar un sistema de accionamiento</a:t>
                      </a:r>
                      <a:endParaRPr lang="es-CL" dirty="0"/>
                    </a:p>
                  </a:txBody>
                  <a:tcPr/>
                </a:tc>
                <a:tc>
                  <a:txBody>
                    <a:bodyPr/>
                    <a:lstStyle/>
                    <a:p>
                      <a:r>
                        <a:rPr lang="es-MX" dirty="0"/>
                        <a:t>Sistema de accionamiento</a:t>
                      </a:r>
                      <a:endParaRPr lang="es-CL" dirty="0"/>
                    </a:p>
                  </a:txBody>
                  <a:tcPr/>
                </a:tc>
                <a:tc>
                  <a:txBody>
                    <a:bodyPr/>
                    <a:lstStyle/>
                    <a:p>
                      <a:r>
                        <a:rPr lang="es-MX" dirty="0"/>
                        <a:t>9 días</a:t>
                      </a:r>
                      <a:endParaRPr lang="es-CL" dirty="0"/>
                    </a:p>
                  </a:txBody>
                  <a:tcPr/>
                </a:tc>
                <a:tc>
                  <a:txBody>
                    <a:bodyPr/>
                    <a:lstStyle/>
                    <a:p>
                      <a:r>
                        <a:rPr lang="es-MX" dirty="0"/>
                        <a:t>Rogers Ormeño</a:t>
                      </a:r>
                    </a:p>
                    <a:p>
                      <a:r>
                        <a:rPr lang="es-MX" dirty="0"/>
                        <a:t>Marco </a:t>
                      </a:r>
                      <a:r>
                        <a:rPr lang="es-MX" dirty="0" err="1"/>
                        <a:t>Paineval</a:t>
                      </a:r>
                      <a:endParaRPr lang="es-CL" dirty="0"/>
                    </a:p>
                  </a:txBody>
                  <a:tcPr/>
                </a:tc>
                <a:tc>
                  <a:txBody>
                    <a:bodyPr/>
                    <a:lstStyle/>
                    <a:p>
                      <a:r>
                        <a:rPr lang="es-MX" dirty="0"/>
                        <a:t>Relevadores, cables, bornes, artículos eléctricos y electrónicos</a:t>
                      </a:r>
                      <a:endParaRPr lang="es-CL" dirty="0"/>
                    </a:p>
                  </a:txBody>
                  <a:tcPr/>
                </a:tc>
                <a:extLst>
                  <a:ext uri="{0D108BD9-81ED-4DB2-BD59-A6C34878D82A}">
                    <a16:rowId xmlns:a16="http://schemas.microsoft.com/office/drawing/2014/main" val="2483249384"/>
                  </a:ext>
                </a:extLst>
              </a:tr>
              <a:tr h="737704">
                <a:tc>
                  <a:txBody>
                    <a:bodyPr/>
                    <a:lstStyle/>
                    <a:p>
                      <a:r>
                        <a:rPr lang="es-MX" dirty="0"/>
                        <a:t>Diseño de un prototipo</a:t>
                      </a:r>
                      <a:endParaRPr lang="es-CL" dirty="0"/>
                    </a:p>
                  </a:txBody>
                  <a:tcPr/>
                </a:tc>
                <a:tc>
                  <a:txBody>
                    <a:bodyPr/>
                    <a:lstStyle/>
                    <a:p>
                      <a:r>
                        <a:rPr lang="es-MX" dirty="0"/>
                        <a:t>Comprobar el funcionamiento del sistema</a:t>
                      </a:r>
                      <a:endParaRPr lang="es-CL" dirty="0"/>
                    </a:p>
                  </a:txBody>
                  <a:tcPr/>
                </a:tc>
                <a:tc>
                  <a:txBody>
                    <a:bodyPr/>
                    <a:lstStyle/>
                    <a:p>
                      <a:r>
                        <a:rPr lang="es-MX" dirty="0"/>
                        <a:t>11 de diciembre</a:t>
                      </a:r>
                      <a:endParaRPr lang="es-CL" dirty="0"/>
                    </a:p>
                  </a:txBody>
                  <a:tcPr/>
                </a:tc>
                <a:tc>
                  <a:txBody>
                    <a:bodyPr/>
                    <a:lstStyle/>
                    <a:p>
                      <a:r>
                        <a:rPr lang="es-MX" dirty="0"/>
                        <a:t>Todos los integrantes</a:t>
                      </a:r>
                      <a:endParaRPr lang="es-CL" dirty="0"/>
                    </a:p>
                  </a:txBody>
                  <a:tcPr/>
                </a:tc>
                <a:tc>
                  <a:txBody>
                    <a:bodyPr/>
                    <a:lstStyle/>
                    <a:p>
                      <a:r>
                        <a:rPr lang="es-MX"/>
                        <a:t>Indefinidos momentáneamente</a:t>
                      </a:r>
                      <a:endParaRPr lang="es-CL" dirty="0"/>
                    </a:p>
                  </a:txBody>
                  <a:tcPr/>
                </a:tc>
                <a:extLst>
                  <a:ext uri="{0D108BD9-81ED-4DB2-BD59-A6C34878D82A}">
                    <a16:rowId xmlns:a16="http://schemas.microsoft.com/office/drawing/2014/main" val="798877559"/>
                  </a:ext>
                </a:extLst>
              </a:tr>
            </a:tbl>
          </a:graphicData>
        </a:graphic>
      </p:graphicFrame>
    </p:spTree>
    <p:extLst>
      <p:ext uri="{BB962C8B-B14F-4D97-AF65-F5344CB8AC3E}">
        <p14:creationId xmlns:p14="http://schemas.microsoft.com/office/powerpoint/2010/main" val="923183278"/>
      </p:ext>
    </p:extLst>
  </p:cSld>
  <p:clrMapOvr>
    <a:masterClrMapping/>
  </p:clrMapOvr>
</p:sld>
</file>

<file path=ppt/theme/theme1.xml><?xml version="1.0" encoding="utf-8"?>
<a:theme xmlns:a="http://schemas.openxmlformats.org/drawingml/2006/main" name="Berlí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docProps/app.xml><?xml version="1.0" encoding="utf-8"?>
<Properties xmlns="http://schemas.openxmlformats.org/officeDocument/2006/extended-properties" xmlns:vt="http://schemas.openxmlformats.org/officeDocument/2006/docPropsVTypes">
  <Template>TM04033917[[fn=Berlín]]</Template>
  <TotalTime>102</TotalTime>
  <Words>659</Words>
  <Application>Microsoft Macintosh PowerPoint</Application>
  <PresentationFormat>Panorámica</PresentationFormat>
  <Paragraphs>54</Paragraphs>
  <Slides>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7</vt:i4>
      </vt:variant>
    </vt:vector>
  </HeadingPairs>
  <TitlesOfParts>
    <vt:vector size="10" baseType="lpstr">
      <vt:lpstr>Arial</vt:lpstr>
      <vt:lpstr>Trebuchet MS</vt:lpstr>
      <vt:lpstr>Berlín</vt:lpstr>
      <vt:lpstr>Batería auxiliar</vt:lpstr>
      <vt:lpstr>Proyecto</vt:lpstr>
      <vt:lpstr>Temas a investigar</vt:lpstr>
      <vt:lpstr>Objetivo</vt:lpstr>
      <vt:lpstr>Preguntas</vt:lpstr>
      <vt:lpstr>Temas iniciales a abordar</vt:lpstr>
      <vt:lpstr>Cronograma </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Batería auxiliar</dc:title>
  <dc:creator>MICHEL MIREYA VILLANUEVA VENEGAS</dc:creator>
  <cp:lastModifiedBy>LISSETTE ANDREA SALAMANCA MELLA</cp:lastModifiedBy>
  <cp:revision>2</cp:revision>
  <dcterms:created xsi:type="dcterms:W3CDTF">2023-11-24T01:13:15Z</dcterms:created>
  <dcterms:modified xsi:type="dcterms:W3CDTF">2023-11-28T15:45:47Z</dcterms:modified>
</cp:coreProperties>
</file>