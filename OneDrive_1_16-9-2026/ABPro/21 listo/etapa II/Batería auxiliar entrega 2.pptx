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70" r:id="rId9"/>
    <p:sldId id="271" r:id="rId10"/>
    <p:sldId id="272" r:id="rId11"/>
    <p:sldId id="274" r:id="rId12"/>
    <p:sldId id="275" r:id="rId13"/>
    <p:sldId id="276" r:id="rId14"/>
    <p:sldId id="2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8"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41" autoAdjust="0"/>
    <p:restoredTop sz="94660"/>
  </p:normalViewPr>
  <p:slideViewPr>
    <p:cSldViewPr snapToGrid="0">
      <p:cViewPr varScale="1">
        <p:scale>
          <a:sx n="87" d="100"/>
          <a:sy n="87" d="100"/>
        </p:scale>
        <p:origin x="200" y="6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13T09:10:30.209" idx="1">
    <p:pos x="10" y="10"/>
    <p:text>se maneja el tema a investigar, se sugiere mejorar la redacción.</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13T09:13:28.300" idx="2">
    <p:pos x="10" y="10"/>
    <p:text>así como está presentado NO representa un objetivo de investigación, ya que no posee la estructura ( revisar: https://bibliotecas.duoc.cl/elaboracion-de-documentos-o-informes/como-redactar-los-objetivos-de-tu-proyecto-o-investigacion) ... ya que también está presentando la solución</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13T09:15:01.843" idx="3">
    <p:pos x="10" y="10"/>
    <p:text>las preguntas son de investigación, es decir, nos sirve de guía en el proceso investigativo... NO debo responderlas... (se responden a través del proceso luego de la investigación y la práctica) (etapa II=</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13T09:16:24.330" idx="4">
    <p:pos x="10" y="10"/>
    <p:text>muy bien!</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13T09:17:46.051" idx="5">
    <p:pos x="10" y="10"/>
    <p:text>muy bien la realización de medidas y uso de evidencias... se sugiere mejorar la redacción</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3-12-13T09:18:41.983" idx="6">
    <p:pos x="10" y="10"/>
    <p:text>estos circuitos y su relación con la matemática se sugiere considera en el video (explicación)</p:text>
    <p:extLst>
      <p:ext uri="{C676402C-5697-4E1C-873F-D02D1690AC5C}">
        <p15:threadingInfo xmlns:p15="http://schemas.microsoft.com/office/powerpoint/2012/main" timeZoneBias="180"/>
      </p:ext>
    </p:extLst>
  </p:cm>
  <p:cm authorId="1" dt="2023-12-13T09:20:40.426" idx="8">
    <p:pos x="146" y="146"/>
    <p:text>necesita agregar algún cálculo matemático relacionado... donde aplique la Ley de Ohm como ejemplo.</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3-12-13T09:19:38.196" idx="7">
    <p:pos x="10" y="10"/>
    <p:text>APA para la imagen</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F239A9A-B4B0-4B32-B8CD-2E25E95134C4}" type="datetimeFigureOut">
              <a:rPr lang="en-US" dirty="0"/>
              <a:t>12/13/23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91E21DC-8981-44E6-BC8C-2BA8F673FFBB}" type="datetimeFigureOut">
              <a:rPr lang="en-US" dirty="0"/>
              <a:t>12/13/23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EB9C5D3-0140-4E75-8D7F-C0623D06DFD7}" type="datetimeFigureOut">
              <a:rPr lang="en-US" dirty="0"/>
              <a:t>12/13/23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A5666F9-5B40-48E0-8DFD-99EF944CDD22}" type="datetimeFigureOut">
              <a:rPr lang="en-US" dirty="0"/>
              <a:t>12/13/23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0322" y="3030008"/>
            <a:ext cx="4698355" cy="29061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594123" y="3030008"/>
            <a:ext cx="4700059" cy="29061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2A698D6B-2C72-4E21-9893-A649C6E2A47D}" type="datetimeFigureOut">
              <a:rPr lang="en-US" dirty="0"/>
              <a:t>12/13/23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86811C9-A66C-49F0-970E-F7B68D9109A0}" type="datetimeFigureOut">
              <a:rPr lang="en-US" dirty="0"/>
              <a:t>12/13/23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6C01AE78-96A2-4A23-B183-3B6DB4374FE7}" type="datetimeFigureOut">
              <a:rPr lang="en-US" dirty="0"/>
              <a:t>12/13/23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3AE0757-B101-4811-9189-10EB2F458E2D}" type="datetimeFigureOut">
              <a:rPr lang="en-US" dirty="0"/>
              <a:t>12/13/23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EBDC078-589F-40E3-816C-EE21D62B5BBA}" type="datetimeFigureOut">
              <a:rPr lang="en-US" dirty="0"/>
              <a:t>12/13/23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25518A9-B687-4302-9395-2322403C6656}" type="datetimeFigureOut">
              <a:rPr lang="en-US" dirty="0"/>
              <a:t>12/13/23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A99A684-0CB7-41E9-A4DF-5D1C2CA5BF6F}" type="datetimeFigureOut">
              <a:rPr lang="en-US" dirty="0"/>
              <a:t>12/13/23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EDD7C35-9E19-4518-A4B2-3B09CD8CC756}" type="datetimeFigureOut">
              <a:rPr lang="en-US" dirty="0"/>
              <a:t>12/13/23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‹Nº›</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6196DA8-8897-4DDF-BFB6-5D83863C837A}" type="datetimeFigureOut">
              <a:rPr lang="en-US" dirty="0"/>
              <a:t>12/13/23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DCBBA708-C5F0-412D-90E2-1919F0D196AE}" type="datetimeFigureOut">
              <a:rPr lang="en-US" dirty="0"/>
              <a:t>12/13/23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A9C8F8FA-EF43-4642-9368-3F4E33039BD9}" type="datetimeFigureOut">
              <a:rPr lang="en-US" dirty="0"/>
              <a:t>12/13/23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B61E721-B01C-4D5D-A3CA-2E5518383F10}" type="datetimeFigureOut">
              <a:rPr lang="en-US" dirty="0"/>
              <a:t>12/13/23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513FEF9-69D0-4F8C-A336-59491FBEDC47}" type="datetimeFigureOut">
              <a:rPr lang="en-US" dirty="0"/>
              <a:t>12/13/23</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7004436-CA73-4D53-89B4-2A5C7347BF2F}" type="datetimeFigureOut">
              <a:rPr lang="en-US" dirty="0"/>
              <a:t>12/13/23</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effectLst>
            <a:outerShdw blurRad="228600" algn="ctr" rotWithShape="0">
              <a:prstClr val="black">
                <a:alpha val="53000"/>
              </a:prstClr>
            </a:outerShdw>
          </a:effectLst>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effectLst>
            <a:outerShdw blurRad="228600" algn="ctr" rotWithShape="0">
              <a:prstClr val="black">
                <a:alpha val="53000"/>
              </a:prstClr>
            </a:outerShdw>
          </a:effectLst>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effectLst>
            <a:outerShdw blurRad="228600" algn="ctr" rotWithShape="0">
              <a:prstClr val="black">
                <a:alpha val="53000"/>
              </a:prstClr>
            </a:outerShdw>
          </a:effectLst>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comments" Target="../comments/comment6.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comments" Target="../comments/comment7.xm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7E8340-8055-7767-E0BB-DB83D627F24D}"/>
              </a:ext>
            </a:extLst>
          </p:cNvPr>
          <p:cNvSpPr>
            <a:spLocks noGrp="1"/>
          </p:cNvSpPr>
          <p:nvPr>
            <p:ph type="ctrTitle"/>
          </p:nvPr>
        </p:nvSpPr>
        <p:spPr/>
        <p:txBody>
          <a:bodyPr/>
          <a:lstStyle/>
          <a:p>
            <a:r>
              <a:rPr lang="es-MX" dirty="0"/>
              <a:t>Batería Auxiliar</a:t>
            </a:r>
            <a:endParaRPr lang="es-CL" dirty="0"/>
          </a:p>
        </p:txBody>
      </p:sp>
      <p:sp>
        <p:nvSpPr>
          <p:cNvPr id="3" name="Subtítulo 2">
            <a:extLst>
              <a:ext uri="{FF2B5EF4-FFF2-40B4-BE49-F238E27FC236}">
                <a16:creationId xmlns:a16="http://schemas.microsoft.com/office/drawing/2014/main" id="{80E0D83F-A3A7-9441-980D-E92779C59037}"/>
              </a:ext>
            </a:extLst>
          </p:cNvPr>
          <p:cNvSpPr>
            <a:spLocks noGrp="1"/>
          </p:cNvSpPr>
          <p:nvPr>
            <p:ph type="subTitle" idx="1"/>
          </p:nvPr>
        </p:nvSpPr>
        <p:spPr>
          <a:xfrm>
            <a:off x="4306956" y="4460300"/>
            <a:ext cx="7751029" cy="1977732"/>
          </a:xfrm>
        </p:spPr>
        <p:txBody>
          <a:bodyPr>
            <a:normAutofit/>
          </a:bodyPr>
          <a:lstStyle/>
          <a:p>
            <a:pPr algn="l"/>
            <a:r>
              <a:rPr lang="es-MX" dirty="0"/>
              <a:t>Integrantes: Cristopher Pinilla, Ángelo Zurita, Marcos </a:t>
            </a:r>
            <a:r>
              <a:rPr lang="es-MX" dirty="0" err="1"/>
              <a:t>Paineval</a:t>
            </a:r>
            <a:r>
              <a:rPr lang="es-MX" dirty="0"/>
              <a:t>.</a:t>
            </a:r>
          </a:p>
          <a:p>
            <a:pPr algn="l"/>
            <a:r>
              <a:rPr lang="es-MX" dirty="0"/>
              <a:t>Docente:      Lissette Salamanca. </a:t>
            </a:r>
          </a:p>
          <a:p>
            <a:pPr algn="l"/>
            <a:r>
              <a:rPr lang="es-MX" dirty="0"/>
              <a:t>Asignatura:   Funciones y Geometría. </a:t>
            </a:r>
          </a:p>
          <a:p>
            <a:pPr algn="l"/>
            <a:r>
              <a:rPr lang="es-MX" dirty="0"/>
              <a:t>Carrera:       Mecánica y Electromovilidad Automotriz.</a:t>
            </a:r>
          </a:p>
          <a:p>
            <a:pPr algn="l"/>
            <a:r>
              <a:rPr lang="es-MX" dirty="0"/>
              <a:t>Sección:       21 </a:t>
            </a:r>
            <a:endParaRPr lang="es-CL" dirty="0"/>
          </a:p>
        </p:txBody>
      </p:sp>
    </p:spTree>
    <p:extLst>
      <p:ext uri="{BB962C8B-B14F-4D97-AF65-F5344CB8AC3E}">
        <p14:creationId xmlns:p14="http://schemas.microsoft.com/office/powerpoint/2010/main" val="1007825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929461-5DC2-01B2-E41D-28FF84673386}"/>
              </a:ext>
            </a:extLst>
          </p:cNvPr>
          <p:cNvSpPr>
            <a:spLocks noGrp="1"/>
          </p:cNvSpPr>
          <p:nvPr>
            <p:ph type="title"/>
          </p:nvPr>
        </p:nvSpPr>
        <p:spPr>
          <a:xfrm>
            <a:off x="680321" y="713471"/>
            <a:ext cx="9613861" cy="1080938"/>
          </a:xfrm>
        </p:spPr>
        <p:txBody>
          <a:bodyPr/>
          <a:lstStyle/>
          <a:p>
            <a:r>
              <a:rPr lang="es-MX" dirty="0"/>
              <a:t>Proyecto</a:t>
            </a:r>
            <a:endParaRPr lang="es-CL" dirty="0"/>
          </a:p>
        </p:txBody>
      </p:sp>
      <p:sp>
        <p:nvSpPr>
          <p:cNvPr id="3" name="Marcador de contenido 2">
            <a:extLst>
              <a:ext uri="{FF2B5EF4-FFF2-40B4-BE49-F238E27FC236}">
                <a16:creationId xmlns:a16="http://schemas.microsoft.com/office/drawing/2014/main" id="{E0407945-D464-BCFE-7661-549B8520DBA5}"/>
              </a:ext>
            </a:extLst>
          </p:cNvPr>
          <p:cNvSpPr>
            <a:spLocks noGrp="1"/>
          </p:cNvSpPr>
          <p:nvPr>
            <p:ph idx="1"/>
          </p:nvPr>
        </p:nvSpPr>
        <p:spPr/>
        <p:txBody>
          <a:bodyPr/>
          <a:lstStyle/>
          <a:p>
            <a:pPr algn="just"/>
            <a:r>
              <a:rPr lang="es-MX" dirty="0"/>
              <a:t>Nuestra función principal, es dar solución a la puesta en marcha de los vehículos convencionales, cuando su batería de servicio esté descargada, por múltiples razones, sean la presentación de la falla de la misma, uso excesivo de los accesorios de vehículo o simplemente un descuido. </a:t>
            </a:r>
          </a:p>
          <a:p>
            <a:pPr algn="just"/>
            <a:r>
              <a:rPr lang="es-MX" dirty="0"/>
              <a:t>Se busca dar solución mediante una batería adicional que se encuentra fuera de línea mientras esté el vehículo en funcionamiento o apagado, previniendo de una descarga de la batería auxiliar, manteniendo esta siempre cargada y disponible para la puesta en marcha del vehículo. </a:t>
            </a:r>
            <a:endParaRPr lang="es-CL" dirty="0"/>
          </a:p>
        </p:txBody>
      </p:sp>
    </p:spTree>
    <p:extLst>
      <p:ext uri="{BB962C8B-B14F-4D97-AF65-F5344CB8AC3E}">
        <p14:creationId xmlns:p14="http://schemas.microsoft.com/office/powerpoint/2010/main" val="2848628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77A0B1-8BC3-723C-C949-CE1B912C82BE}"/>
              </a:ext>
            </a:extLst>
          </p:cNvPr>
          <p:cNvSpPr>
            <a:spLocks noGrp="1"/>
          </p:cNvSpPr>
          <p:nvPr>
            <p:ph type="title"/>
          </p:nvPr>
        </p:nvSpPr>
        <p:spPr/>
        <p:txBody>
          <a:bodyPr/>
          <a:lstStyle/>
          <a:p>
            <a:r>
              <a:rPr lang="es-MX" dirty="0"/>
              <a:t>Temas a investigar</a:t>
            </a:r>
            <a:endParaRPr lang="es-CL" dirty="0"/>
          </a:p>
        </p:txBody>
      </p:sp>
      <p:sp>
        <p:nvSpPr>
          <p:cNvPr id="3" name="Marcador de contenido 2">
            <a:extLst>
              <a:ext uri="{FF2B5EF4-FFF2-40B4-BE49-F238E27FC236}">
                <a16:creationId xmlns:a16="http://schemas.microsoft.com/office/drawing/2014/main" id="{27CB7F64-ABB2-AD12-9240-0BABE6EC691D}"/>
              </a:ext>
            </a:extLst>
          </p:cNvPr>
          <p:cNvSpPr>
            <a:spLocks noGrp="1"/>
          </p:cNvSpPr>
          <p:nvPr>
            <p:ph idx="1"/>
          </p:nvPr>
        </p:nvSpPr>
        <p:spPr/>
        <p:txBody>
          <a:bodyPr>
            <a:normAutofit lnSpcReduction="10000"/>
          </a:bodyPr>
          <a:lstStyle/>
          <a:p>
            <a:pPr algn="just"/>
            <a:r>
              <a:rPr lang="es-MX" dirty="0"/>
              <a:t>Nuestra primera problemática será solucionar, como cargaremos dos baterías y deberemos calcular la energía que debe entregar el alternador, en base al vehículo a abordar, dado que distintos vehículos presentan sistemas distintos de partida y de capacidades variables según modelo (Ley de Ohm).</a:t>
            </a:r>
          </a:p>
          <a:p>
            <a:pPr algn="just"/>
            <a:r>
              <a:rPr lang="es-MX" dirty="0"/>
              <a:t> La segunda variable, será calcular las capacidades del circuito de conexión y desconexión del circuito auxiliar, puesto que este lo diseñaremos de cero y debemos calcular la capacidad de los distintos componentes incluso de la capacidad de los cables de la conexión principal además de los sistemas de protección del circuito.</a:t>
            </a:r>
            <a:endParaRPr lang="es-CL" dirty="0"/>
          </a:p>
        </p:txBody>
      </p:sp>
    </p:spTree>
    <p:extLst>
      <p:ext uri="{BB962C8B-B14F-4D97-AF65-F5344CB8AC3E}">
        <p14:creationId xmlns:p14="http://schemas.microsoft.com/office/powerpoint/2010/main" val="3801960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61AFF7-42F4-1231-7472-29D0D58A54FB}"/>
              </a:ext>
            </a:extLst>
          </p:cNvPr>
          <p:cNvSpPr>
            <a:spLocks noGrp="1"/>
          </p:cNvSpPr>
          <p:nvPr>
            <p:ph type="title"/>
          </p:nvPr>
        </p:nvSpPr>
        <p:spPr/>
        <p:txBody>
          <a:bodyPr/>
          <a:lstStyle/>
          <a:p>
            <a:r>
              <a:rPr lang="es-MX" dirty="0"/>
              <a:t>Objetivo</a:t>
            </a:r>
            <a:endParaRPr lang="es-CL" dirty="0"/>
          </a:p>
        </p:txBody>
      </p:sp>
      <p:sp>
        <p:nvSpPr>
          <p:cNvPr id="3" name="Marcador de contenido 2">
            <a:extLst>
              <a:ext uri="{FF2B5EF4-FFF2-40B4-BE49-F238E27FC236}">
                <a16:creationId xmlns:a16="http://schemas.microsoft.com/office/drawing/2014/main" id="{95702CCB-D333-4B98-C6B0-2C5AC20FEA41}"/>
              </a:ext>
            </a:extLst>
          </p:cNvPr>
          <p:cNvSpPr>
            <a:spLocks noGrp="1"/>
          </p:cNvSpPr>
          <p:nvPr>
            <p:ph idx="1"/>
          </p:nvPr>
        </p:nvSpPr>
        <p:spPr/>
        <p:txBody>
          <a:bodyPr/>
          <a:lstStyle/>
          <a:p>
            <a:pPr algn="just"/>
            <a:r>
              <a:rPr lang="es-MX" dirty="0"/>
              <a:t>El objetivo principal es que el vehículo no presente problemas al momento de la puesta en marcha del motor, dotando al vehículo de un sistema auxiliar de suministro eléctrico, suficiente para la puesta en marcha y que esta línea sea un circuito aparte que no se descargue junto con el circuito de fábrica. A fin de cuentas, que este circuito nos permita salir de algunos percances sin la necesidad de requerir ayuda.</a:t>
            </a:r>
            <a:endParaRPr lang="es-CL" dirty="0"/>
          </a:p>
        </p:txBody>
      </p:sp>
    </p:spTree>
    <p:extLst>
      <p:ext uri="{BB962C8B-B14F-4D97-AF65-F5344CB8AC3E}">
        <p14:creationId xmlns:p14="http://schemas.microsoft.com/office/powerpoint/2010/main" val="668284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7FBAF1-5A94-E6E7-2DD3-58421FB9D03D}"/>
              </a:ext>
            </a:extLst>
          </p:cNvPr>
          <p:cNvSpPr>
            <a:spLocks noGrp="1"/>
          </p:cNvSpPr>
          <p:nvPr>
            <p:ph type="title"/>
          </p:nvPr>
        </p:nvSpPr>
        <p:spPr/>
        <p:txBody>
          <a:bodyPr/>
          <a:lstStyle/>
          <a:p>
            <a:r>
              <a:rPr lang="es-MX" dirty="0"/>
              <a:t>Preguntas</a:t>
            </a:r>
            <a:endParaRPr lang="es-CL" dirty="0"/>
          </a:p>
        </p:txBody>
      </p:sp>
      <p:sp>
        <p:nvSpPr>
          <p:cNvPr id="3" name="Marcador de contenido 2">
            <a:extLst>
              <a:ext uri="{FF2B5EF4-FFF2-40B4-BE49-F238E27FC236}">
                <a16:creationId xmlns:a16="http://schemas.microsoft.com/office/drawing/2014/main" id="{13C99C34-7D1B-CC58-267A-5B6FB29B8EF1}"/>
              </a:ext>
            </a:extLst>
          </p:cNvPr>
          <p:cNvSpPr>
            <a:spLocks noGrp="1"/>
          </p:cNvSpPr>
          <p:nvPr>
            <p:ph idx="1"/>
          </p:nvPr>
        </p:nvSpPr>
        <p:spPr/>
        <p:txBody>
          <a:bodyPr>
            <a:normAutofit fontScale="62500" lnSpcReduction="20000"/>
          </a:bodyPr>
          <a:lstStyle/>
          <a:p>
            <a:pPr algn="just"/>
            <a:r>
              <a:rPr lang="es-MX" dirty="0"/>
              <a:t>¿En qué momento es necesario ocupar la segunda batería?</a:t>
            </a:r>
          </a:p>
          <a:p>
            <a:pPr marL="0" indent="0" algn="just">
              <a:buNone/>
            </a:pPr>
            <a:r>
              <a:rPr lang="es-MX" dirty="0"/>
              <a:t>Al momento de la puesta en marcha del vehículo y que este carezca de la energía suficiente para dicha acción.</a:t>
            </a:r>
          </a:p>
          <a:p>
            <a:pPr algn="just"/>
            <a:r>
              <a:rPr lang="es-MX" dirty="0"/>
              <a:t>¿Cuál es la mejora en nuestro vehículo, al tener una carga extra?</a:t>
            </a:r>
          </a:p>
          <a:p>
            <a:pPr marL="0" indent="0" algn="just">
              <a:buNone/>
            </a:pPr>
            <a:r>
              <a:rPr lang="es-MX" dirty="0"/>
              <a:t>Tendremos una conexión auxiliar de suministro de energía eléctrica, la cual permitirá hacer un intercambio de batería, no de manera física , si no, a través de un interruptor</a:t>
            </a:r>
          </a:p>
          <a:p>
            <a:pPr algn="just"/>
            <a:r>
              <a:rPr lang="es-MX" dirty="0"/>
              <a:t>¿En qué momento puede fallar la batería de servicio?</a:t>
            </a:r>
          </a:p>
          <a:p>
            <a:pPr marL="0" indent="0" algn="just">
              <a:buNone/>
            </a:pPr>
            <a:r>
              <a:rPr lang="es-MX" dirty="0"/>
              <a:t>Cuando utilicemos instrumentos del vehículo mientras este no se encuentre con el motor funcionamiento, ya que de esta manera no se está recuperando la carga ocupada, puede ser por un descuido de las luces o solo por ocupar la radio un tiempo prolongado, batería en mal estado, entre otras.</a:t>
            </a:r>
          </a:p>
          <a:p>
            <a:pPr algn="just"/>
            <a:r>
              <a:rPr lang="es-MX" dirty="0"/>
              <a:t>¿Por qué puede fallar la batería de servicio?</a:t>
            </a:r>
          </a:p>
          <a:p>
            <a:pPr marL="0" indent="0" algn="just">
              <a:buNone/>
            </a:pPr>
            <a:r>
              <a:rPr lang="es-MX" dirty="0"/>
              <a:t>Esta puede fallar por el uso prolongado de esta ya que esta se va degradando con el paso del tiempo y tiene un plazo de vida útil, además intervienen varios factores, como un déficit de carga del alternador o un uso prolongado de esta sin que esta se valla recuperando, entre otras. Cabe mencionar que hasta el no uso de esta puede ser perjudicial para su vida útil.</a:t>
            </a:r>
            <a:endParaRPr lang="es-CL" dirty="0"/>
          </a:p>
        </p:txBody>
      </p:sp>
    </p:spTree>
    <p:extLst>
      <p:ext uri="{BB962C8B-B14F-4D97-AF65-F5344CB8AC3E}">
        <p14:creationId xmlns:p14="http://schemas.microsoft.com/office/powerpoint/2010/main" val="1638580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F0F9AA-08B7-D294-786A-8815643E7D71}"/>
              </a:ext>
            </a:extLst>
          </p:cNvPr>
          <p:cNvSpPr>
            <a:spLocks noGrp="1"/>
          </p:cNvSpPr>
          <p:nvPr>
            <p:ph type="title"/>
          </p:nvPr>
        </p:nvSpPr>
        <p:spPr/>
        <p:txBody>
          <a:bodyPr/>
          <a:lstStyle/>
          <a:p>
            <a:r>
              <a:rPr lang="es-MX" dirty="0"/>
              <a:t>Temas iniciales a abordar</a:t>
            </a:r>
            <a:endParaRPr lang="es-CL" dirty="0"/>
          </a:p>
        </p:txBody>
      </p:sp>
      <p:sp>
        <p:nvSpPr>
          <p:cNvPr id="3" name="Marcador de contenido 2">
            <a:extLst>
              <a:ext uri="{FF2B5EF4-FFF2-40B4-BE49-F238E27FC236}">
                <a16:creationId xmlns:a16="http://schemas.microsoft.com/office/drawing/2014/main" id="{499C81AB-8CA2-4E89-3C1E-921B5A6A0CF4}"/>
              </a:ext>
            </a:extLst>
          </p:cNvPr>
          <p:cNvSpPr>
            <a:spLocks noGrp="1"/>
          </p:cNvSpPr>
          <p:nvPr>
            <p:ph idx="1"/>
          </p:nvPr>
        </p:nvSpPr>
        <p:spPr/>
        <p:txBody>
          <a:bodyPr/>
          <a:lstStyle/>
          <a:p>
            <a:pPr algn="just"/>
            <a:r>
              <a:rPr lang="es-MX" dirty="0"/>
              <a:t>Duración de la batería</a:t>
            </a:r>
          </a:p>
          <a:p>
            <a:pPr algn="just"/>
            <a:r>
              <a:rPr lang="es-MX" dirty="0"/>
              <a:t>Capacidad de carga del sistema de recuperación (alternador)</a:t>
            </a:r>
          </a:p>
          <a:p>
            <a:pPr algn="just"/>
            <a:r>
              <a:rPr lang="es-CL" dirty="0"/>
              <a:t>Tecnología a utilizar</a:t>
            </a:r>
          </a:p>
          <a:p>
            <a:pPr algn="just"/>
            <a:r>
              <a:rPr lang="es-CL" dirty="0"/>
              <a:t>Capacidad de los componentes necesarios y su durabilidad</a:t>
            </a:r>
          </a:p>
          <a:p>
            <a:pPr algn="just"/>
            <a:r>
              <a:rPr lang="es-CL" dirty="0"/>
              <a:t>La fiabilidad</a:t>
            </a:r>
          </a:p>
          <a:p>
            <a:pPr algn="just"/>
            <a:r>
              <a:rPr lang="es-CL" dirty="0"/>
              <a:t>Impacto ambiental</a:t>
            </a:r>
          </a:p>
          <a:p>
            <a:pPr algn="just"/>
            <a:r>
              <a:rPr lang="es-CL" dirty="0"/>
              <a:t>Cálculo de los componentes</a:t>
            </a:r>
          </a:p>
        </p:txBody>
      </p:sp>
    </p:spTree>
    <p:extLst>
      <p:ext uri="{BB962C8B-B14F-4D97-AF65-F5344CB8AC3E}">
        <p14:creationId xmlns:p14="http://schemas.microsoft.com/office/powerpoint/2010/main" val="2943070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A3FFC1-6F91-9CAA-008B-7E8630CB956A}"/>
              </a:ext>
            </a:extLst>
          </p:cNvPr>
          <p:cNvSpPr>
            <a:spLocks noGrp="1"/>
          </p:cNvSpPr>
          <p:nvPr>
            <p:ph type="title"/>
          </p:nvPr>
        </p:nvSpPr>
        <p:spPr/>
        <p:txBody>
          <a:bodyPr/>
          <a:lstStyle/>
          <a:p>
            <a:r>
              <a:rPr lang="es-MX" dirty="0"/>
              <a:t>Cronograma </a:t>
            </a:r>
            <a:endParaRPr lang="es-CL" dirty="0"/>
          </a:p>
        </p:txBody>
      </p:sp>
      <p:graphicFrame>
        <p:nvGraphicFramePr>
          <p:cNvPr id="4" name="Marcador de contenido 3">
            <a:extLst>
              <a:ext uri="{FF2B5EF4-FFF2-40B4-BE49-F238E27FC236}">
                <a16:creationId xmlns:a16="http://schemas.microsoft.com/office/drawing/2014/main" id="{B6FCC4B4-48FE-CB83-1A0B-A3621498DC38}"/>
              </a:ext>
            </a:extLst>
          </p:cNvPr>
          <p:cNvGraphicFramePr>
            <a:graphicFrameLocks noGrp="1"/>
          </p:cNvGraphicFramePr>
          <p:nvPr>
            <p:ph idx="1"/>
            <p:extLst>
              <p:ext uri="{D42A27DB-BD31-4B8C-83A1-F6EECF244321}">
                <p14:modId xmlns:p14="http://schemas.microsoft.com/office/powerpoint/2010/main" val="3789672669"/>
              </p:ext>
            </p:extLst>
          </p:nvPr>
        </p:nvGraphicFramePr>
        <p:xfrm>
          <a:off x="680321" y="2159095"/>
          <a:ext cx="10145990" cy="4698905"/>
        </p:xfrm>
        <a:graphic>
          <a:graphicData uri="http://schemas.openxmlformats.org/drawingml/2006/table">
            <a:tbl>
              <a:tblPr firstRow="1" bandRow="1">
                <a:tableStyleId>{5C22544A-7EE6-4342-B048-85BDC9FD1C3A}</a:tableStyleId>
              </a:tblPr>
              <a:tblGrid>
                <a:gridCol w="2029198">
                  <a:extLst>
                    <a:ext uri="{9D8B030D-6E8A-4147-A177-3AD203B41FA5}">
                      <a16:colId xmlns:a16="http://schemas.microsoft.com/office/drawing/2014/main" val="2281175835"/>
                    </a:ext>
                  </a:extLst>
                </a:gridCol>
                <a:gridCol w="2029198">
                  <a:extLst>
                    <a:ext uri="{9D8B030D-6E8A-4147-A177-3AD203B41FA5}">
                      <a16:colId xmlns:a16="http://schemas.microsoft.com/office/drawing/2014/main" val="3030228447"/>
                    </a:ext>
                  </a:extLst>
                </a:gridCol>
                <a:gridCol w="2029198">
                  <a:extLst>
                    <a:ext uri="{9D8B030D-6E8A-4147-A177-3AD203B41FA5}">
                      <a16:colId xmlns:a16="http://schemas.microsoft.com/office/drawing/2014/main" val="845469224"/>
                    </a:ext>
                  </a:extLst>
                </a:gridCol>
                <a:gridCol w="2029198">
                  <a:extLst>
                    <a:ext uri="{9D8B030D-6E8A-4147-A177-3AD203B41FA5}">
                      <a16:colId xmlns:a16="http://schemas.microsoft.com/office/drawing/2014/main" val="3847616510"/>
                    </a:ext>
                  </a:extLst>
                </a:gridCol>
                <a:gridCol w="2029198">
                  <a:extLst>
                    <a:ext uri="{9D8B030D-6E8A-4147-A177-3AD203B41FA5}">
                      <a16:colId xmlns:a16="http://schemas.microsoft.com/office/drawing/2014/main" val="44625762"/>
                    </a:ext>
                  </a:extLst>
                </a:gridCol>
              </a:tblGrid>
              <a:tr h="584105">
                <a:tc>
                  <a:txBody>
                    <a:bodyPr/>
                    <a:lstStyle/>
                    <a:p>
                      <a:r>
                        <a:rPr lang="es-MX" dirty="0"/>
                        <a:t>Tareas </a:t>
                      </a:r>
                      <a:endParaRPr lang="es-CL" dirty="0"/>
                    </a:p>
                  </a:txBody>
                  <a:tcPr/>
                </a:tc>
                <a:tc>
                  <a:txBody>
                    <a:bodyPr/>
                    <a:lstStyle/>
                    <a:p>
                      <a:r>
                        <a:rPr lang="es-MX" dirty="0"/>
                        <a:t>Productos</a:t>
                      </a:r>
                      <a:endParaRPr lang="es-CL" dirty="0"/>
                    </a:p>
                  </a:txBody>
                  <a:tcPr/>
                </a:tc>
                <a:tc>
                  <a:txBody>
                    <a:bodyPr/>
                    <a:lstStyle/>
                    <a:p>
                      <a:r>
                        <a:rPr lang="es-MX" dirty="0"/>
                        <a:t>Plazos</a:t>
                      </a:r>
                      <a:endParaRPr lang="es-CL" dirty="0"/>
                    </a:p>
                  </a:txBody>
                  <a:tcPr/>
                </a:tc>
                <a:tc>
                  <a:txBody>
                    <a:bodyPr/>
                    <a:lstStyle/>
                    <a:p>
                      <a:r>
                        <a:rPr lang="es-MX" dirty="0"/>
                        <a:t>Responsables</a:t>
                      </a:r>
                      <a:endParaRPr lang="es-CL" dirty="0"/>
                    </a:p>
                  </a:txBody>
                  <a:tcPr/>
                </a:tc>
                <a:tc>
                  <a:txBody>
                    <a:bodyPr/>
                    <a:lstStyle/>
                    <a:p>
                      <a:r>
                        <a:rPr lang="es-MX" dirty="0"/>
                        <a:t>Insumos </a:t>
                      </a:r>
                      <a:endParaRPr lang="es-CL" dirty="0"/>
                    </a:p>
                  </a:txBody>
                  <a:tcPr/>
                </a:tc>
                <a:extLst>
                  <a:ext uri="{0D108BD9-81ED-4DB2-BD59-A6C34878D82A}">
                    <a16:rowId xmlns:a16="http://schemas.microsoft.com/office/drawing/2014/main" val="2990829146"/>
                  </a:ext>
                </a:extLst>
              </a:tr>
              <a:tr h="1574493">
                <a:tc>
                  <a:txBody>
                    <a:bodyPr/>
                    <a:lstStyle/>
                    <a:p>
                      <a:r>
                        <a:rPr lang="es-MX" dirty="0"/>
                        <a:t>Calcularemos la capacidad necesaria del alternador</a:t>
                      </a:r>
                      <a:endParaRPr lang="es-CL" dirty="0"/>
                    </a:p>
                  </a:txBody>
                  <a:tcPr/>
                </a:tc>
                <a:tc>
                  <a:txBody>
                    <a:bodyPr/>
                    <a:lstStyle/>
                    <a:p>
                      <a:r>
                        <a:rPr lang="es-MX" dirty="0"/>
                        <a:t>Resultante de la capacidad del alternador que ocuparemos o si es necesario uno adicional.</a:t>
                      </a:r>
                      <a:endParaRPr lang="es-CL" dirty="0"/>
                    </a:p>
                  </a:txBody>
                  <a:tcPr/>
                </a:tc>
                <a:tc>
                  <a:txBody>
                    <a:bodyPr/>
                    <a:lstStyle/>
                    <a:p>
                      <a:r>
                        <a:rPr lang="es-MX" dirty="0"/>
                        <a:t>1 semana</a:t>
                      </a:r>
                      <a:endParaRPr lang="es-CL" dirty="0"/>
                    </a:p>
                  </a:txBody>
                  <a:tcPr/>
                </a:tc>
                <a:tc>
                  <a:txBody>
                    <a:bodyPr/>
                    <a:lstStyle/>
                    <a:p>
                      <a:r>
                        <a:rPr lang="es-MX" dirty="0"/>
                        <a:t>Cristopher Pinilla</a:t>
                      </a:r>
                    </a:p>
                    <a:p>
                      <a:r>
                        <a:rPr lang="es-MX" dirty="0"/>
                        <a:t>Ángelo Zurita </a:t>
                      </a:r>
                      <a:endParaRPr lang="es-CL" dirty="0"/>
                    </a:p>
                  </a:txBody>
                  <a:tcPr/>
                </a:tc>
                <a:tc>
                  <a:txBody>
                    <a:bodyPr/>
                    <a:lstStyle/>
                    <a:p>
                      <a:r>
                        <a:rPr lang="es-MX" dirty="0"/>
                        <a:t>Cuaderno, Lápiz y calculadora</a:t>
                      </a:r>
                      <a:endParaRPr lang="es-CL" dirty="0"/>
                    </a:p>
                  </a:txBody>
                  <a:tcPr/>
                </a:tc>
                <a:extLst>
                  <a:ext uri="{0D108BD9-81ED-4DB2-BD59-A6C34878D82A}">
                    <a16:rowId xmlns:a16="http://schemas.microsoft.com/office/drawing/2014/main" val="909632187"/>
                  </a:ext>
                </a:extLst>
              </a:tr>
              <a:tr h="1325889">
                <a:tc>
                  <a:txBody>
                    <a:bodyPr/>
                    <a:lstStyle/>
                    <a:p>
                      <a:r>
                        <a:rPr lang="es-MX" dirty="0"/>
                        <a:t>Diseñar un sistema de accionamiento</a:t>
                      </a:r>
                      <a:endParaRPr lang="es-CL" dirty="0"/>
                    </a:p>
                  </a:txBody>
                  <a:tcPr/>
                </a:tc>
                <a:tc>
                  <a:txBody>
                    <a:bodyPr/>
                    <a:lstStyle/>
                    <a:p>
                      <a:r>
                        <a:rPr lang="es-MX" dirty="0"/>
                        <a:t>Sistema de accionamiento</a:t>
                      </a:r>
                      <a:endParaRPr lang="es-CL" dirty="0"/>
                    </a:p>
                  </a:txBody>
                  <a:tcPr/>
                </a:tc>
                <a:tc>
                  <a:txBody>
                    <a:bodyPr/>
                    <a:lstStyle/>
                    <a:p>
                      <a:r>
                        <a:rPr lang="es-MX" dirty="0"/>
                        <a:t>9 días</a:t>
                      </a:r>
                      <a:endParaRPr lang="es-CL" dirty="0"/>
                    </a:p>
                  </a:txBody>
                  <a:tcPr/>
                </a:tc>
                <a:tc>
                  <a:txBody>
                    <a:bodyPr/>
                    <a:lstStyle/>
                    <a:p>
                      <a:r>
                        <a:rPr lang="es-MX" dirty="0"/>
                        <a:t>Rogers Ormeño</a:t>
                      </a:r>
                    </a:p>
                    <a:p>
                      <a:r>
                        <a:rPr lang="es-MX" dirty="0"/>
                        <a:t>Marco </a:t>
                      </a:r>
                      <a:r>
                        <a:rPr lang="es-MX" dirty="0" err="1"/>
                        <a:t>Paineval</a:t>
                      </a:r>
                      <a:endParaRPr lang="es-CL" dirty="0"/>
                    </a:p>
                  </a:txBody>
                  <a:tcPr/>
                </a:tc>
                <a:tc>
                  <a:txBody>
                    <a:bodyPr/>
                    <a:lstStyle/>
                    <a:p>
                      <a:r>
                        <a:rPr lang="es-MX" dirty="0"/>
                        <a:t>Relevadores, cables, bornes, artículos eléctricos y electrónicos</a:t>
                      </a:r>
                      <a:endParaRPr lang="es-CL" dirty="0"/>
                    </a:p>
                  </a:txBody>
                  <a:tcPr/>
                </a:tc>
                <a:extLst>
                  <a:ext uri="{0D108BD9-81ED-4DB2-BD59-A6C34878D82A}">
                    <a16:rowId xmlns:a16="http://schemas.microsoft.com/office/drawing/2014/main" val="2483249384"/>
                  </a:ext>
                </a:extLst>
              </a:tr>
              <a:tr h="828681">
                <a:tc>
                  <a:txBody>
                    <a:bodyPr/>
                    <a:lstStyle/>
                    <a:p>
                      <a:r>
                        <a:rPr lang="es-MX" dirty="0"/>
                        <a:t>Diseño de un prototipo</a:t>
                      </a:r>
                      <a:endParaRPr lang="es-CL" dirty="0"/>
                    </a:p>
                  </a:txBody>
                  <a:tcPr/>
                </a:tc>
                <a:tc>
                  <a:txBody>
                    <a:bodyPr/>
                    <a:lstStyle/>
                    <a:p>
                      <a:r>
                        <a:rPr lang="es-MX" dirty="0"/>
                        <a:t>Comprobar el funcionamiento del sistema</a:t>
                      </a:r>
                      <a:endParaRPr lang="es-CL" dirty="0"/>
                    </a:p>
                  </a:txBody>
                  <a:tcPr/>
                </a:tc>
                <a:tc>
                  <a:txBody>
                    <a:bodyPr/>
                    <a:lstStyle/>
                    <a:p>
                      <a:r>
                        <a:rPr lang="es-MX" dirty="0"/>
                        <a:t>11 de diciembre</a:t>
                      </a:r>
                      <a:endParaRPr lang="es-CL" dirty="0"/>
                    </a:p>
                  </a:txBody>
                  <a:tcPr/>
                </a:tc>
                <a:tc>
                  <a:txBody>
                    <a:bodyPr/>
                    <a:lstStyle/>
                    <a:p>
                      <a:r>
                        <a:rPr lang="es-MX" dirty="0"/>
                        <a:t>Todos los integrantes</a:t>
                      </a:r>
                      <a:endParaRPr lang="es-CL" dirty="0"/>
                    </a:p>
                  </a:txBody>
                  <a:tcPr/>
                </a:tc>
                <a:tc>
                  <a:txBody>
                    <a:bodyPr/>
                    <a:lstStyle/>
                    <a:p>
                      <a:r>
                        <a:rPr lang="es-MX" dirty="0"/>
                        <a:t>Indefinidos momentáneamente</a:t>
                      </a:r>
                      <a:endParaRPr lang="es-CL" dirty="0"/>
                    </a:p>
                  </a:txBody>
                  <a:tcPr/>
                </a:tc>
                <a:extLst>
                  <a:ext uri="{0D108BD9-81ED-4DB2-BD59-A6C34878D82A}">
                    <a16:rowId xmlns:a16="http://schemas.microsoft.com/office/drawing/2014/main" val="798877559"/>
                  </a:ext>
                </a:extLst>
              </a:tr>
            </a:tbl>
          </a:graphicData>
        </a:graphic>
      </p:graphicFrame>
    </p:spTree>
    <p:extLst>
      <p:ext uri="{BB962C8B-B14F-4D97-AF65-F5344CB8AC3E}">
        <p14:creationId xmlns:p14="http://schemas.microsoft.com/office/powerpoint/2010/main" val="923183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82320D-C8BD-9855-6907-7093FEE7969B}"/>
              </a:ext>
            </a:extLst>
          </p:cNvPr>
          <p:cNvSpPr>
            <a:spLocks noGrp="1"/>
          </p:cNvSpPr>
          <p:nvPr>
            <p:ph type="title"/>
          </p:nvPr>
        </p:nvSpPr>
        <p:spPr/>
        <p:txBody>
          <a:bodyPr/>
          <a:lstStyle/>
          <a:p>
            <a:r>
              <a:rPr lang="es-MX" dirty="0"/>
              <a:t>Herramientas y sus necesitades</a:t>
            </a:r>
            <a:endParaRPr lang="es-CL" dirty="0"/>
          </a:p>
        </p:txBody>
      </p:sp>
      <p:sp>
        <p:nvSpPr>
          <p:cNvPr id="3" name="Marcador de contenido 2">
            <a:extLst>
              <a:ext uri="{FF2B5EF4-FFF2-40B4-BE49-F238E27FC236}">
                <a16:creationId xmlns:a16="http://schemas.microsoft.com/office/drawing/2014/main" id="{F493EFA2-14DB-BE55-0F5A-60FBADAA7A44}"/>
              </a:ext>
            </a:extLst>
          </p:cNvPr>
          <p:cNvSpPr>
            <a:spLocks noGrp="1"/>
          </p:cNvSpPr>
          <p:nvPr>
            <p:ph idx="1"/>
          </p:nvPr>
        </p:nvSpPr>
        <p:spPr/>
        <p:txBody>
          <a:bodyPr/>
          <a:lstStyle/>
          <a:p>
            <a:r>
              <a:rPr lang="es-MX" dirty="0"/>
              <a:t>Multímetro digital: para efectuar distintas medidas a algunos componentes que son parte del circuito; como motor de partida y relevadores, además, mediremos algunos parámetros del circuito más que nada el voltaje y amperaje.</a:t>
            </a:r>
          </a:p>
          <a:p>
            <a:r>
              <a:rPr lang="es-MX" dirty="0"/>
              <a:t>APP Proto: es un simulador de circuitos eléctricos y electrónicos, que nos ayudara con los cálculos en el ámbito de la aplicación de la ley de Ohm.</a:t>
            </a:r>
          </a:p>
          <a:p>
            <a:r>
              <a:rPr lang="es-CL" dirty="0"/>
              <a:t>Coelectix: este sitio nos ayudará a realizar cálculos para la dimensión de los cables que debemos utilizar.</a:t>
            </a:r>
          </a:p>
        </p:txBody>
      </p:sp>
    </p:spTree>
    <p:extLst>
      <p:ext uri="{BB962C8B-B14F-4D97-AF65-F5344CB8AC3E}">
        <p14:creationId xmlns:p14="http://schemas.microsoft.com/office/powerpoint/2010/main" val="1259975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1BD0CC-DBBC-462A-B889-EDAE6405BE03}"/>
              </a:ext>
            </a:extLst>
          </p:cNvPr>
          <p:cNvSpPr>
            <a:spLocks noGrp="1"/>
          </p:cNvSpPr>
          <p:nvPr>
            <p:ph type="title"/>
          </p:nvPr>
        </p:nvSpPr>
        <p:spPr/>
        <p:txBody>
          <a:bodyPr/>
          <a:lstStyle/>
          <a:p>
            <a:r>
              <a:rPr lang="es-MX" dirty="0"/>
              <a:t>Realización de medidas</a:t>
            </a:r>
            <a:endParaRPr lang="es-CL" dirty="0"/>
          </a:p>
        </p:txBody>
      </p:sp>
      <p:sp>
        <p:nvSpPr>
          <p:cNvPr id="3" name="Marcador de contenido 2">
            <a:extLst>
              <a:ext uri="{FF2B5EF4-FFF2-40B4-BE49-F238E27FC236}">
                <a16:creationId xmlns:a16="http://schemas.microsoft.com/office/drawing/2014/main" id="{A3452915-60A3-5A2F-213A-B15D04725B48}"/>
              </a:ext>
            </a:extLst>
          </p:cNvPr>
          <p:cNvSpPr>
            <a:spLocks noGrp="1"/>
          </p:cNvSpPr>
          <p:nvPr>
            <p:ph idx="1"/>
          </p:nvPr>
        </p:nvSpPr>
        <p:spPr>
          <a:xfrm>
            <a:off x="680320" y="1965812"/>
            <a:ext cx="7151715" cy="3599316"/>
          </a:xfrm>
        </p:spPr>
        <p:txBody>
          <a:bodyPr>
            <a:normAutofit fontScale="92500" lnSpcReduction="20000"/>
          </a:bodyPr>
          <a:lstStyle/>
          <a:p>
            <a:r>
              <a:rPr lang="es-MX" dirty="0"/>
              <a:t>Se efectuará una medición del circuito en su máxima capacidad, lo que buscamos es tener información de la cantidad de corriente vamos a utilizar. Con el fin de tener un cálculo aproximado del diámetro del cable que vamos a utilizar.</a:t>
            </a:r>
          </a:p>
          <a:p>
            <a:r>
              <a:rPr lang="es-MX" dirty="0"/>
              <a:t>El equipo que utilizaremos para medir dicho amperaje es un accesorio del multímetro, el cual entrega un valor que se expresa  en el multímetro en Volts, lo cual deberemos hacer una conversión la cual es que, por cada10 milivolts(0.010) será el equivalente a 1 Amper</a:t>
            </a:r>
          </a:p>
          <a:p>
            <a:r>
              <a:rPr lang="es-MX" dirty="0"/>
              <a:t>Para hacer la conversión solo debemos dividir por 10 en resultado obtenido en el multímetro</a:t>
            </a:r>
            <a:endParaRPr lang="es-CL" dirty="0"/>
          </a:p>
          <a:p>
            <a:endParaRPr lang="es-CL" dirty="0"/>
          </a:p>
        </p:txBody>
      </p:sp>
      <p:sp>
        <p:nvSpPr>
          <p:cNvPr id="5" name="AutoShape 2">
            <a:extLst>
              <a:ext uri="{FF2B5EF4-FFF2-40B4-BE49-F238E27FC236}">
                <a16:creationId xmlns:a16="http://schemas.microsoft.com/office/drawing/2014/main" id="{B4250C46-E7BD-1A24-F650-1C1A9D2D508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L"/>
          </a:p>
        </p:txBody>
      </p:sp>
      <p:grpSp>
        <p:nvGrpSpPr>
          <p:cNvPr id="8" name="Grupo 7">
            <a:extLst>
              <a:ext uri="{FF2B5EF4-FFF2-40B4-BE49-F238E27FC236}">
                <a16:creationId xmlns:a16="http://schemas.microsoft.com/office/drawing/2014/main" id="{030CAA24-2CC8-2E82-2781-C1299B0B7EBB}"/>
              </a:ext>
            </a:extLst>
          </p:cNvPr>
          <p:cNvGrpSpPr/>
          <p:nvPr/>
        </p:nvGrpSpPr>
        <p:grpSpPr>
          <a:xfrm>
            <a:off x="8312982" y="1895947"/>
            <a:ext cx="3723862" cy="4682388"/>
            <a:chOff x="8312982" y="1895947"/>
            <a:chExt cx="3723862" cy="4682388"/>
          </a:xfrm>
        </p:grpSpPr>
        <p:pic>
          <p:nvPicPr>
            <p:cNvPr id="4" name="Imagen 3">
              <a:extLst>
                <a:ext uri="{FF2B5EF4-FFF2-40B4-BE49-F238E27FC236}">
                  <a16:creationId xmlns:a16="http://schemas.microsoft.com/office/drawing/2014/main" id="{3905F504-F625-C672-E871-77775A598028}"/>
                </a:ext>
              </a:extLst>
            </p:cNvPr>
            <p:cNvPicPr>
              <a:picLocks noChangeAspect="1"/>
            </p:cNvPicPr>
            <p:nvPr/>
          </p:nvPicPr>
          <p:blipFill rotWithShape="1">
            <a:blip r:embed="rId2"/>
            <a:srcRect l="26118" t="623" r="32362" b="-623"/>
            <a:stretch/>
          </p:blipFill>
          <p:spPr>
            <a:xfrm>
              <a:off x="8312982" y="1895947"/>
              <a:ext cx="3723862" cy="4036057"/>
            </a:xfrm>
            <a:prstGeom prst="rect">
              <a:avLst/>
            </a:prstGeom>
          </p:spPr>
        </p:pic>
        <p:sp>
          <p:nvSpPr>
            <p:cNvPr id="6" name="CuadroTexto 5">
              <a:extLst>
                <a:ext uri="{FF2B5EF4-FFF2-40B4-BE49-F238E27FC236}">
                  <a16:creationId xmlns:a16="http://schemas.microsoft.com/office/drawing/2014/main" id="{7042EBD4-1260-7151-31E2-8C0C2F26B8BA}"/>
                </a:ext>
              </a:extLst>
            </p:cNvPr>
            <p:cNvSpPr txBox="1"/>
            <p:nvPr/>
          </p:nvSpPr>
          <p:spPr>
            <a:xfrm>
              <a:off x="8312982" y="5932004"/>
              <a:ext cx="3723861" cy="646331"/>
            </a:xfrm>
            <a:prstGeom prst="rect">
              <a:avLst/>
            </a:prstGeom>
            <a:noFill/>
          </p:spPr>
          <p:txBody>
            <a:bodyPr wrap="square" rtlCol="0">
              <a:spAutoFit/>
            </a:bodyPr>
            <a:lstStyle/>
            <a:p>
              <a:r>
                <a:rPr lang="es-MX" dirty="0"/>
                <a:t>Figura 1multímetro y pinza amperimétrica (creación propia) </a:t>
              </a:r>
              <a:endParaRPr lang="es-CL" dirty="0"/>
            </a:p>
          </p:txBody>
        </p:sp>
      </p:grpSp>
    </p:spTree>
    <p:extLst>
      <p:ext uri="{BB962C8B-B14F-4D97-AF65-F5344CB8AC3E}">
        <p14:creationId xmlns:p14="http://schemas.microsoft.com/office/powerpoint/2010/main" val="3143655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BCB640-EB82-D553-D9E3-B9BD3FE6A80C}"/>
              </a:ext>
            </a:extLst>
          </p:cNvPr>
          <p:cNvSpPr>
            <a:spLocks noGrp="1"/>
          </p:cNvSpPr>
          <p:nvPr>
            <p:ph type="title"/>
          </p:nvPr>
        </p:nvSpPr>
        <p:spPr/>
        <p:txBody>
          <a:bodyPr/>
          <a:lstStyle/>
          <a:p>
            <a:endParaRPr lang="es-CL"/>
          </a:p>
        </p:txBody>
      </p:sp>
      <p:sp>
        <p:nvSpPr>
          <p:cNvPr id="3" name="Marcador de contenido 2">
            <a:extLst>
              <a:ext uri="{FF2B5EF4-FFF2-40B4-BE49-F238E27FC236}">
                <a16:creationId xmlns:a16="http://schemas.microsoft.com/office/drawing/2014/main" id="{7F68F4BA-36DF-F76E-D7A8-72093F44A276}"/>
              </a:ext>
            </a:extLst>
          </p:cNvPr>
          <p:cNvSpPr>
            <a:spLocks noGrp="1"/>
          </p:cNvSpPr>
          <p:nvPr>
            <p:ph sz="half" idx="1"/>
          </p:nvPr>
        </p:nvSpPr>
        <p:spPr/>
        <p:txBody>
          <a:bodyPr>
            <a:normAutofit/>
          </a:bodyPr>
          <a:lstStyle/>
          <a:p>
            <a:r>
              <a:rPr lang="es-MX" dirty="0"/>
              <a:t>Realizamos la medición del amperaje cuando al vehículo se le da arranque y procedemos a hacer la conversión dicha anteriormente.</a:t>
            </a:r>
          </a:p>
          <a:p>
            <a:r>
              <a:rPr lang="es-MX" dirty="0"/>
              <a:t>Realizaremos otra medición, pero esta vez solo dando contacto, la cual nos dirá el consumo de los componentes del circuito adicionales al circuito de partida del vehículo. Estos valores los vamos a restar para saber el consumo solo del circuito de arranque.</a:t>
            </a:r>
          </a:p>
          <a:p>
            <a:pPr marL="0" indent="0">
              <a:buNone/>
            </a:pPr>
            <a:endParaRPr lang="es-CL" dirty="0"/>
          </a:p>
        </p:txBody>
      </p:sp>
      <p:pic>
        <p:nvPicPr>
          <p:cNvPr id="6" name="Marcador de contenido 5">
            <a:extLst>
              <a:ext uri="{FF2B5EF4-FFF2-40B4-BE49-F238E27FC236}">
                <a16:creationId xmlns:a16="http://schemas.microsoft.com/office/drawing/2014/main" id="{E4FF9A93-F813-85DA-1FE9-5ADDD52D4FA9}"/>
              </a:ext>
            </a:extLst>
          </p:cNvPr>
          <p:cNvPicPr>
            <a:picLocks noGrp="1" noChangeAspect="1"/>
          </p:cNvPicPr>
          <p:nvPr>
            <p:ph sz="half" idx="2"/>
          </p:nvPr>
        </p:nvPicPr>
        <p:blipFill rotWithShape="1">
          <a:blip r:embed="rId2"/>
          <a:srcRect l="15" t="-14" r="58126" b="14"/>
          <a:stretch/>
        </p:blipFill>
        <p:spPr>
          <a:xfrm>
            <a:off x="9142680" y="1319827"/>
            <a:ext cx="2968165" cy="3190930"/>
          </a:xfrm>
          <a:prstGeom prst="rect">
            <a:avLst/>
          </a:prstGeom>
        </p:spPr>
      </p:pic>
      <p:grpSp>
        <p:nvGrpSpPr>
          <p:cNvPr id="14" name="Grupo 13">
            <a:extLst>
              <a:ext uri="{FF2B5EF4-FFF2-40B4-BE49-F238E27FC236}">
                <a16:creationId xmlns:a16="http://schemas.microsoft.com/office/drawing/2014/main" id="{5310244C-EAB3-9DBA-0CB0-733EE9040383}"/>
              </a:ext>
            </a:extLst>
          </p:cNvPr>
          <p:cNvGrpSpPr/>
          <p:nvPr/>
        </p:nvGrpSpPr>
        <p:grpSpPr>
          <a:xfrm>
            <a:off x="5711259" y="2239326"/>
            <a:ext cx="3191600" cy="4056901"/>
            <a:chOff x="5711259" y="2239326"/>
            <a:chExt cx="3191600" cy="4056901"/>
          </a:xfrm>
        </p:grpSpPr>
        <p:pic>
          <p:nvPicPr>
            <p:cNvPr id="12" name="Imagen 11">
              <a:extLst>
                <a:ext uri="{FF2B5EF4-FFF2-40B4-BE49-F238E27FC236}">
                  <a16:creationId xmlns:a16="http://schemas.microsoft.com/office/drawing/2014/main" id="{5EE6A276-CDF9-FA7E-1FFD-CF155DAEC202}"/>
                </a:ext>
              </a:extLst>
            </p:cNvPr>
            <p:cNvPicPr>
              <a:picLocks noChangeAspect="1"/>
            </p:cNvPicPr>
            <p:nvPr/>
          </p:nvPicPr>
          <p:blipFill rotWithShape="1">
            <a:blip r:embed="rId3"/>
            <a:srcRect r="54167"/>
            <a:stretch/>
          </p:blipFill>
          <p:spPr>
            <a:xfrm>
              <a:off x="5711259" y="2239326"/>
              <a:ext cx="3191600" cy="3133571"/>
            </a:xfrm>
            <a:prstGeom prst="rect">
              <a:avLst/>
            </a:prstGeom>
          </p:spPr>
        </p:pic>
        <p:sp>
          <p:nvSpPr>
            <p:cNvPr id="13" name="CuadroTexto 12">
              <a:extLst>
                <a:ext uri="{FF2B5EF4-FFF2-40B4-BE49-F238E27FC236}">
                  <a16:creationId xmlns:a16="http://schemas.microsoft.com/office/drawing/2014/main" id="{FA51956B-C33E-3757-2AAB-DFFCED00FB13}"/>
                </a:ext>
              </a:extLst>
            </p:cNvPr>
            <p:cNvSpPr txBox="1"/>
            <p:nvPr/>
          </p:nvSpPr>
          <p:spPr>
            <a:xfrm>
              <a:off x="5737296" y="5372897"/>
              <a:ext cx="3114261" cy="923330"/>
            </a:xfrm>
            <a:prstGeom prst="rect">
              <a:avLst/>
            </a:prstGeom>
            <a:noFill/>
          </p:spPr>
          <p:txBody>
            <a:bodyPr wrap="square" rtlCol="0">
              <a:spAutoFit/>
            </a:bodyPr>
            <a:lstStyle/>
            <a:p>
              <a:r>
                <a:rPr lang="es-MX" dirty="0"/>
                <a:t>Figura 2 medición de amperaje a su capacidad máxima (creación propia)</a:t>
              </a:r>
              <a:endParaRPr lang="es-CL" dirty="0"/>
            </a:p>
          </p:txBody>
        </p:sp>
      </p:grpSp>
      <p:sp>
        <p:nvSpPr>
          <p:cNvPr id="15" name="CuadroTexto 14">
            <a:extLst>
              <a:ext uri="{FF2B5EF4-FFF2-40B4-BE49-F238E27FC236}">
                <a16:creationId xmlns:a16="http://schemas.microsoft.com/office/drawing/2014/main" id="{92961569-2C5B-13B1-F028-98BDDFB34C6D}"/>
              </a:ext>
            </a:extLst>
          </p:cNvPr>
          <p:cNvSpPr txBox="1"/>
          <p:nvPr/>
        </p:nvSpPr>
        <p:spPr>
          <a:xfrm>
            <a:off x="9210175" y="4550514"/>
            <a:ext cx="2875405" cy="923330"/>
          </a:xfrm>
          <a:prstGeom prst="rect">
            <a:avLst/>
          </a:prstGeom>
          <a:noFill/>
        </p:spPr>
        <p:txBody>
          <a:bodyPr wrap="square" rtlCol="0">
            <a:spAutoFit/>
          </a:bodyPr>
          <a:lstStyle/>
          <a:p>
            <a:r>
              <a:rPr lang="es-MX" dirty="0"/>
              <a:t>Figura 3 medición de amperaje con contacto en ON ( creación propia)</a:t>
            </a:r>
            <a:endParaRPr lang="es-CL" dirty="0"/>
          </a:p>
        </p:txBody>
      </p:sp>
    </p:spTree>
    <p:extLst>
      <p:ext uri="{BB962C8B-B14F-4D97-AF65-F5344CB8AC3E}">
        <p14:creationId xmlns:p14="http://schemas.microsoft.com/office/powerpoint/2010/main" val="1780024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579BD8-FCFF-D812-786D-AF31F5FA0B9D}"/>
              </a:ext>
            </a:extLst>
          </p:cNvPr>
          <p:cNvSpPr>
            <a:spLocks noGrp="1"/>
          </p:cNvSpPr>
          <p:nvPr>
            <p:ph type="title"/>
          </p:nvPr>
        </p:nvSpPr>
        <p:spPr/>
        <p:txBody>
          <a:bodyPr/>
          <a:lstStyle/>
          <a:p>
            <a:r>
              <a:rPr lang="es-MX" dirty="0"/>
              <a:t>Conceptos matemáticos </a:t>
            </a:r>
            <a:endParaRPr lang="es-CL" dirty="0"/>
          </a:p>
        </p:txBody>
      </p:sp>
      <p:sp>
        <p:nvSpPr>
          <p:cNvPr id="3" name="Marcador de contenido 2">
            <a:extLst>
              <a:ext uri="{FF2B5EF4-FFF2-40B4-BE49-F238E27FC236}">
                <a16:creationId xmlns:a16="http://schemas.microsoft.com/office/drawing/2014/main" id="{371280C3-568B-9542-C3ED-8212BF8CA2E8}"/>
              </a:ext>
            </a:extLst>
          </p:cNvPr>
          <p:cNvSpPr>
            <a:spLocks noGrp="1"/>
          </p:cNvSpPr>
          <p:nvPr>
            <p:ph sz="half" idx="1"/>
          </p:nvPr>
        </p:nvSpPr>
        <p:spPr/>
        <p:txBody>
          <a:bodyPr/>
          <a:lstStyle/>
          <a:p>
            <a:r>
              <a:rPr lang="es-MX" dirty="0"/>
              <a:t>Ley de ohm, esta ley dice cuando dos baterías se encuentras conectadas en paralelo el voltaje es el mismo y se suman el amperaje, en este caso nos encontraremos que si una batería baja su voltaje se promediará con la otra batería, lo cual es poco eficiente, por eso diseñamos un sistema que nos permita accionar la batería auxiliar y desconectando la batería que trae originalmente.</a:t>
            </a:r>
            <a:endParaRPr lang="es-CL" dirty="0"/>
          </a:p>
        </p:txBody>
      </p:sp>
      <p:pic>
        <p:nvPicPr>
          <p:cNvPr id="9" name="Marcador de contenido 8">
            <a:extLst>
              <a:ext uri="{FF2B5EF4-FFF2-40B4-BE49-F238E27FC236}">
                <a16:creationId xmlns:a16="http://schemas.microsoft.com/office/drawing/2014/main" id="{48D3F9B0-9619-1552-4E0D-C6CF6C34D8BD}"/>
              </a:ext>
            </a:extLst>
          </p:cNvPr>
          <p:cNvPicPr>
            <a:picLocks noGrp="1" noChangeAspect="1"/>
          </p:cNvPicPr>
          <p:nvPr>
            <p:ph sz="half" idx="2"/>
          </p:nvPr>
        </p:nvPicPr>
        <p:blipFill rotWithShape="1">
          <a:blip r:embed="rId2"/>
          <a:srcRect l="14069" r="15531"/>
          <a:stretch/>
        </p:blipFill>
        <p:spPr>
          <a:xfrm>
            <a:off x="6096000" y="0"/>
            <a:ext cx="4917196" cy="3143052"/>
          </a:xfrm>
          <a:prstGeom prst="rect">
            <a:avLst/>
          </a:prstGeom>
        </p:spPr>
      </p:pic>
      <p:pic>
        <p:nvPicPr>
          <p:cNvPr id="11" name="Imagen 10">
            <a:extLst>
              <a:ext uri="{FF2B5EF4-FFF2-40B4-BE49-F238E27FC236}">
                <a16:creationId xmlns:a16="http://schemas.microsoft.com/office/drawing/2014/main" id="{CCC563AC-1FF8-7862-04A2-B9223166131A}"/>
              </a:ext>
            </a:extLst>
          </p:cNvPr>
          <p:cNvPicPr>
            <a:picLocks noChangeAspect="1"/>
          </p:cNvPicPr>
          <p:nvPr/>
        </p:nvPicPr>
        <p:blipFill rotWithShape="1">
          <a:blip r:embed="rId3"/>
          <a:srcRect l="19405" r="17857"/>
          <a:stretch/>
        </p:blipFill>
        <p:spPr>
          <a:xfrm>
            <a:off x="7115112" y="3773844"/>
            <a:ext cx="4129170" cy="2961720"/>
          </a:xfrm>
          <a:prstGeom prst="rect">
            <a:avLst/>
          </a:prstGeom>
        </p:spPr>
      </p:pic>
      <p:sp>
        <p:nvSpPr>
          <p:cNvPr id="12" name="CuadroTexto 11">
            <a:extLst>
              <a:ext uri="{FF2B5EF4-FFF2-40B4-BE49-F238E27FC236}">
                <a16:creationId xmlns:a16="http://schemas.microsoft.com/office/drawing/2014/main" id="{ED962AF4-1FCF-BFC0-5280-38BF64705F92}"/>
              </a:ext>
            </a:extLst>
          </p:cNvPr>
          <p:cNvSpPr txBox="1"/>
          <p:nvPr/>
        </p:nvSpPr>
        <p:spPr>
          <a:xfrm>
            <a:off x="6188765" y="3127513"/>
            <a:ext cx="4698358" cy="646331"/>
          </a:xfrm>
          <a:prstGeom prst="rect">
            <a:avLst/>
          </a:prstGeom>
          <a:noFill/>
        </p:spPr>
        <p:txBody>
          <a:bodyPr wrap="square" rtlCol="0">
            <a:spAutoFit/>
          </a:bodyPr>
          <a:lstStyle/>
          <a:p>
            <a:r>
              <a:rPr lang="es-MX" dirty="0"/>
              <a:t>Figura 4 circuito excluyendo la batería que trae el vehículo (creación propia)</a:t>
            </a:r>
            <a:endParaRPr lang="es-CL" dirty="0"/>
          </a:p>
        </p:txBody>
      </p:sp>
    </p:spTree>
    <p:extLst>
      <p:ext uri="{BB962C8B-B14F-4D97-AF65-F5344CB8AC3E}">
        <p14:creationId xmlns:p14="http://schemas.microsoft.com/office/powerpoint/2010/main" val="4099340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3A0375-0D53-EEC9-B1DA-2B92EA88B6C0}"/>
              </a:ext>
            </a:extLst>
          </p:cNvPr>
          <p:cNvSpPr>
            <a:spLocks noGrp="1"/>
          </p:cNvSpPr>
          <p:nvPr>
            <p:ph type="title"/>
          </p:nvPr>
        </p:nvSpPr>
        <p:spPr/>
        <p:txBody>
          <a:bodyPr/>
          <a:lstStyle/>
          <a:p>
            <a:r>
              <a:rPr lang="es-MX" dirty="0"/>
              <a:t>Aplicación de las matemáticas</a:t>
            </a:r>
            <a:endParaRPr lang="es-CL" dirty="0"/>
          </a:p>
        </p:txBody>
      </p:sp>
      <p:sp>
        <p:nvSpPr>
          <p:cNvPr id="3" name="Marcador de contenido 2">
            <a:extLst>
              <a:ext uri="{FF2B5EF4-FFF2-40B4-BE49-F238E27FC236}">
                <a16:creationId xmlns:a16="http://schemas.microsoft.com/office/drawing/2014/main" id="{892DE633-1210-6DFD-5CC6-95E86B0CB41E}"/>
              </a:ext>
            </a:extLst>
          </p:cNvPr>
          <p:cNvSpPr>
            <a:spLocks noGrp="1"/>
          </p:cNvSpPr>
          <p:nvPr>
            <p:ph sz="half" idx="1"/>
          </p:nvPr>
        </p:nvSpPr>
        <p:spPr/>
        <p:txBody>
          <a:bodyPr/>
          <a:lstStyle/>
          <a:p>
            <a:r>
              <a:rPr lang="es-MX" dirty="0"/>
              <a:t>Para todo lo que son los circuitos eléctricos y electrónicos se ocupa una base llamada Ley de Ohm, la cual es empleada para calcular la capacidad de la corriente que fluye por los circuitos, pero en este trabajo se utilizaron herramientas de medición como el multímetro y de simulación como es la APP Proto. Facilitando enormemente la mayoría de los cálculos.</a:t>
            </a:r>
            <a:endParaRPr lang="es-CL" dirty="0"/>
          </a:p>
        </p:txBody>
      </p:sp>
      <p:sp>
        <p:nvSpPr>
          <p:cNvPr id="4" name="Marcador de contenido 3">
            <a:extLst>
              <a:ext uri="{FF2B5EF4-FFF2-40B4-BE49-F238E27FC236}">
                <a16:creationId xmlns:a16="http://schemas.microsoft.com/office/drawing/2014/main" id="{7A3C4523-6547-629E-52CE-8A265790A8CF}"/>
              </a:ext>
            </a:extLst>
          </p:cNvPr>
          <p:cNvSpPr>
            <a:spLocks noGrp="1"/>
          </p:cNvSpPr>
          <p:nvPr>
            <p:ph sz="half" idx="2"/>
          </p:nvPr>
        </p:nvSpPr>
        <p:spPr>
          <a:xfrm>
            <a:off x="5417639" y="2335354"/>
            <a:ext cx="4876542" cy="3600835"/>
          </a:xfrm>
        </p:spPr>
        <p:txBody>
          <a:bodyPr/>
          <a:lstStyle/>
          <a:p>
            <a:r>
              <a:rPr lang="es-MX" dirty="0"/>
              <a:t>Bases de la ley de Ohm</a:t>
            </a:r>
          </a:p>
          <a:p>
            <a:endParaRPr lang="es-CL" dirty="0"/>
          </a:p>
        </p:txBody>
      </p:sp>
      <p:pic>
        <p:nvPicPr>
          <p:cNvPr id="4098" name="Picture 2" descr="La Ley de Ohm con ejemplos prácticos – TallerElectronica.com / Blog">
            <a:extLst>
              <a:ext uri="{FF2B5EF4-FFF2-40B4-BE49-F238E27FC236}">
                <a16:creationId xmlns:a16="http://schemas.microsoft.com/office/drawing/2014/main" id="{BC84C46E-C44A-80E0-39C0-83BA4F369B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8312" y="2725443"/>
            <a:ext cx="3074504" cy="3062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470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681386-03B7-99F8-A3F7-1FE17F360D88}"/>
              </a:ext>
            </a:extLst>
          </p:cNvPr>
          <p:cNvSpPr>
            <a:spLocks noGrp="1"/>
          </p:cNvSpPr>
          <p:nvPr>
            <p:ph type="title"/>
          </p:nvPr>
        </p:nvSpPr>
        <p:spPr/>
        <p:txBody>
          <a:bodyPr/>
          <a:lstStyle/>
          <a:p>
            <a:r>
              <a:rPr lang="es-MX" dirty="0"/>
              <a:t>Dimensiones de los cables</a:t>
            </a:r>
            <a:endParaRPr lang="es-CL" dirty="0"/>
          </a:p>
        </p:txBody>
      </p:sp>
      <p:sp>
        <p:nvSpPr>
          <p:cNvPr id="3" name="Marcador de contenido 2">
            <a:extLst>
              <a:ext uri="{FF2B5EF4-FFF2-40B4-BE49-F238E27FC236}">
                <a16:creationId xmlns:a16="http://schemas.microsoft.com/office/drawing/2014/main" id="{DF66CDED-3640-51E1-8713-6DC63166A312}"/>
              </a:ext>
            </a:extLst>
          </p:cNvPr>
          <p:cNvSpPr>
            <a:spLocks noGrp="1"/>
          </p:cNvSpPr>
          <p:nvPr>
            <p:ph idx="1"/>
          </p:nvPr>
        </p:nvSpPr>
        <p:spPr>
          <a:xfrm>
            <a:off x="680322" y="2336873"/>
            <a:ext cx="6065036" cy="3599316"/>
          </a:xfrm>
        </p:spPr>
        <p:txBody>
          <a:bodyPr>
            <a:normAutofit fontScale="92500" lnSpcReduction="20000"/>
          </a:bodyPr>
          <a:lstStyle/>
          <a:p>
            <a:r>
              <a:rPr lang="es-MX" dirty="0"/>
              <a:t>De igual manera para calcular la sección de un cable (espesor) existe una fórmula que se basa en los amperes consumidos y la distancia del conductor que ocuparemos. (A=Pi x R²) estos datos se reemplazan y despejamos nuestra incógnita, pero para este tipo de casos los existen tablas comparativas y de referencia, además existen sitios web que con el ingreso de algunos datos podremos saber con seguridad que diámetro de cable utilizar.</a:t>
            </a:r>
          </a:p>
          <a:p>
            <a:r>
              <a:rPr lang="es-MX" dirty="0"/>
              <a:t>Tenemos que tener en cuenta que a método de prevención sobre dimensionaremos los cables</a:t>
            </a:r>
            <a:endParaRPr lang="es-CL" dirty="0"/>
          </a:p>
        </p:txBody>
      </p:sp>
      <p:pic>
        <p:nvPicPr>
          <p:cNvPr id="5" name="Imagen 4">
            <a:extLst>
              <a:ext uri="{FF2B5EF4-FFF2-40B4-BE49-F238E27FC236}">
                <a16:creationId xmlns:a16="http://schemas.microsoft.com/office/drawing/2014/main" id="{12252886-0A0C-4B02-7818-9C5195A3D2FA}"/>
              </a:ext>
            </a:extLst>
          </p:cNvPr>
          <p:cNvPicPr>
            <a:picLocks noChangeAspect="1"/>
          </p:cNvPicPr>
          <p:nvPr/>
        </p:nvPicPr>
        <p:blipFill rotWithShape="1">
          <a:blip r:embed="rId2"/>
          <a:srcRect l="5323" t="8667" r="3813" b="3333"/>
          <a:stretch/>
        </p:blipFill>
        <p:spPr>
          <a:xfrm>
            <a:off x="8915400" y="411480"/>
            <a:ext cx="2804160" cy="6035040"/>
          </a:xfrm>
          <a:prstGeom prst="rect">
            <a:avLst/>
          </a:prstGeom>
        </p:spPr>
      </p:pic>
    </p:spTree>
    <p:extLst>
      <p:ext uri="{BB962C8B-B14F-4D97-AF65-F5344CB8AC3E}">
        <p14:creationId xmlns:p14="http://schemas.microsoft.com/office/powerpoint/2010/main" val="3572597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3D1764-5DE2-4937-FAF5-1D493E3CB57A}"/>
              </a:ext>
            </a:extLst>
          </p:cNvPr>
          <p:cNvSpPr>
            <a:spLocks noGrp="1"/>
          </p:cNvSpPr>
          <p:nvPr>
            <p:ph type="title"/>
          </p:nvPr>
        </p:nvSpPr>
        <p:spPr/>
        <p:txBody>
          <a:bodyPr/>
          <a:lstStyle/>
          <a:p>
            <a:r>
              <a:rPr lang="es-CL" dirty="0"/>
              <a:t>Bitácora</a:t>
            </a:r>
          </a:p>
        </p:txBody>
      </p:sp>
      <p:graphicFrame>
        <p:nvGraphicFramePr>
          <p:cNvPr id="4" name="Marcador de contenido 3">
            <a:extLst>
              <a:ext uri="{FF2B5EF4-FFF2-40B4-BE49-F238E27FC236}">
                <a16:creationId xmlns:a16="http://schemas.microsoft.com/office/drawing/2014/main" id="{153C21E1-552B-D940-1F1F-2F2CB1D379D6}"/>
              </a:ext>
            </a:extLst>
          </p:cNvPr>
          <p:cNvGraphicFramePr>
            <a:graphicFrameLocks noGrp="1"/>
          </p:cNvGraphicFramePr>
          <p:nvPr>
            <p:ph idx="1"/>
            <p:extLst>
              <p:ext uri="{D42A27DB-BD31-4B8C-83A1-F6EECF244321}">
                <p14:modId xmlns:p14="http://schemas.microsoft.com/office/powerpoint/2010/main" val="1743584424"/>
              </p:ext>
            </p:extLst>
          </p:nvPr>
        </p:nvGraphicFramePr>
        <p:xfrm>
          <a:off x="344556" y="1978989"/>
          <a:ext cx="11357112" cy="4657256"/>
        </p:xfrm>
        <a:graphic>
          <a:graphicData uri="http://schemas.openxmlformats.org/drawingml/2006/table">
            <a:tbl>
              <a:tblPr firstRow="1" bandRow="1">
                <a:tableStyleId>{5C22544A-7EE6-4342-B048-85BDC9FD1C3A}</a:tableStyleId>
              </a:tblPr>
              <a:tblGrid>
                <a:gridCol w="2802706">
                  <a:extLst>
                    <a:ext uri="{9D8B030D-6E8A-4147-A177-3AD203B41FA5}">
                      <a16:colId xmlns:a16="http://schemas.microsoft.com/office/drawing/2014/main" val="2986363993"/>
                    </a:ext>
                  </a:extLst>
                </a:gridCol>
                <a:gridCol w="2802706">
                  <a:extLst>
                    <a:ext uri="{9D8B030D-6E8A-4147-A177-3AD203B41FA5}">
                      <a16:colId xmlns:a16="http://schemas.microsoft.com/office/drawing/2014/main" val="432427928"/>
                    </a:ext>
                  </a:extLst>
                </a:gridCol>
                <a:gridCol w="2802706">
                  <a:extLst>
                    <a:ext uri="{9D8B030D-6E8A-4147-A177-3AD203B41FA5}">
                      <a16:colId xmlns:a16="http://schemas.microsoft.com/office/drawing/2014/main" val="1960928106"/>
                    </a:ext>
                  </a:extLst>
                </a:gridCol>
                <a:gridCol w="2948994">
                  <a:extLst>
                    <a:ext uri="{9D8B030D-6E8A-4147-A177-3AD203B41FA5}">
                      <a16:colId xmlns:a16="http://schemas.microsoft.com/office/drawing/2014/main" val="872276412"/>
                    </a:ext>
                  </a:extLst>
                </a:gridCol>
              </a:tblGrid>
              <a:tr h="265932">
                <a:tc>
                  <a:txBody>
                    <a:bodyPr/>
                    <a:lstStyle/>
                    <a:p>
                      <a:r>
                        <a:rPr lang="es-CL" dirty="0"/>
                        <a:t>Fecha</a:t>
                      </a:r>
                    </a:p>
                    <a:p>
                      <a:endParaRPr lang="es-CL" dirty="0"/>
                    </a:p>
                  </a:txBody>
                  <a:tcPr/>
                </a:tc>
                <a:tc>
                  <a:txBody>
                    <a:bodyPr/>
                    <a:lstStyle/>
                    <a:p>
                      <a:r>
                        <a:rPr lang="es-CL" dirty="0"/>
                        <a:t>Detalle/acción/tarea</a:t>
                      </a:r>
                    </a:p>
                    <a:p>
                      <a:endParaRPr lang="es-CL" dirty="0"/>
                    </a:p>
                  </a:txBody>
                  <a:tcPr/>
                </a:tc>
                <a:tc>
                  <a:txBody>
                    <a:bodyPr/>
                    <a:lstStyle/>
                    <a:p>
                      <a:r>
                        <a:rPr lang="es-CL" dirty="0"/>
                        <a:t>Responsables</a:t>
                      </a:r>
                    </a:p>
                    <a:p>
                      <a:endParaRPr lang="es-CL" dirty="0"/>
                    </a:p>
                  </a:txBody>
                  <a:tcPr/>
                </a:tc>
                <a:tc>
                  <a:txBody>
                    <a:bodyPr/>
                    <a:lstStyle/>
                    <a:p>
                      <a:r>
                        <a:rPr lang="es-CL" dirty="0"/>
                        <a:t>Observaciones generales</a:t>
                      </a:r>
                    </a:p>
                    <a:p>
                      <a:endParaRPr lang="es-CL" dirty="0"/>
                    </a:p>
                  </a:txBody>
                  <a:tcPr/>
                </a:tc>
                <a:extLst>
                  <a:ext uri="{0D108BD9-81ED-4DB2-BD59-A6C34878D82A}">
                    <a16:rowId xmlns:a16="http://schemas.microsoft.com/office/drawing/2014/main" val="2560749624"/>
                  </a:ext>
                </a:extLst>
              </a:tr>
              <a:tr h="725336">
                <a:tc>
                  <a:txBody>
                    <a:bodyPr/>
                    <a:lstStyle/>
                    <a:p>
                      <a:r>
                        <a:rPr lang="es-CL" dirty="0"/>
                        <a:t>02-Dic</a:t>
                      </a:r>
                    </a:p>
                  </a:txBody>
                  <a:tcPr/>
                </a:tc>
                <a:tc>
                  <a:txBody>
                    <a:bodyPr/>
                    <a:lstStyle/>
                    <a:p>
                      <a:r>
                        <a:rPr lang="es-CL" dirty="0"/>
                        <a:t>Se realiza mediciones en componentes del vehículo</a:t>
                      </a:r>
                    </a:p>
                  </a:txBody>
                  <a:tcPr/>
                </a:tc>
                <a:tc>
                  <a:txBody>
                    <a:bodyPr/>
                    <a:lstStyle/>
                    <a:p>
                      <a:r>
                        <a:rPr lang="es-CL" dirty="0"/>
                        <a:t>Cristopher pinilla</a:t>
                      </a:r>
                    </a:p>
                  </a:txBody>
                  <a:tcPr/>
                </a:tc>
                <a:tc>
                  <a:txBody>
                    <a:bodyPr/>
                    <a:lstStyle/>
                    <a:p>
                      <a:r>
                        <a:rPr lang="es-CL" dirty="0"/>
                        <a:t>12.75V la </a:t>
                      </a:r>
                      <a:r>
                        <a:rPr lang="es-CL" dirty="0" err="1"/>
                        <a:t>bateria</a:t>
                      </a:r>
                      <a:r>
                        <a:rPr lang="es-CL" dirty="0"/>
                        <a:t> </a:t>
                      </a:r>
                    </a:p>
                    <a:p>
                      <a:r>
                        <a:rPr lang="es-CL" dirty="0"/>
                        <a:t>0.8 ohm el motor de arranque</a:t>
                      </a:r>
                    </a:p>
                  </a:txBody>
                  <a:tcPr/>
                </a:tc>
                <a:extLst>
                  <a:ext uri="{0D108BD9-81ED-4DB2-BD59-A6C34878D82A}">
                    <a16:rowId xmlns:a16="http://schemas.microsoft.com/office/drawing/2014/main" val="1786777463"/>
                  </a:ext>
                </a:extLst>
              </a:tr>
              <a:tr h="725336">
                <a:tc>
                  <a:txBody>
                    <a:bodyPr/>
                    <a:lstStyle/>
                    <a:p>
                      <a:r>
                        <a:rPr lang="es-CL" dirty="0"/>
                        <a:t>03-Dic</a:t>
                      </a:r>
                    </a:p>
                  </a:txBody>
                  <a:tcPr/>
                </a:tc>
                <a:tc>
                  <a:txBody>
                    <a:bodyPr/>
                    <a:lstStyle/>
                    <a:p>
                      <a:r>
                        <a:rPr lang="es-CL" dirty="0"/>
                        <a:t>Se mide la distancia de vehículo entre el capo y el maletero para ver cuanto necesitaremos para el proyecto</a:t>
                      </a:r>
                    </a:p>
                  </a:txBody>
                  <a:tcPr/>
                </a:tc>
                <a:tc>
                  <a:txBody>
                    <a:bodyPr/>
                    <a:lstStyle/>
                    <a:p>
                      <a:r>
                        <a:rPr lang="es-CL" dirty="0"/>
                        <a:t>Cristopher pinilla</a:t>
                      </a:r>
                    </a:p>
                  </a:txBody>
                  <a:tcPr/>
                </a:tc>
                <a:tc>
                  <a:txBody>
                    <a:bodyPr/>
                    <a:lstStyle/>
                    <a:p>
                      <a:r>
                        <a:rPr lang="es-CL" dirty="0"/>
                        <a:t>La distancia es de 430cm</a:t>
                      </a:r>
                    </a:p>
                    <a:p>
                      <a:r>
                        <a:rPr lang="es-CL" dirty="0"/>
                        <a:t>Ocuparemos alrededor de tres metros</a:t>
                      </a:r>
                    </a:p>
                  </a:txBody>
                  <a:tcPr/>
                </a:tc>
                <a:extLst>
                  <a:ext uri="{0D108BD9-81ED-4DB2-BD59-A6C34878D82A}">
                    <a16:rowId xmlns:a16="http://schemas.microsoft.com/office/drawing/2014/main" val="509198977"/>
                  </a:ext>
                </a:extLst>
              </a:tr>
              <a:tr h="725336">
                <a:tc>
                  <a:txBody>
                    <a:bodyPr/>
                    <a:lstStyle/>
                    <a:p>
                      <a:r>
                        <a:rPr lang="es-CL" dirty="0"/>
                        <a:t>04-Dic</a:t>
                      </a:r>
                    </a:p>
                  </a:txBody>
                  <a:tcPr/>
                </a:tc>
                <a:tc>
                  <a:txBody>
                    <a:bodyPr/>
                    <a:lstStyle/>
                    <a:p>
                      <a:r>
                        <a:rPr lang="es-CL" dirty="0"/>
                        <a:t>Elaboración de diagrama eléctrico para el proyecto</a:t>
                      </a:r>
                    </a:p>
                  </a:txBody>
                  <a:tcPr/>
                </a:tc>
                <a:tc>
                  <a:txBody>
                    <a:bodyPr/>
                    <a:lstStyle/>
                    <a:p>
                      <a:r>
                        <a:rPr lang="es-CL" dirty="0"/>
                        <a:t>Rogers Ormeño</a:t>
                      </a:r>
                    </a:p>
                  </a:txBody>
                  <a:tcPr/>
                </a:tc>
                <a:tc>
                  <a:txBody>
                    <a:bodyPr/>
                    <a:lstStyle/>
                    <a:p>
                      <a:endParaRPr lang="es-CL"/>
                    </a:p>
                  </a:txBody>
                  <a:tcPr/>
                </a:tc>
                <a:extLst>
                  <a:ext uri="{0D108BD9-81ED-4DB2-BD59-A6C34878D82A}">
                    <a16:rowId xmlns:a16="http://schemas.microsoft.com/office/drawing/2014/main" val="2660253175"/>
                  </a:ext>
                </a:extLst>
              </a:tr>
              <a:tr h="725336">
                <a:tc>
                  <a:txBody>
                    <a:bodyPr/>
                    <a:lstStyle/>
                    <a:p>
                      <a:r>
                        <a:rPr lang="es-CL" dirty="0"/>
                        <a:t>05-Dic</a:t>
                      </a:r>
                    </a:p>
                  </a:txBody>
                  <a:tcPr/>
                </a:tc>
                <a:tc>
                  <a:txBody>
                    <a:bodyPr/>
                    <a:lstStyle/>
                    <a:p>
                      <a:r>
                        <a:rPr lang="es-CL" dirty="0"/>
                        <a:t>Realización de cálculos del circuito </a:t>
                      </a:r>
                    </a:p>
                  </a:txBody>
                  <a:tcPr/>
                </a:tc>
                <a:tc>
                  <a:txBody>
                    <a:bodyPr/>
                    <a:lstStyle/>
                    <a:p>
                      <a:r>
                        <a:rPr lang="es-CL" dirty="0"/>
                        <a:t>Rogers Ormeño</a:t>
                      </a:r>
                    </a:p>
                    <a:p>
                      <a:endParaRPr lang="es-CL" dirty="0"/>
                    </a:p>
                  </a:txBody>
                  <a:tcPr/>
                </a:tc>
                <a:tc>
                  <a:txBody>
                    <a:bodyPr/>
                    <a:lstStyle/>
                    <a:p>
                      <a:endParaRPr lang="es-CL" dirty="0"/>
                    </a:p>
                  </a:txBody>
                  <a:tcPr/>
                </a:tc>
                <a:extLst>
                  <a:ext uri="{0D108BD9-81ED-4DB2-BD59-A6C34878D82A}">
                    <a16:rowId xmlns:a16="http://schemas.microsoft.com/office/drawing/2014/main" val="3566326003"/>
                  </a:ext>
                </a:extLst>
              </a:tr>
            </a:tbl>
          </a:graphicData>
        </a:graphic>
      </p:graphicFrame>
    </p:spTree>
    <p:extLst>
      <p:ext uri="{BB962C8B-B14F-4D97-AF65-F5344CB8AC3E}">
        <p14:creationId xmlns:p14="http://schemas.microsoft.com/office/powerpoint/2010/main" val="3353608997"/>
      </p:ext>
    </p:extLst>
  </p:cSld>
  <p:clrMapOvr>
    <a:masterClrMapping/>
  </p:clrMapOvr>
</p:sld>
</file>

<file path=ppt/theme/theme1.xml><?xml version="1.0" encoding="utf-8"?>
<a:theme xmlns:a="http://schemas.openxmlformats.org/drawingml/2006/main" name="Berlín">
  <a:themeElements>
    <a:clrScheme name="Berlin">
      <a:dk1>
        <a:sysClr val="windowText" lastClr="000000"/>
      </a:dk1>
      <a:lt1>
        <a:sysClr val="window" lastClr="FFFFFF"/>
      </a:lt1>
      <a:dk2>
        <a:srgbClr val="6A9C41"/>
      </a:dk2>
      <a:lt2>
        <a:srgbClr val="E7E6E6"/>
      </a:lt2>
      <a:accent1>
        <a:srgbClr val="A7D535"/>
      </a:accent1>
      <a:accent2>
        <a:srgbClr val="EACA4F"/>
      </a:accent2>
      <a:accent3>
        <a:srgbClr val="FD9850"/>
      </a:accent3>
      <a:accent4>
        <a:srgbClr val="F46442"/>
      </a:accent4>
      <a:accent5>
        <a:srgbClr val="54D289"/>
      </a:accent5>
      <a:accent6>
        <a:srgbClr val="6AD8CB"/>
      </a:accent6>
      <a:hlink>
        <a:srgbClr val="CAFB50"/>
      </a:hlink>
      <a:folHlink>
        <a:srgbClr val="DEFF8B"/>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38000"/>
              </a:schemeClr>
            </a:gs>
            <a:gs pos="50000">
              <a:schemeClr val="phClr">
                <a:shade val="100000"/>
                <a:hueMod val="100000"/>
                <a:satMod val="110000"/>
                <a:lumMod val="130000"/>
              </a:schemeClr>
            </a:gs>
            <a:gs pos="100000">
              <a:schemeClr val="phClr">
                <a:shade val="78000"/>
                <a:hueMod val="106000"/>
                <a:satMod val="120000"/>
                <a:lumMod val="7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B587E4A9-1405-4B4F-8BC3-512EE08D2EBF}"/>
    </a:ext>
  </a:extLst>
</a:theme>
</file>

<file path=docProps/app.xml><?xml version="1.0" encoding="utf-8"?>
<Properties xmlns="http://schemas.openxmlformats.org/officeDocument/2006/extended-properties" xmlns:vt="http://schemas.openxmlformats.org/officeDocument/2006/docPropsVTypes">
  <Template>TM04033917[[fn=Berlín]]</Template>
  <TotalTime>624</TotalTime>
  <Words>1306</Words>
  <Application>Microsoft Macintosh PowerPoint</Application>
  <PresentationFormat>Panorámica</PresentationFormat>
  <Paragraphs>97</Paragraphs>
  <Slides>14</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14</vt:i4>
      </vt:variant>
    </vt:vector>
  </HeadingPairs>
  <TitlesOfParts>
    <vt:vector size="17" baseType="lpstr">
      <vt:lpstr>Arial</vt:lpstr>
      <vt:lpstr>Trebuchet MS</vt:lpstr>
      <vt:lpstr>Berlín</vt:lpstr>
      <vt:lpstr>Batería Auxiliar</vt:lpstr>
      <vt:lpstr>Proyecto</vt:lpstr>
      <vt:lpstr>Temas a investigar</vt:lpstr>
      <vt:lpstr>Objetivo</vt:lpstr>
      <vt:lpstr>Preguntas</vt:lpstr>
      <vt:lpstr>Temas iniciales a abordar</vt:lpstr>
      <vt:lpstr>Cronograma </vt:lpstr>
      <vt:lpstr>Herramientas y sus necesitades</vt:lpstr>
      <vt:lpstr>Realización de medidas</vt:lpstr>
      <vt:lpstr>Presentación de PowerPoint</vt:lpstr>
      <vt:lpstr>Conceptos matemáticos </vt:lpstr>
      <vt:lpstr>Aplicación de las matemáticas</vt:lpstr>
      <vt:lpstr>Dimensiones de los cables</vt:lpstr>
      <vt:lpstr>Bitácora</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Batería auxiliar</dc:title>
  <dc:creator>MICHEL MIREYA VILLANUEVA VENEGAS</dc:creator>
  <cp:lastModifiedBy>LISSETTE ANDREA SALAMANCA MELLA</cp:lastModifiedBy>
  <cp:revision>14</cp:revision>
  <dcterms:created xsi:type="dcterms:W3CDTF">2023-11-24T01:13:15Z</dcterms:created>
  <dcterms:modified xsi:type="dcterms:W3CDTF">2023-12-13T12:21:15Z</dcterms:modified>
</cp:coreProperties>
</file>