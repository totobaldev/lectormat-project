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comments/comment6.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MOU" lastIdx="8" clrIdx="0">
    <p:extLst>
      <p:ext uri="{19B8F6BF-5375-455C-9EA6-DF929625EA0E}">
        <p15:presenceInfo xmlns:p15="http://schemas.microsoft.com/office/powerpoint/2012/main" userId="Microsoft Office 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624" autoAdjust="0"/>
    <p:restoredTop sz="94660"/>
  </p:normalViewPr>
  <p:slideViewPr>
    <p:cSldViewPr snapToGrid="0">
      <p:cViewPr varScale="1">
        <p:scale>
          <a:sx n="88" d="100"/>
          <a:sy n="88" d="100"/>
        </p:scale>
        <p:origin x="200" y="6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3-12-23T19:54:04.836" idx="2">
    <p:pos x="10" y="10"/>
    <p:text>redactar en tercera persona</p:text>
    <p:extLst>
      <p:ext uri="{C676402C-5697-4E1C-873F-D02D1690AC5C}">
        <p15:threadingInfo xmlns:p15="http://schemas.microsoft.com/office/powerpoint/2012/main" timeZoneBias="180"/>
      </p:ext>
    </p:extLst>
  </p:cm>
  <p:cm authorId="1" dt="2023-12-23T19:54:27.486" idx="3">
    <p:pos x="146" y="146"/>
    <p:text>buen uso de referencias bibliográficas</p:text>
    <p:extLst>
      <p:ext uri="{C676402C-5697-4E1C-873F-D02D1690AC5C}">
        <p15:threadingInfo xmlns:p15="http://schemas.microsoft.com/office/powerpoint/2012/main" timeZoneBias="1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3-12-23T19:55:22.311" idx="4">
    <p:pos x="10" y="10"/>
    <p:text>muy buen objetivo</p:text>
    <p:extLst>
      <p:ext uri="{C676402C-5697-4E1C-873F-D02D1690AC5C}">
        <p15:threadingInfo xmlns:p15="http://schemas.microsoft.com/office/powerpoint/2012/main" timeZoneBias="18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3-12-23T19:56:27.079" idx="5">
    <p:pos x="10" y="10"/>
    <p:text>muy bien! se identifica manejo de varios puntos de vista para los temas planteados</p:text>
    <p:extLst>
      <p:ext uri="{C676402C-5697-4E1C-873F-D02D1690AC5C}">
        <p15:threadingInfo xmlns:p15="http://schemas.microsoft.com/office/powerpoint/2012/main" timeZoneBias="18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3-12-23T20:03:15.020" idx="6">
    <p:pos x="10" y="10"/>
    <p:text>los cálculos bien explicados, y su descripción; ahora bien, que ocurre con el elevador o el automóvil si no se cumple ésta medición?</p:text>
    <p:extLst>
      <p:ext uri="{C676402C-5697-4E1C-873F-D02D1690AC5C}">
        <p15:threadingInfo xmlns:p15="http://schemas.microsoft.com/office/powerpoint/2012/main" timeZoneBias="18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3-12-23T20:04:03.111" idx="7">
    <p:pos x="10" y="10"/>
    <p:text>buen planteamiento</p:text>
    <p:extLst>
      <p:ext uri="{C676402C-5697-4E1C-873F-D02D1690AC5C}">
        <p15:threadingInfo xmlns:p15="http://schemas.microsoft.com/office/powerpoint/2012/main" timeZoneBias="18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1" dt="2023-12-23T20:04:18.971" idx="8">
    <p:pos x="1783" y="1006"/>
    <p:text>buenas conclusiones, para una próxima oportunidad sería necesario involucrar más física en el uso del elevador, es decir, porque es importante que le móvil esté centrado o que se cumpla con la razón trigonométrica (en los brazos), cuántos bares necesito si necesitamos elevar un móvil de mayor peso?</p:text>
    <p:extLst>
      <p:ext uri="{C676402C-5697-4E1C-873F-D02D1690AC5C}">
        <p15:threadingInfo xmlns:p15="http://schemas.microsoft.com/office/powerpoint/2012/main" timeZoneBias="1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1B8CBA-938B-42BA-BE48-129F9CF5C847}" type="datetimeFigureOut">
              <a:rPr lang="es-CL" smtClean="0"/>
              <a:t>23-12-23</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F2566E-9C59-4305-8A08-71E1F1FB3D28}" type="slidenum">
              <a:rPr lang="es-CL" smtClean="0"/>
              <a:t>‹Nº›</a:t>
            </a:fld>
            <a:endParaRPr lang="es-CL"/>
          </a:p>
        </p:txBody>
      </p:sp>
    </p:spTree>
    <p:extLst>
      <p:ext uri="{BB962C8B-B14F-4D97-AF65-F5344CB8AC3E}">
        <p14:creationId xmlns:p14="http://schemas.microsoft.com/office/powerpoint/2010/main" val="4433770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12/23/23</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‹Nº›</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12/23/23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12/23/23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12/23/23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12/23/23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12/23/23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12/23/23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12/23/23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s-ES"/>
              <a:t>Haga clic para modificar el estilo de título del patrón</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12/23/23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12/23/23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12/23/23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s-ES"/>
              <a:t>Haga clic para modificar el estilo de título del patrón</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12/23/23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12/23/23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s-ES"/>
              <a:t>Haga clic para modificar el estilo de título del patrón</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s-ES"/>
              <a:t>Haga clic para modificar los estilos de texto del patrón</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12/23/23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s-ES"/>
              <a:t>Haga clic para modificar el estilo de título del patrón</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s-ES"/>
              <a:t>Haga clic para modificar los estilos de texto del patrón</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12/23/23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12/23/23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8" name="Title 1"/>
          <p:cNvSpPr>
            <a:spLocks noGrp="1"/>
          </p:cNvSpPr>
          <p:nvPr>
            <p:ph type="title"/>
          </p:nvPr>
        </p:nvSpPr>
        <p:spPr>
          <a:xfrm>
            <a:off x="685801" y="609600"/>
            <a:ext cx="10131425" cy="1456267"/>
          </a:xfrm>
        </p:spPr>
        <p:txBody>
          <a:bodyPr/>
          <a:lstStyle/>
          <a:p>
            <a:r>
              <a:rPr lang="es-ES"/>
              <a:t>Haga clic para modificar el estilo de título del patrón</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12/23/23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12/23/23</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‹Nº›</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omments" Target="../comments/comment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omments" Target="../comments/comment4.xml"/><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comments" Target="../comments/comment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comments" Target="../comments/comment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DAA1AB-42FC-1949-F00C-05D4AC39648B}"/>
              </a:ext>
            </a:extLst>
          </p:cNvPr>
          <p:cNvSpPr>
            <a:spLocks noGrp="1"/>
          </p:cNvSpPr>
          <p:nvPr>
            <p:ph type="ctrTitle"/>
          </p:nvPr>
        </p:nvSpPr>
        <p:spPr>
          <a:xfrm>
            <a:off x="2160232" y="1066801"/>
            <a:ext cx="7197726" cy="2421464"/>
          </a:xfrm>
        </p:spPr>
        <p:txBody>
          <a:bodyPr anchor="t"/>
          <a:lstStyle/>
          <a:p>
            <a:pPr algn="ctr"/>
            <a:r>
              <a:rPr lang="es-MX" dirty="0">
                <a:latin typeface="Arial" panose="020B0604020202020204" pitchFamily="34" charset="0"/>
                <a:cs typeface="Arial" panose="020B0604020202020204" pitchFamily="34" charset="0"/>
              </a:rPr>
              <a:t>Elevador para vehículos eléctricos </a:t>
            </a:r>
            <a:endParaRPr lang="es-CL" dirty="0">
              <a:latin typeface="Arial" panose="020B0604020202020204" pitchFamily="34" charset="0"/>
              <a:cs typeface="Arial" panose="020B0604020202020204" pitchFamily="34" charset="0"/>
            </a:endParaRPr>
          </a:p>
        </p:txBody>
      </p:sp>
      <p:sp>
        <p:nvSpPr>
          <p:cNvPr id="3" name="Subtítulo 2">
            <a:extLst>
              <a:ext uri="{FF2B5EF4-FFF2-40B4-BE49-F238E27FC236}">
                <a16:creationId xmlns:a16="http://schemas.microsoft.com/office/drawing/2014/main" id="{8FBD261B-A4BB-45A9-6D42-4754F745CD49}"/>
              </a:ext>
            </a:extLst>
          </p:cNvPr>
          <p:cNvSpPr>
            <a:spLocks noGrp="1"/>
          </p:cNvSpPr>
          <p:nvPr>
            <p:ph type="subTitle" idx="1"/>
          </p:nvPr>
        </p:nvSpPr>
        <p:spPr>
          <a:xfrm>
            <a:off x="5196394" y="3478728"/>
            <a:ext cx="7551939" cy="3551727"/>
          </a:xfrm>
        </p:spPr>
        <p:txBody>
          <a:bodyPr>
            <a:normAutofit fontScale="92500" lnSpcReduction="10000"/>
          </a:bodyPr>
          <a:lstStyle/>
          <a:p>
            <a:pPr algn="l"/>
            <a:r>
              <a:rPr lang="es-MX" sz="1600" b="1" dirty="0">
                <a:latin typeface="Arial" panose="020B0604020202020204" pitchFamily="34" charset="0"/>
                <a:cs typeface="Arial" panose="020B0604020202020204" pitchFamily="34" charset="0"/>
              </a:rPr>
              <a:t>Carrera:                                   </a:t>
            </a:r>
            <a:r>
              <a:rPr lang="es-MX" sz="1600" dirty="0">
                <a:latin typeface="Arial" panose="020B0604020202020204" pitchFamily="34" charset="0"/>
                <a:cs typeface="Arial" panose="020B0604020202020204" pitchFamily="34" charset="0"/>
              </a:rPr>
              <a:t>mecánica y electromovilidad </a:t>
            </a:r>
            <a:endParaRPr lang="es-MX" sz="1600" b="1" dirty="0">
              <a:latin typeface="Arial" panose="020B0604020202020204" pitchFamily="34" charset="0"/>
              <a:cs typeface="Arial" panose="020B0604020202020204" pitchFamily="34" charset="0"/>
            </a:endParaRPr>
          </a:p>
          <a:p>
            <a:pPr algn="l"/>
            <a:r>
              <a:rPr lang="es-MX" sz="1600" b="1" dirty="0">
                <a:latin typeface="Arial" panose="020B0604020202020204" pitchFamily="34" charset="0"/>
                <a:cs typeface="Arial" panose="020B0604020202020204" pitchFamily="34" charset="0"/>
              </a:rPr>
              <a:t>Asignatura:	</a:t>
            </a:r>
            <a:r>
              <a:rPr lang="es-MX" sz="1600" dirty="0">
                <a:latin typeface="Arial" panose="020B0604020202020204" pitchFamily="34" charset="0"/>
                <a:cs typeface="Arial" panose="020B0604020202020204" pitchFamily="34" charset="0"/>
              </a:rPr>
              <a:t>                            Funciones y Geometría</a:t>
            </a:r>
          </a:p>
          <a:p>
            <a:pPr algn="l"/>
            <a:r>
              <a:rPr lang="es-MX" sz="1600" b="1" dirty="0">
                <a:latin typeface="Arial" panose="020B0604020202020204" pitchFamily="34" charset="0"/>
                <a:cs typeface="Arial" panose="020B0604020202020204" pitchFamily="34" charset="0"/>
              </a:rPr>
              <a:t>Sección:	</a:t>
            </a:r>
            <a:r>
              <a:rPr lang="es-MX" sz="1600" dirty="0">
                <a:latin typeface="Arial" panose="020B0604020202020204" pitchFamily="34" charset="0"/>
                <a:cs typeface="Arial" panose="020B0604020202020204" pitchFamily="34" charset="0"/>
              </a:rPr>
              <a:t>                             21.</a:t>
            </a:r>
          </a:p>
          <a:p>
            <a:pPr algn="l"/>
            <a:r>
              <a:rPr lang="es-MX" sz="1600" b="1" dirty="0">
                <a:latin typeface="Arial" panose="020B0604020202020204" pitchFamily="34" charset="0"/>
                <a:cs typeface="Arial" panose="020B0604020202020204" pitchFamily="34" charset="0"/>
              </a:rPr>
              <a:t>Nombre del docente:          </a:t>
            </a:r>
            <a:r>
              <a:rPr lang="es-MX" sz="1600" dirty="0">
                <a:latin typeface="Arial" panose="020B0604020202020204" pitchFamily="34" charset="0"/>
                <a:cs typeface="Arial" panose="020B0604020202020204" pitchFamily="34" charset="0"/>
              </a:rPr>
              <a:t>Lisette Salamanca</a:t>
            </a:r>
            <a:endParaRPr lang="es-MX" sz="1600" b="1" dirty="0">
              <a:latin typeface="Arial" panose="020B0604020202020204" pitchFamily="34" charset="0"/>
              <a:cs typeface="Arial" panose="020B0604020202020204" pitchFamily="34" charset="0"/>
            </a:endParaRPr>
          </a:p>
          <a:p>
            <a:pPr algn="l"/>
            <a:r>
              <a:rPr lang="es-MX" sz="1600" b="1" dirty="0">
                <a:latin typeface="Arial" panose="020B0604020202020204" pitchFamily="34" charset="0"/>
                <a:cs typeface="Arial" panose="020B0604020202020204" pitchFamily="34" charset="0"/>
              </a:rPr>
              <a:t>integrantes del grupo:    </a:t>
            </a:r>
            <a:r>
              <a:rPr lang="es-MX" sz="1600" dirty="0">
                <a:latin typeface="Arial" panose="020B0604020202020204" pitchFamily="34" charset="0"/>
                <a:cs typeface="Arial" panose="020B0604020202020204" pitchFamily="34" charset="0"/>
              </a:rPr>
              <a:t>Rodolfo Herrera</a:t>
            </a:r>
          </a:p>
          <a:p>
            <a:pPr algn="l"/>
            <a:r>
              <a:rPr lang="es-MX" sz="1600" dirty="0">
                <a:latin typeface="Arial" panose="020B0604020202020204" pitchFamily="34" charset="0"/>
                <a:cs typeface="Arial" panose="020B0604020202020204" pitchFamily="34" charset="0"/>
              </a:rPr>
              <a:t>                                                      Fernando Rivera</a:t>
            </a:r>
          </a:p>
          <a:p>
            <a:pPr algn="l"/>
            <a:r>
              <a:rPr lang="es-MX" sz="1600" dirty="0">
                <a:latin typeface="Arial" panose="020B0604020202020204" pitchFamily="34" charset="0"/>
                <a:cs typeface="Arial" panose="020B0604020202020204" pitchFamily="34" charset="0"/>
              </a:rPr>
              <a:t>                                                      Sebastián Roa</a:t>
            </a:r>
          </a:p>
          <a:p>
            <a:pPr algn="l"/>
            <a:r>
              <a:rPr lang="es-MX" sz="1600" dirty="0">
                <a:latin typeface="Arial" panose="020B0604020202020204" pitchFamily="34" charset="0"/>
                <a:cs typeface="Arial" panose="020B0604020202020204" pitchFamily="34" charset="0"/>
              </a:rPr>
              <a:t>                                                      </a:t>
            </a:r>
            <a:r>
              <a:rPr lang="es-MX" sz="1600" dirty="0" err="1">
                <a:latin typeface="Arial" panose="020B0604020202020204" pitchFamily="34" charset="0"/>
                <a:cs typeface="Arial" panose="020B0604020202020204" pitchFamily="34" charset="0"/>
              </a:rPr>
              <a:t>Stiven</a:t>
            </a:r>
            <a:r>
              <a:rPr lang="es-MX" sz="1600" dirty="0">
                <a:latin typeface="Arial" panose="020B0604020202020204" pitchFamily="34" charset="0"/>
                <a:cs typeface="Arial" panose="020B0604020202020204" pitchFamily="34" charset="0"/>
              </a:rPr>
              <a:t> Quevedo</a:t>
            </a:r>
          </a:p>
          <a:p>
            <a:pPr algn="l"/>
            <a:r>
              <a:rPr lang="es-MX" sz="1600" dirty="0">
                <a:latin typeface="Arial" panose="020B0604020202020204" pitchFamily="34" charset="0"/>
                <a:cs typeface="Arial" panose="020B0604020202020204" pitchFamily="34" charset="0"/>
              </a:rPr>
              <a:t>                                                                                        </a:t>
            </a:r>
          </a:p>
          <a:p>
            <a:pPr algn="l"/>
            <a:r>
              <a:rPr lang="es-MX" sz="1600" dirty="0">
                <a:latin typeface="Arial" panose="020B0604020202020204" pitchFamily="34" charset="0"/>
                <a:cs typeface="Arial" panose="020B0604020202020204" pitchFamily="34" charset="0"/>
              </a:rPr>
              <a:t>                                                                                   07 de diciembre de 2023</a:t>
            </a:r>
          </a:p>
          <a:p>
            <a:pPr algn="l"/>
            <a:endParaRPr lang="es-MX" dirty="0"/>
          </a:p>
          <a:p>
            <a:pPr algn="l"/>
            <a:endParaRPr lang="es-CL" dirty="0"/>
          </a:p>
        </p:txBody>
      </p:sp>
      <p:pic>
        <p:nvPicPr>
          <p:cNvPr id="4" name="Imagen 3">
            <a:extLst>
              <a:ext uri="{FF2B5EF4-FFF2-40B4-BE49-F238E27FC236}">
                <a16:creationId xmlns:a16="http://schemas.microsoft.com/office/drawing/2014/main" id="{C925FAD9-F22C-34C3-4B3F-E7126B578805}"/>
              </a:ext>
            </a:extLst>
          </p:cNvPr>
          <p:cNvPicPr>
            <a:picLocks noChangeAspect="1"/>
          </p:cNvPicPr>
          <p:nvPr/>
        </p:nvPicPr>
        <p:blipFill>
          <a:blip r:embed="rId2"/>
          <a:stretch>
            <a:fillRect/>
          </a:stretch>
        </p:blipFill>
        <p:spPr>
          <a:xfrm>
            <a:off x="204185" y="3658117"/>
            <a:ext cx="4473345" cy="2801367"/>
          </a:xfrm>
          <a:prstGeom prst="rect">
            <a:avLst/>
          </a:prstGeom>
        </p:spPr>
      </p:pic>
    </p:spTree>
    <p:extLst>
      <p:ext uri="{BB962C8B-B14F-4D97-AF65-F5344CB8AC3E}">
        <p14:creationId xmlns:p14="http://schemas.microsoft.com/office/powerpoint/2010/main" val="157029511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D20658-9140-C3A0-943C-EF1FDA797B57}"/>
              </a:ext>
            </a:extLst>
          </p:cNvPr>
          <p:cNvSpPr>
            <a:spLocks noGrp="1"/>
          </p:cNvSpPr>
          <p:nvPr>
            <p:ph type="title"/>
          </p:nvPr>
        </p:nvSpPr>
        <p:spPr>
          <a:xfrm>
            <a:off x="685801" y="925497"/>
            <a:ext cx="10131425" cy="1456267"/>
          </a:xfrm>
        </p:spPr>
        <p:txBody>
          <a:bodyPr/>
          <a:lstStyle/>
          <a:p>
            <a:pPr algn="ctr"/>
            <a:r>
              <a:rPr lang="es-MX" dirty="0"/>
              <a:t>Definición del proyecto</a:t>
            </a:r>
            <a:endParaRPr lang="es-CL" dirty="0"/>
          </a:p>
        </p:txBody>
      </p:sp>
      <p:sp>
        <p:nvSpPr>
          <p:cNvPr id="3" name="Marcador de contenido 2">
            <a:extLst>
              <a:ext uri="{FF2B5EF4-FFF2-40B4-BE49-F238E27FC236}">
                <a16:creationId xmlns:a16="http://schemas.microsoft.com/office/drawing/2014/main" id="{E9802891-1767-82B5-C193-68675ABDBB06}"/>
              </a:ext>
            </a:extLst>
          </p:cNvPr>
          <p:cNvSpPr>
            <a:spLocks noGrp="1"/>
          </p:cNvSpPr>
          <p:nvPr>
            <p:ph idx="1"/>
          </p:nvPr>
        </p:nvSpPr>
        <p:spPr>
          <a:xfrm>
            <a:off x="685800" y="1604433"/>
            <a:ext cx="10131425" cy="3649133"/>
          </a:xfrm>
        </p:spPr>
        <p:txBody>
          <a:bodyPr anchor="ctr"/>
          <a:lstStyle/>
          <a:p>
            <a:pPr algn="just"/>
            <a:r>
              <a:rPr lang="es-MX" dirty="0">
                <a:latin typeface="Arial" panose="020B0604020202020204" pitchFamily="34" charset="0"/>
                <a:cs typeface="Arial" panose="020B0604020202020204" pitchFamily="34" charset="0"/>
              </a:rPr>
              <a:t>El proyecto consiste en la modificación de un e</a:t>
            </a:r>
            <a:r>
              <a:rPr lang="es-CL" sz="1800" dirty="0">
                <a:effectLst/>
                <a:latin typeface="Arial" panose="020B0604020202020204" pitchFamily="34" charset="0"/>
                <a:ea typeface="Times New Roman" panose="02020603050405020304" pitchFamily="18" charset="0"/>
                <a:cs typeface="Arial" panose="020B0604020202020204" pitchFamily="34" charset="0"/>
              </a:rPr>
              <a:t>levador electrohidráulico  tradicional de 4 toneladas. Este,</a:t>
            </a:r>
            <a:r>
              <a:rPr lang="es-CL" dirty="0">
                <a:latin typeface="Arial" panose="020B0604020202020204" pitchFamily="34" charset="0"/>
                <a:ea typeface="Times New Roman" panose="02020603050405020304" pitchFamily="18" charset="0"/>
                <a:cs typeface="Arial" panose="020B0604020202020204" pitchFamily="34" charset="0"/>
              </a:rPr>
              <a:t> lo adaptaremos para elevar automóviles eléctricos, se elevarán de cada rueda independientemente, con el fin de facilitar la intervención, ya sea para extraer la batería del automóvil, para mantenciones al sistema eléctrico o electrónico, o para lo que se estime conveniente su uso. Esto ayudará a una mayor eficiencia y seguridad durante la intervención.</a:t>
            </a:r>
            <a:endParaRPr lang="es-CL"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13892157"/>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D20658-9140-C3A0-943C-EF1FDA797B57}"/>
              </a:ext>
            </a:extLst>
          </p:cNvPr>
          <p:cNvSpPr>
            <a:spLocks noGrp="1"/>
          </p:cNvSpPr>
          <p:nvPr>
            <p:ph type="title"/>
          </p:nvPr>
        </p:nvSpPr>
        <p:spPr>
          <a:xfrm>
            <a:off x="685801" y="226381"/>
            <a:ext cx="10131425" cy="1456267"/>
          </a:xfrm>
        </p:spPr>
        <p:txBody>
          <a:bodyPr/>
          <a:lstStyle/>
          <a:p>
            <a:pPr algn="ctr"/>
            <a:r>
              <a:rPr lang="es-MX" dirty="0"/>
              <a:t>Tema de investigación, nociones matemáticas y problemática a abordar </a:t>
            </a:r>
            <a:endParaRPr lang="es-CL" dirty="0"/>
          </a:p>
        </p:txBody>
      </p:sp>
      <p:sp>
        <p:nvSpPr>
          <p:cNvPr id="3" name="Marcador de contenido 2">
            <a:extLst>
              <a:ext uri="{FF2B5EF4-FFF2-40B4-BE49-F238E27FC236}">
                <a16:creationId xmlns:a16="http://schemas.microsoft.com/office/drawing/2014/main" id="{E9802891-1767-82B5-C193-68675ABDBB06}"/>
              </a:ext>
            </a:extLst>
          </p:cNvPr>
          <p:cNvSpPr>
            <a:spLocks noGrp="1"/>
          </p:cNvSpPr>
          <p:nvPr>
            <p:ph idx="1"/>
          </p:nvPr>
        </p:nvSpPr>
        <p:spPr>
          <a:xfrm>
            <a:off x="685801" y="1682648"/>
            <a:ext cx="10820398" cy="4948971"/>
          </a:xfrm>
        </p:spPr>
        <p:txBody>
          <a:bodyPr anchor="t">
            <a:normAutofit fontScale="92500"/>
          </a:bodyPr>
          <a:lstStyle/>
          <a:p>
            <a:pPr algn="just">
              <a:spcAft>
                <a:spcPts val="800"/>
              </a:spcAft>
            </a:pPr>
            <a:r>
              <a:rPr lang="es-CL" sz="1800" dirty="0">
                <a:effectLst/>
                <a:latin typeface="Arial" panose="020B0604020202020204" pitchFamily="34" charset="0"/>
                <a:ea typeface="Times New Roman" panose="02020603050405020304" pitchFamily="18" charset="0"/>
                <a:cs typeface="Times New Roman" panose="02020603050405020304" pitchFamily="18" charset="0"/>
              </a:rPr>
              <a:t>La electromovilidad ha crecido considerablemente en los últimos años.</a:t>
            </a:r>
            <a:r>
              <a:rPr lang="es-CL" dirty="0">
                <a:latin typeface="Calibri" panose="020F0502020204030204" pitchFamily="34" charset="0"/>
                <a:ea typeface="Times New Roman" panose="02020603050405020304" pitchFamily="18" charset="0"/>
                <a:cs typeface="Times New Roman" panose="02020603050405020304" pitchFamily="18" charset="0"/>
              </a:rPr>
              <a:t> </a:t>
            </a:r>
            <a:r>
              <a:rPr lang="es-CL" sz="1800" dirty="0">
                <a:effectLst/>
                <a:latin typeface="Arial" panose="020B0604020202020204" pitchFamily="34" charset="0"/>
                <a:ea typeface="Times New Roman" panose="02020603050405020304" pitchFamily="18" charset="0"/>
              </a:rPr>
              <a:t>En nuestro país, las cifras van al alza: los vehículos eléctricos que circulaban en 2020 alcanzaban las 1.791 unidades, mientras que, en junio de 2023, esta cifra llegó a las 6.812 unidades.</a:t>
            </a:r>
            <a:r>
              <a:rPr lang="es-MX" sz="1800" dirty="0">
                <a:effectLst/>
                <a:latin typeface="Arial" panose="020B0604020202020204" pitchFamily="34" charset="0"/>
                <a:ea typeface="Times New Roman" panose="02020603050405020304" pitchFamily="18" charset="0"/>
              </a:rPr>
              <a:t> (Ministerio de Transportes y Telecomunicaciones, 2023)</a:t>
            </a:r>
            <a:endParaRPr lang="es-CL" sz="1800" dirty="0">
              <a:effectLst/>
              <a:latin typeface="Arial" panose="020B0604020202020204" pitchFamily="34" charset="0"/>
              <a:ea typeface="Times New Roman" panose="02020603050405020304" pitchFamily="18" charset="0"/>
            </a:endParaRPr>
          </a:p>
          <a:p>
            <a:pPr algn="just">
              <a:spcAft>
                <a:spcPts val="800"/>
              </a:spcAft>
            </a:pPr>
            <a:r>
              <a:rPr lang="es-CL" dirty="0">
                <a:latin typeface="Arial" panose="020B0604020202020204" pitchFamily="34" charset="0"/>
                <a:ea typeface="Times New Roman" panose="02020603050405020304" pitchFamily="18" charset="0"/>
              </a:rPr>
              <a:t>Otro punto importante en este tema es el peso de estos automóviles: </a:t>
            </a:r>
            <a:r>
              <a:rPr lang="es-CL" sz="1800" dirty="0">
                <a:effectLst/>
                <a:latin typeface="Arial" panose="020B0604020202020204" pitchFamily="34" charset="0"/>
                <a:ea typeface="Times New Roman" panose="02020603050405020304" pitchFamily="18" charset="0"/>
                <a:cs typeface="Times New Roman" panose="02020603050405020304" pitchFamily="18" charset="0"/>
              </a:rPr>
              <a:t>Por ejemplo, la versión eléctrica del Peugeot 208 registra un peso medio de 1.530 kilos frente a los 1.153 de la versión equivalente con motor de gasolina. Es el caso también del Volkswagen ID.3 y del Golf, con 1.830 y 1.388 kilos, respectivamente. </a:t>
            </a:r>
            <a:r>
              <a:rPr lang="es-MX" sz="1800" dirty="0">
                <a:effectLst/>
                <a:latin typeface="Arial" panose="020B0604020202020204" pitchFamily="34" charset="0"/>
                <a:ea typeface="Times New Roman" panose="02020603050405020304" pitchFamily="18" charset="0"/>
                <a:cs typeface="Times New Roman" panose="02020603050405020304" pitchFamily="18" charset="0"/>
              </a:rPr>
              <a:t>(Muñoz, 2022)</a:t>
            </a:r>
            <a:r>
              <a:rPr lang="es-CL" sz="1800" dirty="0">
                <a:effectLst/>
                <a:latin typeface="Arial" panose="020B0604020202020204" pitchFamily="34" charset="0"/>
                <a:ea typeface="Times New Roman" panose="02020603050405020304" pitchFamily="18" charset="0"/>
                <a:cs typeface="Times New Roman" panose="02020603050405020304" pitchFamily="18" charset="0"/>
              </a:rPr>
              <a:t>.</a:t>
            </a:r>
            <a:endParaRPr lang="es-CL" sz="1800" dirty="0">
              <a:effectLst/>
              <a:latin typeface="Arial" panose="020B0604020202020204" pitchFamily="34" charset="0"/>
              <a:ea typeface="Times New Roman" panose="02020603050405020304" pitchFamily="18" charset="0"/>
            </a:endParaRPr>
          </a:p>
          <a:p>
            <a:pPr marL="342900" lvl="0" indent="-342900" algn="just">
              <a:buFont typeface="Symbol" panose="05050102010706020507" pitchFamily="18" charset="2"/>
              <a:buChar char=""/>
            </a:pPr>
            <a:r>
              <a:rPr lang="es-CL" sz="1800" b="1" dirty="0">
                <a:effectLst/>
                <a:latin typeface="Arial" panose="020B0604020202020204" pitchFamily="34" charset="0"/>
                <a:ea typeface="Times New Roman" panose="02020603050405020304" pitchFamily="18" charset="0"/>
                <a:cs typeface="Times New Roman" panose="02020603050405020304" pitchFamily="18" charset="0"/>
              </a:rPr>
              <a:t>Para llevar a cabo el proyecto necesitaremos nociones </a:t>
            </a:r>
            <a:r>
              <a:rPr lang="es-CL" b="1" dirty="0">
                <a:latin typeface="Arial" panose="020B0604020202020204" pitchFamily="34" charset="0"/>
                <a:ea typeface="Times New Roman" panose="02020603050405020304" pitchFamily="18" charset="0"/>
                <a:cs typeface="Times New Roman" panose="02020603050405020304" pitchFamily="18" charset="0"/>
              </a:rPr>
              <a:t>ma</a:t>
            </a:r>
            <a:r>
              <a:rPr lang="es-CL" sz="1800" b="1" dirty="0">
                <a:effectLst/>
                <a:latin typeface="Arial" panose="020B0604020202020204" pitchFamily="34" charset="0"/>
                <a:ea typeface="Times New Roman" panose="02020603050405020304" pitchFamily="18" charset="0"/>
                <a:cs typeface="Times New Roman" panose="02020603050405020304" pitchFamily="18" charset="0"/>
              </a:rPr>
              <a:t>temáticas: </a:t>
            </a:r>
            <a:r>
              <a:rPr lang="es-CL" sz="1800" dirty="0">
                <a:effectLst/>
                <a:latin typeface="Arial" panose="020B0604020202020204" pitchFamily="34" charset="0"/>
                <a:ea typeface="Times New Roman" panose="02020603050405020304" pitchFamily="18" charset="0"/>
                <a:cs typeface="Times New Roman" panose="02020603050405020304" pitchFamily="18" charset="0"/>
              </a:rPr>
              <a:t>Calcular ángulos mínimos y máximos de funcionamiento de los brazos elevadores, mediante el Seno, Coseno, Tangente. Calcular distancias y tolerancias al adaptar y utilizar el sistema de elevación. Calcular la fuerza con la cual trabaja el sistema electrohidráulico.</a:t>
            </a:r>
            <a:endParaRPr lang="es-CL"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spcAft>
                <a:spcPts val="800"/>
              </a:spcAft>
            </a:pPr>
            <a:r>
              <a:rPr lang="es-CL" sz="1800" dirty="0">
                <a:effectLst/>
                <a:latin typeface="Arial" panose="020B0604020202020204" pitchFamily="34" charset="0"/>
                <a:ea typeface="Times New Roman" panose="02020603050405020304" pitchFamily="18" charset="0"/>
                <a:cs typeface="Times New Roman" panose="02020603050405020304" pitchFamily="18" charset="0"/>
              </a:rPr>
              <a:t>La principal problemática es la extracción de las baterías y componentes del automóvil eléctrico, que se ven un tanto complicadas al utilizar elevador electrohidráulico  tradicional, mayormente por el espacio que utiliza este al levantarlo y por la inestabilidad que genera retirar alguno de los componentes inferiores. Todo lo mencionado anteriormente fue materia de investigación por parte de nuestro grupo, ya que, en diversos sitios web señalan la dificultad para la intervención en vehículos eléctricos y la poca seguridad que dan para quiene</a:t>
            </a:r>
            <a:r>
              <a:rPr lang="es-CL" dirty="0">
                <a:latin typeface="Arial" panose="020B0604020202020204" pitchFamily="34" charset="0"/>
                <a:ea typeface="Times New Roman" panose="02020603050405020304" pitchFamily="18" charset="0"/>
                <a:cs typeface="Times New Roman" panose="02020603050405020304" pitchFamily="18" charset="0"/>
              </a:rPr>
              <a:t>s trabajan en ellos.</a:t>
            </a:r>
            <a:endParaRPr lang="es-CL"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spcAft>
                <a:spcPts val="800"/>
              </a:spcAft>
            </a:pPr>
            <a:endParaRPr lang="es-CL" dirty="0"/>
          </a:p>
        </p:txBody>
      </p:sp>
    </p:spTree>
    <p:extLst>
      <p:ext uri="{BB962C8B-B14F-4D97-AF65-F5344CB8AC3E}">
        <p14:creationId xmlns:p14="http://schemas.microsoft.com/office/powerpoint/2010/main" val="1259839525"/>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D20658-9140-C3A0-943C-EF1FDA797B57}"/>
              </a:ext>
            </a:extLst>
          </p:cNvPr>
          <p:cNvSpPr>
            <a:spLocks noGrp="1"/>
          </p:cNvSpPr>
          <p:nvPr>
            <p:ph type="title"/>
          </p:nvPr>
        </p:nvSpPr>
        <p:spPr>
          <a:xfrm>
            <a:off x="597024" y="-195637"/>
            <a:ext cx="10131425" cy="1385246"/>
          </a:xfrm>
        </p:spPr>
        <p:txBody>
          <a:bodyPr/>
          <a:lstStyle/>
          <a:p>
            <a:pPr algn="ctr"/>
            <a:r>
              <a:rPr lang="es-MX" dirty="0"/>
              <a:t>Objetivos y preguntas de investigación </a:t>
            </a:r>
            <a:endParaRPr lang="es-CL" dirty="0"/>
          </a:p>
        </p:txBody>
      </p:sp>
      <p:sp>
        <p:nvSpPr>
          <p:cNvPr id="3" name="Marcador de contenido 2">
            <a:extLst>
              <a:ext uri="{FF2B5EF4-FFF2-40B4-BE49-F238E27FC236}">
                <a16:creationId xmlns:a16="http://schemas.microsoft.com/office/drawing/2014/main" id="{E9802891-1767-82B5-C193-68675ABDBB06}"/>
              </a:ext>
            </a:extLst>
          </p:cNvPr>
          <p:cNvSpPr>
            <a:spLocks noGrp="1"/>
          </p:cNvSpPr>
          <p:nvPr>
            <p:ph idx="1"/>
          </p:nvPr>
        </p:nvSpPr>
        <p:spPr>
          <a:xfrm>
            <a:off x="319596" y="887767"/>
            <a:ext cx="11363418" cy="6090082"/>
          </a:xfrm>
        </p:spPr>
        <p:txBody>
          <a:bodyPr anchor="t"/>
          <a:lstStyle/>
          <a:p>
            <a:pPr algn="just"/>
            <a:r>
              <a:rPr lang="es-MX" dirty="0">
                <a:latin typeface="Arial" panose="020B0604020202020204" pitchFamily="34" charset="0"/>
                <a:cs typeface="Arial" panose="020B0604020202020204" pitchFamily="34" charset="0"/>
              </a:rPr>
              <a:t>Facilitar las mantenciones y reparaciones de las baterías, y sistemas electrónicos generales de los vehículos eléctricos.</a:t>
            </a:r>
          </a:p>
          <a:p>
            <a:pPr marL="0" indent="0" algn="just">
              <a:buNone/>
            </a:pPr>
            <a:endParaRPr lang="es-MX" dirty="0">
              <a:latin typeface="Arial" panose="020B0604020202020204" pitchFamily="34" charset="0"/>
              <a:cs typeface="Arial" panose="020B0604020202020204" pitchFamily="34" charset="0"/>
            </a:endParaRPr>
          </a:p>
          <a:p>
            <a:pPr algn="just"/>
            <a:endParaRPr lang="es-MX" dirty="0">
              <a:latin typeface="Arial" panose="020B0604020202020204" pitchFamily="34" charset="0"/>
              <a:cs typeface="Arial" panose="020B0604020202020204" pitchFamily="34" charset="0"/>
            </a:endParaRPr>
          </a:p>
          <a:p>
            <a:pPr algn="just"/>
            <a:r>
              <a:rPr lang="es-MX" dirty="0">
                <a:latin typeface="Arial" panose="020B0604020202020204" pitchFamily="34" charset="0"/>
                <a:cs typeface="Arial" panose="020B0604020202020204" pitchFamily="34" charset="0"/>
              </a:rPr>
              <a:t>¿Qué sistema de elevación crearemos?</a:t>
            </a:r>
          </a:p>
          <a:p>
            <a:pPr marL="0" indent="0" algn="just">
              <a:buNone/>
            </a:pPr>
            <a:endParaRPr lang="es-MX" dirty="0">
              <a:latin typeface="Arial" panose="020B0604020202020204" pitchFamily="34" charset="0"/>
              <a:cs typeface="Arial" panose="020B0604020202020204" pitchFamily="34" charset="0"/>
            </a:endParaRPr>
          </a:p>
          <a:p>
            <a:pPr algn="just"/>
            <a:r>
              <a:rPr lang="es-MX" dirty="0">
                <a:latin typeface="Arial" panose="020B0604020202020204" pitchFamily="34" charset="0"/>
                <a:cs typeface="Arial" panose="020B0604020202020204" pitchFamily="34" charset="0"/>
              </a:rPr>
              <a:t>¿Cómo llevaremos a cabo el proceso de construcción?</a:t>
            </a:r>
          </a:p>
          <a:p>
            <a:pPr marL="0" indent="0" algn="just">
              <a:buNone/>
            </a:pPr>
            <a:endParaRPr lang="es-MX" dirty="0">
              <a:latin typeface="Arial" panose="020B0604020202020204" pitchFamily="34" charset="0"/>
              <a:cs typeface="Arial" panose="020B0604020202020204" pitchFamily="34" charset="0"/>
            </a:endParaRPr>
          </a:p>
          <a:p>
            <a:pPr algn="just"/>
            <a:r>
              <a:rPr lang="es-MX" dirty="0">
                <a:latin typeface="Arial" panose="020B0604020202020204" pitchFamily="34" charset="0"/>
                <a:cs typeface="Arial" panose="020B0604020202020204" pitchFamily="34" charset="0"/>
              </a:rPr>
              <a:t>¿Qué lograremos en la electromovilidad con esto?</a:t>
            </a:r>
          </a:p>
          <a:p>
            <a:pPr marL="0" indent="0" algn="just">
              <a:buNone/>
            </a:pPr>
            <a:endParaRPr lang="es-MX" dirty="0">
              <a:latin typeface="Arial" panose="020B0604020202020204" pitchFamily="34" charset="0"/>
              <a:cs typeface="Arial" panose="020B0604020202020204" pitchFamily="34" charset="0"/>
            </a:endParaRPr>
          </a:p>
          <a:p>
            <a:pPr algn="just"/>
            <a:r>
              <a:rPr lang="es-MX" dirty="0">
                <a:latin typeface="Arial" panose="020B0604020202020204" pitchFamily="34" charset="0"/>
                <a:cs typeface="Arial" panose="020B0604020202020204" pitchFamily="34" charset="0"/>
              </a:rPr>
              <a:t>¿Se comercializa este sistema de elevación actualmente actualmente?</a:t>
            </a:r>
          </a:p>
          <a:p>
            <a:pPr marL="457200" lvl="1" indent="0" algn="just">
              <a:buNone/>
            </a:pPr>
            <a:endParaRPr lang="es-CL"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81042690"/>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D20658-9140-C3A0-943C-EF1FDA797B57}"/>
              </a:ext>
            </a:extLst>
          </p:cNvPr>
          <p:cNvSpPr>
            <a:spLocks noGrp="1"/>
          </p:cNvSpPr>
          <p:nvPr>
            <p:ph type="title"/>
          </p:nvPr>
        </p:nvSpPr>
        <p:spPr/>
        <p:txBody>
          <a:bodyPr/>
          <a:lstStyle/>
          <a:p>
            <a:pPr algn="ctr"/>
            <a:r>
              <a:rPr lang="es-MX" dirty="0"/>
              <a:t>Temas iniciales involucrados</a:t>
            </a:r>
            <a:endParaRPr lang="es-CL" dirty="0"/>
          </a:p>
        </p:txBody>
      </p:sp>
      <p:sp>
        <p:nvSpPr>
          <p:cNvPr id="3" name="Marcador de contenido 2">
            <a:extLst>
              <a:ext uri="{FF2B5EF4-FFF2-40B4-BE49-F238E27FC236}">
                <a16:creationId xmlns:a16="http://schemas.microsoft.com/office/drawing/2014/main" id="{E9802891-1767-82B5-C193-68675ABDBB06}"/>
              </a:ext>
            </a:extLst>
          </p:cNvPr>
          <p:cNvSpPr>
            <a:spLocks noGrp="1"/>
          </p:cNvSpPr>
          <p:nvPr>
            <p:ph idx="1"/>
          </p:nvPr>
        </p:nvSpPr>
        <p:spPr/>
        <p:txBody>
          <a:bodyPr anchor="t"/>
          <a:lstStyle/>
          <a:p>
            <a:pPr marL="342900" lvl="0" indent="-342900">
              <a:lnSpc>
                <a:spcPct val="150000"/>
              </a:lnSpc>
              <a:buFont typeface="Symbol" panose="05050102010706020507" pitchFamily="18" charset="2"/>
              <a:buChar char=""/>
            </a:pPr>
            <a:r>
              <a:rPr lang="es-CL" sz="1800" dirty="0">
                <a:effectLst/>
                <a:latin typeface="Arial" panose="020B0604020202020204" pitchFamily="34" charset="0"/>
                <a:ea typeface="Times New Roman" panose="02020603050405020304" pitchFamily="18" charset="0"/>
                <a:cs typeface="Times New Roman" panose="02020603050405020304" pitchFamily="18" charset="0"/>
              </a:rPr>
              <a:t>Seguridad para quienes intervengan los automóviles eléctricos, utilizando un sistema innovador de elevación para realizar los trabajos en él.</a:t>
            </a:r>
            <a:endParaRPr lang="es-CL"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50000"/>
              </a:lnSpc>
              <a:buFont typeface="Symbol" panose="05050102010706020507" pitchFamily="18" charset="2"/>
              <a:buChar char=""/>
            </a:pPr>
            <a:r>
              <a:rPr lang="es-CL" sz="1800" dirty="0">
                <a:effectLst/>
                <a:latin typeface="Arial" panose="020B0604020202020204" pitchFamily="34" charset="0"/>
                <a:ea typeface="Times New Roman" panose="02020603050405020304" pitchFamily="18" charset="0"/>
                <a:cs typeface="Times New Roman" panose="02020603050405020304" pitchFamily="18" charset="0"/>
              </a:rPr>
              <a:t>Mayor eficiencia y menor dificultad para trabajar en los sistemas electrónicos del automóvil eléctrico.</a:t>
            </a:r>
            <a:endParaRPr lang="es-CL"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50000"/>
              </a:lnSpc>
              <a:buFont typeface="Symbol" panose="05050102010706020507" pitchFamily="18" charset="2"/>
              <a:buChar char=""/>
            </a:pPr>
            <a:r>
              <a:rPr lang="es-CL" sz="1800" dirty="0">
                <a:effectLst/>
                <a:latin typeface="Arial" panose="020B0604020202020204" pitchFamily="34" charset="0"/>
                <a:ea typeface="Times New Roman" panose="02020603050405020304" pitchFamily="18" charset="0"/>
                <a:cs typeface="Times New Roman" panose="02020603050405020304" pitchFamily="18" charset="0"/>
              </a:rPr>
              <a:t>Fabricación y adaptación del sistema de elevación.</a:t>
            </a:r>
            <a:endParaRPr lang="es-CL"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50000"/>
              </a:lnSpc>
              <a:spcAft>
                <a:spcPts val="800"/>
              </a:spcAft>
              <a:buFont typeface="Symbol" panose="05050102010706020507" pitchFamily="18" charset="2"/>
              <a:buChar char=""/>
            </a:pPr>
            <a:r>
              <a:rPr lang="es-CL" sz="1800" dirty="0">
                <a:effectLst/>
                <a:latin typeface="Arial" panose="020B0604020202020204" pitchFamily="34" charset="0"/>
                <a:ea typeface="Times New Roman" panose="02020603050405020304" pitchFamily="18" charset="0"/>
                <a:cs typeface="Times New Roman" panose="02020603050405020304" pitchFamily="18" charset="0"/>
              </a:rPr>
              <a:t>Cálculo de ángulos y distancia del brazo elevador necesarios para elevar el automóvil, esto por medio de trigonometría .</a:t>
            </a:r>
            <a:endParaRPr lang="es-CL"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buNone/>
            </a:pPr>
            <a:endParaRPr lang="es-CL" dirty="0"/>
          </a:p>
        </p:txBody>
      </p:sp>
    </p:spTree>
    <p:extLst>
      <p:ext uri="{BB962C8B-B14F-4D97-AF65-F5344CB8AC3E}">
        <p14:creationId xmlns:p14="http://schemas.microsoft.com/office/powerpoint/2010/main" val="211496916"/>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D20658-9140-C3A0-943C-EF1FDA797B57}"/>
              </a:ext>
            </a:extLst>
          </p:cNvPr>
          <p:cNvSpPr>
            <a:spLocks noGrp="1"/>
          </p:cNvSpPr>
          <p:nvPr>
            <p:ph type="title"/>
          </p:nvPr>
        </p:nvSpPr>
        <p:spPr>
          <a:xfrm>
            <a:off x="685800" y="1"/>
            <a:ext cx="10131425" cy="1060704"/>
          </a:xfrm>
        </p:spPr>
        <p:txBody>
          <a:bodyPr/>
          <a:lstStyle/>
          <a:p>
            <a:pPr algn="ctr"/>
            <a:r>
              <a:rPr lang="es-MX" dirty="0"/>
              <a:t>Cronograma y materiales a utilizar</a:t>
            </a:r>
            <a:endParaRPr lang="es-CL" dirty="0"/>
          </a:p>
        </p:txBody>
      </p:sp>
      <p:sp>
        <p:nvSpPr>
          <p:cNvPr id="3" name="Marcador de contenido 2">
            <a:extLst>
              <a:ext uri="{FF2B5EF4-FFF2-40B4-BE49-F238E27FC236}">
                <a16:creationId xmlns:a16="http://schemas.microsoft.com/office/drawing/2014/main" id="{E9802891-1767-82B5-C193-68675ABDBB06}"/>
              </a:ext>
            </a:extLst>
          </p:cNvPr>
          <p:cNvSpPr>
            <a:spLocks noGrp="1"/>
          </p:cNvSpPr>
          <p:nvPr>
            <p:ph idx="1"/>
          </p:nvPr>
        </p:nvSpPr>
        <p:spPr>
          <a:xfrm>
            <a:off x="685801" y="1225118"/>
            <a:ext cx="10131425" cy="5539665"/>
          </a:xfrm>
        </p:spPr>
        <p:txBody>
          <a:bodyPr anchor="t">
            <a:normAutofit fontScale="85000" lnSpcReduction="10000"/>
          </a:bodyPr>
          <a:lstStyle/>
          <a:p>
            <a:pPr marL="0" indent="0">
              <a:buNone/>
            </a:pPr>
            <a:endParaRPr lang="es-MX" dirty="0"/>
          </a:p>
          <a:p>
            <a:pPr marL="0" indent="0">
              <a:buNone/>
            </a:pPr>
            <a:endParaRPr lang="es-CL" dirty="0"/>
          </a:p>
          <a:p>
            <a:pPr marL="0" indent="0">
              <a:buNone/>
            </a:pPr>
            <a:endParaRPr lang="es-CL" dirty="0"/>
          </a:p>
          <a:p>
            <a:pPr marL="0" indent="0">
              <a:buNone/>
            </a:pPr>
            <a:endParaRPr lang="es-CL" dirty="0"/>
          </a:p>
          <a:p>
            <a:pPr marL="0" indent="0">
              <a:buNone/>
            </a:pPr>
            <a:endParaRPr lang="es-CL" dirty="0"/>
          </a:p>
          <a:p>
            <a:pPr marL="0" indent="0">
              <a:buNone/>
            </a:pPr>
            <a:endParaRPr lang="es-CL" dirty="0"/>
          </a:p>
          <a:p>
            <a:pPr marL="0" indent="0">
              <a:buNone/>
            </a:pPr>
            <a:endParaRPr lang="es-CL" dirty="0"/>
          </a:p>
          <a:p>
            <a:pPr marL="0" indent="0">
              <a:buNone/>
            </a:pPr>
            <a:endParaRPr lang="es-CL" dirty="0"/>
          </a:p>
          <a:p>
            <a:pPr marL="0" indent="0">
              <a:buNone/>
            </a:pPr>
            <a:endParaRPr lang="es-CL" dirty="0"/>
          </a:p>
          <a:p>
            <a:pPr marL="0" indent="0">
              <a:buNone/>
            </a:pPr>
            <a:r>
              <a:rPr lang="es-MX" dirty="0"/>
              <a:t>•	Para realizar el proyecto, necesitaremos un elevador de 4000 kg, el que utilizaremos como base para la modificación.</a:t>
            </a:r>
          </a:p>
          <a:p>
            <a:pPr marL="0" indent="0">
              <a:buNone/>
            </a:pPr>
            <a:r>
              <a:rPr lang="es-MX" dirty="0"/>
              <a:t>•	Perfil de fierro rectangular de 100x80mm, y un espesor de 8mm y 6 metros de largo.</a:t>
            </a:r>
          </a:p>
          <a:p>
            <a:pPr marL="0" indent="0">
              <a:buNone/>
            </a:pPr>
            <a:r>
              <a:rPr lang="es-MX" dirty="0"/>
              <a:t>•	Perfil de fierro 100x80mm macizo de 6 metros de largo.</a:t>
            </a:r>
          </a:p>
          <a:p>
            <a:pPr marL="0" indent="0">
              <a:buNone/>
            </a:pPr>
            <a:r>
              <a:rPr lang="es-MX" dirty="0"/>
              <a:t>•	Platina T1 de 3x4 metros y 10 mm de espesor.</a:t>
            </a:r>
          </a:p>
          <a:p>
            <a:pPr marL="0" indent="0">
              <a:buNone/>
            </a:pPr>
            <a:r>
              <a:rPr lang="es-MX" dirty="0"/>
              <a:t>•	Bujes y pasadores moldeados en torno según la medida que se requiera.</a:t>
            </a:r>
          </a:p>
          <a:p>
            <a:pPr marL="0" indent="0">
              <a:buNone/>
            </a:pPr>
            <a:r>
              <a:rPr lang="es-MX" dirty="0"/>
              <a:t>•	Pernos y tuercas de diferentes medidas para fijar partes y piezas.</a:t>
            </a:r>
          </a:p>
          <a:p>
            <a:pPr marL="0" indent="0">
              <a:buNone/>
            </a:pPr>
            <a:r>
              <a:rPr lang="es-MX" dirty="0"/>
              <a:t>•	Insumos para su realización, como electrodos de soldadura, discos de corte, oxigeno de oxicorte, etc.</a:t>
            </a:r>
          </a:p>
          <a:p>
            <a:pPr marL="0" indent="0">
              <a:buNone/>
            </a:pPr>
            <a:endParaRPr lang="es-CL" dirty="0"/>
          </a:p>
        </p:txBody>
      </p:sp>
      <p:pic>
        <p:nvPicPr>
          <p:cNvPr id="5" name="Imagen 4" descr="Interfaz de usuario gráfica&#10;&#10;Descripción generada automáticamente">
            <a:extLst>
              <a:ext uri="{FF2B5EF4-FFF2-40B4-BE49-F238E27FC236}">
                <a16:creationId xmlns:a16="http://schemas.microsoft.com/office/drawing/2014/main" id="{59B1F2CD-FACA-9E77-F9BE-BA940B5FCD73}"/>
              </a:ext>
            </a:extLst>
          </p:cNvPr>
          <p:cNvPicPr>
            <a:picLocks noChangeAspect="1"/>
          </p:cNvPicPr>
          <p:nvPr/>
        </p:nvPicPr>
        <p:blipFill rotWithShape="1">
          <a:blip r:embed="rId2"/>
          <a:srcRect l="1275" t="29200" r="29275" b="15734"/>
          <a:stretch/>
        </p:blipFill>
        <p:spPr>
          <a:xfrm>
            <a:off x="2676144" y="978408"/>
            <a:ext cx="7263384" cy="3239501"/>
          </a:xfrm>
          <a:prstGeom prst="rect">
            <a:avLst/>
          </a:prstGeom>
        </p:spPr>
      </p:pic>
    </p:spTree>
    <p:extLst>
      <p:ext uri="{BB962C8B-B14F-4D97-AF65-F5344CB8AC3E}">
        <p14:creationId xmlns:p14="http://schemas.microsoft.com/office/powerpoint/2010/main" val="413510218"/>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6FBB3742-4619-C48C-2B92-DE4D5B964C29}"/>
              </a:ext>
            </a:extLst>
          </p:cNvPr>
          <p:cNvPicPr>
            <a:picLocks noChangeAspect="1"/>
          </p:cNvPicPr>
          <p:nvPr/>
        </p:nvPicPr>
        <p:blipFill>
          <a:blip r:embed="rId2"/>
          <a:stretch>
            <a:fillRect/>
          </a:stretch>
        </p:blipFill>
        <p:spPr>
          <a:xfrm>
            <a:off x="1909439" y="976534"/>
            <a:ext cx="8373122" cy="5465025"/>
          </a:xfrm>
          <a:prstGeom prst="rect">
            <a:avLst/>
          </a:prstGeom>
        </p:spPr>
      </p:pic>
      <p:sp>
        <p:nvSpPr>
          <p:cNvPr id="5" name="CuadroTexto 4">
            <a:extLst>
              <a:ext uri="{FF2B5EF4-FFF2-40B4-BE49-F238E27FC236}">
                <a16:creationId xmlns:a16="http://schemas.microsoft.com/office/drawing/2014/main" id="{84EEB1A7-F5DE-A6E5-3521-FF95F3C489DA}"/>
              </a:ext>
            </a:extLst>
          </p:cNvPr>
          <p:cNvSpPr txBox="1"/>
          <p:nvPr/>
        </p:nvSpPr>
        <p:spPr>
          <a:xfrm>
            <a:off x="4222810" y="5893492"/>
            <a:ext cx="2391054" cy="523220"/>
          </a:xfrm>
          <a:prstGeom prst="rect">
            <a:avLst/>
          </a:prstGeom>
          <a:solidFill>
            <a:srgbClr val="92D050"/>
          </a:solidFill>
        </p:spPr>
        <p:txBody>
          <a:bodyPr wrap="square" rtlCol="0">
            <a:spAutoFit/>
          </a:bodyPr>
          <a:lstStyle/>
          <a:p>
            <a:pPr algn="ctr"/>
            <a:r>
              <a:rPr lang="es-MX" sz="1400" dirty="0">
                <a:latin typeface="Arial" panose="020B0604020202020204" pitchFamily="34" charset="0"/>
                <a:cs typeface="Arial" panose="020B0604020202020204" pitchFamily="34" charset="0"/>
              </a:rPr>
              <a:t>Construcción y diseño de los automóviles eléctricos </a:t>
            </a:r>
            <a:endParaRPr lang="es-CL" sz="1400" dirty="0">
              <a:latin typeface="Arial" panose="020B0604020202020204" pitchFamily="34" charset="0"/>
              <a:cs typeface="Arial" panose="020B0604020202020204" pitchFamily="34" charset="0"/>
            </a:endParaRPr>
          </a:p>
        </p:txBody>
      </p:sp>
      <p:sp>
        <p:nvSpPr>
          <p:cNvPr id="6" name="CuadroTexto 5">
            <a:extLst>
              <a:ext uri="{FF2B5EF4-FFF2-40B4-BE49-F238E27FC236}">
                <a16:creationId xmlns:a16="http://schemas.microsoft.com/office/drawing/2014/main" id="{552D21E2-AA83-D1F2-ED8C-FE4EB984C6ED}"/>
              </a:ext>
            </a:extLst>
          </p:cNvPr>
          <p:cNvSpPr txBox="1"/>
          <p:nvPr/>
        </p:nvSpPr>
        <p:spPr>
          <a:xfrm>
            <a:off x="2764285" y="5083799"/>
            <a:ext cx="2112885" cy="738664"/>
          </a:xfrm>
          <a:prstGeom prst="rect">
            <a:avLst/>
          </a:prstGeom>
          <a:solidFill>
            <a:srgbClr val="92D050"/>
          </a:solidFill>
        </p:spPr>
        <p:txBody>
          <a:bodyPr wrap="square" rtlCol="0">
            <a:spAutoFit/>
          </a:bodyPr>
          <a:lstStyle/>
          <a:p>
            <a:pPr algn="ctr"/>
            <a:r>
              <a:rPr lang="es-MX" sz="1400" dirty="0">
                <a:latin typeface="Arial" panose="020B0604020202020204" pitchFamily="34" charset="0"/>
                <a:cs typeface="Arial" panose="020B0604020202020204" pitchFamily="34" charset="0"/>
              </a:rPr>
              <a:t>Elevadores destinados solo a automóviles  convencionales </a:t>
            </a:r>
            <a:endParaRPr lang="es-CL" sz="1400" dirty="0">
              <a:latin typeface="Arial" panose="020B0604020202020204" pitchFamily="34" charset="0"/>
              <a:cs typeface="Arial" panose="020B0604020202020204" pitchFamily="34" charset="0"/>
            </a:endParaRPr>
          </a:p>
        </p:txBody>
      </p:sp>
      <p:sp>
        <p:nvSpPr>
          <p:cNvPr id="7" name="CuadroTexto 6">
            <a:extLst>
              <a:ext uri="{FF2B5EF4-FFF2-40B4-BE49-F238E27FC236}">
                <a16:creationId xmlns:a16="http://schemas.microsoft.com/office/drawing/2014/main" id="{5F3F1E54-FA70-F11F-4365-0D524BB105C5}"/>
              </a:ext>
            </a:extLst>
          </p:cNvPr>
          <p:cNvSpPr txBox="1"/>
          <p:nvPr/>
        </p:nvSpPr>
        <p:spPr>
          <a:xfrm>
            <a:off x="4302338" y="3906563"/>
            <a:ext cx="4176944" cy="830997"/>
          </a:xfrm>
          <a:prstGeom prst="rect">
            <a:avLst/>
          </a:prstGeom>
          <a:solidFill>
            <a:srgbClr val="92D050"/>
          </a:solidFill>
        </p:spPr>
        <p:txBody>
          <a:bodyPr wrap="square" rtlCol="0">
            <a:spAutoFit/>
          </a:bodyPr>
          <a:lstStyle/>
          <a:p>
            <a:pPr algn="ctr"/>
            <a:r>
              <a:rPr lang="es-MX" sz="1600" b="1" dirty="0">
                <a:latin typeface="Arial" panose="020B0604020202020204" pitchFamily="34" charset="0"/>
                <a:cs typeface="Arial" panose="020B0604020202020204" pitchFamily="34" charset="0"/>
              </a:rPr>
              <a:t>Implementar un elevador especial para automóviles eléctricos, elevándose desde sus ruedas.</a:t>
            </a:r>
            <a:endParaRPr lang="es-CL" sz="1600" b="1" dirty="0">
              <a:latin typeface="Arial" panose="020B0604020202020204" pitchFamily="34" charset="0"/>
              <a:cs typeface="Arial" panose="020B0604020202020204" pitchFamily="34" charset="0"/>
            </a:endParaRPr>
          </a:p>
        </p:txBody>
      </p:sp>
      <p:sp>
        <p:nvSpPr>
          <p:cNvPr id="8" name="CuadroTexto 7">
            <a:extLst>
              <a:ext uri="{FF2B5EF4-FFF2-40B4-BE49-F238E27FC236}">
                <a16:creationId xmlns:a16="http://schemas.microsoft.com/office/drawing/2014/main" id="{AA04E7DB-6E63-BD5D-5937-CB6A517808E3}"/>
              </a:ext>
            </a:extLst>
          </p:cNvPr>
          <p:cNvSpPr txBox="1"/>
          <p:nvPr/>
        </p:nvSpPr>
        <p:spPr>
          <a:xfrm>
            <a:off x="2565647" y="1823228"/>
            <a:ext cx="2510160" cy="738664"/>
          </a:xfrm>
          <a:prstGeom prst="rect">
            <a:avLst/>
          </a:prstGeom>
          <a:solidFill>
            <a:srgbClr val="92D050"/>
          </a:solidFill>
        </p:spPr>
        <p:txBody>
          <a:bodyPr wrap="square" rtlCol="0">
            <a:spAutoFit/>
          </a:bodyPr>
          <a:lstStyle/>
          <a:p>
            <a:pPr algn="ctr"/>
            <a:r>
              <a:rPr lang="es-MX" sz="1400" dirty="0">
                <a:latin typeface="Arial" panose="020B0604020202020204" pitchFamily="34" charset="0"/>
                <a:cs typeface="Arial" panose="020B0604020202020204" pitchFamily="34" charset="0"/>
              </a:rPr>
              <a:t>Mayor seguridad  en la mantención de automóviles eléctricos   </a:t>
            </a:r>
            <a:endParaRPr lang="es-CL" sz="1400" dirty="0">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CD710AD4-0E28-F486-6481-66127DE1A0D6}"/>
              </a:ext>
            </a:extLst>
          </p:cNvPr>
          <p:cNvSpPr txBox="1"/>
          <p:nvPr/>
        </p:nvSpPr>
        <p:spPr>
          <a:xfrm>
            <a:off x="4060424" y="1096379"/>
            <a:ext cx="2053703" cy="523220"/>
          </a:xfrm>
          <a:prstGeom prst="rect">
            <a:avLst/>
          </a:prstGeom>
          <a:solidFill>
            <a:srgbClr val="92D050"/>
          </a:solidFill>
        </p:spPr>
        <p:txBody>
          <a:bodyPr wrap="square" rtlCol="0">
            <a:spAutoFit/>
          </a:bodyPr>
          <a:lstStyle/>
          <a:p>
            <a:pPr algn="ctr"/>
            <a:r>
              <a:rPr lang="es-MX" sz="1400" dirty="0">
                <a:latin typeface="Arial" panose="020B0604020202020204" pitchFamily="34" charset="0"/>
                <a:cs typeface="Arial" panose="020B0604020202020204" pitchFamily="34" charset="0"/>
              </a:rPr>
              <a:t>Menores costos para los clientes</a:t>
            </a:r>
            <a:endParaRPr lang="es-CL" sz="1400" dirty="0">
              <a:latin typeface="Arial" panose="020B0604020202020204" pitchFamily="34" charset="0"/>
              <a:cs typeface="Arial" panose="020B0604020202020204" pitchFamily="34" charset="0"/>
            </a:endParaRPr>
          </a:p>
        </p:txBody>
      </p:sp>
      <p:sp>
        <p:nvSpPr>
          <p:cNvPr id="10" name="CuadroTexto 9">
            <a:extLst>
              <a:ext uri="{FF2B5EF4-FFF2-40B4-BE49-F238E27FC236}">
                <a16:creationId xmlns:a16="http://schemas.microsoft.com/office/drawing/2014/main" id="{DE63832A-029A-644E-C86E-06C8DEC32A73}"/>
              </a:ext>
            </a:extLst>
          </p:cNvPr>
          <p:cNvSpPr txBox="1"/>
          <p:nvPr/>
        </p:nvSpPr>
        <p:spPr>
          <a:xfrm>
            <a:off x="7251577" y="2667739"/>
            <a:ext cx="2112885" cy="738664"/>
          </a:xfrm>
          <a:prstGeom prst="rect">
            <a:avLst/>
          </a:prstGeom>
          <a:solidFill>
            <a:srgbClr val="92D050"/>
          </a:solidFill>
        </p:spPr>
        <p:txBody>
          <a:bodyPr wrap="square" rtlCol="0">
            <a:spAutoFit/>
          </a:bodyPr>
          <a:lstStyle/>
          <a:p>
            <a:pPr algn="ctr"/>
            <a:r>
              <a:rPr lang="es-MX" sz="1400" dirty="0">
                <a:latin typeface="Arial" panose="020B0604020202020204" pitchFamily="34" charset="0"/>
                <a:cs typeface="Arial" panose="020B0604020202020204" pitchFamily="34" charset="0"/>
              </a:rPr>
              <a:t>No improvisar para las intervenciones de los automóviles</a:t>
            </a:r>
            <a:endParaRPr lang="es-CL" sz="1400" dirty="0">
              <a:latin typeface="Arial" panose="020B0604020202020204" pitchFamily="34" charset="0"/>
              <a:cs typeface="Arial" panose="020B0604020202020204" pitchFamily="34" charset="0"/>
            </a:endParaRPr>
          </a:p>
        </p:txBody>
      </p:sp>
      <p:sp>
        <p:nvSpPr>
          <p:cNvPr id="11" name="CuadroTexto 10">
            <a:extLst>
              <a:ext uri="{FF2B5EF4-FFF2-40B4-BE49-F238E27FC236}">
                <a16:creationId xmlns:a16="http://schemas.microsoft.com/office/drawing/2014/main" id="{4E593420-D7BD-1391-39E3-D826B08F748C}"/>
              </a:ext>
            </a:extLst>
          </p:cNvPr>
          <p:cNvSpPr txBox="1"/>
          <p:nvPr/>
        </p:nvSpPr>
        <p:spPr>
          <a:xfrm>
            <a:off x="2189453" y="2620263"/>
            <a:ext cx="2112885" cy="738664"/>
          </a:xfrm>
          <a:prstGeom prst="rect">
            <a:avLst/>
          </a:prstGeom>
          <a:solidFill>
            <a:srgbClr val="92D050"/>
          </a:solidFill>
        </p:spPr>
        <p:txBody>
          <a:bodyPr wrap="square" rtlCol="0">
            <a:spAutoFit/>
          </a:bodyPr>
          <a:lstStyle/>
          <a:p>
            <a:pPr algn="ctr"/>
            <a:r>
              <a:rPr lang="es-MX" sz="1400" dirty="0">
                <a:latin typeface="Arial" panose="020B0604020202020204" pitchFamily="34" charset="0"/>
                <a:cs typeface="Arial" panose="020B0604020202020204" pitchFamily="34" charset="0"/>
              </a:rPr>
              <a:t>Mayor eficiencia en la intervención de vehículos eléctricos </a:t>
            </a:r>
            <a:endParaRPr lang="es-CL" sz="1400" dirty="0">
              <a:latin typeface="Arial" panose="020B0604020202020204" pitchFamily="34" charset="0"/>
              <a:cs typeface="Arial" panose="020B0604020202020204" pitchFamily="34" charset="0"/>
            </a:endParaRPr>
          </a:p>
        </p:txBody>
      </p:sp>
      <p:sp>
        <p:nvSpPr>
          <p:cNvPr id="12" name="CuadroTexto 11">
            <a:extLst>
              <a:ext uri="{FF2B5EF4-FFF2-40B4-BE49-F238E27FC236}">
                <a16:creationId xmlns:a16="http://schemas.microsoft.com/office/drawing/2014/main" id="{7C408796-0785-DE46-0301-6E74086E3221}"/>
              </a:ext>
            </a:extLst>
          </p:cNvPr>
          <p:cNvSpPr txBox="1"/>
          <p:nvPr/>
        </p:nvSpPr>
        <p:spPr>
          <a:xfrm>
            <a:off x="6852081" y="1622852"/>
            <a:ext cx="2348144" cy="738664"/>
          </a:xfrm>
          <a:prstGeom prst="rect">
            <a:avLst/>
          </a:prstGeom>
          <a:solidFill>
            <a:srgbClr val="92D050"/>
          </a:solidFill>
        </p:spPr>
        <p:txBody>
          <a:bodyPr wrap="square" rtlCol="0">
            <a:spAutoFit/>
          </a:bodyPr>
          <a:lstStyle/>
          <a:p>
            <a:pPr algn="ctr"/>
            <a:r>
              <a:rPr lang="es-MX" sz="1400" dirty="0">
                <a:latin typeface="Arial" panose="020B0604020202020204" pitchFamily="34" charset="0"/>
                <a:cs typeface="Arial" panose="020B0604020202020204" pitchFamily="34" charset="0"/>
              </a:rPr>
              <a:t>Mas oportunidades de los mecánicos para competir con las concesionarias</a:t>
            </a:r>
            <a:endParaRPr lang="es-CL" sz="1400" dirty="0">
              <a:latin typeface="Arial" panose="020B0604020202020204" pitchFamily="34" charset="0"/>
              <a:cs typeface="Arial" panose="020B0604020202020204" pitchFamily="34" charset="0"/>
            </a:endParaRPr>
          </a:p>
        </p:txBody>
      </p:sp>
      <p:sp>
        <p:nvSpPr>
          <p:cNvPr id="13" name="CuadroTexto 12">
            <a:extLst>
              <a:ext uri="{FF2B5EF4-FFF2-40B4-BE49-F238E27FC236}">
                <a16:creationId xmlns:a16="http://schemas.microsoft.com/office/drawing/2014/main" id="{86CD39B4-F587-5C34-09F4-8652D941985C}"/>
              </a:ext>
            </a:extLst>
          </p:cNvPr>
          <p:cNvSpPr txBox="1"/>
          <p:nvPr/>
        </p:nvSpPr>
        <p:spPr>
          <a:xfrm>
            <a:off x="7675116" y="4865816"/>
            <a:ext cx="2112885" cy="738664"/>
          </a:xfrm>
          <a:prstGeom prst="rect">
            <a:avLst/>
          </a:prstGeom>
          <a:solidFill>
            <a:srgbClr val="92D050"/>
          </a:solidFill>
        </p:spPr>
        <p:txBody>
          <a:bodyPr wrap="square" rtlCol="0">
            <a:spAutoFit/>
          </a:bodyPr>
          <a:lstStyle/>
          <a:p>
            <a:r>
              <a:rPr lang="es-MX" sz="1400" dirty="0">
                <a:latin typeface="Arial" panose="020B0604020202020204" pitchFamily="34" charset="0"/>
                <a:cs typeface="Arial" panose="020B0604020202020204" pitchFamily="34" charset="0"/>
              </a:rPr>
              <a:t>Poca innovación en el diseño de elevadores por parte del mercado</a:t>
            </a:r>
            <a:endParaRPr lang="es-CL" sz="1400" dirty="0">
              <a:latin typeface="Arial" panose="020B0604020202020204" pitchFamily="34" charset="0"/>
              <a:cs typeface="Arial" panose="020B0604020202020204" pitchFamily="34" charset="0"/>
            </a:endParaRPr>
          </a:p>
        </p:txBody>
      </p:sp>
      <p:sp>
        <p:nvSpPr>
          <p:cNvPr id="14" name="CuadroTexto 13">
            <a:extLst>
              <a:ext uri="{FF2B5EF4-FFF2-40B4-BE49-F238E27FC236}">
                <a16:creationId xmlns:a16="http://schemas.microsoft.com/office/drawing/2014/main" id="{F812C385-1136-F745-FDCD-BC7543A24BB8}"/>
              </a:ext>
            </a:extLst>
          </p:cNvPr>
          <p:cNvSpPr txBox="1"/>
          <p:nvPr/>
        </p:nvSpPr>
        <p:spPr>
          <a:xfrm>
            <a:off x="6710407" y="5893492"/>
            <a:ext cx="3195223" cy="523220"/>
          </a:xfrm>
          <a:prstGeom prst="rect">
            <a:avLst/>
          </a:prstGeom>
          <a:solidFill>
            <a:srgbClr val="92D050"/>
          </a:solidFill>
        </p:spPr>
        <p:txBody>
          <a:bodyPr wrap="square" rtlCol="0">
            <a:spAutoFit/>
          </a:bodyPr>
          <a:lstStyle/>
          <a:p>
            <a:pPr algn="ctr"/>
            <a:r>
              <a:rPr lang="es-MX" sz="1400" dirty="0">
                <a:latin typeface="Arial" panose="020B0604020202020204" pitchFamily="34" charset="0"/>
                <a:cs typeface="Arial" panose="020B0604020202020204" pitchFamily="34" charset="0"/>
              </a:rPr>
              <a:t>Exclusividad de parte de los fabricantes para solo intervenir ellos </a:t>
            </a:r>
            <a:endParaRPr lang="es-CL" sz="1400" dirty="0">
              <a:latin typeface="Arial" panose="020B0604020202020204" pitchFamily="34" charset="0"/>
              <a:cs typeface="Arial" panose="020B0604020202020204" pitchFamily="34" charset="0"/>
            </a:endParaRPr>
          </a:p>
        </p:txBody>
      </p:sp>
      <p:sp>
        <p:nvSpPr>
          <p:cNvPr id="3" name="CuadroTexto 2">
            <a:extLst>
              <a:ext uri="{FF2B5EF4-FFF2-40B4-BE49-F238E27FC236}">
                <a16:creationId xmlns:a16="http://schemas.microsoft.com/office/drawing/2014/main" id="{195E49A9-2A13-01C7-A29D-EA9ED69841CC}"/>
              </a:ext>
            </a:extLst>
          </p:cNvPr>
          <p:cNvSpPr txBox="1"/>
          <p:nvPr/>
        </p:nvSpPr>
        <p:spPr>
          <a:xfrm>
            <a:off x="790113" y="213902"/>
            <a:ext cx="7599285" cy="584775"/>
          </a:xfrm>
          <a:prstGeom prst="rect">
            <a:avLst/>
          </a:prstGeom>
          <a:noFill/>
        </p:spPr>
        <p:txBody>
          <a:bodyPr wrap="square" rtlCol="0">
            <a:spAutoFit/>
          </a:bodyPr>
          <a:lstStyle/>
          <a:p>
            <a:r>
              <a:rPr lang="es-MX" sz="3200" dirty="0"/>
              <a:t>Árbol de problemas y soluciones </a:t>
            </a:r>
            <a:endParaRPr lang="es-CL" sz="3200" dirty="0"/>
          </a:p>
        </p:txBody>
      </p:sp>
    </p:spTree>
    <p:extLst>
      <p:ext uri="{BB962C8B-B14F-4D97-AF65-F5344CB8AC3E}">
        <p14:creationId xmlns:p14="http://schemas.microsoft.com/office/powerpoint/2010/main" val="12839884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841CB8-D1A3-B9C2-BA5E-382EE8018FE8}"/>
              </a:ext>
            </a:extLst>
          </p:cNvPr>
          <p:cNvSpPr>
            <a:spLocks noGrp="1"/>
          </p:cNvSpPr>
          <p:nvPr>
            <p:ph type="title"/>
          </p:nvPr>
        </p:nvSpPr>
        <p:spPr>
          <a:xfrm>
            <a:off x="765700" y="254494"/>
            <a:ext cx="10131425" cy="1050524"/>
          </a:xfrm>
        </p:spPr>
        <p:txBody>
          <a:bodyPr>
            <a:normAutofit/>
          </a:bodyPr>
          <a:lstStyle/>
          <a:p>
            <a:pPr algn="ctr"/>
            <a:r>
              <a:rPr lang="es-MX" sz="2800" dirty="0"/>
              <a:t>Cálculos Trigonométricos de LA DISTANCIA DE LOS BRAZOS DE APOYO</a:t>
            </a:r>
            <a:endParaRPr lang="es-CL" sz="2800" dirty="0"/>
          </a:p>
        </p:txBody>
      </p:sp>
      <p:pic>
        <p:nvPicPr>
          <p:cNvPr id="4" name="Imagen 3">
            <a:extLst>
              <a:ext uri="{FF2B5EF4-FFF2-40B4-BE49-F238E27FC236}">
                <a16:creationId xmlns:a16="http://schemas.microsoft.com/office/drawing/2014/main" id="{2BCCB6CC-AA46-D5CA-E727-CC84E1D43B28}"/>
              </a:ext>
            </a:extLst>
          </p:cNvPr>
          <p:cNvPicPr>
            <a:picLocks noChangeAspect="1"/>
          </p:cNvPicPr>
          <p:nvPr/>
        </p:nvPicPr>
        <p:blipFill>
          <a:blip r:embed="rId2"/>
          <a:stretch>
            <a:fillRect/>
          </a:stretch>
        </p:blipFill>
        <p:spPr>
          <a:xfrm>
            <a:off x="0" y="1817294"/>
            <a:ext cx="6779389" cy="4249905"/>
          </a:xfrm>
          <a:prstGeom prst="rect">
            <a:avLst/>
          </a:prstGeom>
        </p:spPr>
      </p:pic>
      <p:sp>
        <p:nvSpPr>
          <p:cNvPr id="5" name="CuadroTexto 4">
            <a:extLst>
              <a:ext uri="{FF2B5EF4-FFF2-40B4-BE49-F238E27FC236}">
                <a16:creationId xmlns:a16="http://schemas.microsoft.com/office/drawing/2014/main" id="{631244D7-9F7C-77BA-D852-478742DCFBAF}"/>
              </a:ext>
            </a:extLst>
          </p:cNvPr>
          <p:cNvSpPr txBox="1"/>
          <p:nvPr/>
        </p:nvSpPr>
        <p:spPr>
          <a:xfrm>
            <a:off x="1245736" y="6067199"/>
            <a:ext cx="4287915" cy="369332"/>
          </a:xfrm>
          <a:prstGeom prst="rect">
            <a:avLst/>
          </a:prstGeom>
          <a:noFill/>
        </p:spPr>
        <p:txBody>
          <a:bodyPr wrap="square" rtlCol="0">
            <a:spAutoFit/>
          </a:bodyPr>
          <a:lstStyle/>
          <a:p>
            <a:r>
              <a:rPr lang="es-MX" i="1" dirty="0"/>
              <a:t>Imagen superior del plano del elevador</a:t>
            </a:r>
            <a:endParaRPr lang="es-CL" i="1" dirty="0"/>
          </a:p>
        </p:txBody>
      </p:sp>
      <p:cxnSp>
        <p:nvCxnSpPr>
          <p:cNvPr id="9" name="Conector recto 8">
            <a:extLst>
              <a:ext uri="{FF2B5EF4-FFF2-40B4-BE49-F238E27FC236}">
                <a16:creationId xmlns:a16="http://schemas.microsoft.com/office/drawing/2014/main" id="{ECF9BB72-14C1-9F40-79A8-CAF4A06425A2}"/>
              </a:ext>
            </a:extLst>
          </p:cNvPr>
          <p:cNvCxnSpPr>
            <a:cxnSpLocks/>
          </p:cNvCxnSpPr>
          <p:nvPr/>
        </p:nvCxnSpPr>
        <p:spPr>
          <a:xfrm>
            <a:off x="4767309" y="3799643"/>
            <a:ext cx="0" cy="1145219"/>
          </a:xfrm>
          <a:prstGeom prst="line">
            <a:avLst/>
          </a:prstGeom>
          <a:ln w="38100"/>
        </p:spPr>
        <p:style>
          <a:lnRef idx="2">
            <a:schemeClr val="accent6"/>
          </a:lnRef>
          <a:fillRef idx="0">
            <a:schemeClr val="accent6"/>
          </a:fillRef>
          <a:effectRef idx="1">
            <a:schemeClr val="accent6"/>
          </a:effectRef>
          <a:fontRef idx="minor">
            <a:schemeClr val="tx1"/>
          </a:fontRef>
        </p:style>
      </p:cxnSp>
      <p:cxnSp>
        <p:nvCxnSpPr>
          <p:cNvPr id="10" name="Conector recto 9">
            <a:extLst>
              <a:ext uri="{FF2B5EF4-FFF2-40B4-BE49-F238E27FC236}">
                <a16:creationId xmlns:a16="http://schemas.microsoft.com/office/drawing/2014/main" id="{29269208-9471-D197-2228-BAA192A2409F}"/>
              </a:ext>
            </a:extLst>
          </p:cNvPr>
          <p:cNvCxnSpPr>
            <a:cxnSpLocks/>
          </p:cNvCxnSpPr>
          <p:nvPr/>
        </p:nvCxnSpPr>
        <p:spPr>
          <a:xfrm flipH="1">
            <a:off x="4767309" y="3799643"/>
            <a:ext cx="1100831" cy="1145219"/>
          </a:xfrm>
          <a:prstGeom prst="line">
            <a:avLst/>
          </a:prstGeom>
          <a:ln w="38100"/>
        </p:spPr>
        <p:style>
          <a:lnRef idx="2">
            <a:schemeClr val="accent6"/>
          </a:lnRef>
          <a:fillRef idx="0">
            <a:schemeClr val="accent6"/>
          </a:fillRef>
          <a:effectRef idx="1">
            <a:schemeClr val="accent6"/>
          </a:effectRef>
          <a:fontRef idx="minor">
            <a:schemeClr val="tx1"/>
          </a:fontRef>
        </p:style>
      </p:cxnSp>
      <p:cxnSp>
        <p:nvCxnSpPr>
          <p:cNvPr id="19" name="Conector recto 18">
            <a:extLst>
              <a:ext uri="{FF2B5EF4-FFF2-40B4-BE49-F238E27FC236}">
                <a16:creationId xmlns:a16="http://schemas.microsoft.com/office/drawing/2014/main" id="{C4C338B8-B1C0-AB24-5AE5-3CB21B772A00}"/>
              </a:ext>
            </a:extLst>
          </p:cNvPr>
          <p:cNvCxnSpPr>
            <a:cxnSpLocks/>
          </p:cNvCxnSpPr>
          <p:nvPr/>
        </p:nvCxnSpPr>
        <p:spPr>
          <a:xfrm flipH="1">
            <a:off x="4767308" y="3799643"/>
            <a:ext cx="1100832" cy="0"/>
          </a:xfrm>
          <a:prstGeom prst="line">
            <a:avLst/>
          </a:prstGeom>
          <a:ln w="38100"/>
        </p:spPr>
        <p:style>
          <a:lnRef idx="2">
            <a:schemeClr val="accent6"/>
          </a:lnRef>
          <a:fillRef idx="0">
            <a:schemeClr val="accent6"/>
          </a:fillRef>
          <a:effectRef idx="1">
            <a:schemeClr val="accent6"/>
          </a:effectRef>
          <a:fontRef idx="minor">
            <a:schemeClr val="tx1"/>
          </a:fontRef>
        </p:style>
      </p:cxnSp>
      <p:sp>
        <p:nvSpPr>
          <p:cNvPr id="22" name="CuadroTexto 21">
            <a:extLst>
              <a:ext uri="{FF2B5EF4-FFF2-40B4-BE49-F238E27FC236}">
                <a16:creationId xmlns:a16="http://schemas.microsoft.com/office/drawing/2014/main" id="{148EE84C-B892-4E64-2946-433081237783}"/>
              </a:ext>
            </a:extLst>
          </p:cNvPr>
          <p:cNvSpPr txBox="1"/>
          <p:nvPr/>
        </p:nvSpPr>
        <p:spPr>
          <a:xfrm>
            <a:off x="2781861" y="5545467"/>
            <a:ext cx="1985448" cy="369332"/>
          </a:xfrm>
          <a:prstGeom prst="rect">
            <a:avLst/>
          </a:prstGeom>
          <a:noFill/>
        </p:spPr>
        <p:txBody>
          <a:bodyPr wrap="square" rtlCol="0">
            <a:spAutoFit/>
          </a:bodyPr>
          <a:lstStyle/>
          <a:p>
            <a:r>
              <a:rPr lang="es-MX" b="1">
                <a:solidFill>
                  <a:schemeClr val="bg1"/>
                </a:solidFill>
                <a:latin typeface="Bahnschrift Light Condensed" panose="020B0502040204020203" pitchFamily="34" charset="0"/>
              </a:rPr>
              <a:t>Medidas en MM</a:t>
            </a:r>
            <a:endParaRPr lang="es-CL" b="1">
              <a:solidFill>
                <a:schemeClr val="bg1"/>
              </a:solidFill>
              <a:latin typeface="Bahnschrift Light Condensed" panose="020B0502040204020203" pitchFamily="34" charset="0"/>
            </a:endParaRPr>
          </a:p>
        </p:txBody>
      </p:sp>
      <p:sp>
        <p:nvSpPr>
          <p:cNvPr id="25" name="CuadroTexto 24">
            <a:extLst>
              <a:ext uri="{FF2B5EF4-FFF2-40B4-BE49-F238E27FC236}">
                <a16:creationId xmlns:a16="http://schemas.microsoft.com/office/drawing/2014/main" id="{7FCF3002-4A68-3CBD-0887-7EDEA2FF6ADC}"/>
              </a:ext>
            </a:extLst>
          </p:cNvPr>
          <p:cNvSpPr txBox="1"/>
          <p:nvPr/>
        </p:nvSpPr>
        <p:spPr>
          <a:xfrm>
            <a:off x="4767308" y="3818258"/>
            <a:ext cx="150919" cy="133774"/>
          </a:xfrm>
          <a:prstGeom prst="rect">
            <a:avLst/>
          </a:prstGeom>
          <a:noFill/>
          <a:ln w="19050">
            <a:solidFill>
              <a:schemeClr val="bg1"/>
            </a:solidFill>
          </a:ln>
        </p:spPr>
        <p:txBody>
          <a:bodyPr wrap="square" rtlCol="0">
            <a:spAutoFit/>
          </a:bodyPr>
          <a:lstStyle/>
          <a:p>
            <a:endParaRPr lang="es-CL" dirty="0"/>
          </a:p>
        </p:txBody>
      </p:sp>
      <p:sp>
        <p:nvSpPr>
          <p:cNvPr id="26" name="CuadroTexto 25">
            <a:extLst>
              <a:ext uri="{FF2B5EF4-FFF2-40B4-BE49-F238E27FC236}">
                <a16:creationId xmlns:a16="http://schemas.microsoft.com/office/drawing/2014/main" id="{4AB16510-09AA-A1EA-FC62-D48FABDEFA56}"/>
              </a:ext>
            </a:extLst>
          </p:cNvPr>
          <p:cNvSpPr txBox="1"/>
          <p:nvPr/>
        </p:nvSpPr>
        <p:spPr>
          <a:xfrm>
            <a:off x="6853561" y="1482816"/>
            <a:ext cx="5264457" cy="5816977"/>
          </a:xfrm>
          <a:prstGeom prst="rect">
            <a:avLst/>
          </a:prstGeom>
          <a:noFill/>
        </p:spPr>
        <p:txBody>
          <a:bodyPr wrap="square" rtlCol="0">
            <a:spAutoFit/>
          </a:bodyPr>
          <a:lstStyle/>
          <a:p>
            <a:pPr algn="just"/>
            <a:r>
              <a:rPr lang="es-MX" sz="1400" dirty="0">
                <a:latin typeface="Arial" panose="020B0604020202020204" pitchFamily="34" charset="0"/>
                <a:cs typeface="Arial" panose="020B0604020202020204" pitchFamily="34" charset="0"/>
              </a:rPr>
              <a:t>Para realizar el cálculo de la distancia de los brazos de apoyo (hipotenusa), primero debemos conocer la distancia a la que se encuentra automóvil del pilar del elevador. Para esto debemos colocar el auto exactamente a la mitad del elevador, tanto vertical como horizontalmente. Una vez realizado esto, medimos la distancia de del pilar hasta el auto (a la altura de la rueda) y desde ahí hasta la rueda trasera o delantera del auto según corresponda. Así obtendremos el valor del cateto opuesto y adyacente. Teniendo esto podemos calcular mediante el seno la distancia exacta para extender nuestro brazo de apoyo a la rueda</a:t>
            </a:r>
          </a:p>
          <a:p>
            <a:pPr algn="just"/>
            <a:r>
              <a:rPr lang="es-MX" sz="1400" dirty="0">
                <a:latin typeface="Arial" panose="020B0604020202020204" pitchFamily="34" charset="0"/>
                <a:cs typeface="Arial" panose="020B0604020202020204" pitchFamily="34" charset="0"/>
              </a:rPr>
              <a:t>Ejemplo:</a:t>
            </a:r>
          </a:p>
          <a:p>
            <a:pPr algn="just"/>
            <a:r>
              <a:rPr lang="es-MX" sz="1400" dirty="0">
                <a:latin typeface="Arial" panose="020B0604020202020204" pitchFamily="34" charset="0"/>
                <a:cs typeface="Arial" panose="020B0604020202020204" pitchFamily="34" charset="0"/>
              </a:rPr>
              <a:t>Si el valor del adyacente es son 800mm y el del cateto opuesto son 1430mm, además, tenemos un ángulo de 90°.</a:t>
            </a:r>
          </a:p>
          <a:p>
            <a:pPr algn="just"/>
            <a:endParaRPr lang="es-MX" sz="1400" dirty="0">
              <a:latin typeface="Arial" panose="020B0604020202020204" pitchFamily="34" charset="0"/>
              <a:cs typeface="Arial" panose="020B0604020202020204" pitchFamily="34" charset="0"/>
            </a:endParaRPr>
          </a:p>
          <a:p>
            <a:pPr algn="just"/>
            <a:r>
              <a:rPr lang="es-MX" dirty="0">
                <a:latin typeface="Arial" panose="020B0604020202020204" pitchFamily="34" charset="0"/>
                <a:cs typeface="Arial" panose="020B0604020202020204" pitchFamily="34" charset="0"/>
              </a:rPr>
              <a:t>Seno(90°)= 1430mm:x</a:t>
            </a:r>
          </a:p>
          <a:p>
            <a:pPr algn="just"/>
            <a:r>
              <a:rPr lang="es-MX" dirty="0">
                <a:latin typeface="Arial" panose="020B0604020202020204" pitchFamily="34" charset="0"/>
                <a:cs typeface="Arial" panose="020B0604020202020204" pitchFamily="34" charset="0"/>
              </a:rPr>
              <a:t>X= 1430mm:Seno(90°)</a:t>
            </a:r>
          </a:p>
          <a:p>
            <a:pPr algn="just"/>
            <a:r>
              <a:rPr lang="es-MX" dirty="0">
                <a:latin typeface="Arial" panose="020B0604020202020204" pitchFamily="34" charset="0"/>
                <a:cs typeface="Arial" panose="020B0604020202020204" pitchFamily="34" charset="0"/>
              </a:rPr>
              <a:t>X= 1599.55mm</a:t>
            </a:r>
          </a:p>
          <a:p>
            <a:pPr algn="just"/>
            <a:r>
              <a:rPr lang="es-MX" b="1" dirty="0">
                <a:latin typeface="Arial" panose="020B0604020202020204" pitchFamily="34" charset="0"/>
                <a:cs typeface="Arial" panose="020B0604020202020204" pitchFamily="34" charset="0"/>
              </a:rPr>
              <a:t>X=1600mm</a:t>
            </a:r>
          </a:p>
          <a:p>
            <a:pPr algn="just"/>
            <a:r>
              <a:rPr lang="es-MX" sz="1600" dirty="0">
                <a:latin typeface="Arial" panose="020B0604020202020204" pitchFamily="34" charset="0"/>
                <a:cs typeface="Arial" panose="020B0604020202020204" pitchFamily="34" charset="0"/>
              </a:rPr>
              <a:t>Dándonos un resultado aproximado de </a:t>
            </a:r>
            <a:r>
              <a:rPr lang="es-MX" sz="1600" b="1" dirty="0">
                <a:latin typeface="Arial" panose="020B0604020202020204" pitchFamily="34" charset="0"/>
                <a:cs typeface="Arial" panose="020B0604020202020204" pitchFamily="34" charset="0"/>
              </a:rPr>
              <a:t>1600mm</a:t>
            </a:r>
            <a:r>
              <a:rPr lang="es-MX" sz="1600" dirty="0">
                <a:latin typeface="Arial" panose="020B0604020202020204" pitchFamily="34" charset="0"/>
                <a:cs typeface="Arial" panose="020B0604020202020204" pitchFamily="34" charset="0"/>
              </a:rPr>
              <a:t>, esta será la distancia a la cual se extenderá nuestro brazo de apoyo hacia la rueda. Este procedimiento se debe realizar en cada una de las ruedas</a:t>
            </a:r>
          </a:p>
          <a:p>
            <a:pPr algn="just"/>
            <a:endParaRPr lang="es-CL" dirty="0"/>
          </a:p>
        </p:txBody>
      </p:sp>
      <p:sp>
        <p:nvSpPr>
          <p:cNvPr id="28" name="CuadroTexto 27">
            <a:extLst>
              <a:ext uri="{FF2B5EF4-FFF2-40B4-BE49-F238E27FC236}">
                <a16:creationId xmlns:a16="http://schemas.microsoft.com/office/drawing/2014/main" id="{1C1989DC-299D-6A81-CD06-B0EB0C9ACA9F}"/>
              </a:ext>
            </a:extLst>
          </p:cNvPr>
          <p:cNvSpPr txBox="1"/>
          <p:nvPr/>
        </p:nvSpPr>
        <p:spPr>
          <a:xfrm rot="16200000">
            <a:off x="4097222" y="4043288"/>
            <a:ext cx="1029807" cy="276999"/>
          </a:xfrm>
          <a:prstGeom prst="rect">
            <a:avLst/>
          </a:prstGeom>
          <a:noFill/>
        </p:spPr>
        <p:txBody>
          <a:bodyPr wrap="square" rtlCol="0">
            <a:spAutoFit/>
          </a:bodyPr>
          <a:lstStyle/>
          <a:p>
            <a:r>
              <a:rPr lang="es-MX" sz="1200" b="1" dirty="0">
                <a:solidFill>
                  <a:srgbClr val="FF0000"/>
                </a:solidFill>
                <a:latin typeface="Bahnschrift Light Condensed" panose="020B0502040204020203" pitchFamily="34" charset="0"/>
              </a:rPr>
              <a:t>Cateto opuesto</a:t>
            </a:r>
            <a:endParaRPr lang="es-CL" sz="1200" b="1" dirty="0">
              <a:solidFill>
                <a:srgbClr val="FF0000"/>
              </a:solidFill>
              <a:latin typeface="Bahnschrift Light Condensed" panose="020B0502040204020203" pitchFamily="34" charset="0"/>
            </a:endParaRPr>
          </a:p>
        </p:txBody>
      </p:sp>
      <p:sp>
        <p:nvSpPr>
          <p:cNvPr id="29" name="CuadroTexto 28">
            <a:extLst>
              <a:ext uri="{FF2B5EF4-FFF2-40B4-BE49-F238E27FC236}">
                <a16:creationId xmlns:a16="http://schemas.microsoft.com/office/drawing/2014/main" id="{562C0373-7114-0595-B6E4-195340C8D24B}"/>
              </a:ext>
            </a:extLst>
          </p:cNvPr>
          <p:cNvSpPr txBox="1"/>
          <p:nvPr/>
        </p:nvSpPr>
        <p:spPr>
          <a:xfrm>
            <a:off x="4759501" y="3514483"/>
            <a:ext cx="1177727" cy="276999"/>
          </a:xfrm>
          <a:prstGeom prst="rect">
            <a:avLst/>
          </a:prstGeom>
          <a:noFill/>
        </p:spPr>
        <p:txBody>
          <a:bodyPr wrap="square" rtlCol="0">
            <a:spAutoFit/>
          </a:bodyPr>
          <a:lstStyle/>
          <a:p>
            <a:r>
              <a:rPr lang="es-MX" sz="1200" b="1" dirty="0">
                <a:solidFill>
                  <a:srgbClr val="FF0000"/>
                </a:solidFill>
                <a:latin typeface="Bahnschrift Light Condensed" panose="020B0502040204020203" pitchFamily="34" charset="0"/>
              </a:rPr>
              <a:t>Cateto adyacente</a:t>
            </a:r>
            <a:endParaRPr lang="es-CL" sz="1200" b="1" dirty="0">
              <a:solidFill>
                <a:srgbClr val="FF0000"/>
              </a:solidFill>
              <a:latin typeface="Bahnschrift Light Condensed" panose="020B0502040204020203" pitchFamily="34" charset="0"/>
            </a:endParaRPr>
          </a:p>
        </p:txBody>
      </p:sp>
      <p:sp>
        <p:nvSpPr>
          <p:cNvPr id="30" name="CuadroTexto 29">
            <a:extLst>
              <a:ext uri="{FF2B5EF4-FFF2-40B4-BE49-F238E27FC236}">
                <a16:creationId xmlns:a16="http://schemas.microsoft.com/office/drawing/2014/main" id="{B48E734F-317C-A216-5519-3ABBE6143EF0}"/>
              </a:ext>
            </a:extLst>
          </p:cNvPr>
          <p:cNvSpPr txBox="1"/>
          <p:nvPr/>
        </p:nvSpPr>
        <p:spPr>
          <a:xfrm rot="18828333">
            <a:off x="4944266" y="4069502"/>
            <a:ext cx="1363000" cy="276999"/>
          </a:xfrm>
          <a:prstGeom prst="rect">
            <a:avLst/>
          </a:prstGeom>
          <a:noFill/>
        </p:spPr>
        <p:txBody>
          <a:bodyPr wrap="square" rtlCol="0">
            <a:spAutoFit/>
          </a:bodyPr>
          <a:lstStyle/>
          <a:p>
            <a:r>
              <a:rPr lang="es-MX" sz="1200" b="1" dirty="0">
                <a:solidFill>
                  <a:srgbClr val="FF0000"/>
                </a:solidFill>
                <a:latin typeface="Bahnschrift Light Condensed" panose="020B0502040204020203" pitchFamily="34" charset="0"/>
              </a:rPr>
              <a:t>hipotenusa</a:t>
            </a:r>
            <a:endParaRPr lang="es-CL" sz="1200" b="1" dirty="0">
              <a:solidFill>
                <a:srgbClr val="FF0000"/>
              </a:solidFill>
              <a:latin typeface="Bahnschrift Light Condensed" panose="020B0502040204020203" pitchFamily="34" charset="0"/>
            </a:endParaRPr>
          </a:p>
        </p:txBody>
      </p:sp>
    </p:spTree>
    <p:extLst>
      <p:ext uri="{BB962C8B-B14F-4D97-AF65-F5344CB8AC3E}">
        <p14:creationId xmlns:p14="http://schemas.microsoft.com/office/powerpoint/2010/main" val="1223616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B3E5E0-40BF-5ED1-7798-FC185B4FEB20}"/>
              </a:ext>
            </a:extLst>
          </p:cNvPr>
          <p:cNvSpPr>
            <a:spLocks noGrp="1"/>
          </p:cNvSpPr>
          <p:nvPr>
            <p:ph type="title"/>
          </p:nvPr>
        </p:nvSpPr>
        <p:spPr>
          <a:xfrm>
            <a:off x="1030287" y="67898"/>
            <a:ext cx="10131425" cy="1456267"/>
          </a:xfrm>
        </p:spPr>
        <p:txBody>
          <a:bodyPr>
            <a:normAutofit/>
          </a:bodyPr>
          <a:lstStyle/>
          <a:p>
            <a:r>
              <a:rPr lang="es-MX" sz="2800" dirty="0"/>
              <a:t>Calcular la abertura de nuestros soportes de la rueda</a:t>
            </a:r>
            <a:endParaRPr lang="es-CL" sz="2800" dirty="0"/>
          </a:p>
        </p:txBody>
      </p:sp>
      <p:pic>
        <p:nvPicPr>
          <p:cNvPr id="4" name="Marcador de contenido 3">
            <a:extLst>
              <a:ext uri="{FF2B5EF4-FFF2-40B4-BE49-F238E27FC236}">
                <a16:creationId xmlns:a16="http://schemas.microsoft.com/office/drawing/2014/main" id="{702D32D9-581F-4F6F-B3B6-CA307D980106}"/>
              </a:ext>
            </a:extLst>
          </p:cNvPr>
          <p:cNvPicPr>
            <a:picLocks noGrp="1" noChangeAspect="1"/>
          </p:cNvPicPr>
          <p:nvPr>
            <p:ph idx="1"/>
          </p:nvPr>
        </p:nvPicPr>
        <p:blipFill>
          <a:blip r:embed="rId2"/>
          <a:stretch>
            <a:fillRect/>
          </a:stretch>
        </p:blipFill>
        <p:spPr>
          <a:xfrm>
            <a:off x="0" y="1810368"/>
            <a:ext cx="6783040" cy="4251600"/>
          </a:xfrm>
          <a:prstGeom prst="rect">
            <a:avLst/>
          </a:prstGeom>
        </p:spPr>
      </p:pic>
      <p:sp>
        <p:nvSpPr>
          <p:cNvPr id="5" name="CuadroTexto 4">
            <a:extLst>
              <a:ext uri="{FF2B5EF4-FFF2-40B4-BE49-F238E27FC236}">
                <a16:creationId xmlns:a16="http://schemas.microsoft.com/office/drawing/2014/main" id="{7543DC7B-859B-FE65-8E25-96866A723006}"/>
              </a:ext>
            </a:extLst>
          </p:cNvPr>
          <p:cNvSpPr txBox="1"/>
          <p:nvPr/>
        </p:nvSpPr>
        <p:spPr>
          <a:xfrm>
            <a:off x="2672178" y="5415379"/>
            <a:ext cx="1762467" cy="369332"/>
          </a:xfrm>
          <a:prstGeom prst="rect">
            <a:avLst/>
          </a:prstGeom>
          <a:noFill/>
        </p:spPr>
        <p:txBody>
          <a:bodyPr wrap="square" rtlCol="0">
            <a:spAutoFit/>
          </a:bodyPr>
          <a:lstStyle/>
          <a:p>
            <a:r>
              <a:rPr lang="es-MX" b="1" dirty="0">
                <a:solidFill>
                  <a:schemeClr val="bg1"/>
                </a:solidFill>
                <a:latin typeface="Bahnschrift Light Condensed" panose="020B0502040204020203" pitchFamily="34" charset="0"/>
              </a:rPr>
              <a:t>Medidas en MM</a:t>
            </a:r>
            <a:endParaRPr lang="es-CL" b="1" dirty="0">
              <a:solidFill>
                <a:schemeClr val="bg1"/>
              </a:solidFill>
              <a:latin typeface="Bahnschrift Light Condensed" panose="020B0502040204020203" pitchFamily="34" charset="0"/>
            </a:endParaRPr>
          </a:p>
        </p:txBody>
      </p:sp>
      <p:sp>
        <p:nvSpPr>
          <p:cNvPr id="6" name="CuadroTexto 5">
            <a:extLst>
              <a:ext uri="{FF2B5EF4-FFF2-40B4-BE49-F238E27FC236}">
                <a16:creationId xmlns:a16="http://schemas.microsoft.com/office/drawing/2014/main" id="{2316C638-3670-BBED-E7A0-D63C2235EA6B}"/>
              </a:ext>
            </a:extLst>
          </p:cNvPr>
          <p:cNvSpPr txBox="1"/>
          <p:nvPr/>
        </p:nvSpPr>
        <p:spPr>
          <a:xfrm>
            <a:off x="1245736" y="6067199"/>
            <a:ext cx="4287915" cy="369332"/>
          </a:xfrm>
          <a:prstGeom prst="rect">
            <a:avLst/>
          </a:prstGeom>
          <a:noFill/>
        </p:spPr>
        <p:txBody>
          <a:bodyPr wrap="square" rtlCol="0">
            <a:spAutoFit/>
          </a:bodyPr>
          <a:lstStyle/>
          <a:p>
            <a:r>
              <a:rPr lang="es-MX" i="1" dirty="0"/>
              <a:t>Imagen superior del plano del elevador</a:t>
            </a:r>
            <a:endParaRPr lang="es-CL" i="1" dirty="0"/>
          </a:p>
        </p:txBody>
      </p:sp>
      <p:sp>
        <p:nvSpPr>
          <p:cNvPr id="7" name="CuadroTexto 6">
            <a:extLst>
              <a:ext uri="{FF2B5EF4-FFF2-40B4-BE49-F238E27FC236}">
                <a16:creationId xmlns:a16="http://schemas.microsoft.com/office/drawing/2014/main" id="{47AFDF8D-D698-1CA9-C599-262DF88C598E}"/>
              </a:ext>
            </a:extLst>
          </p:cNvPr>
          <p:cNvSpPr txBox="1"/>
          <p:nvPr/>
        </p:nvSpPr>
        <p:spPr>
          <a:xfrm>
            <a:off x="6783040" y="1247017"/>
            <a:ext cx="5343857" cy="954107"/>
          </a:xfrm>
          <a:prstGeom prst="rect">
            <a:avLst/>
          </a:prstGeom>
          <a:noFill/>
        </p:spPr>
        <p:txBody>
          <a:bodyPr wrap="square" rtlCol="0">
            <a:spAutoFit/>
          </a:bodyPr>
          <a:lstStyle/>
          <a:p>
            <a:pPr algn="just"/>
            <a:r>
              <a:rPr lang="es-MX" sz="1400" dirty="0">
                <a:latin typeface="Arial" panose="020B0604020202020204" pitchFamily="34" charset="0"/>
                <a:cs typeface="Arial" panose="020B0604020202020204" pitchFamily="34" charset="0"/>
              </a:rPr>
              <a:t>Los soportes que van a las ruedas del elevador se regulan con el fin de que queden apoyados de forma segura (tercera parte de la rueda y adaptándose a los diferentes tamaños de las ruedas.</a:t>
            </a:r>
          </a:p>
          <a:p>
            <a:pPr algn="just"/>
            <a:r>
              <a:rPr lang="es-MX" sz="1400" dirty="0">
                <a:latin typeface="Arial" panose="020B0604020202020204" pitchFamily="34" charset="0"/>
                <a:cs typeface="Arial" panose="020B0604020202020204" pitchFamily="34" charset="0"/>
              </a:rPr>
              <a:t>. </a:t>
            </a:r>
            <a:endParaRPr lang="es-CL" sz="1400" dirty="0">
              <a:latin typeface="Arial" panose="020B0604020202020204" pitchFamily="34" charset="0"/>
              <a:cs typeface="Arial" panose="020B0604020202020204" pitchFamily="34" charset="0"/>
            </a:endParaRPr>
          </a:p>
        </p:txBody>
      </p:sp>
      <p:pic>
        <p:nvPicPr>
          <p:cNvPr id="8" name="Imagen 7">
            <a:extLst>
              <a:ext uri="{FF2B5EF4-FFF2-40B4-BE49-F238E27FC236}">
                <a16:creationId xmlns:a16="http://schemas.microsoft.com/office/drawing/2014/main" id="{2BC3B94E-0C07-8FF5-436A-67B492816B42}"/>
              </a:ext>
            </a:extLst>
          </p:cNvPr>
          <p:cNvPicPr>
            <a:picLocks noChangeAspect="1"/>
          </p:cNvPicPr>
          <p:nvPr/>
        </p:nvPicPr>
        <p:blipFill>
          <a:blip r:embed="rId3"/>
          <a:stretch>
            <a:fillRect/>
          </a:stretch>
        </p:blipFill>
        <p:spPr>
          <a:xfrm>
            <a:off x="8504803" y="5056572"/>
            <a:ext cx="1766655" cy="1733530"/>
          </a:xfrm>
          <a:prstGeom prst="rect">
            <a:avLst/>
          </a:prstGeom>
        </p:spPr>
      </p:pic>
      <p:sp>
        <p:nvSpPr>
          <p:cNvPr id="14" name="CuadroTexto 13">
            <a:extLst>
              <a:ext uri="{FF2B5EF4-FFF2-40B4-BE49-F238E27FC236}">
                <a16:creationId xmlns:a16="http://schemas.microsoft.com/office/drawing/2014/main" id="{56C366F1-1BD4-C001-706D-25F26D978799}"/>
              </a:ext>
            </a:extLst>
          </p:cNvPr>
          <p:cNvSpPr txBox="1"/>
          <p:nvPr/>
        </p:nvSpPr>
        <p:spPr>
          <a:xfrm>
            <a:off x="6783040" y="1968304"/>
            <a:ext cx="5343857" cy="3970318"/>
          </a:xfrm>
          <a:prstGeom prst="rect">
            <a:avLst/>
          </a:prstGeom>
          <a:noFill/>
        </p:spPr>
        <p:txBody>
          <a:bodyPr wrap="square" rtlCol="0">
            <a:spAutoFit/>
          </a:bodyPr>
          <a:lstStyle/>
          <a:p>
            <a:pPr algn="just"/>
            <a:r>
              <a:rPr lang="es-MX" sz="1400" dirty="0">
                <a:latin typeface="Arial" panose="020B0604020202020204" pitchFamily="34" charset="0"/>
                <a:cs typeface="Arial" panose="020B0604020202020204" pitchFamily="34" charset="0"/>
              </a:rPr>
              <a:t>Para calcular esto, debemos medir el diámetro de la rueda y dividirlo por tres, luego de eso marcamos la rueda en donde corresponde, esto nos indicará la altura en la cual va nuestro soporte.</a:t>
            </a:r>
          </a:p>
          <a:p>
            <a:pPr algn="just"/>
            <a:r>
              <a:rPr lang="es-MX" sz="1400" dirty="0">
                <a:latin typeface="Arial" panose="020B0604020202020204" pitchFamily="34" charset="0"/>
                <a:cs typeface="Arial" panose="020B0604020202020204" pitchFamily="34" charset="0"/>
              </a:rPr>
              <a:t>Ejemplo:</a:t>
            </a:r>
          </a:p>
          <a:p>
            <a:pPr algn="just"/>
            <a:r>
              <a:rPr lang="es-MX" sz="1400" dirty="0">
                <a:latin typeface="Arial" panose="020B0604020202020204" pitchFamily="34" charset="0"/>
                <a:cs typeface="Arial" panose="020B0604020202020204" pitchFamily="34" charset="0"/>
              </a:rPr>
              <a:t>Si nuestra rueda mide 440mm debemos calcular:</a:t>
            </a:r>
          </a:p>
          <a:p>
            <a:pPr algn="just"/>
            <a:endParaRPr lang="es-MX" sz="1400" dirty="0">
              <a:latin typeface="Arial" panose="020B0604020202020204" pitchFamily="34" charset="0"/>
              <a:cs typeface="Arial" panose="020B0604020202020204" pitchFamily="34" charset="0"/>
            </a:endParaRPr>
          </a:p>
          <a:p>
            <a:pPr algn="just"/>
            <a:r>
              <a:rPr lang="es-MX" sz="1400" dirty="0">
                <a:latin typeface="Arial" panose="020B0604020202020204" pitchFamily="34" charset="0"/>
                <a:cs typeface="Arial" panose="020B0604020202020204" pitchFamily="34" charset="0"/>
              </a:rPr>
              <a:t>440mm/3= 146.66mm</a:t>
            </a:r>
          </a:p>
          <a:p>
            <a:pPr algn="just"/>
            <a:endParaRPr lang="es-MX" sz="1400" dirty="0">
              <a:latin typeface="Arial" panose="020B0604020202020204" pitchFamily="34" charset="0"/>
              <a:cs typeface="Arial" panose="020B0604020202020204" pitchFamily="34" charset="0"/>
            </a:endParaRPr>
          </a:p>
          <a:p>
            <a:pPr algn="just"/>
            <a:r>
              <a:rPr lang="es-MX" sz="1400" dirty="0">
                <a:latin typeface="Arial" panose="020B0604020202020204" pitchFamily="34" charset="0"/>
                <a:cs typeface="Arial" panose="020B0604020202020204" pitchFamily="34" charset="0"/>
              </a:rPr>
              <a:t>El soporte deberá ir a 147mm desde la parte inferior de la rueda hacia arriba, como se muestra en la imagen. Para ubicarlo, se debe ajustar la abertura del soporte, para el que más se acomode.</a:t>
            </a:r>
          </a:p>
          <a:p>
            <a:endParaRPr lang="es-MX" sz="1400" dirty="0">
              <a:latin typeface="Arial" panose="020B0604020202020204" pitchFamily="34" charset="0"/>
              <a:cs typeface="Arial" panose="020B0604020202020204" pitchFamily="34" charset="0"/>
            </a:endParaRPr>
          </a:p>
          <a:p>
            <a:endParaRPr lang="es-MX" sz="1400" dirty="0">
              <a:latin typeface="Arial" panose="020B0604020202020204" pitchFamily="34" charset="0"/>
              <a:cs typeface="Arial" panose="020B0604020202020204" pitchFamily="34" charset="0"/>
            </a:endParaRPr>
          </a:p>
          <a:p>
            <a:endParaRPr lang="es-MX" sz="1400" dirty="0">
              <a:latin typeface="Arial" panose="020B0604020202020204" pitchFamily="34" charset="0"/>
              <a:cs typeface="Arial" panose="020B0604020202020204" pitchFamily="34" charset="0"/>
            </a:endParaRPr>
          </a:p>
          <a:p>
            <a:endParaRPr lang="es-MX" sz="1400" dirty="0">
              <a:latin typeface="Arial" panose="020B0604020202020204" pitchFamily="34" charset="0"/>
              <a:cs typeface="Arial" panose="020B0604020202020204" pitchFamily="34" charset="0"/>
            </a:endParaRPr>
          </a:p>
          <a:p>
            <a:endParaRPr lang="es-CL" sz="1400" dirty="0">
              <a:latin typeface="Arial" panose="020B0604020202020204" pitchFamily="34" charset="0"/>
              <a:cs typeface="Arial" panose="020B0604020202020204" pitchFamily="34" charset="0"/>
            </a:endParaRPr>
          </a:p>
        </p:txBody>
      </p:sp>
      <p:cxnSp>
        <p:nvCxnSpPr>
          <p:cNvPr id="20" name="Conector recto 19">
            <a:extLst>
              <a:ext uri="{FF2B5EF4-FFF2-40B4-BE49-F238E27FC236}">
                <a16:creationId xmlns:a16="http://schemas.microsoft.com/office/drawing/2014/main" id="{B276CF44-852F-BCB5-7EA2-A000EED40723}"/>
              </a:ext>
            </a:extLst>
          </p:cNvPr>
          <p:cNvCxnSpPr>
            <a:cxnSpLocks/>
          </p:cNvCxnSpPr>
          <p:nvPr/>
        </p:nvCxnSpPr>
        <p:spPr>
          <a:xfrm flipV="1">
            <a:off x="8700112" y="6361976"/>
            <a:ext cx="1376039" cy="6169"/>
          </a:xfrm>
          <a:prstGeom prst="line">
            <a:avLst/>
          </a:prstGeom>
          <a:ln w="76200"/>
        </p:spPr>
        <p:style>
          <a:lnRef idx="3">
            <a:schemeClr val="accent6"/>
          </a:lnRef>
          <a:fillRef idx="0">
            <a:schemeClr val="accent6"/>
          </a:fillRef>
          <a:effectRef idx="2">
            <a:schemeClr val="accent6"/>
          </a:effectRef>
          <a:fontRef idx="minor">
            <a:schemeClr val="tx1"/>
          </a:fontRef>
        </p:style>
      </p:cxnSp>
      <p:cxnSp>
        <p:nvCxnSpPr>
          <p:cNvPr id="27" name="Conector recto 26">
            <a:extLst>
              <a:ext uri="{FF2B5EF4-FFF2-40B4-BE49-F238E27FC236}">
                <a16:creationId xmlns:a16="http://schemas.microsoft.com/office/drawing/2014/main" id="{5F4F9DD3-3D4A-E2EF-F1BC-AAAF23E3CBA2}"/>
              </a:ext>
            </a:extLst>
          </p:cNvPr>
          <p:cNvCxnSpPr>
            <a:cxnSpLocks/>
          </p:cNvCxnSpPr>
          <p:nvPr/>
        </p:nvCxnSpPr>
        <p:spPr>
          <a:xfrm>
            <a:off x="4572000" y="4607511"/>
            <a:ext cx="0" cy="577048"/>
          </a:xfrm>
          <a:prstGeom prst="line">
            <a:avLst/>
          </a:prstGeom>
          <a:ln w="76200"/>
        </p:spPr>
        <p:style>
          <a:lnRef idx="3">
            <a:schemeClr val="accent6"/>
          </a:lnRef>
          <a:fillRef idx="0">
            <a:schemeClr val="accent6"/>
          </a:fillRef>
          <a:effectRef idx="2">
            <a:schemeClr val="accent6"/>
          </a:effectRef>
          <a:fontRef idx="minor">
            <a:schemeClr val="tx1"/>
          </a:fontRef>
        </p:style>
      </p:cxnSp>
      <p:sp>
        <p:nvSpPr>
          <p:cNvPr id="30" name="CuadroTexto 29">
            <a:extLst>
              <a:ext uri="{FF2B5EF4-FFF2-40B4-BE49-F238E27FC236}">
                <a16:creationId xmlns:a16="http://schemas.microsoft.com/office/drawing/2014/main" id="{FEB5E897-0403-85DA-D9B3-FF56F9B0E3FB}"/>
              </a:ext>
            </a:extLst>
          </p:cNvPr>
          <p:cNvSpPr txBox="1"/>
          <p:nvPr/>
        </p:nvSpPr>
        <p:spPr>
          <a:xfrm>
            <a:off x="3187085" y="4677635"/>
            <a:ext cx="1296137" cy="461665"/>
          </a:xfrm>
          <a:prstGeom prst="rect">
            <a:avLst/>
          </a:prstGeom>
          <a:noFill/>
        </p:spPr>
        <p:txBody>
          <a:bodyPr wrap="square" rtlCol="0">
            <a:spAutoFit/>
          </a:bodyPr>
          <a:lstStyle/>
          <a:p>
            <a:r>
              <a:rPr lang="es-MX" sz="1200" dirty="0">
                <a:solidFill>
                  <a:srgbClr val="FF0000"/>
                </a:solidFill>
                <a:latin typeface="Bahnschrift Light Condensed" panose="020B0502040204020203" pitchFamily="34" charset="0"/>
              </a:rPr>
              <a:t>Abertura del soporte de la rueda</a:t>
            </a:r>
            <a:endParaRPr lang="es-CL" sz="1200" dirty="0">
              <a:solidFill>
                <a:srgbClr val="FF0000"/>
              </a:solidFill>
              <a:latin typeface="Bahnschrift Light Condensed" panose="020B0502040204020203" pitchFamily="34" charset="0"/>
            </a:endParaRPr>
          </a:p>
        </p:txBody>
      </p:sp>
    </p:spTree>
    <p:extLst>
      <p:ext uri="{BB962C8B-B14F-4D97-AF65-F5344CB8AC3E}">
        <p14:creationId xmlns:p14="http://schemas.microsoft.com/office/powerpoint/2010/main" val="22978071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B3E5E0-40BF-5ED1-7798-FC185B4FEB20}"/>
              </a:ext>
            </a:extLst>
          </p:cNvPr>
          <p:cNvSpPr>
            <a:spLocks noGrp="1"/>
          </p:cNvSpPr>
          <p:nvPr>
            <p:ph type="title"/>
          </p:nvPr>
        </p:nvSpPr>
        <p:spPr>
          <a:xfrm>
            <a:off x="2289806" y="432047"/>
            <a:ext cx="7594632" cy="1456267"/>
          </a:xfrm>
        </p:spPr>
        <p:txBody>
          <a:bodyPr/>
          <a:lstStyle/>
          <a:p>
            <a:r>
              <a:rPr lang="es-MX" dirty="0"/>
              <a:t>Cálculo de fuerza del elevador</a:t>
            </a:r>
            <a:endParaRPr lang="es-CL" dirty="0"/>
          </a:p>
        </p:txBody>
      </p:sp>
      <p:pic>
        <p:nvPicPr>
          <p:cNvPr id="4" name="Marcador de contenido 3">
            <a:extLst>
              <a:ext uri="{FF2B5EF4-FFF2-40B4-BE49-F238E27FC236}">
                <a16:creationId xmlns:a16="http://schemas.microsoft.com/office/drawing/2014/main" id="{EDB4C5C4-0E3E-244B-66FF-31F46F011BE4}"/>
              </a:ext>
            </a:extLst>
          </p:cNvPr>
          <p:cNvPicPr>
            <a:picLocks noGrp="1" noChangeAspect="1"/>
          </p:cNvPicPr>
          <p:nvPr>
            <p:ph idx="1"/>
          </p:nvPr>
        </p:nvPicPr>
        <p:blipFill>
          <a:blip r:embed="rId2"/>
          <a:stretch>
            <a:fillRect/>
          </a:stretch>
        </p:blipFill>
        <p:spPr>
          <a:xfrm>
            <a:off x="0" y="1808414"/>
            <a:ext cx="6783040" cy="4251600"/>
          </a:xfrm>
          <a:prstGeom prst="rect">
            <a:avLst/>
          </a:prstGeom>
        </p:spPr>
      </p:pic>
      <p:pic>
        <p:nvPicPr>
          <p:cNvPr id="5" name="Imagen 4">
            <a:extLst>
              <a:ext uri="{FF2B5EF4-FFF2-40B4-BE49-F238E27FC236}">
                <a16:creationId xmlns:a16="http://schemas.microsoft.com/office/drawing/2014/main" id="{14986BB0-8F98-EF1B-0A4B-4BC37CBF6C0A}"/>
              </a:ext>
            </a:extLst>
          </p:cNvPr>
          <p:cNvPicPr>
            <a:picLocks noChangeAspect="1"/>
          </p:cNvPicPr>
          <p:nvPr/>
        </p:nvPicPr>
        <p:blipFill>
          <a:blip r:embed="rId3"/>
          <a:stretch>
            <a:fillRect/>
          </a:stretch>
        </p:blipFill>
        <p:spPr>
          <a:xfrm>
            <a:off x="2775939" y="5277220"/>
            <a:ext cx="1810669" cy="493819"/>
          </a:xfrm>
          <a:prstGeom prst="rect">
            <a:avLst/>
          </a:prstGeom>
        </p:spPr>
      </p:pic>
      <p:pic>
        <p:nvPicPr>
          <p:cNvPr id="7" name="Imagen 6">
            <a:extLst>
              <a:ext uri="{FF2B5EF4-FFF2-40B4-BE49-F238E27FC236}">
                <a16:creationId xmlns:a16="http://schemas.microsoft.com/office/drawing/2014/main" id="{91BC2935-FEA8-6468-9801-FE1359589AF9}"/>
              </a:ext>
            </a:extLst>
          </p:cNvPr>
          <p:cNvPicPr>
            <a:picLocks noChangeAspect="1"/>
          </p:cNvPicPr>
          <p:nvPr/>
        </p:nvPicPr>
        <p:blipFill>
          <a:blip r:embed="rId4"/>
          <a:stretch>
            <a:fillRect/>
          </a:stretch>
        </p:blipFill>
        <p:spPr>
          <a:xfrm>
            <a:off x="1221156" y="6119941"/>
            <a:ext cx="4340728" cy="493819"/>
          </a:xfrm>
          <a:prstGeom prst="rect">
            <a:avLst/>
          </a:prstGeom>
        </p:spPr>
      </p:pic>
      <p:sp>
        <p:nvSpPr>
          <p:cNvPr id="10" name="CuadroTexto 9">
            <a:extLst>
              <a:ext uri="{FF2B5EF4-FFF2-40B4-BE49-F238E27FC236}">
                <a16:creationId xmlns:a16="http://schemas.microsoft.com/office/drawing/2014/main" id="{73864EF3-3608-9D75-ACA4-7B396A2B3B2E}"/>
              </a:ext>
            </a:extLst>
          </p:cNvPr>
          <p:cNvSpPr txBox="1"/>
          <p:nvPr/>
        </p:nvSpPr>
        <p:spPr>
          <a:xfrm>
            <a:off x="7217546" y="3235500"/>
            <a:ext cx="4128116" cy="1477328"/>
          </a:xfrm>
          <a:prstGeom prst="rect">
            <a:avLst/>
          </a:prstGeom>
          <a:noFill/>
        </p:spPr>
        <p:txBody>
          <a:bodyPr wrap="square" rtlCol="0">
            <a:spAutoFit/>
          </a:bodyPr>
          <a:lstStyle/>
          <a:p>
            <a:pPr algn="just"/>
            <a:r>
              <a:rPr lang="es-MX" dirty="0"/>
              <a:t>El elevador siempre trabajará a 35 bares, ya que, está diseñado para levantar 4000 kilos, si siente más peso no se sobre exigirá, por ende, su presión siempre será la misma.</a:t>
            </a:r>
            <a:endParaRPr lang="es-CL" dirty="0"/>
          </a:p>
        </p:txBody>
      </p:sp>
    </p:spTree>
    <p:extLst>
      <p:ext uri="{BB962C8B-B14F-4D97-AF65-F5344CB8AC3E}">
        <p14:creationId xmlns:p14="http://schemas.microsoft.com/office/powerpoint/2010/main" val="639840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1EF10B-C0CF-D1D9-A20C-F3720E8AE016}"/>
              </a:ext>
            </a:extLst>
          </p:cNvPr>
          <p:cNvSpPr>
            <a:spLocks noGrp="1"/>
          </p:cNvSpPr>
          <p:nvPr>
            <p:ph type="title"/>
          </p:nvPr>
        </p:nvSpPr>
        <p:spPr/>
        <p:txBody>
          <a:bodyPr/>
          <a:lstStyle/>
          <a:p>
            <a:r>
              <a:rPr lang="es-MX" dirty="0"/>
              <a:t>Desarrollo, revisión de ideas y producto</a:t>
            </a:r>
            <a:endParaRPr lang="es-CL" dirty="0"/>
          </a:p>
        </p:txBody>
      </p:sp>
      <p:sp>
        <p:nvSpPr>
          <p:cNvPr id="3" name="Marcador de contenido 2">
            <a:extLst>
              <a:ext uri="{FF2B5EF4-FFF2-40B4-BE49-F238E27FC236}">
                <a16:creationId xmlns:a16="http://schemas.microsoft.com/office/drawing/2014/main" id="{B9061149-9583-B1EB-6FAF-AEFF939EAF3C}"/>
              </a:ext>
            </a:extLst>
          </p:cNvPr>
          <p:cNvSpPr>
            <a:spLocks noGrp="1"/>
          </p:cNvSpPr>
          <p:nvPr>
            <p:ph idx="1"/>
          </p:nvPr>
        </p:nvSpPr>
        <p:spPr/>
        <p:txBody>
          <a:bodyPr anchor="t"/>
          <a:lstStyle/>
          <a:p>
            <a:pPr algn="just"/>
            <a:r>
              <a:rPr lang="es-MX" dirty="0"/>
              <a:t>Hacer una modificación en cuanto a los elevadores actuales para adaptarlos a lo que planteamos es una idea un tanto simple pero innovadora, esta misma se puede ir adaptando a futuro según el requerimiento de cada usuario, ya que, el sistema está pensado solo para intervenir las baterías y sistemas electrónicos internos del automóvil.</a:t>
            </a:r>
          </a:p>
          <a:p>
            <a:pPr algn="just"/>
            <a:r>
              <a:rPr lang="es-MX" dirty="0"/>
              <a:t>También su uso puede ser variado y no necesariamente para automóviles eléctricos, también se puede utilizar para otros móviles. Pero como se menciona anteriormente, su fin es para lo señalado.</a:t>
            </a:r>
          </a:p>
          <a:p>
            <a:pPr algn="just"/>
            <a:r>
              <a:rPr lang="es-MX" dirty="0"/>
              <a:t>El tiempo para el desarrollo de este sistema puede ser variado y dependen netamente de lo que necesite el cliente, junto con el elevador que se quiera intervenir </a:t>
            </a:r>
          </a:p>
          <a:p>
            <a:pPr algn="just"/>
            <a:endParaRPr lang="es-CL" dirty="0"/>
          </a:p>
        </p:txBody>
      </p:sp>
    </p:spTree>
    <p:extLst>
      <p:ext uri="{BB962C8B-B14F-4D97-AF65-F5344CB8AC3E}">
        <p14:creationId xmlns:p14="http://schemas.microsoft.com/office/powerpoint/2010/main" val="8185274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8AF622-031A-F54F-C180-A5CB2E699478}"/>
              </a:ext>
            </a:extLst>
          </p:cNvPr>
          <p:cNvSpPr>
            <a:spLocks noGrp="1"/>
          </p:cNvSpPr>
          <p:nvPr>
            <p:ph type="title"/>
          </p:nvPr>
        </p:nvSpPr>
        <p:spPr/>
        <p:txBody>
          <a:bodyPr/>
          <a:lstStyle/>
          <a:p>
            <a:r>
              <a:rPr lang="es-MX" dirty="0"/>
              <a:t>Prototipo del elevador</a:t>
            </a:r>
            <a:endParaRPr lang="es-CL" dirty="0"/>
          </a:p>
        </p:txBody>
      </p:sp>
      <p:pic>
        <p:nvPicPr>
          <p:cNvPr id="4" name="Marcador de contenido 3">
            <a:extLst>
              <a:ext uri="{FF2B5EF4-FFF2-40B4-BE49-F238E27FC236}">
                <a16:creationId xmlns:a16="http://schemas.microsoft.com/office/drawing/2014/main" id="{74E76D3A-86BB-A14D-1007-C8245925F7A7}"/>
              </a:ext>
            </a:extLst>
          </p:cNvPr>
          <p:cNvPicPr>
            <a:picLocks noGrp="1" noChangeAspect="1"/>
          </p:cNvPicPr>
          <p:nvPr>
            <p:ph idx="1"/>
          </p:nvPr>
        </p:nvPicPr>
        <p:blipFill>
          <a:blip r:embed="rId2"/>
          <a:stretch>
            <a:fillRect/>
          </a:stretch>
        </p:blipFill>
        <p:spPr>
          <a:xfrm>
            <a:off x="542999" y="2390112"/>
            <a:ext cx="3190602" cy="3649662"/>
          </a:xfrm>
          <a:prstGeom prst="rect">
            <a:avLst/>
          </a:prstGeom>
        </p:spPr>
      </p:pic>
      <p:pic>
        <p:nvPicPr>
          <p:cNvPr id="5" name="Imagen 4">
            <a:extLst>
              <a:ext uri="{FF2B5EF4-FFF2-40B4-BE49-F238E27FC236}">
                <a16:creationId xmlns:a16="http://schemas.microsoft.com/office/drawing/2014/main" id="{C7057161-E443-DE70-6ECB-DC338595E8F2}"/>
              </a:ext>
            </a:extLst>
          </p:cNvPr>
          <p:cNvPicPr>
            <a:picLocks noChangeAspect="1"/>
          </p:cNvPicPr>
          <p:nvPr/>
        </p:nvPicPr>
        <p:blipFill>
          <a:blip r:embed="rId3"/>
          <a:stretch>
            <a:fillRect/>
          </a:stretch>
        </p:blipFill>
        <p:spPr>
          <a:xfrm>
            <a:off x="4032042" y="2390112"/>
            <a:ext cx="3586933" cy="3649662"/>
          </a:xfrm>
          <a:prstGeom prst="rect">
            <a:avLst/>
          </a:prstGeom>
        </p:spPr>
      </p:pic>
      <p:pic>
        <p:nvPicPr>
          <p:cNvPr id="6" name="Imagen 5">
            <a:extLst>
              <a:ext uri="{FF2B5EF4-FFF2-40B4-BE49-F238E27FC236}">
                <a16:creationId xmlns:a16="http://schemas.microsoft.com/office/drawing/2014/main" id="{14DE570B-C352-AED5-D239-C3FF9893315F}"/>
              </a:ext>
            </a:extLst>
          </p:cNvPr>
          <p:cNvPicPr>
            <a:picLocks noChangeAspect="1"/>
          </p:cNvPicPr>
          <p:nvPr/>
        </p:nvPicPr>
        <p:blipFill>
          <a:blip r:embed="rId4"/>
          <a:stretch>
            <a:fillRect/>
          </a:stretch>
        </p:blipFill>
        <p:spPr>
          <a:xfrm>
            <a:off x="8514881" y="2413806"/>
            <a:ext cx="2844118" cy="3625968"/>
          </a:xfrm>
          <a:prstGeom prst="rect">
            <a:avLst/>
          </a:prstGeom>
        </p:spPr>
      </p:pic>
    </p:spTree>
    <p:extLst>
      <p:ext uri="{BB962C8B-B14F-4D97-AF65-F5344CB8AC3E}">
        <p14:creationId xmlns:p14="http://schemas.microsoft.com/office/powerpoint/2010/main" val="31583896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1E0E78-3846-B5A7-13CE-9D5E6FE0308A}"/>
              </a:ext>
            </a:extLst>
          </p:cNvPr>
          <p:cNvSpPr>
            <a:spLocks noGrp="1"/>
          </p:cNvSpPr>
          <p:nvPr>
            <p:ph type="title"/>
          </p:nvPr>
        </p:nvSpPr>
        <p:spPr>
          <a:xfrm>
            <a:off x="685801" y="103572"/>
            <a:ext cx="10131425" cy="1456267"/>
          </a:xfrm>
        </p:spPr>
        <p:txBody>
          <a:bodyPr/>
          <a:lstStyle/>
          <a:p>
            <a:r>
              <a:rPr lang="es-MX" dirty="0"/>
              <a:t>Resultados y conclusiones</a:t>
            </a:r>
            <a:endParaRPr lang="es-CL" dirty="0"/>
          </a:p>
        </p:txBody>
      </p:sp>
      <p:sp>
        <p:nvSpPr>
          <p:cNvPr id="3" name="Marcador de contenido 2">
            <a:extLst>
              <a:ext uri="{FF2B5EF4-FFF2-40B4-BE49-F238E27FC236}">
                <a16:creationId xmlns:a16="http://schemas.microsoft.com/office/drawing/2014/main" id="{D7361A1D-708D-52ED-9791-520CDA486B76}"/>
              </a:ext>
            </a:extLst>
          </p:cNvPr>
          <p:cNvSpPr>
            <a:spLocks noGrp="1"/>
          </p:cNvSpPr>
          <p:nvPr>
            <p:ph idx="1"/>
          </p:nvPr>
        </p:nvSpPr>
        <p:spPr>
          <a:xfrm>
            <a:off x="685801" y="1559839"/>
            <a:ext cx="10131425" cy="4231361"/>
          </a:xfrm>
        </p:spPr>
        <p:txBody>
          <a:bodyPr anchor="t"/>
          <a:lstStyle/>
          <a:p>
            <a:pPr algn="just"/>
            <a:r>
              <a:rPr lang="es-MX" dirty="0"/>
              <a:t>El sistema que proponemos resulta ser viable para un futuro desarrollo, esto debido a que no es un sistema complejo de elaborar, haciendo simple su implementación.</a:t>
            </a:r>
          </a:p>
          <a:p>
            <a:pPr algn="just"/>
            <a:r>
              <a:rPr lang="es-MX" dirty="0"/>
              <a:t>Es necesario exponer la idea a personas o empresas capacitadas en cuanto a la confección de piezas metálicas, pidiendo así, un asesoramiento en cuanto a materiales y su capacidad para lo que utilizaremos.</a:t>
            </a:r>
          </a:p>
          <a:p>
            <a:pPr algn="just"/>
            <a:r>
              <a:rPr lang="es-MX" dirty="0"/>
              <a:t>En cuanto a costos, lógicamente lo más caro es el elevador, le cual es la base del proyecto, sin embargo, todos los talleres mecánicos cuentan con uno de estos, en el caso de necesitar este sistema, simplemente se puede adaptar a uno.</a:t>
            </a:r>
          </a:p>
          <a:p>
            <a:pPr algn="just"/>
            <a:r>
              <a:rPr lang="es-MX" dirty="0"/>
              <a:t>En el mercado no hay ningún sistema  que este destinado a esto, lo que significa que sería el único de esta clase, este podría ser una muy buena opción cuando crezca aún más el mercado de la electromovilidad.</a:t>
            </a:r>
            <a:endParaRPr lang="es-CL" dirty="0"/>
          </a:p>
        </p:txBody>
      </p:sp>
    </p:spTree>
    <p:extLst>
      <p:ext uri="{BB962C8B-B14F-4D97-AF65-F5344CB8AC3E}">
        <p14:creationId xmlns:p14="http://schemas.microsoft.com/office/powerpoint/2010/main" val="10780005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877D68-92E3-1E8B-72D7-DB6D1E1F3805}"/>
              </a:ext>
            </a:extLst>
          </p:cNvPr>
          <p:cNvSpPr>
            <a:spLocks noGrp="1"/>
          </p:cNvSpPr>
          <p:nvPr>
            <p:ph type="title"/>
          </p:nvPr>
        </p:nvSpPr>
        <p:spPr/>
        <p:txBody>
          <a:bodyPr/>
          <a:lstStyle/>
          <a:p>
            <a:r>
              <a:rPr lang="es-MX" dirty="0"/>
              <a:t>Bibliografía </a:t>
            </a:r>
            <a:endParaRPr lang="es-CL" dirty="0"/>
          </a:p>
        </p:txBody>
      </p:sp>
      <p:sp>
        <p:nvSpPr>
          <p:cNvPr id="3" name="Marcador de contenido 2">
            <a:extLst>
              <a:ext uri="{FF2B5EF4-FFF2-40B4-BE49-F238E27FC236}">
                <a16:creationId xmlns:a16="http://schemas.microsoft.com/office/drawing/2014/main" id="{CF8916F9-9979-5B71-8AA8-1A0736622412}"/>
              </a:ext>
            </a:extLst>
          </p:cNvPr>
          <p:cNvSpPr>
            <a:spLocks noGrp="1"/>
          </p:cNvSpPr>
          <p:nvPr>
            <p:ph idx="1"/>
          </p:nvPr>
        </p:nvSpPr>
        <p:spPr/>
        <p:txBody>
          <a:bodyPr>
            <a:normAutofit lnSpcReduction="10000"/>
          </a:bodyPr>
          <a:lstStyle/>
          <a:p>
            <a:r>
              <a:rPr lang="es-MX" dirty="0"/>
              <a:t>Ministerio de Transportes y Telecomunicaciones. (09 de 08 de 2023). Ministerio de Transportes y Telecomunicaciones. Obtenido de https://www.mtt.gob.cl/wp-content/uploads/2023/08/documento-electromovilidad.pdf</a:t>
            </a:r>
          </a:p>
          <a:p>
            <a:r>
              <a:rPr lang="es-MX" dirty="0"/>
              <a:t>Muñoz, F. (17 de 11 de 2022). Motor 1. Obtenido de https://es.motor1.com/news/622002/peso-coches-electricos-reto-industria/</a:t>
            </a:r>
          </a:p>
          <a:p>
            <a:endParaRPr lang="es-MX" dirty="0"/>
          </a:p>
          <a:p>
            <a:pPr marL="0" indent="0">
              <a:buNone/>
            </a:pPr>
            <a:r>
              <a:rPr lang="es-CL" dirty="0"/>
              <a:t>Link video:</a:t>
            </a:r>
          </a:p>
          <a:p>
            <a:pPr marL="0" indent="0">
              <a:buNone/>
            </a:pPr>
            <a:r>
              <a:rPr lang="es-CL" dirty="0"/>
              <a:t>https://inacapmailcl-my.sharepoint.com/:v:/g/personal/fernando_rivera24_inacapmail_cl/Eb5CKdQXizJOpde9hL16zCQBfeibZR-6ouP7WUqvVg6XOA?nav=eyJyZWZlcnJhbEluZm8iOnsicmVmZXJyYWxBcHAiOiJPbmVEcml2ZUZvckJ1c2luZXNzIiwicmVmZXJyYWxBcHBQbGF0Zm9ybSI6IldlYiIsInJlZmVycmFsTW9kZSI6InZpZXciLCJyZWZlcnJhbFZpZXciOiJNeUZpbGVzTGlua0NvcHkifX0&amp;e=WbYCGH</a:t>
            </a:r>
          </a:p>
        </p:txBody>
      </p:sp>
    </p:spTree>
    <p:extLst>
      <p:ext uri="{BB962C8B-B14F-4D97-AF65-F5344CB8AC3E}">
        <p14:creationId xmlns:p14="http://schemas.microsoft.com/office/powerpoint/2010/main" val="26192034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{084E5C7B-3D3B-4AFD-AEFC-ABFCEE003AED}tf03457452</Template>
  <TotalTime>814</TotalTime>
  <Words>1568</Words>
  <Application>Microsoft Macintosh PowerPoint</Application>
  <PresentationFormat>Panorámica</PresentationFormat>
  <Paragraphs>111</Paragraphs>
  <Slides>14</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14</vt:i4>
      </vt:variant>
    </vt:vector>
  </HeadingPairs>
  <TitlesOfParts>
    <vt:vector size="21" baseType="lpstr">
      <vt:lpstr>Arial</vt:lpstr>
      <vt:lpstr>Bahnschrift Light Condensed</vt:lpstr>
      <vt:lpstr>Calibri</vt:lpstr>
      <vt:lpstr>Calibri Light</vt:lpstr>
      <vt:lpstr>Symbol</vt:lpstr>
      <vt:lpstr>Times New Roman</vt:lpstr>
      <vt:lpstr>Celestial</vt:lpstr>
      <vt:lpstr>Elevador para vehículos eléctricos </vt:lpstr>
      <vt:lpstr>Definición del proyecto</vt:lpstr>
      <vt:lpstr>Tema de investigación, nociones matemáticas y problemática a abordar </vt:lpstr>
      <vt:lpstr>Objetivos y preguntas de investigación </vt:lpstr>
      <vt:lpstr>Temas iniciales involucrados</vt:lpstr>
      <vt:lpstr>Cronograma y materiales a utilizar</vt:lpstr>
      <vt:lpstr>Presentación de PowerPoint</vt:lpstr>
      <vt:lpstr>Cálculos Trigonométricos de LA DISTANCIA DE LOS BRAZOS DE APOYO</vt:lpstr>
      <vt:lpstr>Calcular la abertura de nuestros soportes de la rueda</vt:lpstr>
      <vt:lpstr>Cálculo de fuerza del elevador</vt:lpstr>
      <vt:lpstr>Desarrollo, revisión de ideas y producto</vt:lpstr>
      <vt:lpstr>Prototipo del elevador</vt:lpstr>
      <vt:lpstr>Resultados y conclusiones</vt:lpstr>
      <vt:lpstr>Bibliografía </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Elevador para vehículos eléctricos </dc:title>
  <dc:creator>Isidora Rivera Gomez</dc:creator>
  <cp:lastModifiedBy>Microsoft Office User</cp:lastModifiedBy>
  <cp:revision>8</cp:revision>
  <dcterms:created xsi:type="dcterms:W3CDTF">2023-11-24T01:25:51Z</dcterms:created>
  <dcterms:modified xsi:type="dcterms:W3CDTF">2023-12-23T23:06:41Z</dcterms:modified>
</cp:coreProperties>
</file>