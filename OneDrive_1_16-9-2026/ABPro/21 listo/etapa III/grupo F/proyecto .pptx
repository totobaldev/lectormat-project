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70" r:id="rId9"/>
    <p:sldId id="271" r:id="rId10"/>
    <p:sldId id="272" r:id="rId11"/>
    <p:sldId id="282" r:id="rId12"/>
    <p:sldId id="274" r:id="rId13"/>
    <p:sldId id="275" r:id="rId14"/>
    <p:sldId id="276" r:id="rId15"/>
    <p:sldId id="267" r:id="rId16"/>
    <p:sldId id="277" r:id="rId17"/>
    <p:sldId id="281" r:id="rId18"/>
    <p:sldId id="284" r:id="rId19"/>
    <p:sldId id="285" r:id="rId20"/>
    <p:sldId id="278" r:id="rId21"/>
    <p:sldId id="283" r:id="rId22"/>
    <p:sldId id="28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9"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466" autoAdjust="0"/>
    <p:restoredTop sz="94660"/>
  </p:normalViewPr>
  <p:slideViewPr>
    <p:cSldViewPr snapToGrid="0">
      <p:cViewPr varScale="1">
        <p:scale>
          <a:sx n="41" d="100"/>
          <a:sy n="41" d="100"/>
        </p:scale>
        <p:origin x="216" y="1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26T12:10:26.617" idx="1">
    <p:pos x="10" y="10"/>
    <p:text>SOLO DEBE DESCRIBIR LA PROBLEMATICA</p:text>
    <p:extLst>
      <p:ext uri="{C676402C-5697-4E1C-873F-D02D1690AC5C}">
        <p15:threadingInfo xmlns:p15="http://schemas.microsoft.com/office/powerpoint/2012/main" timeZoneBias="180"/>
      </p:ext>
    </p:extLst>
  </p:cm>
  <p:cm authorId="1" dt="2023-12-26T12:10:43.126" idx="2">
    <p:pos x="6474" y="2542"/>
    <p:text>LA SOLUCION SE VA DESARROLLANDO DURANTE EL PROCESO</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26T12:11:12.863" idx="3">
    <p:pos x="10" y="10"/>
    <p:text>BUENA DESCRIPCION</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26T12:11:23.395" idx="4">
    <p:pos x="10" y="10"/>
    <p:text>FALTA MEJORAR REDACCION DEL OBJETIVO</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26T12:11:34.628" idx="5">
    <p:pos x="10" y="10"/>
    <p:text>LAS PREGUNTAS BIEN PLANTEADAS PARA LOGRAR CUMPLIR EL OBJETIVO, PERO ÉSTAS NO SE DEBEN RESPONDER... ÉSTO SE HACE A TRAVÉS DEL PROCESO DE BÚSQUEDA DE SOLUCIÓN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26T12:12:55.094" idx="6">
    <p:pos x="10" y="10"/>
    <p:text>BASTA CON AGREGAR UNA IMAGEN DE SU PROCESO UTILIZANDO DICHAS HERRAMIENTAS Y APPS</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26T12:13:48.191" idx="7">
    <p:pos x="10" y="10"/>
    <p:text>PARA CREAR UNA AJUSTEPOLINOMICO ES NECESARIO UTILIZAR LA AMYOR CANTIDAD POSIBLE DE COORDENADAS</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26T12:14:25.111" idx="8">
    <p:pos x="10" y="10"/>
    <p:text>MUY BUEN PLANTEAMIENTO</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3-12-26T12:14:44.327" idx="9">
    <p:pos x="10" y="10"/>
    <p:text>MUY BIEN!</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F239A9A-B4B0-4B32-B8CD-2E25E95134C4}" type="datetimeFigureOut">
              <a:rPr lang="en-US" dirty="0"/>
              <a:t>12/26/23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1E21DC-8981-44E6-BC8C-2BA8F673FFBB}" type="datetimeFigureOut">
              <a:rPr lang="en-US" dirty="0"/>
              <a:t>12/26/23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EB9C5D3-0140-4E75-8D7F-C0623D06DFD7}" type="datetimeFigureOut">
              <a:rPr lang="en-US" dirty="0"/>
              <a:t>12/26/23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A5666F9-5B40-48E0-8DFD-99EF944CDD22}" type="datetimeFigureOut">
              <a:rPr lang="en-US" dirty="0"/>
              <a:t>12/26/23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0322" y="3030008"/>
            <a:ext cx="4698355"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594123" y="3030008"/>
            <a:ext cx="4700059"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A698D6B-2C72-4E21-9893-A649C6E2A47D}" type="datetimeFigureOut">
              <a:rPr lang="en-US" dirty="0"/>
              <a:t>12/26/23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86811C9-A66C-49F0-970E-F7B68D9109A0}" type="datetimeFigureOut">
              <a:rPr lang="en-US" dirty="0"/>
              <a:t>12/26/23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6C01AE78-96A2-4A23-B183-3B6DB4374FE7}" type="datetimeFigureOut">
              <a:rPr lang="en-US" dirty="0"/>
              <a:t>12/26/23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3AE0757-B101-4811-9189-10EB2F458E2D}" type="datetimeFigureOut">
              <a:rPr lang="en-US" dirty="0"/>
              <a:t>12/26/23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EBDC078-589F-40E3-816C-EE21D62B5BBA}" type="datetimeFigureOut">
              <a:rPr lang="en-US" dirty="0"/>
              <a:t>12/26/23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25518A9-B687-4302-9395-2322403C6656}" type="datetimeFigureOut">
              <a:rPr lang="en-US" dirty="0"/>
              <a:t>12/26/23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A99A684-0CB7-41E9-A4DF-5D1C2CA5BF6F}" type="datetimeFigureOut">
              <a:rPr lang="en-US" dirty="0"/>
              <a:t>12/26/23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EDD7C35-9E19-4518-A4B2-3B09CD8CC756}" type="datetimeFigureOut">
              <a:rPr lang="en-US" dirty="0"/>
              <a:t>12/26/23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6196DA8-8897-4DDF-BFB6-5D83863C837A}" type="datetimeFigureOut">
              <a:rPr lang="en-US" dirty="0"/>
              <a:t>12/26/23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CBBA708-C5F0-412D-90E2-1919F0D196AE}" type="datetimeFigureOut">
              <a:rPr lang="en-US" dirty="0"/>
              <a:t>12/26/23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A9C8F8FA-EF43-4642-9368-3F4E33039BD9}" type="datetimeFigureOut">
              <a:rPr lang="en-US" dirty="0"/>
              <a:t>12/26/23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61E721-B01C-4D5D-A3CA-2E5518383F10}" type="datetimeFigureOut">
              <a:rPr lang="en-US" dirty="0"/>
              <a:t>12/26/23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513FEF9-69D0-4F8C-A336-59491FBEDC47}" type="datetimeFigureOut">
              <a:rPr lang="en-US" dirty="0"/>
              <a:t>12/26/23</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7004436-CA73-4D53-89B4-2A5C7347BF2F}" type="datetimeFigureOut">
              <a:rPr lang="en-US" dirty="0"/>
              <a:t>12/26/23</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photos.app.goo.gl/1ECh87teWLCPLZcq7" TargetMode="External"/><Relationship Id="rId2" Type="http://schemas.openxmlformats.org/officeDocument/2006/relationships/hyperlink" Target="https://www.canva.com/design/DAF3Fi29HWg/ruf8JjxTBXwhIKzGgVkExQ/view?utm_content=DAF3Fi29HWg&amp;utm_campaign=share_your_design&amp;utm_medium=link&amp;utm_source=shareyourdesignpane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7E8340-8055-7767-E0BB-DB83D627F24D}"/>
              </a:ext>
            </a:extLst>
          </p:cNvPr>
          <p:cNvSpPr>
            <a:spLocks noGrp="1"/>
          </p:cNvSpPr>
          <p:nvPr>
            <p:ph type="title"/>
          </p:nvPr>
        </p:nvSpPr>
        <p:spPr/>
        <p:txBody>
          <a:bodyPr/>
          <a:lstStyle/>
          <a:p>
            <a:r>
              <a:rPr lang="es-MX" dirty="0"/>
              <a:t>Batería Auxiliar</a:t>
            </a:r>
            <a:endParaRPr lang="es-CL" dirty="0"/>
          </a:p>
        </p:txBody>
      </p:sp>
      <p:sp>
        <p:nvSpPr>
          <p:cNvPr id="3" name="Subtítulo 2">
            <a:extLst>
              <a:ext uri="{FF2B5EF4-FFF2-40B4-BE49-F238E27FC236}">
                <a16:creationId xmlns:a16="http://schemas.microsoft.com/office/drawing/2014/main" id="{80E0D83F-A3A7-9441-980D-E92779C59037}"/>
              </a:ext>
            </a:extLst>
          </p:cNvPr>
          <p:cNvSpPr>
            <a:spLocks noGrp="1"/>
          </p:cNvSpPr>
          <p:nvPr>
            <p:ph sz="half" idx="1"/>
          </p:nvPr>
        </p:nvSpPr>
        <p:spPr/>
        <p:txBody>
          <a:bodyPr>
            <a:normAutofit/>
          </a:bodyPr>
          <a:lstStyle/>
          <a:p>
            <a:pPr algn="l"/>
            <a:r>
              <a:rPr lang="es-MX" dirty="0"/>
              <a:t>Integrantes: </a:t>
            </a:r>
          </a:p>
          <a:p>
            <a:pPr algn="l"/>
            <a:endParaRPr lang="es-MX" dirty="0"/>
          </a:p>
          <a:p>
            <a:pPr algn="l"/>
            <a:r>
              <a:rPr lang="es-MX" dirty="0"/>
              <a:t>Docente:</a:t>
            </a:r>
          </a:p>
          <a:p>
            <a:pPr algn="l"/>
            <a:r>
              <a:rPr lang="es-MX" dirty="0"/>
              <a:t>Asignatura:</a:t>
            </a:r>
          </a:p>
          <a:p>
            <a:pPr algn="l"/>
            <a:r>
              <a:rPr lang="es-MX" dirty="0"/>
              <a:t>Carrera:       Mecánica y Electromovilidad Automotriz.</a:t>
            </a:r>
          </a:p>
          <a:p>
            <a:pPr algn="l"/>
            <a:r>
              <a:rPr lang="es-MX" dirty="0"/>
              <a:t>Sección:       21 </a:t>
            </a:r>
            <a:endParaRPr lang="es-CL" dirty="0"/>
          </a:p>
        </p:txBody>
      </p:sp>
      <p:sp>
        <p:nvSpPr>
          <p:cNvPr id="7" name="Marcador de contenido 6">
            <a:extLst>
              <a:ext uri="{FF2B5EF4-FFF2-40B4-BE49-F238E27FC236}">
                <a16:creationId xmlns:a16="http://schemas.microsoft.com/office/drawing/2014/main" id="{C7B3EAF2-E747-06EC-685F-0400E54B2BC8}"/>
              </a:ext>
            </a:extLst>
          </p:cNvPr>
          <p:cNvSpPr>
            <a:spLocks noGrp="1"/>
          </p:cNvSpPr>
          <p:nvPr>
            <p:ph sz="half" idx="2"/>
          </p:nvPr>
        </p:nvSpPr>
        <p:spPr/>
        <p:txBody>
          <a:bodyPr/>
          <a:lstStyle/>
          <a:p>
            <a:pPr marL="0" indent="0">
              <a:buNone/>
            </a:pPr>
            <a:r>
              <a:rPr lang="es-MX" dirty="0"/>
              <a:t> Cristopher Pinilla, Ángelo Zurita, Marcos </a:t>
            </a:r>
            <a:r>
              <a:rPr lang="es-MX" dirty="0" err="1"/>
              <a:t>Paineval</a:t>
            </a:r>
            <a:r>
              <a:rPr lang="es-MX" dirty="0"/>
              <a:t>, Rogers Ormeño.</a:t>
            </a:r>
          </a:p>
          <a:p>
            <a:pPr marL="0" indent="0">
              <a:buNone/>
            </a:pPr>
            <a:r>
              <a:rPr lang="es-MX" dirty="0"/>
              <a:t>Lissette Salamanca.</a:t>
            </a:r>
          </a:p>
          <a:p>
            <a:pPr marL="0" indent="0">
              <a:buNone/>
            </a:pPr>
            <a:r>
              <a:rPr lang="es-MX" dirty="0"/>
              <a:t> Funciones y Geometría. </a:t>
            </a:r>
            <a:endParaRPr lang="es-CL" dirty="0"/>
          </a:p>
        </p:txBody>
      </p:sp>
    </p:spTree>
    <p:extLst>
      <p:ext uri="{BB962C8B-B14F-4D97-AF65-F5344CB8AC3E}">
        <p14:creationId xmlns:p14="http://schemas.microsoft.com/office/powerpoint/2010/main" val="100782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929461-5DC2-01B2-E41D-28FF84673386}"/>
              </a:ext>
            </a:extLst>
          </p:cNvPr>
          <p:cNvSpPr>
            <a:spLocks noGrp="1"/>
          </p:cNvSpPr>
          <p:nvPr>
            <p:ph type="title"/>
          </p:nvPr>
        </p:nvSpPr>
        <p:spPr>
          <a:xfrm>
            <a:off x="680321" y="713471"/>
            <a:ext cx="9613861" cy="1080938"/>
          </a:xfrm>
        </p:spPr>
        <p:txBody>
          <a:bodyPr/>
          <a:lstStyle/>
          <a:p>
            <a:r>
              <a:rPr lang="es-MX" dirty="0"/>
              <a:t>Proyecto</a:t>
            </a:r>
            <a:endParaRPr lang="es-CL" dirty="0"/>
          </a:p>
        </p:txBody>
      </p:sp>
      <p:sp>
        <p:nvSpPr>
          <p:cNvPr id="3" name="Marcador de contenido 2">
            <a:extLst>
              <a:ext uri="{FF2B5EF4-FFF2-40B4-BE49-F238E27FC236}">
                <a16:creationId xmlns:a16="http://schemas.microsoft.com/office/drawing/2014/main" id="{E0407945-D464-BCFE-7661-549B8520DBA5}"/>
              </a:ext>
            </a:extLst>
          </p:cNvPr>
          <p:cNvSpPr>
            <a:spLocks noGrp="1"/>
          </p:cNvSpPr>
          <p:nvPr>
            <p:ph idx="1"/>
          </p:nvPr>
        </p:nvSpPr>
        <p:spPr/>
        <p:txBody>
          <a:bodyPr/>
          <a:lstStyle/>
          <a:p>
            <a:pPr algn="just"/>
            <a:r>
              <a:rPr lang="es-MX" dirty="0"/>
              <a:t>Nuestra función principal, es dar solución a la puesta en marcha de los vehículos convencionales, cuando su batería de servicio esté descargada, por múltiples razones, sean la presentación de la falla de la misma, uso excesivo de los accesorios de vehículo o simplemente un descuido. </a:t>
            </a:r>
          </a:p>
          <a:p>
            <a:pPr algn="just"/>
            <a:r>
              <a:rPr lang="es-MX" dirty="0"/>
              <a:t>Se busca darle solución mediante una batería adicional que se encuentra fuera de línea mientras este el vehículo en funcionamiento o apagado, previniendo de una descarga de la batería auxiliar, manteniendo esta siempre cargada y disponible para la puesta en marcha del vehículo. </a:t>
            </a:r>
            <a:endParaRPr lang="es-CL" dirty="0"/>
          </a:p>
        </p:txBody>
      </p:sp>
    </p:spTree>
    <p:extLst>
      <p:ext uri="{BB962C8B-B14F-4D97-AF65-F5344CB8AC3E}">
        <p14:creationId xmlns:p14="http://schemas.microsoft.com/office/powerpoint/2010/main" val="2848628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77A0B1-8BC3-723C-C949-CE1B912C82BE}"/>
              </a:ext>
            </a:extLst>
          </p:cNvPr>
          <p:cNvSpPr>
            <a:spLocks noGrp="1"/>
          </p:cNvSpPr>
          <p:nvPr>
            <p:ph type="title"/>
          </p:nvPr>
        </p:nvSpPr>
        <p:spPr/>
        <p:txBody>
          <a:bodyPr/>
          <a:lstStyle/>
          <a:p>
            <a:r>
              <a:rPr lang="es-MX" dirty="0"/>
              <a:t>Temas a investigar</a:t>
            </a:r>
            <a:endParaRPr lang="es-CL" dirty="0"/>
          </a:p>
        </p:txBody>
      </p:sp>
      <p:sp>
        <p:nvSpPr>
          <p:cNvPr id="3" name="Marcador de contenido 2">
            <a:extLst>
              <a:ext uri="{FF2B5EF4-FFF2-40B4-BE49-F238E27FC236}">
                <a16:creationId xmlns:a16="http://schemas.microsoft.com/office/drawing/2014/main" id="{27CB7F64-ABB2-AD12-9240-0BABE6EC691D}"/>
              </a:ext>
            </a:extLst>
          </p:cNvPr>
          <p:cNvSpPr>
            <a:spLocks noGrp="1"/>
          </p:cNvSpPr>
          <p:nvPr>
            <p:ph idx="1"/>
          </p:nvPr>
        </p:nvSpPr>
        <p:spPr/>
        <p:txBody>
          <a:bodyPr>
            <a:normAutofit lnSpcReduction="10000"/>
          </a:bodyPr>
          <a:lstStyle/>
          <a:p>
            <a:pPr algn="just"/>
            <a:r>
              <a:rPr lang="es-MX" dirty="0"/>
              <a:t>Nuestra primera problemática será solucionar, como cargaremos dos baterías y deberemos calcular la energía que debe entregar el alternador, en base al vehículo a abordar, dado que distintos vehículos presentan sistemas distintos de partida y de capacidades variables según modelo.(ley de Ohm)</a:t>
            </a:r>
          </a:p>
          <a:p>
            <a:pPr algn="just"/>
            <a:r>
              <a:rPr lang="es-MX" dirty="0"/>
              <a:t> la segunda variable será calcular las capacidades del circuito de conexión y desconexión del circuito auxiliar, puesto que este lo diseñaremos de cero y debemos calcular la capacidad de los distintos componentes incluso de la capacidad de los cables de la conexión principal además de los sistemas de protección del circuito.</a:t>
            </a:r>
            <a:endParaRPr lang="es-CL" dirty="0"/>
          </a:p>
        </p:txBody>
      </p:sp>
    </p:spTree>
    <p:extLst>
      <p:ext uri="{BB962C8B-B14F-4D97-AF65-F5344CB8AC3E}">
        <p14:creationId xmlns:p14="http://schemas.microsoft.com/office/powerpoint/2010/main" val="3801960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61AFF7-42F4-1231-7472-29D0D58A54FB}"/>
              </a:ext>
            </a:extLst>
          </p:cNvPr>
          <p:cNvSpPr>
            <a:spLocks noGrp="1"/>
          </p:cNvSpPr>
          <p:nvPr>
            <p:ph type="title"/>
          </p:nvPr>
        </p:nvSpPr>
        <p:spPr/>
        <p:txBody>
          <a:bodyPr/>
          <a:lstStyle/>
          <a:p>
            <a:r>
              <a:rPr lang="es-MX" dirty="0"/>
              <a:t>Objetivo</a:t>
            </a:r>
            <a:endParaRPr lang="es-CL" dirty="0"/>
          </a:p>
        </p:txBody>
      </p:sp>
      <p:sp>
        <p:nvSpPr>
          <p:cNvPr id="3" name="Marcador de contenido 2">
            <a:extLst>
              <a:ext uri="{FF2B5EF4-FFF2-40B4-BE49-F238E27FC236}">
                <a16:creationId xmlns:a16="http://schemas.microsoft.com/office/drawing/2014/main" id="{95702CCB-D333-4B98-C6B0-2C5AC20FEA41}"/>
              </a:ext>
            </a:extLst>
          </p:cNvPr>
          <p:cNvSpPr>
            <a:spLocks noGrp="1"/>
          </p:cNvSpPr>
          <p:nvPr>
            <p:ph idx="1"/>
          </p:nvPr>
        </p:nvSpPr>
        <p:spPr/>
        <p:txBody>
          <a:bodyPr/>
          <a:lstStyle/>
          <a:p>
            <a:pPr algn="just"/>
            <a:r>
              <a:rPr lang="es-MX" dirty="0"/>
              <a:t>El objetivo principal es que el vehículo no presente problemas al momento de la puesta en marcha del motor, dotando al vehículo de un sistema auxiliar de suministro eléctrico, suficiente para la puesta en marcha y que esta línea sea un circuito aparte que no se descargue junto con el circuito de fábrica. A fin de cuentas, que este circuito nos permita salir de algunos percances sin la necesidad de requerir ayuda.</a:t>
            </a:r>
            <a:endParaRPr lang="es-CL" dirty="0"/>
          </a:p>
        </p:txBody>
      </p:sp>
    </p:spTree>
    <p:extLst>
      <p:ext uri="{BB962C8B-B14F-4D97-AF65-F5344CB8AC3E}">
        <p14:creationId xmlns:p14="http://schemas.microsoft.com/office/powerpoint/2010/main" val="668284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FBAF1-5A94-E6E7-2DD3-58421FB9D03D}"/>
              </a:ext>
            </a:extLst>
          </p:cNvPr>
          <p:cNvSpPr>
            <a:spLocks noGrp="1"/>
          </p:cNvSpPr>
          <p:nvPr>
            <p:ph type="title"/>
          </p:nvPr>
        </p:nvSpPr>
        <p:spPr/>
        <p:txBody>
          <a:bodyPr/>
          <a:lstStyle/>
          <a:p>
            <a:r>
              <a:rPr lang="es-MX" dirty="0"/>
              <a:t>Preguntas</a:t>
            </a:r>
            <a:endParaRPr lang="es-CL" dirty="0"/>
          </a:p>
        </p:txBody>
      </p:sp>
      <p:sp>
        <p:nvSpPr>
          <p:cNvPr id="3" name="Marcador de contenido 2">
            <a:extLst>
              <a:ext uri="{FF2B5EF4-FFF2-40B4-BE49-F238E27FC236}">
                <a16:creationId xmlns:a16="http://schemas.microsoft.com/office/drawing/2014/main" id="{13C99C34-7D1B-CC58-267A-5B6FB29B8EF1}"/>
              </a:ext>
            </a:extLst>
          </p:cNvPr>
          <p:cNvSpPr>
            <a:spLocks noGrp="1"/>
          </p:cNvSpPr>
          <p:nvPr>
            <p:ph idx="1"/>
          </p:nvPr>
        </p:nvSpPr>
        <p:spPr/>
        <p:txBody>
          <a:bodyPr>
            <a:normAutofit fontScale="62500" lnSpcReduction="20000"/>
          </a:bodyPr>
          <a:lstStyle/>
          <a:p>
            <a:pPr algn="just"/>
            <a:r>
              <a:rPr lang="es-MX" dirty="0"/>
              <a:t>¿En qué momento es necesario ocupar la segunda batería?</a:t>
            </a:r>
          </a:p>
          <a:p>
            <a:pPr marL="0" indent="0" algn="just">
              <a:buNone/>
            </a:pPr>
            <a:r>
              <a:rPr lang="es-MX" dirty="0"/>
              <a:t>Al momento de la puesta en marcha del vehículo y que este carezca de la energía suficiente para dicha acción.</a:t>
            </a:r>
          </a:p>
          <a:p>
            <a:pPr algn="just"/>
            <a:r>
              <a:rPr lang="es-MX" dirty="0"/>
              <a:t>¿Cuál es la mejora en nuestro vehículo, al tener una batería extra?</a:t>
            </a:r>
          </a:p>
          <a:p>
            <a:pPr marL="0" indent="0" algn="just">
              <a:buNone/>
            </a:pPr>
            <a:r>
              <a:rPr lang="es-MX" dirty="0"/>
              <a:t>Al tener una batería extra tendremos una conexión auxiliar de suministro de energía eléctrica, la cual permitirá hacer un intercambio de batería, no de manera física , si no, a través de un interruptor.</a:t>
            </a:r>
          </a:p>
          <a:p>
            <a:pPr algn="just"/>
            <a:r>
              <a:rPr lang="es-MX" dirty="0"/>
              <a:t>¿En qué momento puede fallar la batería de servicio?</a:t>
            </a:r>
          </a:p>
          <a:p>
            <a:pPr marL="0" indent="0" algn="just">
              <a:buNone/>
            </a:pPr>
            <a:r>
              <a:rPr lang="es-MX" dirty="0"/>
              <a:t>Cuando utilicemos instrumentos del vehículo mientras este no se encuentre con el motor funcionamiento, ya que de esta manera no se está recuperando la carga ocupada, puede ser por un descuido de las luces o solo por ocupar la radio un tiempo prolongado, batería en mal estado, entre otras.</a:t>
            </a:r>
          </a:p>
          <a:p>
            <a:pPr algn="just"/>
            <a:r>
              <a:rPr lang="es-MX" dirty="0"/>
              <a:t>¿Por qué puede fallar la batería de servicio?</a:t>
            </a:r>
          </a:p>
          <a:p>
            <a:pPr marL="0" indent="0" algn="just">
              <a:buNone/>
            </a:pPr>
            <a:r>
              <a:rPr lang="es-MX" dirty="0"/>
              <a:t>Esta puede fallar por el uso prolongado de esta ya que esta se va degradando con el paso del tiempo y tiene un plazo de vida útil, además, intervienen varios factores, como un déficit de carga del alternador o un uso prolongado de esta sin que esta se valla recuperando, entre otras. Cabe mencionar que hasta el no uso de esta puede ser perjudicial para su vida útil.</a:t>
            </a:r>
            <a:endParaRPr lang="es-CL" dirty="0"/>
          </a:p>
        </p:txBody>
      </p:sp>
    </p:spTree>
    <p:extLst>
      <p:ext uri="{BB962C8B-B14F-4D97-AF65-F5344CB8AC3E}">
        <p14:creationId xmlns:p14="http://schemas.microsoft.com/office/powerpoint/2010/main" val="1638580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F0F9AA-08B7-D294-786A-8815643E7D71}"/>
              </a:ext>
            </a:extLst>
          </p:cNvPr>
          <p:cNvSpPr>
            <a:spLocks noGrp="1"/>
          </p:cNvSpPr>
          <p:nvPr>
            <p:ph type="title"/>
          </p:nvPr>
        </p:nvSpPr>
        <p:spPr/>
        <p:txBody>
          <a:bodyPr/>
          <a:lstStyle/>
          <a:p>
            <a:r>
              <a:rPr lang="es-MX" dirty="0"/>
              <a:t>Temas iniciales a abordar</a:t>
            </a:r>
            <a:endParaRPr lang="es-CL" dirty="0"/>
          </a:p>
        </p:txBody>
      </p:sp>
      <p:sp>
        <p:nvSpPr>
          <p:cNvPr id="3" name="Marcador de contenido 2">
            <a:extLst>
              <a:ext uri="{FF2B5EF4-FFF2-40B4-BE49-F238E27FC236}">
                <a16:creationId xmlns:a16="http://schemas.microsoft.com/office/drawing/2014/main" id="{499C81AB-8CA2-4E89-3C1E-921B5A6A0CF4}"/>
              </a:ext>
            </a:extLst>
          </p:cNvPr>
          <p:cNvSpPr>
            <a:spLocks noGrp="1"/>
          </p:cNvSpPr>
          <p:nvPr>
            <p:ph idx="1"/>
          </p:nvPr>
        </p:nvSpPr>
        <p:spPr/>
        <p:txBody>
          <a:bodyPr/>
          <a:lstStyle/>
          <a:p>
            <a:pPr algn="just"/>
            <a:r>
              <a:rPr lang="es-MX" dirty="0"/>
              <a:t>Duración de la batería</a:t>
            </a:r>
          </a:p>
          <a:p>
            <a:pPr algn="just"/>
            <a:r>
              <a:rPr lang="es-MX" dirty="0"/>
              <a:t>Capacidad de carga del sistema de recuperación (alternador)</a:t>
            </a:r>
          </a:p>
          <a:p>
            <a:pPr algn="just"/>
            <a:r>
              <a:rPr lang="es-CL" dirty="0"/>
              <a:t>Tecnología a utilizar</a:t>
            </a:r>
          </a:p>
          <a:p>
            <a:pPr algn="just"/>
            <a:r>
              <a:rPr lang="es-CL" dirty="0"/>
              <a:t>Capacidad de los componentes necesarios y su durabilidad</a:t>
            </a:r>
          </a:p>
          <a:p>
            <a:pPr algn="just"/>
            <a:r>
              <a:rPr lang="es-CL" dirty="0"/>
              <a:t>La fiabilidad</a:t>
            </a:r>
          </a:p>
          <a:p>
            <a:pPr algn="just"/>
            <a:r>
              <a:rPr lang="es-CL" dirty="0"/>
              <a:t>Impacto ambiental</a:t>
            </a:r>
          </a:p>
          <a:p>
            <a:pPr algn="just"/>
            <a:r>
              <a:rPr lang="es-CL" dirty="0"/>
              <a:t>Cálculo de los componentes</a:t>
            </a:r>
          </a:p>
        </p:txBody>
      </p:sp>
    </p:spTree>
    <p:extLst>
      <p:ext uri="{BB962C8B-B14F-4D97-AF65-F5344CB8AC3E}">
        <p14:creationId xmlns:p14="http://schemas.microsoft.com/office/powerpoint/2010/main" val="2943070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A3FFC1-6F91-9CAA-008B-7E8630CB956A}"/>
              </a:ext>
            </a:extLst>
          </p:cNvPr>
          <p:cNvSpPr>
            <a:spLocks noGrp="1"/>
          </p:cNvSpPr>
          <p:nvPr>
            <p:ph type="title"/>
          </p:nvPr>
        </p:nvSpPr>
        <p:spPr/>
        <p:txBody>
          <a:bodyPr/>
          <a:lstStyle/>
          <a:p>
            <a:r>
              <a:rPr lang="es-MX" dirty="0"/>
              <a:t>Cronograma </a:t>
            </a:r>
            <a:endParaRPr lang="es-CL" dirty="0"/>
          </a:p>
        </p:txBody>
      </p:sp>
      <p:graphicFrame>
        <p:nvGraphicFramePr>
          <p:cNvPr id="4" name="Marcador de contenido 3">
            <a:extLst>
              <a:ext uri="{FF2B5EF4-FFF2-40B4-BE49-F238E27FC236}">
                <a16:creationId xmlns:a16="http://schemas.microsoft.com/office/drawing/2014/main" id="{B6FCC4B4-48FE-CB83-1A0B-A3621498DC38}"/>
              </a:ext>
            </a:extLst>
          </p:cNvPr>
          <p:cNvGraphicFramePr>
            <a:graphicFrameLocks noGrp="1"/>
          </p:cNvGraphicFramePr>
          <p:nvPr>
            <p:ph idx="1"/>
            <p:extLst>
              <p:ext uri="{D42A27DB-BD31-4B8C-83A1-F6EECF244321}">
                <p14:modId xmlns:p14="http://schemas.microsoft.com/office/powerpoint/2010/main" val="3789672669"/>
              </p:ext>
            </p:extLst>
          </p:nvPr>
        </p:nvGraphicFramePr>
        <p:xfrm>
          <a:off x="680321" y="2159095"/>
          <a:ext cx="10145990" cy="4698905"/>
        </p:xfrm>
        <a:graphic>
          <a:graphicData uri="http://schemas.openxmlformats.org/drawingml/2006/table">
            <a:tbl>
              <a:tblPr firstRow="1" bandRow="1">
                <a:tableStyleId>{5C22544A-7EE6-4342-B048-85BDC9FD1C3A}</a:tableStyleId>
              </a:tblPr>
              <a:tblGrid>
                <a:gridCol w="2029198">
                  <a:extLst>
                    <a:ext uri="{9D8B030D-6E8A-4147-A177-3AD203B41FA5}">
                      <a16:colId xmlns:a16="http://schemas.microsoft.com/office/drawing/2014/main" val="2281175835"/>
                    </a:ext>
                  </a:extLst>
                </a:gridCol>
                <a:gridCol w="2029198">
                  <a:extLst>
                    <a:ext uri="{9D8B030D-6E8A-4147-A177-3AD203B41FA5}">
                      <a16:colId xmlns:a16="http://schemas.microsoft.com/office/drawing/2014/main" val="3030228447"/>
                    </a:ext>
                  </a:extLst>
                </a:gridCol>
                <a:gridCol w="2029198">
                  <a:extLst>
                    <a:ext uri="{9D8B030D-6E8A-4147-A177-3AD203B41FA5}">
                      <a16:colId xmlns:a16="http://schemas.microsoft.com/office/drawing/2014/main" val="845469224"/>
                    </a:ext>
                  </a:extLst>
                </a:gridCol>
                <a:gridCol w="2029198">
                  <a:extLst>
                    <a:ext uri="{9D8B030D-6E8A-4147-A177-3AD203B41FA5}">
                      <a16:colId xmlns:a16="http://schemas.microsoft.com/office/drawing/2014/main" val="3847616510"/>
                    </a:ext>
                  </a:extLst>
                </a:gridCol>
                <a:gridCol w="2029198">
                  <a:extLst>
                    <a:ext uri="{9D8B030D-6E8A-4147-A177-3AD203B41FA5}">
                      <a16:colId xmlns:a16="http://schemas.microsoft.com/office/drawing/2014/main" val="44625762"/>
                    </a:ext>
                  </a:extLst>
                </a:gridCol>
              </a:tblGrid>
              <a:tr h="584105">
                <a:tc>
                  <a:txBody>
                    <a:bodyPr/>
                    <a:lstStyle/>
                    <a:p>
                      <a:r>
                        <a:rPr lang="es-MX" dirty="0"/>
                        <a:t>Tareas </a:t>
                      </a:r>
                      <a:endParaRPr lang="es-CL" dirty="0"/>
                    </a:p>
                  </a:txBody>
                  <a:tcPr/>
                </a:tc>
                <a:tc>
                  <a:txBody>
                    <a:bodyPr/>
                    <a:lstStyle/>
                    <a:p>
                      <a:r>
                        <a:rPr lang="es-MX" dirty="0"/>
                        <a:t>Productos</a:t>
                      </a:r>
                      <a:endParaRPr lang="es-CL" dirty="0"/>
                    </a:p>
                  </a:txBody>
                  <a:tcPr/>
                </a:tc>
                <a:tc>
                  <a:txBody>
                    <a:bodyPr/>
                    <a:lstStyle/>
                    <a:p>
                      <a:r>
                        <a:rPr lang="es-MX" dirty="0"/>
                        <a:t>Plazos</a:t>
                      </a:r>
                      <a:endParaRPr lang="es-CL" dirty="0"/>
                    </a:p>
                  </a:txBody>
                  <a:tcPr/>
                </a:tc>
                <a:tc>
                  <a:txBody>
                    <a:bodyPr/>
                    <a:lstStyle/>
                    <a:p>
                      <a:r>
                        <a:rPr lang="es-MX" dirty="0"/>
                        <a:t>Responsables</a:t>
                      </a:r>
                      <a:endParaRPr lang="es-CL" dirty="0"/>
                    </a:p>
                  </a:txBody>
                  <a:tcPr/>
                </a:tc>
                <a:tc>
                  <a:txBody>
                    <a:bodyPr/>
                    <a:lstStyle/>
                    <a:p>
                      <a:r>
                        <a:rPr lang="es-MX" dirty="0"/>
                        <a:t>Insumos </a:t>
                      </a:r>
                      <a:endParaRPr lang="es-CL" dirty="0"/>
                    </a:p>
                  </a:txBody>
                  <a:tcPr/>
                </a:tc>
                <a:extLst>
                  <a:ext uri="{0D108BD9-81ED-4DB2-BD59-A6C34878D82A}">
                    <a16:rowId xmlns:a16="http://schemas.microsoft.com/office/drawing/2014/main" val="2990829146"/>
                  </a:ext>
                </a:extLst>
              </a:tr>
              <a:tr h="1574493">
                <a:tc>
                  <a:txBody>
                    <a:bodyPr/>
                    <a:lstStyle/>
                    <a:p>
                      <a:r>
                        <a:rPr lang="es-MX" dirty="0"/>
                        <a:t>Calcularemos la capacidad necesaria del alternador</a:t>
                      </a:r>
                      <a:endParaRPr lang="es-CL" dirty="0"/>
                    </a:p>
                  </a:txBody>
                  <a:tcPr/>
                </a:tc>
                <a:tc>
                  <a:txBody>
                    <a:bodyPr/>
                    <a:lstStyle/>
                    <a:p>
                      <a:r>
                        <a:rPr lang="es-MX" dirty="0"/>
                        <a:t>Resultante de la capacidad del alternador que ocuparemos o si es necesario uno adicional.</a:t>
                      </a:r>
                      <a:endParaRPr lang="es-CL" dirty="0"/>
                    </a:p>
                  </a:txBody>
                  <a:tcPr/>
                </a:tc>
                <a:tc>
                  <a:txBody>
                    <a:bodyPr/>
                    <a:lstStyle/>
                    <a:p>
                      <a:r>
                        <a:rPr lang="es-MX" dirty="0"/>
                        <a:t>1 semana</a:t>
                      </a:r>
                      <a:endParaRPr lang="es-CL" dirty="0"/>
                    </a:p>
                  </a:txBody>
                  <a:tcPr/>
                </a:tc>
                <a:tc>
                  <a:txBody>
                    <a:bodyPr/>
                    <a:lstStyle/>
                    <a:p>
                      <a:r>
                        <a:rPr lang="es-MX" dirty="0"/>
                        <a:t>Cristopher Pinilla</a:t>
                      </a:r>
                    </a:p>
                    <a:p>
                      <a:r>
                        <a:rPr lang="es-MX" dirty="0"/>
                        <a:t>Ángelo Zurita </a:t>
                      </a:r>
                      <a:endParaRPr lang="es-CL" dirty="0"/>
                    </a:p>
                  </a:txBody>
                  <a:tcPr/>
                </a:tc>
                <a:tc>
                  <a:txBody>
                    <a:bodyPr/>
                    <a:lstStyle/>
                    <a:p>
                      <a:r>
                        <a:rPr lang="es-MX" dirty="0"/>
                        <a:t>Cuaderno, Lápiz y calculadora</a:t>
                      </a:r>
                      <a:endParaRPr lang="es-CL" dirty="0"/>
                    </a:p>
                  </a:txBody>
                  <a:tcPr/>
                </a:tc>
                <a:extLst>
                  <a:ext uri="{0D108BD9-81ED-4DB2-BD59-A6C34878D82A}">
                    <a16:rowId xmlns:a16="http://schemas.microsoft.com/office/drawing/2014/main" val="909632187"/>
                  </a:ext>
                </a:extLst>
              </a:tr>
              <a:tr h="1325889">
                <a:tc>
                  <a:txBody>
                    <a:bodyPr/>
                    <a:lstStyle/>
                    <a:p>
                      <a:r>
                        <a:rPr lang="es-MX" dirty="0"/>
                        <a:t>Diseñar un sistema de accionamiento</a:t>
                      </a:r>
                      <a:endParaRPr lang="es-CL" dirty="0"/>
                    </a:p>
                  </a:txBody>
                  <a:tcPr/>
                </a:tc>
                <a:tc>
                  <a:txBody>
                    <a:bodyPr/>
                    <a:lstStyle/>
                    <a:p>
                      <a:r>
                        <a:rPr lang="es-MX" dirty="0"/>
                        <a:t>Sistema de accionamiento</a:t>
                      </a:r>
                      <a:endParaRPr lang="es-CL" dirty="0"/>
                    </a:p>
                  </a:txBody>
                  <a:tcPr/>
                </a:tc>
                <a:tc>
                  <a:txBody>
                    <a:bodyPr/>
                    <a:lstStyle/>
                    <a:p>
                      <a:r>
                        <a:rPr lang="es-MX" dirty="0"/>
                        <a:t>9 días</a:t>
                      </a:r>
                      <a:endParaRPr lang="es-CL" dirty="0"/>
                    </a:p>
                  </a:txBody>
                  <a:tcPr/>
                </a:tc>
                <a:tc>
                  <a:txBody>
                    <a:bodyPr/>
                    <a:lstStyle/>
                    <a:p>
                      <a:r>
                        <a:rPr lang="es-MX" dirty="0"/>
                        <a:t>Rogers Ormeño</a:t>
                      </a:r>
                    </a:p>
                    <a:p>
                      <a:r>
                        <a:rPr lang="es-MX" dirty="0"/>
                        <a:t>Marco </a:t>
                      </a:r>
                      <a:r>
                        <a:rPr lang="es-MX" dirty="0" err="1"/>
                        <a:t>Paineval</a:t>
                      </a:r>
                      <a:endParaRPr lang="es-CL" dirty="0"/>
                    </a:p>
                  </a:txBody>
                  <a:tcPr/>
                </a:tc>
                <a:tc>
                  <a:txBody>
                    <a:bodyPr/>
                    <a:lstStyle/>
                    <a:p>
                      <a:r>
                        <a:rPr lang="es-MX" dirty="0"/>
                        <a:t>Relevadores, cables, bornes, artículos eléctricos y electrónicos</a:t>
                      </a:r>
                      <a:endParaRPr lang="es-CL" dirty="0"/>
                    </a:p>
                  </a:txBody>
                  <a:tcPr/>
                </a:tc>
                <a:extLst>
                  <a:ext uri="{0D108BD9-81ED-4DB2-BD59-A6C34878D82A}">
                    <a16:rowId xmlns:a16="http://schemas.microsoft.com/office/drawing/2014/main" val="2483249384"/>
                  </a:ext>
                </a:extLst>
              </a:tr>
              <a:tr h="828681">
                <a:tc>
                  <a:txBody>
                    <a:bodyPr/>
                    <a:lstStyle/>
                    <a:p>
                      <a:r>
                        <a:rPr lang="es-MX" dirty="0"/>
                        <a:t>Diseño de un prototipo</a:t>
                      </a:r>
                      <a:endParaRPr lang="es-CL" dirty="0"/>
                    </a:p>
                  </a:txBody>
                  <a:tcPr/>
                </a:tc>
                <a:tc>
                  <a:txBody>
                    <a:bodyPr/>
                    <a:lstStyle/>
                    <a:p>
                      <a:r>
                        <a:rPr lang="es-MX" dirty="0"/>
                        <a:t>Comprobar el funcionamiento del sistema</a:t>
                      </a:r>
                      <a:endParaRPr lang="es-CL" dirty="0"/>
                    </a:p>
                  </a:txBody>
                  <a:tcPr/>
                </a:tc>
                <a:tc>
                  <a:txBody>
                    <a:bodyPr/>
                    <a:lstStyle/>
                    <a:p>
                      <a:r>
                        <a:rPr lang="es-MX" dirty="0"/>
                        <a:t>11 de diciembre</a:t>
                      </a:r>
                      <a:endParaRPr lang="es-CL" dirty="0"/>
                    </a:p>
                  </a:txBody>
                  <a:tcPr/>
                </a:tc>
                <a:tc>
                  <a:txBody>
                    <a:bodyPr/>
                    <a:lstStyle/>
                    <a:p>
                      <a:r>
                        <a:rPr lang="es-MX" dirty="0"/>
                        <a:t>Todos los integrantes</a:t>
                      </a:r>
                      <a:endParaRPr lang="es-CL" dirty="0"/>
                    </a:p>
                  </a:txBody>
                  <a:tcPr/>
                </a:tc>
                <a:tc>
                  <a:txBody>
                    <a:bodyPr/>
                    <a:lstStyle/>
                    <a:p>
                      <a:r>
                        <a:rPr lang="es-MX" dirty="0"/>
                        <a:t>Indefinidos momentáneamente</a:t>
                      </a:r>
                      <a:endParaRPr lang="es-CL" dirty="0"/>
                    </a:p>
                  </a:txBody>
                  <a:tcPr/>
                </a:tc>
                <a:extLst>
                  <a:ext uri="{0D108BD9-81ED-4DB2-BD59-A6C34878D82A}">
                    <a16:rowId xmlns:a16="http://schemas.microsoft.com/office/drawing/2014/main" val="798877559"/>
                  </a:ext>
                </a:extLst>
              </a:tr>
            </a:tbl>
          </a:graphicData>
        </a:graphic>
      </p:graphicFrame>
    </p:spTree>
    <p:extLst>
      <p:ext uri="{BB962C8B-B14F-4D97-AF65-F5344CB8AC3E}">
        <p14:creationId xmlns:p14="http://schemas.microsoft.com/office/powerpoint/2010/main" val="923183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82320D-C8BD-9855-6907-7093FEE7969B}"/>
              </a:ext>
            </a:extLst>
          </p:cNvPr>
          <p:cNvSpPr>
            <a:spLocks noGrp="1"/>
          </p:cNvSpPr>
          <p:nvPr>
            <p:ph type="title"/>
          </p:nvPr>
        </p:nvSpPr>
        <p:spPr>
          <a:xfrm>
            <a:off x="680321" y="792984"/>
            <a:ext cx="9613861" cy="1080938"/>
          </a:xfrm>
        </p:spPr>
        <p:txBody>
          <a:bodyPr/>
          <a:lstStyle/>
          <a:p>
            <a:r>
              <a:rPr lang="es-MX" dirty="0"/>
              <a:t>Herramientas y sus necesidades</a:t>
            </a:r>
            <a:endParaRPr lang="es-CL" dirty="0"/>
          </a:p>
        </p:txBody>
      </p:sp>
      <p:sp>
        <p:nvSpPr>
          <p:cNvPr id="3" name="Marcador de contenido 2">
            <a:extLst>
              <a:ext uri="{FF2B5EF4-FFF2-40B4-BE49-F238E27FC236}">
                <a16:creationId xmlns:a16="http://schemas.microsoft.com/office/drawing/2014/main" id="{F493EFA2-14DB-BE55-0F5A-60FBADAA7A44}"/>
              </a:ext>
            </a:extLst>
          </p:cNvPr>
          <p:cNvSpPr>
            <a:spLocks noGrp="1"/>
          </p:cNvSpPr>
          <p:nvPr>
            <p:ph idx="1"/>
          </p:nvPr>
        </p:nvSpPr>
        <p:spPr/>
        <p:txBody>
          <a:bodyPr/>
          <a:lstStyle/>
          <a:p>
            <a:r>
              <a:rPr lang="es-MX" dirty="0"/>
              <a:t>Multímetro digital: para efectuar distintas medidas a algunos componentes que son parte del circuito, como motor de partida y relevadores, además, mediremos algunos parámetros del circuito más que nada el voltaje y amperaje.</a:t>
            </a:r>
          </a:p>
          <a:p>
            <a:r>
              <a:rPr lang="es-MX" dirty="0"/>
              <a:t>APP Proto: es un simulador de circuitos eléctricos y electrónicos, que nos ayudara con los cálculos en el ámbito de aplicar la ley de Ohm.</a:t>
            </a:r>
          </a:p>
          <a:p>
            <a:r>
              <a:rPr lang="es-CL" dirty="0"/>
              <a:t>Citio web </a:t>
            </a:r>
            <a:r>
              <a:rPr lang="es-CL" dirty="0" err="1"/>
              <a:t>Coelectix</a:t>
            </a:r>
            <a:r>
              <a:rPr lang="es-CL" dirty="0"/>
              <a:t>: este sitio nos ayudará a realizar cálculos para la dimensión de los cables que debemos utilizar.</a:t>
            </a:r>
          </a:p>
        </p:txBody>
      </p:sp>
    </p:spTree>
    <p:extLst>
      <p:ext uri="{BB962C8B-B14F-4D97-AF65-F5344CB8AC3E}">
        <p14:creationId xmlns:p14="http://schemas.microsoft.com/office/powerpoint/2010/main" val="1259975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1BD0CC-DBBC-462A-B889-EDAE6405BE03}"/>
              </a:ext>
            </a:extLst>
          </p:cNvPr>
          <p:cNvSpPr>
            <a:spLocks noGrp="1"/>
          </p:cNvSpPr>
          <p:nvPr>
            <p:ph type="title"/>
          </p:nvPr>
        </p:nvSpPr>
        <p:spPr/>
        <p:txBody>
          <a:bodyPr/>
          <a:lstStyle/>
          <a:p>
            <a:r>
              <a:rPr lang="es-MX" dirty="0"/>
              <a:t>Realización de medidas</a:t>
            </a:r>
            <a:endParaRPr lang="es-CL" dirty="0"/>
          </a:p>
        </p:txBody>
      </p:sp>
      <p:sp>
        <p:nvSpPr>
          <p:cNvPr id="3" name="Marcador de contenido 2">
            <a:extLst>
              <a:ext uri="{FF2B5EF4-FFF2-40B4-BE49-F238E27FC236}">
                <a16:creationId xmlns:a16="http://schemas.microsoft.com/office/drawing/2014/main" id="{A3452915-60A3-5A2F-213A-B15D04725B48}"/>
              </a:ext>
            </a:extLst>
          </p:cNvPr>
          <p:cNvSpPr>
            <a:spLocks noGrp="1"/>
          </p:cNvSpPr>
          <p:nvPr>
            <p:ph idx="1"/>
          </p:nvPr>
        </p:nvSpPr>
        <p:spPr>
          <a:xfrm>
            <a:off x="680320" y="1965812"/>
            <a:ext cx="7151715" cy="3599316"/>
          </a:xfrm>
        </p:spPr>
        <p:txBody>
          <a:bodyPr>
            <a:normAutofit fontScale="92500" lnSpcReduction="20000"/>
          </a:bodyPr>
          <a:lstStyle/>
          <a:p>
            <a:r>
              <a:rPr lang="es-MX" dirty="0"/>
              <a:t>Se efectuará una medición del circuito en su máxima capacidad, lo que buscamos es tener información de la cantidad de corriente que vamos a utilizar. Con el fin de tener un cálculo aproximado del diámetro del cable que vamos a utilizar.</a:t>
            </a:r>
          </a:p>
          <a:p>
            <a:r>
              <a:rPr lang="es-MX" dirty="0"/>
              <a:t>El equipo que utilizaremos para medir dicho amperaje es un accesorio del multímetro, el cual entrega un valor que se expresa  en el multímetro en Volts, lo cual deberemos hacer una conversión la cual es que, por cada10 milivolts(0.010) será el equivalente a 1 Amper</a:t>
            </a:r>
          </a:p>
          <a:p>
            <a:r>
              <a:rPr lang="es-MX" dirty="0"/>
              <a:t>Para hacer la conversión solo debemos dividir por 10 en resultado obtenido en el multímetro</a:t>
            </a:r>
            <a:endParaRPr lang="es-CL" dirty="0"/>
          </a:p>
          <a:p>
            <a:endParaRPr lang="es-CL" dirty="0"/>
          </a:p>
        </p:txBody>
      </p:sp>
      <p:sp>
        <p:nvSpPr>
          <p:cNvPr id="5" name="AutoShape 2">
            <a:extLst>
              <a:ext uri="{FF2B5EF4-FFF2-40B4-BE49-F238E27FC236}">
                <a16:creationId xmlns:a16="http://schemas.microsoft.com/office/drawing/2014/main" id="{B4250C46-E7BD-1A24-F650-1C1A9D2D508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L"/>
          </a:p>
        </p:txBody>
      </p:sp>
      <p:grpSp>
        <p:nvGrpSpPr>
          <p:cNvPr id="8" name="Grupo 7">
            <a:extLst>
              <a:ext uri="{FF2B5EF4-FFF2-40B4-BE49-F238E27FC236}">
                <a16:creationId xmlns:a16="http://schemas.microsoft.com/office/drawing/2014/main" id="{030CAA24-2CC8-2E82-2781-C1299B0B7EBB}"/>
              </a:ext>
            </a:extLst>
          </p:cNvPr>
          <p:cNvGrpSpPr/>
          <p:nvPr/>
        </p:nvGrpSpPr>
        <p:grpSpPr>
          <a:xfrm>
            <a:off x="8312982" y="1895947"/>
            <a:ext cx="3723862" cy="4682388"/>
            <a:chOff x="8312982" y="1895947"/>
            <a:chExt cx="3723862" cy="4682388"/>
          </a:xfrm>
        </p:grpSpPr>
        <p:pic>
          <p:nvPicPr>
            <p:cNvPr id="4" name="Imagen 3">
              <a:extLst>
                <a:ext uri="{FF2B5EF4-FFF2-40B4-BE49-F238E27FC236}">
                  <a16:creationId xmlns:a16="http://schemas.microsoft.com/office/drawing/2014/main" id="{3905F504-F625-C672-E871-77775A598028}"/>
                </a:ext>
              </a:extLst>
            </p:cNvPr>
            <p:cNvPicPr>
              <a:picLocks noChangeAspect="1"/>
            </p:cNvPicPr>
            <p:nvPr/>
          </p:nvPicPr>
          <p:blipFill rotWithShape="1">
            <a:blip r:embed="rId2"/>
            <a:srcRect l="26118" t="623" r="32362" b="-623"/>
            <a:stretch/>
          </p:blipFill>
          <p:spPr>
            <a:xfrm>
              <a:off x="8312982" y="1895947"/>
              <a:ext cx="3723862" cy="4036057"/>
            </a:xfrm>
            <a:prstGeom prst="rect">
              <a:avLst/>
            </a:prstGeom>
          </p:spPr>
        </p:pic>
        <p:sp>
          <p:nvSpPr>
            <p:cNvPr id="6" name="CuadroTexto 5">
              <a:extLst>
                <a:ext uri="{FF2B5EF4-FFF2-40B4-BE49-F238E27FC236}">
                  <a16:creationId xmlns:a16="http://schemas.microsoft.com/office/drawing/2014/main" id="{7042EBD4-1260-7151-31E2-8C0C2F26B8BA}"/>
                </a:ext>
              </a:extLst>
            </p:cNvPr>
            <p:cNvSpPr txBox="1"/>
            <p:nvPr/>
          </p:nvSpPr>
          <p:spPr>
            <a:xfrm>
              <a:off x="8312982" y="5932004"/>
              <a:ext cx="3723861" cy="646331"/>
            </a:xfrm>
            <a:prstGeom prst="rect">
              <a:avLst/>
            </a:prstGeom>
            <a:noFill/>
          </p:spPr>
          <p:txBody>
            <a:bodyPr wrap="square" rtlCol="0">
              <a:spAutoFit/>
            </a:bodyPr>
            <a:lstStyle/>
            <a:p>
              <a:r>
                <a:rPr lang="es-MX" dirty="0"/>
                <a:t>Figura 1multímetro y pinza amperimétrica (creación propia) </a:t>
              </a:r>
              <a:endParaRPr lang="es-CL" dirty="0"/>
            </a:p>
          </p:txBody>
        </p:sp>
      </p:grpSp>
    </p:spTree>
    <p:extLst>
      <p:ext uri="{BB962C8B-B14F-4D97-AF65-F5344CB8AC3E}">
        <p14:creationId xmlns:p14="http://schemas.microsoft.com/office/powerpoint/2010/main" val="3143655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BCB640-EB82-D553-D9E3-B9BD3FE6A80C}"/>
              </a:ext>
            </a:extLst>
          </p:cNvPr>
          <p:cNvSpPr>
            <a:spLocks noGrp="1"/>
          </p:cNvSpPr>
          <p:nvPr>
            <p:ph type="title"/>
          </p:nvPr>
        </p:nvSpPr>
        <p:spPr/>
        <p:txBody>
          <a:bodyPr/>
          <a:lstStyle/>
          <a:p>
            <a:r>
              <a:rPr lang="es-MX" dirty="0"/>
              <a:t>Medición de amperaje</a:t>
            </a:r>
            <a:endParaRPr lang="es-CL" dirty="0"/>
          </a:p>
        </p:txBody>
      </p:sp>
      <p:sp>
        <p:nvSpPr>
          <p:cNvPr id="3" name="Marcador de contenido 2">
            <a:extLst>
              <a:ext uri="{FF2B5EF4-FFF2-40B4-BE49-F238E27FC236}">
                <a16:creationId xmlns:a16="http://schemas.microsoft.com/office/drawing/2014/main" id="{7F68F4BA-36DF-F76E-D7A8-72093F44A276}"/>
              </a:ext>
            </a:extLst>
          </p:cNvPr>
          <p:cNvSpPr>
            <a:spLocks noGrp="1"/>
          </p:cNvSpPr>
          <p:nvPr>
            <p:ph sz="half" idx="1"/>
          </p:nvPr>
        </p:nvSpPr>
        <p:spPr/>
        <p:txBody>
          <a:bodyPr>
            <a:normAutofit/>
          </a:bodyPr>
          <a:lstStyle/>
          <a:p>
            <a:r>
              <a:rPr lang="es-MX" dirty="0"/>
              <a:t>Realizamos la medición del amperaje cuando al vehículo se le da arranque y procedemos a hacer la conversión dicha anteriormente.</a:t>
            </a:r>
          </a:p>
          <a:p>
            <a:r>
              <a:rPr lang="es-MX" dirty="0"/>
              <a:t>Realizaremos otra medición, pero esta vez solo dando contacto, la cual nos dirá el consumo de los componentes del circuito adicionales al circuito de partida del vehículo. Estos valores los vamos a restar para saber el consumo solo del circuito de arranque.</a:t>
            </a:r>
          </a:p>
          <a:p>
            <a:pPr marL="0" indent="0">
              <a:buNone/>
            </a:pPr>
            <a:endParaRPr lang="es-CL" dirty="0"/>
          </a:p>
        </p:txBody>
      </p:sp>
      <p:pic>
        <p:nvPicPr>
          <p:cNvPr id="6" name="Marcador de contenido 5">
            <a:extLst>
              <a:ext uri="{FF2B5EF4-FFF2-40B4-BE49-F238E27FC236}">
                <a16:creationId xmlns:a16="http://schemas.microsoft.com/office/drawing/2014/main" id="{E4FF9A93-F813-85DA-1FE9-5ADDD52D4FA9}"/>
              </a:ext>
            </a:extLst>
          </p:cNvPr>
          <p:cNvPicPr>
            <a:picLocks noGrp="1" noChangeAspect="1"/>
          </p:cNvPicPr>
          <p:nvPr>
            <p:ph sz="half" idx="2"/>
          </p:nvPr>
        </p:nvPicPr>
        <p:blipFill rotWithShape="1">
          <a:blip r:embed="rId2"/>
          <a:srcRect l="15" t="-14" r="58126" b="14"/>
          <a:stretch/>
        </p:blipFill>
        <p:spPr>
          <a:xfrm>
            <a:off x="9142680" y="1366719"/>
            <a:ext cx="2968165" cy="3190930"/>
          </a:xfrm>
          <a:prstGeom prst="rect">
            <a:avLst/>
          </a:prstGeom>
        </p:spPr>
      </p:pic>
      <p:grpSp>
        <p:nvGrpSpPr>
          <p:cNvPr id="14" name="Grupo 13">
            <a:extLst>
              <a:ext uri="{FF2B5EF4-FFF2-40B4-BE49-F238E27FC236}">
                <a16:creationId xmlns:a16="http://schemas.microsoft.com/office/drawing/2014/main" id="{5310244C-EAB3-9DBA-0CB0-733EE9040383}"/>
              </a:ext>
            </a:extLst>
          </p:cNvPr>
          <p:cNvGrpSpPr/>
          <p:nvPr/>
        </p:nvGrpSpPr>
        <p:grpSpPr>
          <a:xfrm>
            <a:off x="5711259" y="2239326"/>
            <a:ext cx="3191600" cy="4056901"/>
            <a:chOff x="5711259" y="2239326"/>
            <a:chExt cx="3191600" cy="4056901"/>
          </a:xfrm>
        </p:grpSpPr>
        <p:pic>
          <p:nvPicPr>
            <p:cNvPr id="12" name="Imagen 11">
              <a:extLst>
                <a:ext uri="{FF2B5EF4-FFF2-40B4-BE49-F238E27FC236}">
                  <a16:creationId xmlns:a16="http://schemas.microsoft.com/office/drawing/2014/main" id="{5EE6A276-CDF9-FA7E-1FFD-CF155DAEC202}"/>
                </a:ext>
              </a:extLst>
            </p:cNvPr>
            <p:cNvPicPr>
              <a:picLocks noChangeAspect="1"/>
            </p:cNvPicPr>
            <p:nvPr/>
          </p:nvPicPr>
          <p:blipFill rotWithShape="1">
            <a:blip r:embed="rId3"/>
            <a:srcRect r="54167"/>
            <a:stretch/>
          </p:blipFill>
          <p:spPr>
            <a:xfrm>
              <a:off x="5711259" y="2239326"/>
              <a:ext cx="3191600" cy="3133571"/>
            </a:xfrm>
            <a:prstGeom prst="rect">
              <a:avLst/>
            </a:prstGeom>
          </p:spPr>
        </p:pic>
        <p:sp>
          <p:nvSpPr>
            <p:cNvPr id="13" name="CuadroTexto 12">
              <a:extLst>
                <a:ext uri="{FF2B5EF4-FFF2-40B4-BE49-F238E27FC236}">
                  <a16:creationId xmlns:a16="http://schemas.microsoft.com/office/drawing/2014/main" id="{FA51956B-C33E-3757-2AAB-DFFCED00FB13}"/>
                </a:ext>
              </a:extLst>
            </p:cNvPr>
            <p:cNvSpPr txBox="1"/>
            <p:nvPr/>
          </p:nvSpPr>
          <p:spPr>
            <a:xfrm>
              <a:off x="5737296" y="5372897"/>
              <a:ext cx="3114261" cy="923330"/>
            </a:xfrm>
            <a:prstGeom prst="rect">
              <a:avLst/>
            </a:prstGeom>
            <a:noFill/>
          </p:spPr>
          <p:txBody>
            <a:bodyPr wrap="square" rtlCol="0">
              <a:spAutoFit/>
            </a:bodyPr>
            <a:lstStyle/>
            <a:p>
              <a:r>
                <a:rPr lang="es-MX" dirty="0"/>
                <a:t>Figura 2 medición de amperaje a su capacidad máxima (creación propia)</a:t>
              </a:r>
              <a:endParaRPr lang="es-CL" dirty="0"/>
            </a:p>
          </p:txBody>
        </p:sp>
      </p:grpSp>
      <p:sp>
        <p:nvSpPr>
          <p:cNvPr id="15" name="CuadroTexto 14">
            <a:extLst>
              <a:ext uri="{FF2B5EF4-FFF2-40B4-BE49-F238E27FC236}">
                <a16:creationId xmlns:a16="http://schemas.microsoft.com/office/drawing/2014/main" id="{92961569-2C5B-13B1-F028-98BDDFB34C6D}"/>
              </a:ext>
            </a:extLst>
          </p:cNvPr>
          <p:cNvSpPr txBox="1"/>
          <p:nvPr/>
        </p:nvSpPr>
        <p:spPr>
          <a:xfrm>
            <a:off x="9210175" y="4550514"/>
            <a:ext cx="2875405" cy="923330"/>
          </a:xfrm>
          <a:prstGeom prst="rect">
            <a:avLst/>
          </a:prstGeom>
          <a:noFill/>
        </p:spPr>
        <p:txBody>
          <a:bodyPr wrap="square" rtlCol="0">
            <a:spAutoFit/>
          </a:bodyPr>
          <a:lstStyle/>
          <a:p>
            <a:r>
              <a:rPr lang="es-MX" dirty="0"/>
              <a:t>Figura 3 medición de amperaje con contacto en ON ( creación propia)</a:t>
            </a:r>
            <a:endParaRPr lang="es-CL" dirty="0"/>
          </a:p>
        </p:txBody>
      </p:sp>
    </p:spTree>
    <p:extLst>
      <p:ext uri="{BB962C8B-B14F-4D97-AF65-F5344CB8AC3E}">
        <p14:creationId xmlns:p14="http://schemas.microsoft.com/office/powerpoint/2010/main" val="1780024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F6953F5B-C526-4A63-05E9-DE5AF448F12F}"/>
              </a:ext>
            </a:extLst>
          </p:cNvPr>
          <p:cNvPicPr>
            <a:picLocks noGrp="1" noChangeAspect="1"/>
          </p:cNvPicPr>
          <p:nvPr>
            <p:ph idx="1"/>
          </p:nvPr>
        </p:nvPicPr>
        <p:blipFill rotWithShape="1">
          <a:blip r:embed="rId2"/>
          <a:srcRect t="15779" b="38259"/>
          <a:stretch/>
        </p:blipFill>
        <p:spPr>
          <a:xfrm>
            <a:off x="4965054" y="494143"/>
            <a:ext cx="6657061" cy="5442046"/>
          </a:xfrm>
          <a:prstGeom prst="rect">
            <a:avLst/>
          </a:prstGeom>
        </p:spPr>
      </p:pic>
      <p:sp>
        <p:nvSpPr>
          <p:cNvPr id="4" name="Marcador de texto 3">
            <a:extLst>
              <a:ext uri="{FF2B5EF4-FFF2-40B4-BE49-F238E27FC236}">
                <a16:creationId xmlns:a16="http://schemas.microsoft.com/office/drawing/2014/main" id="{BA532715-69F7-EF89-8C29-C5218F81B00A}"/>
              </a:ext>
            </a:extLst>
          </p:cNvPr>
          <p:cNvSpPr>
            <a:spLocks noGrp="1"/>
          </p:cNvSpPr>
          <p:nvPr>
            <p:ph type="body" sz="half" idx="2"/>
          </p:nvPr>
        </p:nvSpPr>
        <p:spPr/>
        <p:txBody>
          <a:bodyPr>
            <a:normAutofit/>
          </a:bodyPr>
          <a:lstStyle/>
          <a:p>
            <a:r>
              <a:rPr lang="es-MX" sz="2400" dirty="0"/>
              <a:t>Se realizaron medidas a distintos autos para fines informativos con respecto al proyecto para estipular la cantidad de amperaje que consumen distintos vehículos.</a:t>
            </a:r>
            <a:endParaRPr lang="es-CL" sz="2400" dirty="0"/>
          </a:p>
        </p:txBody>
      </p:sp>
    </p:spTree>
    <p:extLst>
      <p:ext uri="{BB962C8B-B14F-4D97-AF65-F5344CB8AC3E}">
        <p14:creationId xmlns:p14="http://schemas.microsoft.com/office/powerpoint/2010/main" val="950534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79BD8-FCFF-D812-786D-AF31F5FA0B9D}"/>
              </a:ext>
            </a:extLst>
          </p:cNvPr>
          <p:cNvSpPr>
            <a:spLocks noGrp="1"/>
          </p:cNvSpPr>
          <p:nvPr>
            <p:ph type="title"/>
          </p:nvPr>
        </p:nvSpPr>
        <p:spPr/>
        <p:txBody>
          <a:bodyPr/>
          <a:lstStyle/>
          <a:p>
            <a:r>
              <a:rPr lang="es-MX" dirty="0"/>
              <a:t>Conceptos matemáticos </a:t>
            </a:r>
            <a:endParaRPr lang="es-CL" dirty="0"/>
          </a:p>
        </p:txBody>
      </p:sp>
      <p:sp>
        <p:nvSpPr>
          <p:cNvPr id="3" name="Marcador de contenido 2">
            <a:extLst>
              <a:ext uri="{FF2B5EF4-FFF2-40B4-BE49-F238E27FC236}">
                <a16:creationId xmlns:a16="http://schemas.microsoft.com/office/drawing/2014/main" id="{371280C3-568B-9542-C3ED-8212BF8CA2E8}"/>
              </a:ext>
            </a:extLst>
          </p:cNvPr>
          <p:cNvSpPr>
            <a:spLocks noGrp="1"/>
          </p:cNvSpPr>
          <p:nvPr>
            <p:ph sz="half" idx="1"/>
          </p:nvPr>
        </p:nvSpPr>
        <p:spPr/>
        <p:txBody>
          <a:bodyPr/>
          <a:lstStyle/>
          <a:p>
            <a:r>
              <a:rPr lang="es-MX" dirty="0"/>
              <a:t>Ley de ohm, dice cuando dos baterías se encuentras conectadas en paralelo el voltaje es el mismo y se suman el amperaje, en este caso nos encontraremos que si una batería baja su voltaje se promediará con la otra batería, lo cual es poco eficiente, por eso diseñamos un sistema que nos permita accionar la batería auxiliar y desconectando la batería que trae originalmente.</a:t>
            </a:r>
            <a:endParaRPr lang="es-CL" dirty="0"/>
          </a:p>
        </p:txBody>
      </p:sp>
      <p:pic>
        <p:nvPicPr>
          <p:cNvPr id="9" name="Marcador de contenido 8">
            <a:extLst>
              <a:ext uri="{FF2B5EF4-FFF2-40B4-BE49-F238E27FC236}">
                <a16:creationId xmlns:a16="http://schemas.microsoft.com/office/drawing/2014/main" id="{48D3F9B0-9619-1552-4E0D-C6CF6C34D8BD}"/>
              </a:ext>
            </a:extLst>
          </p:cNvPr>
          <p:cNvPicPr>
            <a:picLocks noGrp="1" noChangeAspect="1"/>
          </p:cNvPicPr>
          <p:nvPr>
            <p:ph sz="half" idx="2"/>
          </p:nvPr>
        </p:nvPicPr>
        <p:blipFill rotWithShape="1">
          <a:blip r:embed="rId2"/>
          <a:srcRect l="14069" r="15531"/>
          <a:stretch/>
        </p:blipFill>
        <p:spPr>
          <a:xfrm>
            <a:off x="6096000" y="0"/>
            <a:ext cx="4917196" cy="3143052"/>
          </a:xfrm>
          <a:prstGeom prst="rect">
            <a:avLst/>
          </a:prstGeom>
        </p:spPr>
      </p:pic>
      <p:pic>
        <p:nvPicPr>
          <p:cNvPr id="11" name="Imagen 10">
            <a:extLst>
              <a:ext uri="{FF2B5EF4-FFF2-40B4-BE49-F238E27FC236}">
                <a16:creationId xmlns:a16="http://schemas.microsoft.com/office/drawing/2014/main" id="{CCC563AC-1FF8-7862-04A2-B9223166131A}"/>
              </a:ext>
            </a:extLst>
          </p:cNvPr>
          <p:cNvPicPr>
            <a:picLocks noChangeAspect="1"/>
          </p:cNvPicPr>
          <p:nvPr/>
        </p:nvPicPr>
        <p:blipFill rotWithShape="1">
          <a:blip r:embed="rId3"/>
          <a:srcRect l="19405" r="17857"/>
          <a:stretch/>
        </p:blipFill>
        <p:spPr>
          <a:xfrm>
            <a:off x="7115112" y="3773844"/>
            <a:ext cx="4129170" cy="2961720"/>
          </a:xfrm>
          <a:prstGeom prst="rect">
            <a:avLst/>
          </a:prstGeom>
        </p:spPr>
      </p:pic>
      <p:sp>
        <p:nvSpPr>
          <p:cNvPr id="12" name="CuadroTexto 11">
            <a:extLst>
              <a:ext uri="{FF2B5EF4-FFF2-40B4-BE49-F238E27FC236}">
                <a16:creationId xmlns:a16="http://schemas.microsoft.com/office/drawing/2014/main" id="{ED962AF4-1FCF-BFC0-5280-38BF64705F92}"/>
              </a:ext>
            </a:extLst>
          </p:cNvPr>
          <p:cNvSpPr txBox="1"/>
          <p:nvPr/>
        </p:nvSpPr>
        <p:spPr>
          <a:xfrm>
            <a:off x="6188765" y="3127513"/>
            <a:ext cx="4698358" cy="646331"/>
          </a:xfrm>
          <a:prstGeom prst="rect">
            <a:avLst/>
          </a:prstGeom>
          <a:noFill/>
        </p:spPr>
        <p:txBody>
          <a:bodyPr wrap="square" rtlCol="0">
            <a:spAutoFit/>
          </a:bodyPr>
          <a:lstStyle/>
          <a:p>
            <a:r>
              <a:rPr lang="es-MX" dirty="0"/>
              <a:t>Figura 4 circuito excluyendo la batería que trae el vehículo (creación propia)</a:t>
            </a:r>
            <a:endParaRPr lang="es-CL" dirty="0"/>
          </a:p>
        </p:txBody>
      </p:sp>
    </p:spTree>
    <p:extLst>
      <p:ext uri="{BB962C8B-B14F-4D97-AF65-F5344CB8AC3E}">
        <p14:creationId xmlns:p14="http://schemas.microsoft.com/office/powerpoint/2010/main" val="4099340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3A0375-0D53-EEC9-B1DA-2B92EA88B6C0}"/>
              </a:ext>
            </a:extLst>
          </p:cNvPr>
          <p:cNvSpPr>
            <a:spLocks noGrp="1"/>
          </p:cNvSpPr>
          <p:nvPr>
            <p:ph type="title"/>
          </p:nvPr>
        </p:nvSpPr>
        <p:spPr/>
        <p:txBody>
          <a:bodyPr/>
          <a:lstStyle/>
          <a:p>
            <a:r>
              <a:rPr lang="es-MX" dirty="0"/>
              <a:t>Aplicación de las matemáticas</a:t>
            </a:r>
            <a:endParaRPr lang="es-CL" dirty="0"/>
          </a:p>
        </p:txBody>
      </p:sp>
      <p:sp>
        <p:nvSpPr>
          <p:cNvPr id="3" name="Marcador de contenido 2">
            <a:extLst>
              <a:ext uri="{FF2B5EF4-FFF2-40B4-BE49-F238E27FC236}">
                <a16:creationId xmlns:a16="http://schemas.microsoft.com/office/drawing/2014/main" id="{892DE633-1210-6DFD-5CC6-95E86B0CB41E}"/>
              </a:ext>
            </a:extLst>
          </p:cNvPr>
          <p:cNvSpPr>
            <a:spLocks noGrp="1"/>
          </p:cNvSpPr>
          <p:nvPr>
            <p:ph sz="half" idx="1"/>
          </p:nvPr>
        </p:nvSpPr>
        <p:spPr/>
        <p:txBody>
          <a:bodyPr/>
          <a:lstStyle/>
          <a:p>
            <a:r>
              <a:rPr lang="es-MX" dirty="0"/>
              <a:t>Para todo lo que son los circuitos eléctricos y electrónicos se ocupa una base llamada ley de ohm, la cual es empleada para calcular la capacidad de la corriente que fluye por los circuitos, pero en este trabajo se utilizaron herramientas de medición como el multímetro y de simulación como es la APP Proto. Facilitando enormemente la mayoría de los cálculos.</a:t>
            </a:r>
            <a:endParaRPr lang="es-CL" dirty="0"/>
          </a:p>
        </p:txBody>
      </p:sp>
      <p:sp>
        <p:nvSpPr>
          <p:cNvPr id="4" name="Marcador de contenido 3">
            <a:extLst>
              <a:ext uri="{FF2B5EF4-FFF2-40B4-BE49-F238E27FC236}">
                <a16:creationId xmlns:a16="http://schemas.microsoft.com/office/drawing/2014/main" id="{7A3C4523-6547-629E-52CE-8A265790A8CF}"/>
              </a:ext>
            </a:extLst>
          </p:cNvPr>
          <p:cNvSpPr>
            <a:spLocks noGrp="1"/>
          </p:cNvSpPr>
          <p:nvPr>
            <p:ph sz="half" idx="2"/>
          </p:nvPr>
        </p:nvSpPr>
        <p:spPr>
          <a:xfrm>
            <a:off x="5417639" y="2335354"/>
            <a:ext cx="4876542" cy="3600835"/>
          </a:xfrm>
        </p:spPr>
        <p:txBody>
          <a:bodyPr/>
          <a:lstStyle/>
          <a:p>
            <a:r>
              <a:rPr lang="es-MX" dirty="0"/>
              <a:t>Bases de la ley de Ohm</a:t>
            </a:r>
          </a:p>
          <a:p>
            <a:endParaRPr lang="es-CL" dirty="0"/>
          </a:p>
        </p:txBody>
      </p:sp>
      <p:pic>
        <p:nvPicPr>
          <p:cNvPr id="4098" name="Picture 2" descr="La Ley de Ohm con ejemplos prácticos – TallerElectronica.com / Blog">
            <a:extLst>
              <a:ext uri="{FF2B5EF4-FFF2-40B4-BE49-F238E27FC236}">
                <a16:creationId xmlns:a16="http://schemas.microsoft.com/office/drawing/2014/main" id="{BC84C46E-C44A-80E0-39C0-83BA4F369B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8312" y="2725443"/>
            <a:ext cx="3074504" cy="3062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70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681386-03B7-99F8-A3F7-1FE17F360D88}"/>
              </a:ext>
            </a:extLst>
          </p:cNvPr>
          <p:cNvSpPr>
            <a:spLocks noGrp="1"/>
          </p:cNvSpPr>
          <p:nvPr>
            <p:ph type="title"/>
          </p:nvPr>
        </p:nvSpPr>
        <p:spPr/>
        <p:txBody>
          <a:bodyPr/>
          <a:lstStyle/>
          <a:p>
            <a:r>
              <a:rPr lang="es-MX" dirty="0"/>
              <a:t>Dimensiones de los cables</a:t>
            </a:r>
            <a:endParaRPr lang="es-CL" dirty="0"/>
          </a:p>
        </p:txBody>
      </p:sp>
      <p:sp>
        <p:nvSpPr>
          <p:cNvPr id="3" name="Marcador de contenido 2">
            <a:extLst>
              <a:ext uri="{FF2B5EF4-FFF2-40B4-BE49-F238E27FC236}">
                <a16:creationId xmlns:a16="http://schemas.microsoft.com/office/drawing/2014/main" id="{DF66CDED-3640-51E1-8713-6DC63166A312}"/>
              </a:ext>
            </a:extLst>
          </p:cNvPr>
          <p:cNvSpPr>
            <a:spLocks noGrp="1"/>
          </p:cNvSpPr>
          <p:nvPr>
            <p:ph idx="1"/>
          </p:nvPr>
        </p:nvSpPr>
        <p:spPr>
          <a:xfrm>
            <a:off x="680322" y="2336873"/>
            <a:ext cx="6065036" cy="3599316"/>
          </a:xfrm>
        </p:spPr>
        <p:txBody>
          <a:bodyPr>
            <a:normAutofit fontScale="85000" lnSpcReduction="20000"/>
          </a:bodyPr>
          <a:lstStyle/>
          <a:p>
            <a:r>
              <a:rPr lang="es-MX" dirty="0"/>
              <a:t>De igual manera para calcular la sección de un cable (espesor) existe una fórmula que se basa en los amperes consumidos y la distancia del conductor que ocuparemos. (A=Pi x R²) estos datos se reemplazan y despejamos nuestra incógnita, pero para este tipo de casos existen tablas comparativas y de referencia, además existen sitios web que con el ingreso de algunos datos podremos saber con seguridad que diámetro de cable utilizar.</a:t>
            </a:r>
          </a:p>
          <a:p>
            <a:r>
              <a:rPr lang="es-MX" dirty="0"/>
              <a:t>Tenemos que tener en cuenta que a método de prevención sobre dimensionaremos los cables ya que algunos espesores son más difíciles de encontrar en el mercado.</a:t>
            </a:r>
            <a:endParaRPr lang="es-CL" dirty="0"/>
          </a:p>
        </p:txBody>
      </p:sp>
      <p:pic>
        <p:nvPicPr>
          <p:cNvPr id="5" name="Imagen 4">
            <a:extLst>
              <a:ext uri="{FF2B5EF4-FFF2-40B4-BE49-F238E27FC236}">
                <a16:creationId xmlns:a16="http://schemas.microsoft.com/office/drawing/2014/main" id="{12252886-0A0C-4B02-7818-9C5195A3D2FA}"/>
              </a:ext>
            </a:extLst>
          </p:cNvPr>
          <p:cNvPicPr>
            <a:picLocks noChangeAspect="1"/>
          </p:cNvPicPr>
          <p:nvPr/>
        </p:nvPicPr>
        <p:blipFill rotWithShape="1">
          <a:blip r:embed="rId2"/>
          <a:srcRect l="5323" t="8667" r="3813" b="3333"/>
          <a:stretch/>
        </p:blipFill>
        <p:spPr>
          <a:xfrm>
            <a:off x="8915400" y="411480"/>
            <a:ext cx="2804160" cy="6035040"/>
          </a:xfrm>
          <a:prstGeom prst="rect">
            <a:avLst/>
          </a:prstGeom>
        </p:spPr>
      </p:pic>
    </p:spTree>
    <p:extLst>
      <p:ext uri="{BB962C8B-B14F-4D97-AF65-F5344CB8AC3E}">
        <p14:creationId xmlns:p14="http://schemas.microsoft.com/office/powerpoint/2010/main" val="3572597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3D1764-5DE2-4937-FAF5-1D493E3CB57A}"/>
              </a:ext>
            </a:extLst>
          </p:cNvPr>
          <p:cNvSpPr>
            <a:spLocks noGrp="1"/>
          </p:cNvSpPr>
          <p:nvPr>
            <p:ph type="title"/>
          </p:nvPr>
        </p:nvSpPr>
        <p:spPr/>
        <p:txBody>
          <a:bodyPr/>
          <a:lstStyle/>
          <a:p>
            <a:r>
              <a:rPr lang="es-CL" dirty="0"/>
              <a:t>Bitácora</a:t>
            </a:r>
          </a:p>
        </p:txBody>
      </p:sp>
      <p:graphicFrame>
        <p:nvGraphicFramePr>
          <p:cNvPr id="4" name="Marcador de contenido 3">
            <a:extLst>
              <a:ext uri="{FF2B5EF4-FFF2-40B4-BE49-F238E27FC236}">
                <a16:creationId xmlns:a16="http://schemas.microsoft.com/office/drawing/2014/main" id="{153C21E1-552B-D940-1F1F-2F2CB1D379D6}"/>
              </a:ext>
            </a:extLst>
          </p:cNvPr>
          <p:cNvGraphicFramePr>
            <a:graphicFrameLocks noGrp="1"/>
          </p:cNvGraphicFramePr>
          <p:nvPr>
            <p:ph idx="1"/>
            <p:extLst>
              <p:ext uri="{D42A27DB-BD31-4B8C-83A1-F6EECF244321}">
                <p14:modId xmlns:p14="http://schemas.microsoft.com/office/powerpoint/2010/main" val="525835683"/>
              </p:ext>
            </p:extLst>
          </p:nvPr>
        </p:nvGraphicFramePr>
        <p:xfrm>
          <a:off x="344556" y="1978989"/>
          <a:ext cx="11357112" cy="4657256"/>
        </p:xfrm>
        <a:graphic>
          <a:graphicData uri="http://schemas.openxmlformats.org/drawingml/2006/table">
            <a:tbl>
              <a:tblPr firstRow="1" bandRow="1">
                <a:tableStyleId>{5C22544A-7EE6-4342-B048-85BDC9FD1C3A}</a:tableStyleId>
              </a:tblPr>
              <a:tblGrid>
                <a:gridCol w="2802706">
                  <a:extLst>
                    <a:ext uri="{9D8B030D-6E8A-4147-A177-3AD203B41FA5}">
                      <a16:colId xmlns:a16="http://schemas.microsoft.com/office/drawing/2014/main" val="2986363993"/>
                    </a:ext>
                  </a:extLst>
                </a:gridCol>
                <a:gridCol w="2802706">
                  <a:extLst>
                    <a:ext uri="{9D8B030D-6E8A-4147-A177-3AD203B41FA5}">
                      <a16:colId xmlns:a16="http://schemas.microsoft.com/office/drawing/2014/main" val="432427928"/>
                    </a:ext>
                  </a:extLst>
                </a:gridCol>
                <a:gridCol w="2802706">
                  <a:extLst>
                    <a:ext uri="{9D8B030D-6E8A-4147-A177-3AD203B41FA5}">
                      <a16:colId xmlns:a16="http://schemas.microsoft.com/office/drawing/2014/main" val="1960928106"/>
                    </a:ext>
                  </a:extLst>
                </a:gridCol>
                <a:gridCol w="2948994">
                  <a:extLst>
                    <a:ext uri="{9D8B030D-6E8A-4147-A177-3AD203B41FA5}">
                      <a16:colId xmlns:a16="http://schemas.microsoft.com/office/drawing/2014/main" val="872276412"/>
                    </a:ext>
                  </a:extLst>
                </a:gridCol>
              </a:tblGrid>
              <a:tr h="265932">
                <a:tc>
                  <a:txBody>
                    <a:bodyPr/>
                    <a:lstStyle/>
                    <a:p>
                      <a:r>
                        <a:rPr lang="es-CL" dirty="0"/>
                        <a:t>Fecha</a:t>
                      </a:r>
                    </a:p>
                    <a:p>
                      <a:endParaRPr lang="es-CL" dirty="0"/>
                    </a:p>
                  </a:txBody>
                  <a:tcPr/>
                </a:tc>
                <a:tc>
                  <a:txBody>
                    <a:bodyPr/>
                    <a:lstStyle/>
                    <a:p>
                      <a:r>
                        <a:rPr lang="es-CL" dirty="0"/>
                        <a:t>Detalle/acción/tarea</a:t>
                      </a:r>
                    </a:p>
                    <a:p>
                      <a:endParaRPr lang="es-CL" dirty="0"/>
                    </a:p>
                  </a:txBody>
                  <a:tcPr/>
                </a:tc>
                <a:tc>
                  <a:txBody>
                    <a:bodyPr/>
                    <a:lstStyle/>
                    <a:p>
                      <a:r>
                        <a:rPr lang="es-CL" dirty="0"/>
                        <a:t>Responsables</a:t>
                      </a:r>
                    </a:p>
                    <a:p>
                      <a:endParaRPr lang="es-CL" dirty="0"/>
                    </a:p>
                  </a:txBody>
                  <a:tcPr/>
                </a:tc>
                <a:tc>
                  <a:txBody>
                    <a:bodyPr/>
                    <a:lstStyle/>
                    <a:p>
                      <a:r>
                        <a:rPr lang="es-CL" dirty="0"/>
                        <a:t>Observaciones generales</a:t>
                      </a:r>
                    </a:p>
                    <a:p>
                      <a:endParaRPr lang="es-CL" dirty="0"/>
                    </a:p>
                  </a:txBody>
                  <a:tcPr/>
                </a:tc>
                <a:extLst>
                  <a:ext uri="{0D108BD9-81ED-4DB2-BD59-A6C34878D82A}">
                    <a16:rowId xmlns:a16="http://schemas.microsoft.com/office/drawing/2014/main" val="2560749624"/>
                  </a:ext>
                </a:extLst>
              </a:tr>
              <a:tr h="725336">
                <a:tc>
                  <a:txBody>
                    <a:bodyPr/>
                    <a:lstStyle/>
                    <a:p>
                      <a:r>
                        <a:rPr lang="es-CL" dirty="0"/>
                        <a:t>02-Dic</a:t>
                      </a:r>
                    </a:p>
                  </a:txBody>
                  <a:tcPr/>
                </a:tc>
                <a:tc>
                  <a:txBody>
                    <a:bodyPr/>
                    <a:lstStyle/>
                    <a:p>
                      <a:r>
                        <a:rPr lang="es-CL" dirty="0"/>
                        <a:t>Se realiza mediciones en componentes del vehículo</a:t>
                      </a:r>
                    </a:p>
                  </a:txBody>
                  <a:tcPr/>
                </a:tc>
                <a:tc>
                  <a:txBody>
                    <a:bodyPr/>
                    <a:lstStyle/>
                    <a:p>
                      <a:r>
                        <a:rPr lang="es-CL" dirty="0"/>
                        <a:t>Cristopher pinilla</a:t>
                      </a:r>
                    </a:p>
                  </a:txBody>
                  <a:tcPr/>
                </a:tc>
                <a:tc>
                  <a:txBody>
                    <a:bodyPr/>
                    <a:lstStyle/>
                    <a:p>
                      <a:r>
                        <a:rPr lang="es-CL" dirty="0"/>
                        <a:t>12.75V la </a:t>
                      </a:r>
                      <a:r>
                        <a:rPr lang="es-CL" dirty="0" err="1"/>
                        <a:t>bateria</a:t>
                      </a:r>
                      <a:r>
                        <a:rPr lang="es-CL" dirty="0"/>
                        <a:t> </a:t>
                      </a:r>
                    </a:p>
                    <a:p>
                      <a:r>
                        <a:rPr lang="es-CL" dirty="0"/>
                        <a:t>0.8 ohm el motor de arranque</a:t>
                      </a:r>
                    </a:p>
                  </a:txBody>
                  <a:tcPr/>
                </a:tc>
                <a:extLst>
                  <a:ext uri="{0D108BD9-81ED-4DB2-BD59-A6C34878D82A}">
                    <a16:rowId xmlns:a16="http://schemas.microsoft.com/office/drawing/2014/main" val="1786777463"/>
                  </a:ext>
                </a:extLst>
              </a:tr>
              <a:tr h="725336">
                <a:tc>
                  <a:txBody>
                    <a:bodyPr/>
                    <a:lstStyle/>
                    <a:p>
                      <a:r>
                        <a:rPr lang="es-CL" dirty="0"/>
                        <a:t>03-Dic</a:t>
                      </a:r>
                    </a:p>
                  </a:txBody>
                  <a:tcPr/>
                </a:tc>
                <a:tc>
                  <a:txBody>
                    <a:bodyPr/>
                    <a:lstStyle/>
                    <a:p>
                      <a:r>
                        <a:rPr lang="es-CL" dirty="0"/>
                        <a:t>Se mide la distancia de vehículo entre el capo y el maletero para ver cuanto necesitaremos para el proyecto</a:t>
                      </a:r>
                    </a:p>
                  </a:txBody>
                  <a:tcPr/>
                </a:tc>
                <a:tc>
                  <a:txBody>
                    <a:bodyPr/>
                    <a:lstStyle/>
                    <a:p>
                      <a:r>
                        <a:rPr lang="es-CL" dirty="0"/>
                        <a:t>Cristopher pinilla </a:t>
                      </a:r>
                    </a:p>
                    <a:p>
                      <a:r>
                        <a:rPr lang="es-CL" dirty="0" err="1"/>
                        <a:t>Angelo</a:t>
                      </a:r>
                      <a:r>
                        <a:rPr lang="es-CL" dirty="0"/>
                        <a:t> Zurita </a:t>
                      </a:r>
                    </a:p>
                  </a:txBody>
                  <a:tcPr/>
                </a:tc>
                <a:tc>
                  <a:txBody>
                    <a:bodyPr/>
                    <a:lstStyle/>
                    <a:p>
                      <a:r>
                        <a:rPr lang="es-CL" dirty="0"/>
                        <a:t>La distancia es de 430cm</a:t>
                      </a:r>
                    </a:p>
                    <a:p>
                      <a:r>
                        <a:rPr lang="es-CL" dirty="0"/>
                        <a:t>Ocuparemos alrededor de tres metros</a:t>
                      </a:r>
                    </a:p>
                  </a:txBody>
                  <a:tcPr/>
                </a:tc>
                <a:extLst>
                  <a:ext uri="{0D108BD9-81ED-4DB2-BD59-A6C34878D82A}">
                    <a16:rowId xmlns:a16="http://schemas.microsoft.com/office/drawing/2014/main" val="509198977"/>
                  </a:ext>
                </a:extLst>
              </a:tr>
              <a:tr h="725336">
                <a:tc>
                  <a:txBody>
                    <a:bodyPr/>
                    <a:lstStyle/>
                    <a:p>
                      <a:r>
                        <a:rPr lang="es-CL" dirty="0"/>
                        <a:t>04-Dic</a:t>
                      </a:r>
                    </a:p>
                  </a:txBody>
                  <a:tcPr/>
                </a:tc>
                <a:tc>
                  <a:txBody>
                    <a:bodyPr/>
                    <a:lstStyle/>
                    <a:p>
                      <a:r>
                        <a:rPr lang="es-CL" dirty="0"/>
                        <a:t>Elaboración de diagrama eléctrico para el proyecto</a:t>
                      </a:r>
                    </a:p>
                  </a:txBody>
                  <a:tcPr/>
                </a:tc>
                <a:tc>
                  <a:txBody>
                    <a:bodyPr/>
                    <a:lstStyle/>
                    <a:p>
                      <a:r>
                        <a:rPr lang="es-CL" dirty="0"/>
                        <a:t>Rogers Ormeño</a:t>
                      </a:r>
                    </a:p>
                    <a:p>
                      <a:r>
                        <a:rPr lang="es-CL" dirty="0"/>
                        <a:t>Marcos </a:t>
                      </a:r>
                      <a:r>
                        <a:rPr lang="es-CL" dirty="0" err="1"/>
                        <a:t>Painival</a:t>
                      </a:r>
                      <a:r>
                        <a:rPr lang="es-CL" dirty="0"/>
                        <a:t> </a:t>
                      </a:r>
                    </a:p>
                  </a:txBody>
                  <a:tcPr/>
                </a:tc>
                <a:tc>
                  <a:txBody>
                    <a:bodyPr/>
                    <a:lstStyle/>
                    <a:p>
                      <a:endParaRPr lang="es-CL"/>
                    </a:p>
                  </a:txBody>
                  <a:tcPr/>
                </a:tc>
                <a:extLst>
                  <a:ext uri="{0D108BD9-81ED-4DB2-BD59-A6C34878D82A}">
                    <a16:rowId xmlns:a16="http://schemas.microsoft.com/office/drawing/2014/main" val="2660253175"/>
                  </a:ext>
                </a:extLst>
              </a:tr>
              <a:tr h="725336">
                <a:tc>
                  <a:txBody>
                    <a:bodyPr/>
                    <a:lstStyle/>
                    <a:p>
                      <a:r>
                        <a:rPr lang="es-CL" dirty="0"/>
                        <a:t>05-Dic</a:t>
                      </a:r>
                    </a:p>
                  </a:txBody>
                  <a:tcPr/>
                </a:tc>
                <a:tc>
                  <a:txBody>
                    <a:bodyPr/>
                    <a:lstStyle/>
                    <a:p>
                      <a:r>
                        <a:rPr lang="es-CL" dirty="0"/>
                        <a:t>Realización de cálculos del circuito </a:t>
                      </a:r>
                    </a:p>
                  </a:txBody>
                  <a:tcPr/>
                </a:tc>
                <a:tc>
                  <a:txBody>
                    <a:bodyPr/>
                    <a:lstStyle/>
                    <a:p>
                      <a:r>
                        <a:rPr lang="es-CL" dirty="0"/>
                        <a:t>Rogers Ormeño</a:t>
                      </a:r>
                    </a:p>
                    <a:p>
                      <a:endParaRPr lang="es-CL" dirty="0"/>
                    </a:p>
                  </a:txBody>
                  <a:tcPr/>
                </a:tc>
                <a:tc>
                  <a:txBody>
                    <a:bodyPr/>
                    <a:lstStyle/>
                    <a:p>
                      <a:endParaRPr lang="es-CL" dirty="0"/>
                    </a:p>
                  </a:txBody>
                  <a:tcPr/>
                </a:tc>
                <a:extLst>
                  <a:ext uri="{0D108BD9-81ED-4DB2-BD59-A6C34878D82A}">
                    <a16:rowId xmlns:a16="http://schemas.microsoft.com/office/drawing/2014/main" val="3566326003"/>
                  </a:ext>
                </a:extLst>
              </a:tr>
            </a:tbl>
          </a:graphicData>
        </a:graphic>
      </p:graphicFrame>
    </p:spTree>
    <p:extLst>
      <p:ext uri="{BB962C8B-B14F-4D97-AF65-F5344CB8AC3E}">
        <p14:creationId xmlns:p14="http://schemas.microsoft.com/office/powerpoint/2010/main" val="3353608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4D5A67-8996-483F-B7B4-379C501C4E45}"/>
              </a:ext>
            </a:extLst>
          </p:cNvPr>
          <p:cNvSpPr>
            <a:spLocks noGrp="1"/>
          </p:cNvSpPr>
          <p:nvPr>
            <p:ph type="title"/>
          </p:nvPr>
        </p:nvSpPr>
        <p:spPr/>
        <p:txBody>
          <a:bodyPr/>
          <a:lstStyle/>
          <a:p>
            <a:r>
              <a:rPr lang="es-ES" dirty="0"/>
              <a:t>Análisis de baterías en descarga</a:t>
            </a:r>
            <a:endParaRPr lang="es-CL" dirty="0"/>
          </a:p>
        </p:txBody>
      </p:sp>
      <p:sp>
        <p:nvSpPr>
          <p:cNvPr id="6" name="CuadroTexto 5">
            <a:extLst>
              <a:ext uri="{FF2B5EF4-FFF2-40B4-BE49-F238E27FC236}">
                <a16:creationId xmlns:a16="http://schemas.microsoft.com/office/drawing/2014/main" id="{83520605-5F34-5CDD-69C8-DF689C66CC2A}"/>
              </a:ext>
            </a:extLst>
          </p:cNvPr>
          <p:cNvSpPr txBox="1"/>
          <p:nvPr/>
        </p:nvSpPr>
        <p:spPr>
          <a:xfrm>
            <a:off x="445378" y="1976985"/>
            <a:ext cx="3525079" cy="4247317"/>
          </a:xfrm>
          <a:prstGeom prst="rect">
            <a:avLst/>
          </a:prstGeom>
          <a:noFill/>
        </p:spPr>
        <p:txBody>
          <a:bodyPr wrap="square" rtlCol="0">
            <a:spAutoFit/>
          </a:bodyPr>
          <a:lstStyle/>
          <a:p>
            <a:r>
              <a:rPr lang="es-ES" dirty="0"/>
              <a:t>En base a algunas mediciones tomadas a una batería estando con el circuito de luces encendido, midiendo el tiempo y anotando los voltajes obtenidos, podemos hacer una comparativa entre sus diferencias y generar una función.</a:t>
            </a:r>
          </a:p>
          <a:p>
            <a:endParaRPr lang="es-ES" dirty="0"/>
          </a:p>
          <a:p>
            <a:r>
              <a:rPr lang="es-ES" dirty="0"/>
              <a:t>Podemos de igual manera y con la ayuda de </a:t>
            </a:r>
            <a:r>
              <a:rPr lang="es-ES" dirty="0" err="1"/>
              <a:t>Geogebra</a:t>
            </a:r>
            <a:r>
              <a:rPr lang="es-ES" dirty="0"/>
              <a:t> graficar los puntos, siendo el tiempo la X y el resultado de las mediciones la Y en volts.</a:t>
            </a:r>
            <a:endParaRPr lang="es-CL" dirty="0"/>
          </a:p>
        </p:txBody>
      </p:sp>
      <p:pic>
        <p:nvPicPr>
          <p:cNvPr id="8" name="Marcador de contenido 7">
            <a:extLst>
              <a:ext uri="{FF2B5EF4-FFF2-40B4-BE49-F238E27FC236}">
                <a16:creationId xmlns:a16="http://schemas.microsoft.com/office/drawing/2014/main" id="{D2C4259E-2E76-B4EA-85C5-C3CDCB7B3BB4}"/>
              </a:ext>
            </a:extLst>
          </p:cNvPr>
          <p:cNvPicPr>
            <a:picLocks noGrp="1" noChangeAspect="1"/>
          </p:cNvPicPr>
          <p:nvPr>
            <p:ph idx="1"/>
          </p:nvPr>
        </p:nvPicPr>
        <p:blipFill>
          <a:blip r:embed="rId2"/>
          <a:stretch>
            <a:fillRect/>
          </a:stretch>
        </p:blipFill>
        <p:spPr>
          <a:xfrm>
            <a:off x="3970457" y="1834165"/>
            <a:ext cx="8105929" cy="4247317"/>
          </a:xfrm>
        </p:spPr>
      </p:pic>
    </p:spTree>
    <p:extLst>
      <p:ext uri="{BB962C8B-B14F-4D97-AF65-F5344CB8AC3E}">
        <p14:creationId xmlns:p14="http://schemas.microsoft.com/office/powerpoint/2010/main" val="44211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B60677-19C3-5E88-C8C4-20D04A020079}"/>
              </a:ext>
            </a:extLst>
          </p:cNvPr>
          <p:cNvSpPr>
            <a:spLocks noGrp="1"/>
          </p:cNvSpPr>
          <p:nvPr>
            <p:ph type="title"/>
          </p:nvPr>
        </p:nvSpPr>
        <p:spPr/>
        <p:txBody>
          <a:bodyPr/>
          <a:lstStyle/>
          <a:p>
            <a:r>
              <a:rPr lang="es-MX" dirty="0"/>
              <a:t>Planteamiento de la función </a:t>
            </a:r>
            <a:endParaRPr lang="es-CL" dirty="0"/>
          </a:p>
        </p:txBody>
      </p:sp>
      <p:sp>
        <p:nvSpPr>
          <p:cNvPr id="3" name="Marcador de contenido 2">
            <a:extLst>
              <a:ext uri="{FF2B5EF4-FFF2-40B4-BE49-F238E27FC236}">
                <a16:creationId xmlns:a16="http://schemas.microsoft.com/office/drawing/2014/main" id="{2DB89710-1FC7-77D0-6541-F2C80C64734D}"/>
              </a:ext>
            </a:extLst>
          </p:cNvPr>
          <p:cNvSpPr>
            <a:spLocks noGrp="1"/>
          </p:cNvSpPr>
          <p:nvPr>
            <p:ph idx="1"/>
          </p:nvPr>
        </p:nvSpPr>
        <p:spPr/>
        <p:txBody>
          <a:bodyPr>
            <a:normAutofit fontScale="92500" lnSpcReduction="10000"/>
          </a:bodyPr>
          <a:lstStyle/>
          <a:p>
            <a:r>
              <a:rPr lang="es-ES" dirty="0"/>
              <a:t>Generar la función puede ayudarnos en el análisis de la toma de datos, jugando un papel crucial ya que podemos estipular en cuantos minutos se puede descargar una batería o podemos calcular en cuantos minutos (X) puede tener una cantidad determinada de voltaje (Y) necesario para la puesta en marcha.</a:t>
            </a:r>
          </a:p>
          <a:p>
            <a:r>
              <a:rPr lang="es-ES" dirty="0"/>
              <a:t>En </a:t>
            </a:r>
            <a:r>
              <a:rPr lang="es-ES" dirty="0" err="1"/>
              <a:t>Geogebra</a:t>
            </a:r>
            <a:r>
              <a:rPr lang="es-ES" dirty="0"/>
              <a:t> podemos darnos cuenta de que si no graficamos un punto en la función. En el mismo tiempo (X) podemos obtener el resultado de los volts aproximados a los reales, pudiendo hacer una estipulación acertada.</a:t>
            </a:r>
          </a:p>
          <a:p>
            <a:r>
              <a:rPr lang="es-ES" dirty="0"/>
              <a:t>Y si quisiéramos saber la cantidad de minutos que demorará en tener cierto voltaje (Y), se puede hacer ocupando el comando resuelve de la misma aplicación.</a:t>
            </a:r>
            <a:endParaRPr lang="es-CL" dirty="0"/>
          </a:p>
        </p:txBody>
      </p:sp>
    </p:spTree>
    <p:extLst>
      <p:ext uri="{BB962C8B-B14F-4D97-AF65-F5344CB8AC3E}">
        <p14:creationId xmlns:p14="http://schemas.microsoft.com/office/powerpoint/2010/main" val="1045137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3CFAB9-8DD7-937B-AC00-0A9C5A83BB6A}"/>
              </a:ext>
            </a:extLst>
          </p:cNvPr>
          <p:cNvSpPr>
            <a:spLocks noGrp="1"/>
          </p:cNvSpPr>
          <p:nvPr>
            <p:ph type="title"/>
          </p:nvPr>
        </p:nvSpPr>
        <p:spPr/>
        <p:txBody>
          <a:bodyPr/>
          <a:lstStyle/>
          <a:p>
            <a:endParaRPr lang="es-CL" dirty="0"/>
          </a:p>
        </p:txBody>
      </p:sp>
      <p:sp>
        <p:nvSpPr>
          <p:cNvPr id="4" name="Marcador de texto 3">
            <a:extLst>
              <a:ext uri="{FF2B5EF4-FFF2-40B4-BE49-F238E27FC236}">
                <a16:creationId xmlns:a16="http://schemas.microsoft.com/office/drawing/2014/main" id="{16C8F44B-12B6-00AE-0FD2-C83DB97A550C}"/>
              </a:ext>
            </a:extLst>
          </p:cNvPr>
          <p:cNvSpPr>
            <a:spLocks noGrp="1"/>
          </p:cNvSpPr>
          <p:nvPr>
            <p:ph type="body" sz="half" idx="2"/>
          </p:nvPr>
        </p:nvSpPr>
        <p:spPr/>
        <p:txBody>
          <a:bodyPr>
            <a:normAutofit/>
          </a:bodyPr>
          <a:lstStyle/>
          <a:p>
            <a:r>
              <a:rPr lang="es-MX" sz="2400" dirty="0"/>
              <a:t>En esta imagen podemos apreciar que uno de los análisis de las baterías arroja que entre el minuto 300 el 350 la batería medida estará totalmente descargada.</a:t>
            </a:r>
            <a:endParaRPr lang="es-CL" sz="2400" dirty="0"/>
          </a:p>
        </p:txBody>
      </p:sp>
      <p:pic>
        <p:nvPicPr>
          <p:cNvPr id="5" name="Marcador de contenido 14">
            <a:extLst>
              <a:ext uri="{FF2B5EF4-FFF2-40B4-BE49-F238E27FC236}">
                <a16:creationId xmlns:a16="http://schemas.microsoft.com/office/drawing/2014/main" id="{CF07144D-D9E5-9C15-8C8D-7F1A848A769F}"/>
              </a:ext>
            </a:extLst>
          </p:cNvPr>
          <p:cNvPicPr>
            <a:picLocks noGrp="1" noChangeAspect="1"/>
          </p:cNvPicPr>
          <p:nvPr>
            <p:ph idx="1"/>
          </p:nvPr>
        </p:nvPicPr>
        <p:blipFill>
          <a:blip r:embed="rId2"/>
          <a:stretch>
            <a:fillRect/>
          </a:stretch>
        </p:blipFill>
        <p:spPr>
          <a:xfrm>
            <a:off x="4686299" y="2133600"/>
            <a:ext cx="7334509" cy="3971173"/>
          </a:xfrm>
          <a:prstGeom prst="rect">
            <a:avLst/>
          </a:prstGeom>
        </p:spPr>
      </p:pic>
    </p:spTree>
    <p:extLst>
      <p:ext uri="{BB962C8B-B14F-4D97-AF65-F5344CB8AC3E}">
        <p14:creationId xmlns:p14="http://schemas.microsoft.com/office/powerpoint/2010/main" val="3389215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C16073-72BF-E8D4-1BBC-782D7BA19310}"/>
              </a:ext>
            </a:extLst>
          </p:cNvPr>
          <p:cNvSpPr>
            <a:spLocks noGrp="1"/>
          </p:cNvSpPr>
          <p:nvPr>
            <p:ph type="title"/>
          </p:nvPr>
        </p:nvSpPr>
        <p:spPr>
          <a:xfrm>
            <a:off x="680322" y="753227"/>
            <a:ext cx="5200526" cy="932138"/>
          </a:xfrm>
        </p:spPr>
        <p:txBody>
          <a:bodyPr/>
          <a:lstStyle/>
          <a:p>
            <a:r>
              <a:rPr lang="es-MX" dirty="0"/>
              <a:t>Prototipo </a:t>
            </a:r>
            <a:endParaRPr lang="es-CL" dirty="0"/>
          </a:p>
        </p:txBody>
      </p:sp>
      <p:pic>
        <p:nvPicPr>
          <p:cNvPr id="6" name="Marcador de contenido 5">
            <a:extLst>
              <a:ext uri="{FF2B5EF4-FFF2-40B4-BE49-F238E27FC236}">
                <a16:creationId xmlns:a16="http://schemas.microsoft.com/office/drawing/2014/main" id="{F3BAF80D-5EE4-29E1-4AD4-3872568EA95A}"/>
              </a:ext>
            </a:extLst>
          </p:cNvPr>
          <p:cNvPicPr>
            <a:picLocks noGrp="1" noChangeAspect="1"/>
          </p:cNvPicPr>
          <p:nvPr>
            <p:ph idx="1"/>
          </p:nvPr>
        </p:nvPicPr>
        <p:blipFill>
          <a:blip r:embed="rId2"/>
          <a:stretch>
            <a:fillRect/>
          </a:stretch>
        </p:blipFill>
        <p:spPr>
          <a:xfrm>
            <a:off x="6499633" y="445212"/>
            <a:ext cx="4544884" cy="6059846"/>
          </a:xfrm>
          <a:prstGeom prst="rect">
            <a:avLst/>
          </a:prstGeom>
        </p:spPr>
      </p:pic>
      <p:sp>
        <p:nvSpPr>
          <p:cNvPr id="4" name="Marcador de texto 3">
            <a:extLst>
              <a:ext uri="{FF2B5EF4-FFF2-40B4-BE49-F238E27FC236}">
                <a16:creationId xmlns:a16="http://schemas.microsoft.com/office/drawing/2014/main" id="{F165C9A9-C216-E0D7-AAEB-BF697D5C8E25}"/>
              </a:ext>
            </a:extLst>
          </p:cNvPr>
          <p:cNvSpPr>
            <a:spLocks noGrp="1"/>
          </p:cNvSpPr>
          <p:nvPr>
            <p:ph type="body" sz="half" idx="2"/>
          </p:nvPr>
        </p:nvSpPr>
        <p:spPr/>
        <p:txBody>
          <a:bodyPr/>
          <a:lstStyle/>
          <a:p>
            <a:r>
              <a:rPr lang="es-ES" dirty="0"/>
              <a:t>Con este prototipo se hace referencia a la clara instalación de las 2 baterías del vehículo que están puestas en paralelo compartiendo diferente carga usando 2 relés y un diodo esto es para que la batería no se descargue haciendo referencia al alternador del vehículo, esto está todo montado sobre una </a:t>
            </a:r>
            <a:r>
              <a:rPr lang="es-ES" dirty="0" err="1"/>
              <a:t>protoboard</a:t>
            </a:r>
            <a:r>
              <a:rPr lang="es-ES" dirty="0"/>
              <a:t>  y hecho con una escala de voltaje menor.</a:t>
            </a:r>
            <a:endParaRPr lang="es-CL" dirty="0"/>
          </a:p>
          <a:p>
            <a:endParaRPr lang="es-CL" dirty="0"/>
          </a:p>
        </p:txBody>
      </p:sp>
    </p:spTree>
    <p:extLst>
      <p:ext uri="{BB962C8B-B14F-4D97-AF65-F5344CB8AC3E}">
        <p14:creationId xmlns:p14="http://schemas.microsoft.com/office/powerpoint/2010/main" val="1411508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A19541-9501-07FE-CE80-E176E8FB1E37}"/>
              </a:ext>
            </a:extLst>
          </p:cNvPr>
          <p:cNvSpPr>
            <a:spLocks noGrp="1"/>
          </p:cNvSpPr>
          <p:nvPr>
            <p:ph type="title"/>
          </p:nvPr>
        </p:nvSpPr>
        <p:spPr/>
        <p:txBody>
          <a:bodyPr/>
          <a:lstStyle/>
          <a:p>
            <a:r>
              <a:rPr lang="es-CL" dirty="0"/>
              <a:t>Resultados y conclusión</a:t>
            </a:r>
          </a:p>
        </p:txBody>
      </p:sp>
      <p:sp>
        <p:nvSpPr>
          <p:cNvPr id="3" name="Marcador de contenido 2">
            <a:extLst>
              <a:ext uri="{FF2B5EF4-FFF2-40B4-BE49-F238E27FC236}">
                <a16:creationId xmlns:a16="http://schemas.microsoft.com/office/drawing/2014/main" id="{A3200BA3-F047-2B99-C166-DC12A3D2D6F1}"/>
              </a:ext>
            </a:extLst>
          </p:cNvPr>
          <p:cNvSpPr>
            <a:spLocks noGrp="1"/>
          </p:cNvSpPr>
          <p:nvPr>
            <p:ph idx="1"/>
          </p:nvPr>
        </p:nvSpPr>
        <p:spPr>
          <a:xfrm>
            <a:off x="537883" y="2079812"/>
            <a:ext cx="10470776" cy="4589929"/>
          </a:xfrm>
        </p:spPr>
        <p:txBody>
          <a:bodyPr>
            <a:normAutofit fontScale="92500" lnSpcReduction="20000"/>
          </a:bodyPr>
          <a:lstStyle/>
          <a:p>
            <a:r>
              <a:rPr lang="es-CL" dirty="0"/>
              <a:t>Al realizar este proyecto como resultado creamos un sistema que permita auxiliar al conductor en momentos que la batería de servicio del vehículo se encuentre descargada o descompuesta , dando una solución a estos casos.</a:t>
            </a:r>
          </a:p>
          <a:p>
            <a:r>
              <a:rPr lang="es-CL" dirty="0"/>
              <a:t>Otorgándole énfasis a lo mencionado anteriormente concluimos que para poder elaborar un proyecto debemos tener datos e información , que nos permita desarrollarlo atreves del tiempo , tales como los datos de distancia , tiempo, determinados volts y demás mediciones con un multímetro, estos datos son más que nada análisis de las mediciones tomadas.</a:t>
            </a:r>
          </a:p>
          <a:p>
            <a:r>
              <a:rPr lang="es-ES" dirty="0"/>
              <a:t>Se resolvió que algunas dudas del inicio del proyecto no eran tan relevantes para el resultado final, como que el alternador tenía la capacidad suficiente para cargar las dos baterías ya que la batería auxiliar estará siempre cargada.</a:t>
            </a:r>
          </a:p>
          <a:p>
            <a:r>
              <a:rPr lang="es-ES" dirty="0"/>
              <a:t>Concluimos que la mayoría de los cálculos, se pueden hacer mediante aplicaciones de simulación de circuitos y también corroborando con mediciones precisas. </a:t>
            </a:r>
          </a:p>
          <a:p>
            <a:r>
              <a:rPr lang="es-ES" dirty="0"/>
              <a:t>El cálculo de los circuitos tampoco fue estrictamente necesario y solo se descifró mediante mediciones con el circuito armado.</a:t>
            </a:r>
            <a:endParaRPr lang="es-CL" dirty="0"/>
          </a:p>
        </p:txBody>
      </p:sp>
    </p:spTree>
    <p:extLst>
      <p:ext uri="{BB962C8B-B14F-4D97-AF65-F5344CB8AC3E}">
        <p14:creationId xmlns:p14="http://schemas.microsoft.com/office/powerpoint/2010/main" val="2581800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00DAF0-1A0E-4A21-4410-8860FFAEB032}"/>
              </a:ext>
            </a:extLst>
          </p:cNvPr>
          <p:cNvSpPr>
            <a:spLocks noGrp="1"/>
          </p:cNvSpPr>
          <p:nvPr>
            <p:ph type="title"/>
          </p:nvPr>
        </p:nvSpPr>
        <p:spPr/>
        <p:txBody>
          <a:bodyPr/>
          <a:lstStyle/>
          <a:p>
            <a:r>
              <a:rPr lang="es-MX" dirty="0"/>
              <a:t>Bibliografía</a:t>
            </a:r>
            <a:endParaRPr lang="es-CL" dirty="0"/>
          </a:p>
        </p:txBody>
      </p:sp>
      <p:sp>
        <p:nvSpPr>
          <p:cNvPr id="5" name="CuadroTexto 8">
            <a:extLst>
              <a:ext uri="{FF2B5EF4-FFF2-40B4-BE49-F238E27FC236}">
                <a16:creationId xmlns:a16="http://schemas.microsoft.com/office/drawing/2014/main" id="{470C43D6-2578-9F09-CC26-A104F5ECBD90}"/>
              </a:ext>
            </a:extLst>
          </p:cNvPr>
          <p:cNvSpPr txBox="1"/>
          <p:nvPr/>
        </p:nvSpPr>
        <p:spPr>
          <a:xfrm>
            <a:off x="680321" y="2180177"/>
            <a:ext cx="6097348" cy="120032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CL" dirty="0"/>
              <a:t>Zurita, A.(2023).</a:t>
            </a:r>
            <a:r>
              <a:rPr lang="es-CL" i="1" dirty="0">
                <a:solidFill>
                  <a:srgbClr val="FFFF00"/>
                </a:solidFill>
              </a:rPr>
              <a:t>batería auxiliar </a:t>
            </a:r>
          </a:p>
          <a:p>
            <a:r>
              <a:rPr lang="es-CL" dirty="0"/>
              <a:t>[Diapositivas de PowerPoint].</a:t>
            </a:r>
            <a:r>
              <a:rPr lang="es-CL" i="1" dirty="0" err="1">
                <a:solidFill>
                  <a:schemeClr val="accent4"/>
                </a:solidFill>
              </a:rPr>
              <a:t>openstax</a:t>
            </a:r>
            <a:endParaRPr lang="es-CL" i="1" dirty="0">
              <a:solidFill>
                <a:schemeClr val="accent4"/>
              </a:solidFill>
            </a:endParaRPr>
          </a:p>
          <a:p>
            <a:r>
              <a:rPr lang="es-CL" dirty="0">
                <a:solidFill>
                  <a:schemeClr val="bg1">
                    <a:lumMod val="85000"/>
                    <a:lumOff val="15000"/>
                  </a:schemeClr>
                </a:solidFill>
              </a:rPr>
              <a:t>https://openstax.org/details/books/f%C3%ADsica-universitaria-volumen-2</a:t>
            </a:r>
          </a:p>
        </p:txBody>
      </p:sp>
      <p:sp>
        <p:nvSpPr>
          <p:cNvPr id="6" name="CuadroTexto 6">
            <a:extLst>
              <a:ext uri="{FF2B5EF4-FFF2-40B4-BE49-F238E27FC236}">
                <a16:creationId xmlns:a16="http://schemas.microsoft.com/office/drawing/2014/main" id="{E5713EC8-1039-5C6B-FAAD-E32D07606BAD}"/>
              </a:ext>
            </a:extLst>
          </p:cNvPr>
          <p:cNvSpPr txBox="1"/>
          <p:nvPr/>
        </p:nvSpPr>
        <p:spPr>
          <a:xfrm>
            <a:off x="680321" y="3380506"/>
            <a:ext cx="7689455"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dirty="0"/>
              <a:t>Pinilla, C</a:t>
            </a:r>
            <a:r>
              <a:rPr lang="es-CL" dirty="0"/>
              <a:t>.(2023).</a:t>
            </a:r>
            <a:r>
              <a:rPr lang="es-CL" i="1" dirty="0">
                <a:solidFill>
                  <a:srgbClr val="FFFF00"/>
                </a:solidFill>
              </a:rPr>
              <a:t>batería auxiliar </a:t>
            </a:r>
          </a:p>
          <a:p>
            <a:r>
              <a:rPr lang="es-CL" dirty="0"/>
              <a:t>[Diapositivas de PowerPoint].</a:t>
            </a:r>
            <a:r>
              <a:rPr lang="es-CL" dirty="0" err="1">
                <a:solidFill>
                  <a:schemeClr val="accent4"/>
                </a:solidFill>
              </a:rPr>
              <a:t>geogebra</a:t>
            </a:r>
            <a:endParaRPr lang="es-CL" dirty="0">
              <a:solidFill>
                <a:schemeClr val="accent4"/>
              </a:solidFill>
            </a:endParaRPr>
          </a:p>
          <a:p>
            <a:r>
              <a:rPr lang="es-CL" i="1" dirty="0">
                <a:solidFill>
                  <a:schemeClr val="bg1">
                    <a:lumMod val="85000"/>
                    <a:lumOff val="15000"/>
                  </a:schemeClr>
                </a:solidFill>
              </a:rPr>
              <a:t>https://www.geogebra.org/calculator?lang=es</a:t>
            </a:r>
          </a:p>
        </p:txBody>
      </p:sp>
      <p:sp>
        <p:nvSpPr>
          <p:cNvPr id="7" name="CuadroTexto 10">
            <a:extLst>
              <a:ext uri="{FF2B5EF4-FFF2-40B4-BE49-F238E27FC236}">
                <a16:creationId xmlns:a16="http://schemas.microsoft.com/office/drawing/2014/main" id="{B76A1832-4487-8527-7688-2BA2B10D518D}"/>
              </a:ext>
            </a:extLst>
          </p:cNvPr>
          <p:cNvSpPr txBox="1"/>
          <p:nvPr/>
        </p:nvSpPr>
        <p:spPr>
          <a:xfrm>
            <a:off x="680321" y="4326681"/>
            <a:ext cx="6097348" cy="120032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dirty="0"/>
              <a:t>Ormeño, R</a:t>
            </a:r>
            <a:r>
              <a:rPr lang="es-CL" dirty="0"/>
              <a:t>.(2023).</a:t>
            </a:r>
            <a:r>
              <a:rPr lang="es-CL" i="1" dirty="0">
                <a:solidFill>
                  <a:srgbClr val="FFFF00"/>
                </a:solidFill>
              </a:rPr>
              <a:t>batería auxiliar </a:t>
            </a:r>
          </a:p>
          <a:p>
            <a:r>
              <a:rPr lang="es-CL" dirty="0"/>
              <a:t>[Diapositivas de PowerPoint].</a:t>
            </a:r>
            <a:r>
              <a:rPr lang="es-CL" dirty="0">
                <a:solidFill>
                  <a:schemeClr val="accent4"/>
                </a:solidFill>
              </a:rPr>
              <a:t>benisi.cl</a:t>
            </a:r>
          </a:p>
          <a:p>
            <a:r>
              <a:rPr lang="es-CL" dirty="0">
                <a:solidFill>
                  <a:schemeClr val="bg1">
                    <a:lumMod val="85000"/>
                    <a:lumOff val="15000"/>
                  </a:schemeClr>
                </a:solidFill>
              </a:rPr>
              <a:t>https://benisi.cl/amperimetro-multitester-ut206-1000a-600vac-dc</a:t>
            </a:r>
          </a:p>
        </p:txBody>
      </p:sp>
      <p:sp>
        <p:nvSpPr>
          <p:cNvPr id="8" name="CuadroTexto 12">
            <a:extLst>
              <a:ext uri="{FF2B5EF4-FFF2-40B4-BE49-F238E27FC236}">
                <a16:creationId xmlns:a16="http://schemas.microsoft.com/office/drawing/2014/main" id="{F3A21695-B33A-93CC-CFB8-A009F629BF13}"/>
              </a:ext>
            </a:extLst>
          </p:cNvPr>
          <p:cNvSpPr txBox="1"/>
          <p:nvPr/>
        </p:nvSpPr>
        <p:spPr>
          <a:xfrm>
            <a:off x="724681" y="5504165"/>
            <a:ext cx="6097348" cy="120032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dirty="0" err="1"/>
              <a:t>Paineval</a:t>
            </a:r>
            <a:r>
              <a:rPr lang="es-MX" dirty="0"/>
              <a:t>, M.</a:t>
            </a:r>
            <a:r>
              <a:rPr lang="es-CL" dirty="0"/>
              <a:t>(2023).</a:t>
            </a:r>
            <a:r>
              <a:rPr lang="es-CL" i="1" dirty="0">
                <a:solidFill>
                  <a:srgbClr val="FFFF00"/>
                </a:solidFill>
              </a:rPr>
              <a:t>batería auxiliar </a:t>
            </a:r>
          </a:p>
          <a:p>
            <a:r>
              <a:rPr lang="es-CL" dirty="0"/>
              <a:t>[Diapositivas de PowerPoint].</a:t>
            </a:r>
            <a:r>
              <a:rPr lang="es-CL" dirty="0">
                <a:solidFill>
                  <a:schemeClr val="accent4"/>
                </a:solidFill>
              </a:rPr>
              <a:t>top cable</a:t>
            </a:r>
          </a:p>
          <a:p>
            <a:r>
              <a:rPr lang="es-CL" dirty="0">
                <a:solidFill>
                  <a:schemeClr val="bg1"/>
                </a:solidFill>
              </a:rPr>
              <a:t>https://www.topcable.com/blog-electric-cable/tipos-de-cables-electricos/</a:t>
            </a:r>
          </a:p>
        </p:txBody>
      </p:sp>
    </p:spTree>
    <p:extLst>
      <p:ext uri="{BB962C8B-B14F-4D97-AF65-F5344CB8AC3E}">
        <p14:creationId xmlns:p14="http://schemas.microsoft.com/office/powerpoint/2010/main" val="1031760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C9C89C-FDE1-75EB-BB63-F3994B0BF511}"/>
              </a:ext>
            </a:extLst>
          </p:cNvPr>
          <p:cNvSpPr>
            <a:spLocks noGrp="1"/>
          </p:cNvSpPr>
          <p:nvPr>
            <p:ph type="title"/>
          </p:nvPr>
        </p:nvSpPr>
        <p:spPr/>
        <p:txBody>
          <a:bodyPr/>
          <a:lstStyle/>
          <a:p>
            <a:r>
              <a:rPr lang="es-MX" dirty="0"/>
              <a:t>Link de la presentación </a:t>
            </a:r>
            <a:endParaRPr lang="es-CL" dirty="0"/>
          </a:p>
        </p:txBody>
      </p:sp>
      <p:sp>
        <p:nvSpPr>
          <p:cNvPr id="3" name="Marcador de contenido 2">
            <a:extLst>
              <a:ext uri="{FF2B5EF4-FFF2-40B4-BE49-F238E27FC236}">
                <a16:creationId xmlns:a16="http://schemas.microsoft.com/office/drawing/2014/main" id="{1BECC8D7-01D2-6E6F-7C9C-61119C7381E4}"/>
              </a:ext>
            </a:extLst>
          </p:cNvPr>
          <p:cNvSpPr>
            <a:spLocks noGrp="1"/>
          </p:cNvSpPr>
          <p:nvPr>
            <p:ph idx="1"/>
          </p:nvPr>
        </p:nvSpPr>
        <p:spPr/>
        <p:txBody>
          <a:bodyPr/>
          <a:lstStyle/>
          <a:p>
            <a:r>
              <a:rPr lang="es-CL" dirty="0">
                <a:hlinkClick r:id="rId2"/>
              </a:rPr>
              <a:t>https://www.canva.com/design/DAF3Fi29HWg/ruf8JjxTBXwhIKzGgVkExQ/view?utm_content=DAF3Fi29HWg&amp;utm_campaign=share_your_design&amp;utm_medium=link&amp;utm_source=shareyourdesignpanel</a:t>
            </a:r>
            <a:endParaRPr lang="es-CL" dirty="0"/>
          </a:p>
          <a:p>
            <a:r>
              <a:rPr lang="es-CL" dirty="0">
                <a:hlinkClick r:id="rId3"/>
              </a:rPr>
              <a:t>https://photos.app.goo.gl/1ECh87teWLCPLZcq7</a:t>
            </a:r>
            <a:endParaRPr lang="es-CL" dirty="0"/>
          </a:p>
          <a:p>
            <a:endParaRPr lang="es-CL" dirty="0"/>
          </a:p>
        </p:txBody>
      </p:sp>
    </p:spTree>
    <p:extLst>
      <p:ext uri="{BB962C8B-B14F-4D97-AF65-F5344CB8AC3E}">
        <p14:creationId xmlns:p14="http://schemas.microsoft.com/office/powerpoint/2010/main" val="854859021"/>
      </p:ext>
    </p:extLst>
  </p:cSld>
  <p:clrMapOvr>
    <a:masterClrMapping/>
  </p:clrMapOvr>
</p:sld>
</file>

<file path=ppt/theme/theme1.xml><?xml version="1.0" encoding="utf-8"?>
<a:theme xmlns:a="http://schemas.openxmlformats.org/drawingml/2006/main" name="Berlín">
  <a:themeElements>
    <a:clrScheme name="Berlin">
      <a:dk1>
        <a:sysClr val="windowText" lastClr="000000"/>
      </a:dk1>
      <a:lt1>
        <a:sysClr val="window" lastClr="FFFFFF"/>
      </a:lt1>
      <a:dk2>
        <a:srgbClr val="6A9C41"/>
      </a:dk2>
      <a:lt2>
        <a:srgbClr val="E7E6E6"/>
      </a:lt2>
      <a:accent1>
        <a:srgbClr val="A7D535"/>
      </a:accent1>
      <a:accent2>
        <a:srgbClr val="EACA4F"/>
      </a:accent2>
      <a:accent3>
        <a:srgbClr val="FD9850"/>
      </a:accent3>
      <a:accent4>
        <a:srgbClr val="F46442"/>
      </a:accent4>
      <a:accent5>
        <a:srgbClr val="54D289"/>
      </a:accent5>
      <a:accent6>
        <a:srgbClr val="6AD8CB"/>
      </a:accent6>
      <a:hlink>
        <a:srgbClr val="CAFB50"/>
      </a:hlink>
      <a:folHlink>
        <a:srgbClr val="DEFF8B"/>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docProps/app.xml><?xml version="1.0" encoding="utf-8"?>
<Properties xmlns="http://schemas.openxmlformats.org/officeDocument/2006/extended-properties" xmlns:vt="http://schemas.openxmlformats.org/officeDocument/2006/docPropsVTypes">
  <Template>TM04033917[[fn=Berlín]]</Template>
  <TotalTime>2289</TotalTime>
  <Words>1999</Words>
  <Application>Microsoft Macintosh PowerPoint</Application>
  <PresentationFormat>Panorámica</PresentationFormat>
  <Paragraphs>138</Paragraphs>
  <Slides>22</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22</vt:i4>
      </vt:variant>
    </vt:vector>
  </HeadingPairs>
  <TitlesOfParts>
    <vt:vector size="25" baseType="lpstr">
      <vt:lpstr>Arial</vt:lpstr>
      <vt:lpstr>Trebuchet MS</vt:lpstr>
      <vt:lpstr>Berlín</vt:lpstr>
      <vt:lpstr>Batería Auxiliar</vt:lpstr>
      <vt:lpstr>Proyecto</vt:lpstr>
      <vt:lpstr>Temas a investigar</vt:lpstr>
      <vt:lpstr>Objetivo</vt:lpstr>
      <vt:lpstr>Preguntas</vt:lpstr>
      <vt:lpstr>Temas iniciales a abordar</vt:lpstr>
      <vt:lpstr>Cronograma </vt:lpstr>
      <vt:lpstr>Herramientas y sus necesidades</vt:lpstr>
      <vt:lpstr>Realización de medidas</vt:lpstr>
      <vt:lpstr>Medición de amperaje</vt:lpstr>
      <vt:lpstr>Presentación de PowerPoint</vt:lpstr>
      <vt:lpstr>Conceptos matemáticos </vt:lpstr>
      <vt:lpstr>Aplicación de las matemáticas</vt:lpstr>
      <vt:lpstr>Dimensiones de los cables</vt:lpstr>
      <vt:lpstr>Bitácora</vt:lpstr>
      <vt:lpstr>Análisis de baterías en descarga</vt:lpstr>
      <vt:lpstr>Planteamiento de la función </vt:lpstr>
      <vt:lpstr>Presentación de PowerPoint</vt:lpstr>
      <vt:lpstr>Prototipo </vt:lpstr>
      <vt:lpstr>Resultados y conclusión</vt:lpstr>
      <vt:lpstr>Bibliografía</vt:lpstr>
      <vt:lpstr>Link de la presentación </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Batería auxiliar</dc:title>
  <dc:creator>MICHEL MIREYA VILLANUEVA VENEGAS</dc:creator>
  <cp:lastModifiedBy>Microsoft Office User</cp:lastModifiedBy>
  <cp:revision>24</cp:revision>
  <dcterms:created xsi:type="dcterms:W3CDTF">2023-11-24T01:13:15Z</dcterms:created>
  <dcterms:modified xsi:type="dcterms:W3CDTF">2023-12-26T15:17:59Z</dcterms:modified>
</cp:coreProperties>
</file>