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56" r:id="rId2"/>
    <p:sldId id="259" r:id="rId3"/>
    <p:sldId id="258" r:id="rId4"/>
    <p:sldId id="260" r:id="rId5"/>
    <p:sldId id="261" r:id="rId6"/>
    <p:sldId id="263"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0202"/>
    <a:srgbClr val="F4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38" autoAdjust="0"/>
    <p:restoredTop sz="94637" autoAdjust="0"/>
  </p:normalViewPr>
  <p:slideViewPr>
    <p:cSldViewPr snapToGrid="0" snapToObjects="1">
      <p:cViewPr>
        <p:scale>
          <a:sx n="100" d="100"/>
          <a:sy n="100" d="100"/>
        </p:scale>
        <p:origin x="1118" y="-42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7BA0D7-0169-4DC5-A2A1-96622DB5C813}" type="datetimeFigureOut">
              <a:rPr lang="es-CL" smtClean="0"/>
              <a:t>17-11-2023</a:t>
            </a:fld>
            <a:endParaRPr lang="es-CL"/>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7371DE-4F16-4D61-A40A-0E67DB63B0CE}" type="slidenum">
              <a:rPr lang="es-CL" smtClean="0"/>
              <a:t>‹Nº›</a:t>
            </a:fld>
            <a:endParaRPr lang="es-CL"/>
          </a:p>
        </p:txBody>
      </p:sp>
    </p:spTree>
    <p:extLst>
      <p:ext uri="{BB962C8B-B14F-4D97-AF65-F5344CB8AC3E}">
        <p14:creationId xmlns:p14="http://schemas.microsoft.com/office/powerpoint/2010/main" val="2405114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577371DE-4F16-4D61-A40A-0E67DB63B0CE}" type="slidenum">
              <a:rPr lang="es-CL" smtClean="0"/>
              <a:t>1</a:t>
            </a:fld>
            <a:endParaRPr lang="es-CL"/>
          </a:p>
        </p:txBody>
      </p:sp>
    </p:spTree>
    <p:extLst>
      <p:ext uri="{BB962C8B-B14F-4D97-AF65-F5344CB8AC3E}">
        <p14:creationId xmlns:p14="http://schemas.microsoft.com/office/powerpoint/2010/main" val="3934751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17/11/2023</a:t>
            </a:fld>
            <a:endParaRPr lang="es-ES"/>
          </a:p>
        </p:txBody>
      </p:sp>
      <p:sp>
        <p:nvSpPr>
          <p:cNvPr id="5" name="Footer Placeholder 4"/>
          <p:cNvSpPr>
            <a:spLocks noGrp="1"/>
          </p:cNvSpPr>
          <p:nvPr>
            <p:ph type="ftr" sz="quarter" idx="11"/>
          </p:nvPr>
        </p:nvSpPr>
        <p:spPr>
          <a:xfrm>
            <a:off x="2396319" y="329308"/>
            <a:ext cx="3086292" cy="309201"/>
          </a:xfrm>
        </p:spPr>
        <p:txBody>
          <a:bodyPr/>
          <a:lstStyle/>
          <a:p>
            <a:endParaRPr lang="es-ES"/>
          </a:p>
        </p:txBody>
      </p:sp>
      <p:sp>
        <p:nvSpPr>
          <p:cNvPr id="6" name="Slide Number Placeholder 5"/>
          <p:cNvSpPr>
            <a:spLocks noGrp="1"/>
          </p:cNvSpPr>
          <p:nvPr>
            <p:ph type="sldNum" sz="quarter" idx="12"/>
          </p:nvPr>
        </p:nvSpPr>
        <p:spPr>
          <a:xfrm>
            <a:off x="1434703" y="798973"/>
            <a:ext cx="802005" cy="503578"/>
          </a:xfrm>
        </p:spPr>
        <p:txBody>
          <a:bodyPr/>
          <a:lstStyle/>
          <a:p>
            <a:fld id="{47BE25F8-CB20-F449-B4F4-A964C31BB732}" type="slidenum">
              <a:rPr lang="es-ES" smtClean="0"/>
              <a:t>‹Nº›</a:t>
            </a:fld>
            <a:endParaRPr lang="es-E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7949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17/11/2023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35826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17/11/2023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9042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1BFFDA3-703B-5A46-AEFC-E14C30159CAC}" type="datetimeFigureOut">
              <a:rPr lang="es-ES" smtClean="0"/>
              <a:t>17/11/2023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03306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Content Placeholder 3"/>
          <p:cNvSpPr>
            <a:spLocks noGrp="1"/>
          </p:cNvSpPr>
          <p:nvPr>
            <p:ph sz="half" idx="2"/>
          </p:nvPr>
        </p:nvSpPr>
        <p:spPr>
          <a:xfrm>
            <a:off x="1443491" y="2824270"/>
            <a:ext cx="3125766" cy="264445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4889182" y="2821491"/>
            <a:ext cx="3125652" cy="263737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1BFFDA3-703B-5A46-AEFC-E14C30159CAC}" type="datetimeFigureOut">
              <a:rPr lang="es-ES" smtClean="0"/>
              <a:t>17/11/2023</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420321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1BFFDA3-703B-5A46-AEFC-E14C30159CAC}" type="datetimeFigureOut">
              <a:rPr lang="es-ES" smtClean="0"/>
              <a:t>17/11/2023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56866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BFFDA3-703B-5A46-AEFC-E14C30159CAC}" type="datetimeFigureOut">
              <a:rPr lang="es-ES" smtClean="0"/>
              <a:t>17/11/2023</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964560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1BFFDA3-703B-5A46-AEFC-E14C30159CAC}" type="datetimeFigureOut">
              <a:rPr lang="es-ES" smtClean="0"/>
              <a:t>17/11/2023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74244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11BFFDA3-703B-5A46-AEFC-E14C30159CAC}" type="datetimeFigureOut">
              <a:rPr lang="es-ES" smtClean="0"/>
              <a:t>17/11/2023</a:t>
            </a:fld>
            <a:endParaRPr lang="es-ES"/>
          </a:p>
        </p:txBody>
      </p:sp>
      <p:sp>
        <p:nvSpPr>
          <p:cNvPr id="6" name="Footer Placeholder 5"/>
          <p:cNvSpPr>
            <a:spLocks noGrp="1"/>
          </p:cNvSpPr>
          <p:nvPr>
            <p:ph type="ftr" sz="quarter" idx="11"/>
          </p:nvPr>
        </p:nvSpPr>
        <p:spPr>
          <a:xfrm>
            <a:off x="1437530" y="318641"/>
            <a:ext cx="3251553" cy="320931"/>
          </a:xfrm>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3682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17/11/2023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265260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17/11/2023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62698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1BFFDA3-703B-5A46-AEFC-E14C30159CAC}" type="datetimeFigureOut">
              <a:rPr lang="es-ES" smtClean="0"/>
              <a:t>17/11/2023</a:t>
            </a:fld>
            <a:endParaRPr lang="es-E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47BE25F8-CB20-F449-B4F4-A964C31BB732}" type="slidenum">
              <a:rPr lang="es-ES" smtClean="0"/>
              <a:t>‹Nº›</a:t>
            </a:fld>
            <a:endParaRPr lang="es-ES"/>
          </a:p>
        </p:txBody>
      </p:sp>
    </p:spTree>
    <p:extLst>
      <p:ext uri="{BB962C8B-B14F-4D97-AF65-F5344CB8AC3E}">
        <p14:creationId xmlns:p14="http://schemas.microsoft.com/office/powerpoint/2010/main" val="10018589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ctrTitle"/>
          </p:nvPr>
        </p:nvSpPr>
        <p:spPr>
          <a:xfrm>
            <a:off x="615294" y="2588695"/>
            <a:ext cx="7772400" cy="685347"/>
          </a:xfrm>
        </p:spPr>
        <p:txBody>
          <a:bodyPr>
            <a:normAutofit fontScale="90000"/>
          </a:bodyPr>
          <a:lstStyle/>
          <a:p>
            <a:pPr algn="ctr"/>
            <a:br>
              <a:rPr lang="es-ES" sz="3600" b="1" dirty="0">
                <a:solidFill>
                  <a:srgbClr val="D40202"/>
                </a:solidFill>
                <a:latin typeface="Myriad Pro"/>
                <a:cs typeface="Myriad Pro"/>
              </a:rPr>
            </a:br>
            <a:r>
              <a:rPr lang="es-ES" sz="3300" b="1" dirty="0">
                <a:solidFill>
                  <a:srgbClr val="D40202"/>
                </a:solidFill>
                <a:effectLst>
                  <a:outerShdw blurRad="38100" dist="38100" dir="2700000" algn="tl">
                    <a:srgbClr val="000000">
                      <a:alpha val="43137"/>
                    </a:srgbClr>
                  </a:outerShdw>
                </a:effectLst>
                <a:latin typeface="Myriad Pro"/>
                <a:cs typeface="Myriad Pro"/>
              </a:rPr>
              <a:t>sistema de freno</a:t>
            </a:r>
            <a:endParaRPr lang="es-CL" sz="3300" b="1" dirty="0">
              <a:solidFill>
                <a:srgbClr val="D40202"/>
              </a:solidFill>
              <a:effectLst>
                <a:outerShdw blurRad="38100" dist="38100" dir="2700000" algn="tl">
                  <a:srgbClr val="000000">
                    <a:alpha val="43137"/>
                  </a:srgbClr>
                </a:outerShdw>
              </a:effectLst>
              <a:latin typeface="Myriad Pro"/>
              <a:cs typeface="Myriad Pro"/>
            </a:endParaRPr>
          </a:p>
        </p:txBody>
      </p:sp>
      <p:sp>
        <p:nvSpPr>
          <p:cNvPr id="15" name="Subtítulo 2"/>
          <p:cNvSpPr>
            <a:spLocks noGrp="1"/>
          </p:cNvSpPr>
          <p:nvPr>
            <p:ph type="subTitle" idx="1"/>
          </p:nvPr>
        </p:nvSpPr>
        <p:spPr>
          <a:xfrm>
            <a:off x="1301094" y="3732245"/>
            <a:ext cx="6400800" cy="362194"/>
          </a:xfrm>
        </p:spPr>
        <p:txBody>
          <a:bodyPr>
            <a:normAutofit fontScale="70000" lnSpcReduction="20000"/>
          </a:bodyPr>
          <a:lstStyle/>
          <a:p>
            <a:pPr marL="0" indent="0" algn="ctr">
              <a:buNone/>
            </a:pPr>
            <a:r>
              <a:rPr lang="es-ES" b="1" dirty="0">
                <a:effectLst>
                  <a:outerShdw blurRad="38100" dist="38100" dir="2700000" algn="tl">
                    <a:srgbClr val="000000">
                      <a:alpha val="43137"/>
                    </a:srgbClr>
                  </a:outerShdw>
                </a:effectLst>
                <a:latin typeface="Myriad Pro"/>
                <a:cs typeface="Myriad Pro"/>
              </a:rPr>
              <a:t>Uso De Frenos Con Sistema ABS</a:t>
            </a:r>
            <a:endParaRPr lang="es-CL" b="1" dirty="0">
              <a:effectLst>
                <a:outerShdw blurRad="38100" dist="38100" dir="2700000" algn="tl">
                  <a:srgbClr val="000000">
                    <a:alpha val="43137"/>
                  </a:srgbClr>
                </a:outerShdw>
              </a:effectLst>
              <a:latin typeface="Myriad Pro"/>
              <a:cs typeface="Myriad Pro"/>
            </a:endParaRPr>
          </a:p>
        </p:txBody>
      </p:sp>
      <p:sp>
        <p:nvSpPr>
          <p:cNvPr id="10" name="Rectángulo 9"/>
          <p:cNvSpPr/>
          <p:nvPr/>
        </p:nvSpPr>
        <p:spPr>
          <a:xfrm>
            <a:off x="326571" y="1"/>
            <a:ext cx="2142309" cy="1867756"/>
          </a:xfrm>
          <a:prstGeom prst="rect">
            <a:avLst/>
          </a:prstGeom>
          <a:solidFill>
            <a:srgbClr val="D40202"/>
          </a:solidFill>
          <a:ln>
            <a:noFill/>
          </a:ln>
          <a:effectLst>
            <a:outerShdw blurRad="76200" dir="18900000" sy="23000" kx="-1200000" algn="b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1" name="Título 1"/>
          <p:cNvSpPr txBox="1">
            <a:spLocks/>
          </p:cNvSpPr>
          <p:nvPr/>
        </p:nvSpPr>
        <p:spPr>
          <a:xfrm>
            <a:off x="469607" y="160081"/>
            <a:ext cx="1867757" cy="757701"/>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s-CL" sz="1400" kern="1400" dirty="0">
              <a:solidFill>
                <a:schemeClr val="bg1"/>
              </a:solidFill>
              <a:latin typeface="Myriad Pro Light"/>
              <a:cs typeface="Myriad Pro Light"/>
            </a:endParaRPr>
          </a:p>
        </p:txBody>
      </p:sp>
      <p:pic>
        <p:nvPicPr>
          <p:cNvPr id="12" name="Imagen 11" descr="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522" y="969784"/>
            <a:ext cx="1566406" cy="422221"/>
          </a:xfrm>
          <a:prstGeom prst="rect">
            <a:avLst/>
          </a:prstGeom>
        </p:spPr>
      </p:pic>
      <p:cxnSp>
        <p:nvCxnSpPr>
          <p:cNvPr id="14" name="Conector recto 13"/>
          <p:cNvCxnSpPr/>
          <p:nvPr/>
        </p:nvCxnSpPr>
        <p:spPr>
          <a:xfrm>
            <a:off x="615294" y="607594"/>
            <a:ext cx="1576383" cy="0"/>
          </a:xfrm>
          <a:prstGeom prst="line">
            <a:avLst/>
          </a:prstGeom>
          <a:ln w="952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6" name="CuadroTexto 15"/>
          <p:cNvSpPr txBox="1"/>
          <p:nvPr/>
        </p:nvSpPr>
        <p:spPr>
          <a:xfrm>
            <a:off x="469607" y="4651073"/>
            <a:ext cx="6057620" cy="1361014"/>
          </a:xfrm>
          <a:prstGeom prst="rect">
            <a:avLst/>
          </a:prstGeom>
          <a:noFill/>
        </p:spPr>
        <p:txBody>
          <a:bodyPr wrap="none" rtlCol="0">
            <a:spAutoFit/>
          </a:bodyPr>
          <a:lstStyle/>
          <a:p>
            <a:pPr>
              <a:lnSpc>
                <a:spcPct val="120000"/>
              </a:lnSpc>
            </a:pPr>
            <a:r>
              <a:rPr lang="es-CL" sz="1400" dirty="0">
                <a:latin typeface="Myriad Pro"/>
                <a:cs typeface="Myriad Pro"/>
              </a:rPr>
              <a:t>INTEGRANTES: Rodrigo Garay, Luis Gómez, Brayan Gatica, Joaquín Merino.</a:t>
            </a:r>
          </a:p>
          <a:p>
            <a:pPr>
              <a:lnSpc>
                <a:spcPct val="120000"/>
              </a:lnSpc>
            </a:pPr>
            <a:r>
              <a:rPr lang="es-CL" sz="1400" dirty="0">
                <a:latin typeface="Myriad Pro"/>
                <a:cs typeface="Myriad Pro"/>
              </a:rPr>
              <a:t>CARRERA: Técnico en mecánica y electromovilidad automotriz.</a:t>
            </a:r>
          </a:p>
          <a:p>
            <a:pPr>
              <a:lnSpc>
                <a:spcPct val="120000"/>
              </a:lnSpc>
            </a:pPr>
            <a:r>
              <a:rPr lang="es-CL" sz="1400" dirty="0">
                <a:latin typeface="Myriad Pro"/>
                <a:cs typeface="Myriad Pro"/>
              </a:rPr>
              <a:t>ASIGNTATURA: Función y Geometría.</a:t>
            </a:r>
          </a:p>
          <a:p>
            <a:pPr>
              <a:lnSpc>
                <a:spcPct val="120000"/>
              </a:lnSpc>
            </a:pPr>
            <a:r>
              <a:rPr lang="es-CL" sz="1400" dirty="0">
                <a:latin typeface="Myriad Pro"/>
                <a:cs typeface="Myriad Pro"/>
              </a:rPr>
              <a:t>PROFESOR: Lissette Salamanca Mella.</a:t>
            </a:r>
          </a:p>
          <a:p>
            <a:pPr>
              <a:lnSpc>
                <a:spcPct val="120000"/>
              </a:lnSpc>
            </a:pPr>
            <a:r>
              <a:rPr lang="es-CL" sz="1400" dirty="0">
                <a:latin typeface="Myriad Pro"/>
                <a:cs typeface="Myriad Pro"/>
              </a:rPr>
              <a:t>FECHA: 17/11/2023</a:t>
            </a:r>
          </a:p>
        </p:txBody>
      </p:sp>
      <p:pic>
        <p:nvPicPr>
          <p:cNvPr id="18" name="Imagen 17" descr="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Tree>
    <p:extLst>
      <p:ext uri="{BB962C8B-B14F-4D97-AF65-F5344CB8AC3E}">
        <p14:creationId xmlns:p14="http://schemas.microsoft.com/office/powerpoint/2010/main" val="808890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B75DCB-C84C-C9CB-BD05-50E9DDB2C7DD}"/>
              </a:ext>
            </a:extLst>
          </p:cNvPr>
          <p:cNvSpPr>
            <a:spLocks noGrp="1"/>
          </p:cNvSpPr>
          <p:nvPr>
            <p:ph type="title"/>
          </p:nvPr>
        </p:nvSpPr>
        <p:spPr>
          <a:xfrm>
            <a:off x="757646" y="804520"/>
            <a:ext cx="7628708" cy="1049235"/>
          </a:xfrm>
        </p:spPr>
        <p:txBody>
          <a:bodyPr>
            <a:normAutofit/>
          </a:bodyPr>
          <a:lstStyle/>
          <a:p>
            <a:pPr algn="ctr"/>
            <a:r>
              <a:rPr lang="es-CL" sz="2800" b="1" dirty="0">
                <a:solidFill>
                  <a:srgbClr val="FF0000"/>
                </a:solidFill>
                <a:effectLst>
                  <a:outerShdw blurRad="38100" dist="38100" dir="2700000" algn="tl">
                    <a:srgbClr val="000000">
                      <a:alpha val="43137"/>
                    </a:srgbClr>
                  </a:outerShdw>
                </a:effectLst>
                <a:latin typeface="Myriad Pro"/>
              </a:rPr>
              <a:t>Problemática de frenos convencionales</a:t>
            </a:r>
          </a:p>
        </p:txBody>
      </p:sp>
      <p:sp>
        <p:nvSpPr>
          <p:cNvPr id="3" name="Marcador de contenido 2">
            <a:extLst>
              <a:ext uri="{FF2B5EF4-FFF2-40B4-BE49-F238E27FC236}">
                <a16:creationId xmlns:a16="http://schemas.microsoft.com/office/drawing/2014/main" id="{09A1F75E-C016-E26A-C40C-B7167C060605}"/>
              </a:ext>
            </a:extLst>
          </p:cNvPr>
          <p:cNvSpPr>
            <a:spLocks noGrp="1"/>
          </p:cNvSpPr>
          <p:nvPr>
            <p:ph idx="1"/>
          </p:nvPr>
        </p:nvSpPr>
        <p:spPr>
          <a:xfrm>
            <a:off x="757646" y="1853755"/>
            <a:ext cx="7537268" cy="3998405"/>
          </a:xfrm>
        </p:spPr>
        <p:txBody>
          <a:bodyPr>
            <a:normAutofit fontScale="92500" lnSpcReduction="10000"/>
          </a:bodyPr>
          <a:lstStyle/>
          <a:p>
            <a:pPr algn="just"/>
            <a:r>
              <a:rPr lang="es-CL" dirty="0"/>
              <a:t>Según los estudios realizado en la </a:t>
            </a:r>
            <a:r>
              <a:rPr lang="es-CL" b="1" dirty="0"/>
              <a:t>universidad cesar vallejo del Perú </a:t>
            </a:r>
            <a:r>
              <a:rPr lang="es-CL" dirty="0"/>
              <a:t>se determinó los parámetros del sistema de freno, tales como el desequilibrio, distancia de frenado, tiempo de frenado y velocidad del vehículo, finalmente el sistema de frenos convencional posee un defecto a la hora de necesitarlo en una emergencia, es más probable el bloqueo de ruedas, perdiendo el control parcial del vehículo y en el peor</a:t>
            </a:r>
            <a:r>
              <a:rPr lang="es-US" dirty="0"/>
              <a:t> de los</a:t>
            </a:r>
            <a:r>
              <a:rPr lang="es-CL" dirty="0"/>
              <a:t> caso</a:t>
            </a:r>
            <a:r>
              <a:rPr lang="es-US" dirty="0"/>
              <a:t>s</a:t>
            </a:r>
            <a:r>
              <a:rPr lang="es-CL" dirty="0"/>
              <a:t> perder</a:t>
            </a:r>
            <a:r>
              <a:rPr lang="es-US" dirty="0"/>
              <a:t> </a:t>
            </a:r>
            <a:r>
              <a:rPr lang="es-CL" dirty="0"/>
              <a:t>el control total causando un accidente automovilístico</a:t>
            </a:r>
            <a:r>
              <a:rPr lang="es-US" dirty="0"/>
              <a:t>.</a:t>
            </a:r>
          </a:p>
          <a:p>
            <a:pPr algn="just"/>
            <a:r>
              <a:rPr lang="es-US" dirty="0"/>
              <a:t>La causante de esto es que los frenos convencionales entregan una  presión de líquido controlada que se mantiene ejerciendo presión hasta que el conductor deje de presionar el pedal, en el caso de los ABS serian golpes alternados de presión mediante un controlador eléctrico. </a:t>
            </a:r>
            <a:endParaRPr lang="es-CL" dirty="0"/>
          </a:p>
        </p:txBody>
      </p:sp>
      <p:pic>
        <p:nvPicPr>
          <p:cNvPr id="4" name="Imagen 3" descr="Logo.png">
            <a:extLst>
              <a:ext uri="{FF2B5EF4-FFF2-40B4-BE49-F238E27FC236}">
                <a16:creationId xmlns:a16="http://schemas.microsoft.com/office/drawing/2014/main" id="{A84F4C82-3890-6C2B-F72C-9C8D03C9DD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Tree>
    <p:extLst>
      <p:ext uri="{BB962C8B-B14F-4D97-AF65-F5344CB8AC3E}">
        <p14:creationId xmlns:p14="http://schemas.microsoft.com/office/powerpoint/2010/main" val="2076942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title"/>
          </p:nvPr>
        </p:nvSpPr>
        <p:spPr>
          <a:xfrm>
            <a:off x="457200" y="888273"/>
            <a:ext cx="8229599" cy="783773"/>
          </a:xfrm>
        </p:spPr>
        <p:txBody>
          <a:bodyPr>
            <a:normAutofit/>
          </a:bodyPr>
          <a:lstStyle/>
          <a:p>
            <a:pPr algn="ctr"/>
            <a:r>
              <a:rPr lang="es-CL" sz="2800" b="1" dirty="0">
                <a:solidFill>
                  <a:srgbClr val="D40202"/>
                </a:solidFill>
                <a:effectLst>
                  <a:outerShdw blurRad="38100" dist="38100" dir="2700000" algn="tl">
                    <a:srgbClr val="000000">
                      <a:alpha val="43137"/>
                    </a:srgbClr>
                  </a:outerShdw>
                </a:effectLst>
                <a:latin typeface="Myriad Pro"/>
                <a:cs typeface="Myriad Pro"/>
              </a:rPr>
              <a:t>Tema de investigación</a:t>
            </a:r>
          </a:p>
        </p:txBody>
      </p:sp>
      <p:sp>
        <p:nvSpPr>
          <p:cNvPr id="4" name="Marcador de contenido 3">
            <a:extLst>
              <a:ext uri="{FF2B5EF4-FFF2-40B4-BE49-F238E27FC236}">
                <a16:creationId xmlns:a16="http://schemas.microsoft.com/office/drawing/2014/main" id="{784C5FD5-6725-1DE2-B6DF-B57EC17144B0}"/>
              </a:ext>
            </a:extLst>
          </p:cNvPr>
          <p:cNvSpPr>
            <a:spLocks noGrp="1"/>
          </p:cNvSpPr>
          <p:nvPr>
            <p:ph sz="half" idx="1"/>
          </p:nvPr>
        </p:nvSpPr>
        <p:spPr>
          <a:xfrm>
            <a:off x="666206" y="1870726"/>
            <a:ext cx="7876903" cy="4525963"/>
          </a:xfrm>
        </p:spPr>
        <p:txBody>
          <a:bodyPr/>
          <a:lstStyle/>
          <a:p>
            <a:pPr algn="just"/>
            <a:r>
              <a:rPr lang="es-CL" dirty="0"/>
              <a:t>En la institución existen personas</a:t>
            </a:r>
            <a:r>
              <a:rPr lang="es-US" dirty="0"/>
              <a:t> que tienen vehículos de uso personal y no saben de los peligros del sistema de freno convencional en casos de una emergencia, al circular por la ciudad, la distancia de frenado puede ser inmediata, al no ser el único conductor. Esto provocando un bloqueo de rueda provocando que el vehículo derrape perdiendo el control y colisionar con otro conductor. </a:t>
            </a:r>
          </a:p>
          <a:p>
            <a:pPr algn="just"/>
            <a:r>
              <a:rPr lang="es-US" dirty="0"/>
              <a:t>Ejemplo. Una camioneta transita a 60 km/h por una vía urbana, a una distancia de 15m aparece una vaca en el camino, el conductor reacciona pisando el pedal de freno fuertemente creando bloque de freno, para evitar colisionar con él animal el conductor gira el volante derrapando hasta finalmente chocar con un poste. </a:t>
            </a:r>
          </a:p>
        </p:txBody>
      </p:sp>
      <p:pic>
        <p:nvPicPr>
          <p:cNvPr id="18" name="Imagen 17" descr="Log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Tree>
    <p:extLst>
      <p:ext uri="{BB962C8B-B14F-4D97-AF65-F5344CB8AC3E}">
        <p14:creationId xmlns:p14="http://schemas.microsoft.com/office/powerpoint/2010/main" val="2557372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29D8E6-A0FB-86A2-FA86-965487F8D9FC}"/>
              </a:ext>
            </a:extLst>
          </p:cNvPr>
          <p:cNvSpPr>
            <a:spLocks noGrp="1"/>
          </p:cNvSpPr>
          <p:nvPr>
            <p:ph type="title"/>
          </p:nvPr>
        </p:nvSpPr>
        <p:spPr>
          <a:xfrm>
            <a:off x="457200" y="731836"/>
            <a:ext cx="8229600" cy="758925"/>
          </a:xfrm>
        </p:spPr>
        <p:txBody>
          <a:bodyPr>
            <a:normAutofit/>
          </a:bodyPr>
          <a:lstStyle/>
          <a:p>
            <a:pPr algn="ctr"/>
            <a:r>
              <a:rPr lang="es-CL" sz="2800" b="1" dirty="0">
                <a:solidFill>
                  <a:srgbClr val="FF0000"/>
                </a:solidFill>
                <a:effectLst>
                  <a:outerShdw blurRad="38100" dist="38100" dir="2700000" algn="tl">
                    <a:srgbClr val="000000">
                      <a:alpha val="43137"/>
                    </a:srgbClr>
                  </a:outerShdw>
                </a:effectLst>
              </a:rPr>
              <a:t>Sistema de freno ABS</a:t>
            </a:r>
          </a:p>
        </p:txBody>
      </p:sp>
      <p:sp>
        <p:nvSpPr>
          <p:cNvPr id="3" name="Marcador de contenido 2">
            <a:extLst>
              <a:ext uri="{FF2B5EF4-FFF2-40B4-BE49-F238E27FC236}">
                <a16:creationId xmlns:a16="http://schemas.microsoft.com/office/drawing/2014/main" id="{5451101F-DA4F-EF67-48EE-F8413C67AD39}"/>
              </a:ext>
            </a:extLst>
          </p:cNvPr>
          <p:cNvSpPr>
            <a:spLocks noGrp="1"/>
          </p:cNvSpPr>
          <p:nvPr>
            <p:ph sz="half" idx="1"/>
          </p:nvPr>
        </p:nvSpPr>
        <p:spPr>
          <a:xfrm>
            <a:off x="457200" y="1894114"/>
            <a:ext cx="8229600" cy="4481694"/>
          </a:xfrm>
        </p:spPr>
        <p:txBody>
          <a:bodyPr/>
          <a:lstStyle/>
          <a:p>
            <a:pPr algn="just"/>
            <a:r>
              <a:rPr lang="es-MX" dirty="0"/>
              <a:t>¿Qué es el sistema de freno ABS?  </a:t>
            </a:r>
          </a:p>
          <a:p>
            <a:pPr algn="just"/>
            <a:r>
              <a:rPr lang="es-MX" dirty="0"/>
              <a:t>¿Qué Función Cumple El Sistema de freno ABS? </a:t>
            </a:r>
          </a:p>
          <a:p>
            <a:pPr algn="just"/>
            <a:r>
              <a:rPr lang="es-MX" dirty="0"/>
              <a:t>¿Qué beneficio tiene el uso del sistema de freno ABS? </a:t>
            </a:r>
          </a:p>
          <a:p>
            <a:pPr algn="just"/>
            <a:r>
              <a:rPr lang="es-MX" dirty="0"/>
              <a:t>¿Qué efectividad tiene el sistema ABS?</a:t>
            </a:r>
          </a:p>
          <a:p>
            <a:pPr algn="just"/>
            <a:r>
              <a:rPr lang="es-MX" dirty="0"/>
              <a:t>¿Cuál es la diferencia de porcentaje de accidentes sin/con sistema de freno ABS?</a:t>
            </a:r>
            <a:endParaRPr lang="es-CL" dirty="0"/>
          </a:p>
        </p:txBody>
      </p:sp>
      <p:pic>
        <p:nvPicPr>
          <p:cNvPr id="4" name="Imagen 3" descr="Logo.png">
            <a:extLst>
              <a:ext uri="{FF2B5EF4-FFF2-40B4-BE49-F238E27FC236}">
                <a16:creationId xmlns:a16="http://schemas.microsoft.com/office/drawing/2014/main" id="{5ACAB239-C676-02BB-DB66-D6C49B665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Tree>
    <p:extLst>
      <p:ext uri="{BB962C8B-B14F-4D97-AF65-F5344CB8AC3E}">
        <p14:creationId xmlns:p14="http://schemas.microsoft.com/office/powerpoint/2010/main" val="2825147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F5F077-473F-CACD-7394-691B787A0422}"/>
              </a:ext>
            </a:extLst>
          </p:cNvPr>
          <p:cNvSpPr>
            <a:spLocks noGrp="1"/>
          </p:cNvSpPr>
          <p:nvPr>
            <p:ph type="title"/>
          </p:nvPr>
        </p:nvSpPr>
        <p:spPr/>
        <p:txBody>
          <a:bodyPr>
            <a:normAutofit/>
          </a:bodyPr>
          <a:lstStyle/>
          <a:p>
            <a:pPr algn="ctr"/>
            <a:r>
              <a:rPr lang="es-CL" sz="2800" b="1" dirty="0">
                <a:solidFill>
                  <a:srgbClr val="FF0000"/>
                </a:solidFill>
                <a:effectLst>
                  <a:outerShdw blurRad="38100" dist="38100" dir="2700000" algn="tl">
                    <a:srgbClr val="000000">
                      <a:alpha val="43137"/>
                    </a:srgbClr>
                  </a:outerShdw>
                </a:effectLst>
                <a:latin typeface="Myriad Pro"/>
              </a:rPr>
              <a:t>Prevención de riesgos</a:t>
            </a:r>
          </a:p>
        </p:txBody>
      </p:sp>
      <p:sp>
        <p:nvSpPr>
          <p:cNvPr id="3" name="Marcador de contenido 2">
            <a:extLst>
              <a:ext uri="{FF2B5EF4-FFF2-40B4-BE49-F238E27FC236}">
                <a16:creationId xmlns:a16="http://schemas.microsoft.com/office/drawing/2014/main" id="{6EF7C608-C020-318D-631E-F2CBC138DFC5}"/>
              </a:ext>
            </a:extLst>
          </p:cNvPr>
          <p:cNvSpPr>
            <a:spLocks noGrp="1"/>
          </p:cNvSpPr>
          <p:nvPr>
            <p:ph sz="half" idx="1"/>
          </p:nvPr>
        </p:nvSpPr>
        <p:spPr>
          <a:xfrm>
            <a:off x="457200" y="1972491"/>
            <a:ext cx="8229600" cy="4153672"/>
          </a:xfrm>
        </p:spPr>
        <p:txBody>
          <a:bodyPr/>
          <a:lstStyle/>
          <a:p>
            <a:pPr algn="just"/>
            <a:r>
              <a:rPr lang="es-CL" dirty="0"/>
              <a:t>Debido a que la tasa de fallecidos por cada 100.000 habitantes a nivel nacional es de 7,63% se estima que al tener un sistema convencional de frenos tiene un riesgo al utilizarlos en una emergencia o al reducir la velocidad con anticipación ya que al no tener un sistema de frenos ABS, las ruedas solo se bloquean perdiendo así toda su adherencia.</a:t>
            </a:r>
          </a:p>
        </p:txBody>
      </p:sp>
      <p:pic>
        <p:nvPicPr>
          <p:cNvPr id="4" name="Imagen 3" descr="Logo.png">
            <a:extLst>
              <a:ext uri="{FF2B5EF4-FFF2-40B4-BE49-F238E27FC236}">
                <a16:creationId xmlns:a16="http://schemas.microsoft.com/office/drawing/2014/main" id="{32CE1C65-86CA-718A-D467-6F061C62D2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Tree>
    <p:extLst>
      <p:ext uri="{BB962C8B-B14F-4D97-AF65-F5344CB8AC3E}">
        <p14:creationId xmlns:p14="http://schemas.microsoft.com/office/powerpoint/2010/main" val="1729411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1246327456"/>
              </p:ext>
            </p:extLst>
          </p:nvPr>
        </p:nvGraphicFramePr>
        <p:xfrm>
          <a:off x="457200" y="1396721"/>
          <a:ext cx="8229600" cy="4226839"/>
        </p:xfrm>
        <a:graphic>
          <a:graphicData uri="http://schemas.openxmlformats.org/drawingml/2006/table">
            <a:tbl>
              <a:tblPr firstRow="1" bandRow="1">
                <a:tableStyleId>{F5AB1C69-6EDB-4FF4-983F-18BD219EF322}</a:tableStyleId>
              </a:tblPr>
              <a:tblGrid>
                <a:gridCol w="1645920">
                  <a:extLst>
                    <a:ext uri="{9D8B030D-6E8A-4147-A177-3AD203B41FA5}">
                      <a16:colId xmlns:a16="http://schemas.microsoft.com/office/drawing/2014/main" val="1329325943"/>
                    </a:ext>
                  </a:extLst>
                </a:gridCol>
                <a:gridCol w="1645920">
                  <a:extLst>
                    <a:ext uri="{9D8B030D-6E8A-4147-A177-3AD203B41FA5}">
                      <a16:colId xmlns:a16="http://schemas.microsoft.com/office/drawing/2014/main" val="3116200825"/>
                    </a:ext>
                  </a:extLst>
                </a:gridCol>
                <a:gridCol w="1645920">
                  <a:extLst>
                    <a:ext uri="{9D8B030D-6E8A-4147-A177-3AD203B41FA5}">
                      <a16:colId xmlns:a16="http://schemas.microsoft.com/office/drawing/2014/main" val="4213079872"/>
                    </a:ext>
                  </a:extLst>
                </a:gridCol>
                <a:gridCol w="1645920">
                  <a:extLst>
                    <a:ext uri="{9D8B030D-6E8A-4147-A177-3AD203B41FA5}">
                      <a16:colId xmlns:a16="http://schemas.microsoft.com/office/drawing/2014/main" val="3778058075"/>
                    </a:ext>
                  </a:extLst>
                </a:gridCol>
                <a:gridCol w="1645920">
                  <a:extLst>
                    <a:ext uri="{9D8B030D-6E8A-4147-A177-3AD203B41FA5}">
                      <a16:colId xmlns:a16="http://schemas.microsoft.com/office/drawing/2014/main" val="2030793526"/>
                    </a:ext>
                  </a:extLst>
                </a:gridCol>
              </a:tblGrid>
              <a:tr h="1248839">
                <a:tc>
                  <a:txBody>
                    <a:bodyPr/>
                    <a:lstStyle/>
                    <a:p>
                      <a:r>
                        <a:rPr lang="es-CL" baseline="0" dirty="0"/>
                        <a:t>TAREAS</a:t>
                      </a:r>
                    </a:p>
                    <a:p>
                      <a:r>
                        <a:rPr lang="es-CL" baseline="0" dirty="0"/>
                        <a:t>¿Qué haremos?</a:t>
                      </a:r>
                      <a:endParaRPr lang="es-CL" dirty="0"/>
                    </a:p>
                  </a:txBody>
                  <a:tcPr/>
                </a:tc>
                <a:tc>
                  <a:txBody>
                    <a:bodyPr/>
                    <a:lstStyle/>
                    <a:p>
                      <a:r>
                        <a:rPr lang="es-CL" dirty="0"/>
                        <a:t>PRODUCTO</a:t>
                      </a:r>
                    </a:p>
                    <a:p>
                      <a:r>
                        <a:rPr lang="es-CL" dirty="0"/>
                        <a:t>¿Qué</a:t>
                      </a:r>
                      <a:r>
                        <a:rPr lang="es-CL" baseline="0" dirty="0"/>
                        <a:t> resultados obtendremos?</a:t>
                      </a:r>
                      <a:endParaRPr lang="es-CL" dirty="0"/>
                    </a:p>
                  </a:txBody>
                  <a:tcPr/>
                </a:tc>
                <a:tc>
                  <a:txBody>
                    <a:bodyPr/>
                    <a:lstStyle/>
                    <a:p>
                      <a:r>
                        <a:rPr lang="es-CL" dirty="0"/>
                        <a:t>PLAZOS</a:t>
                      </a:r>
                    </a:p>
                    <a:p>
                      <a:r>
                        <a:rPr lang="es-CL" dirty="0"/>
                        <a:t>¿Para</a:t>
                      </a:r>
                      <a:r>
                        <a:rPr lang="es-CL" baseline="0" dirty="0"/>
                        <a:t> cuándo estará hecho?</a:t>
                      </a:r>
                      <a:endParaRPr lang="es-CL" dirty="0"/>
                    </a:p>
                  </a:txBody>
                  <a:tcPr/>
                </a:tc>
                <a:tc>
                  <a:txBody>
                    <a:bodyPr/>
                    <a:lstStyle/>
                    <a:p>
                      <a:r>
                        <a:rPr lang="es-CL" dirty="0"/>
                        <a:t>RESPONSABLES</a:t>
                      </a:r>
                    </a:p>
                    <a:p>
                      <a:r>
                        <a:rPr lang="es-CL" dirty="0"/>
                        <a:t>¿Quiénes lo harán?</a:t>
                      </a:r>
                    </a:p>
                  </a:txBody>
                  <a:tcPr/>
                </a:tc>
                <a:tc>
                  <a:txBody>
                    <a:bodyPr/>
                    <a:lstStyle/>
                    <a:p>
                      <a:r>
                        <a:rPr lang="es-CL" dirty="0"/>
                        <a:t>INSUMOS</a:t>
                      </a:r>
                    </a:p>
                    <a:p>
                      <a:r>
                        <a:rPr lang="es-CL" dirty="0"/>
                        <a:t>¿Qué necesitaremos para hacerlo</a:t>
                      </a:r>
                      <a:r>
                        <a:rPr lang="es-CL" baseline="0" dirty="0"/>
                        <a:t>?</a:t>
                      </a:r>
                      <a:endParaRPr lang="es-CL" dirty="0"/>
                    </a:p>
                  </a:txBody>
                  <a:tcPr/>
                </a:tc>
                <a:extLst>
                  <a:ext uri="{0D108BD9-81ED-4DB2-BD59-A6C34878D82A}">
                    <a16:rowId xmlns:a16="http://schemas.microsoft.com/office/drawing/2014/main" val="1758734557"/>
                  </a:ext>
                </a:extLst>
              </a:tr>
              <a:tr h="2978000">
                <a:tc>
                  <a:txBody>
                    <a:bodyPr/>
                    <a:lstStyle/>
                    <a:p>
                      <a:r>
                        <a:rPr lang="es-CL" dirty="0"/>
                        <a:t>Realizaremos</a:t>
                      </a:r>
                      <a:r>
                        <a:rPr lang="es-CL" baseline="0" dirty="0"/>
                        <a:t> una encuesta a las personas del establecimiento.</a:t>
                      </a:r>
                      <a:endParaRPr lang="es-CL" dirty="0"/>
                    </a:p>
                  </a:txBody>
                  <a:tcPr/>
                </a:tc>
                <a:tc>
                  <a:txBody>
                    <a:bodyPr/>
                    <a:lstStyle/>
                    <a:p>
                      <a:r>
                        <a:rPr lang="es-CL" dirty="0"/>
                        <a:t>Obtendremos datos que</a:t>
                      </a:r>
                      <a:r>
                        <a:rPr lang="es-CL" baseline="0" dirty="0"/>
                        <a:t> revelan si los usuarios de autos tienen algún conocimiento de sus frenos y que tan seguros son.</a:t>
                      </a:r>
                      <a:endParaRPr lang="es-CL" dirty="0"/>
                    </a:p>
                  </a:txBody>
                  <a:tcPr/>
                </a:tc>
                <a:tc>
                  <a:txBody>
                    <a:bodyPr/>
                    <a:lstStyle/>
                    <a:p>
                      <a:r>
                        <a:rPr lang="es-CL" dirty="0"/>
                        <a:t>El plazo de</a:t>
                      </a:r>
                      <a:r>
                        <a:rPr lang="es-CL" baseline="0" dirty="0"/>
                        <a:t> la realización de la encuesta va a ser durante unos días en determinados momentos.</a:t>
                      </a:r>
                      <a:endParaRPr lang="es-CL" dirty="0"/>
                    </a:p>
                  </a:txBody>
                  <a:tcPr/>
                </a:tc>
                <a:tc>
                  <a:txBody>
                    <a:bodyPr/>
                    <a:lstStyle/>
                    <a:p>
                      <a:r>
                        <a:rPr lang="es-CL" dirty="0"/>
                        <a:t>Un</a:t>
                      </a:r>
                      <a:r>
                        <a:rPr lang="es-CL" baseline="0" dirty="0"/>
                        <a:t> equipo de estudiantes del área de mecánica serán los responsables de realizar la encuesta.</a:t>
                      </a:r>
                      <a:endParaRPr lang="es-CL" dirty="0"/>
                    </a:p>
                  </a:txBody>
                  <a:tcPr/>
                </a:tc>
                <a:tc>
                  <a:txBody>
                    <a:bodyPr/>
                    <a:lstStyle/>
                    <a:p>
                      <a:r>
                        <a:rPr lang="es-CL" dirty="0"/>
                        <a:t>Para la realización de las encuestas</a:t>
                      </a:r>
                      <a:r>
                        <a:rPr lang="es-CL" baseline="0" dirty="0"/>
                        <a:t> necesitaremos una rubrica los cuales serán de ayuda a la hora de comparar los datos.</a:t>
                      </a:r>
                      <a:endParaRPr lang="es-CL" dirty="0"/>
                    </a:p>
                  </a:txBody>
                  <a:tcPr/>
                </a:tc>
                <a:extLst>
                  <a:ext uri="{0D108BD9-81ED-4DB2-BD59-A6C34878D82A}">
                    <a16:rowId xmlns:a16="http://schemas.microsoft.com/office/drawing/2014/main" val="3722704002"/>
                  </a:ext>
                </a:extLst>
              </a:tr>
            </a:tbl>
          </a:graphicData>
        </a:graphic>
      </p:graphicFrame>
      <p:pic>
        <p:nvPicPr>
          <p:cNvPr id="3" name="Imagen 2" descr="Logo.png">
            <a:extLst>
              <a:ext uri="{FF2B5EF4-FFF2-40B4-BE49-F238E27FC236}">
                <a16:creationId xmlns:a16="http://schemas.microsoft.com/office/drawing/2014/main" id="{8C024D7E-EAE4-5C6B-CCB6-F426F731D8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
        <p:nvSpPr>
          <p:cNvPr id="2" name="CuadroTexto 1">
            <a:extLst>
              <a:ext uri="{FF2B5EF4-FFF2-40B4-BE49-F238E27FC236}">
                <a16:creationId xmlns:a16="http://schemas.microsoft.com/office/drawing/2014/main" id="{ADD30EB1-9E15-1E73-E0CF-DF55324EA5CC}"/>
              </a:ext>
            </a:extLst>
          </p:cNvPr>
          <p:cNvSpPr txBox="1"/>
          <p:nvPr/>
        </p:nvSpPr>
        <p:spPr>
          <a:xfrm>
            <a:off x="457200" y="587829"/>
            <a:ext cx="8229600" cy="523220"/>
          </a:xfrm>
          <a:prstGeom prst="rect">
            <a:avLst/>
          </a:prstGeom>
          <a:noFill/>
        </p:spPr>
        <p:txBody>
          <a:bodyPr wrap="square" rtlCol="0">
            <a:spAutoFit/>
          </a:bodyPr>
          <a:lstStyle/>
          <a:p>
            <a:pPr algn="ctr"/>
            <a:r>
              <a:rPr lang="es-ES" sz="2800" b="1" dirty="0">
                <a:solidFill>
                  <a:srgbClr val="FF0000"/>
                </a:solidFill>
                <a:effectLst>
                  <a:outerShdw blurRad="38100" dist="38100" dir="2700000" algn="tl">
                    <a:srgbClr val="000000">
                      <a:alpha val="43137"/>
                    </a:srgbClr>
                  </a:outerShdw>
                </a:effectLst>
                <a:latin typeface="Myriad Pro"/>
              </a:rPr>
              <a:t>cronograma</a:t>
            </a:r>
            <a:endParaRPr lang="es-CL" sz="2800" b="1" dirty="0">
              <a:solidFill>
                <a:srgbClr val="FF0000"/>
              </a:solidFill>
              <a:effectLst>
                <a:outerShdw blurRad="38100" dist="38100" dir="2700000" algn="tl">
                  <a:srgbClr val="000000">
                    <a:alpha val="43137"/>
                  </a:srgbClr>
                </a:outerShdw>
              </a:effectLst>
              <a:latin typeface="Myriad Pro"/>
            </a:endParaRPr>
          </a:p>
        </p:txBody>
      </p:sp>
    </p:spTree>
    <p:extLst>
      <p:ext uri="{BB962C8B-B14F-4D97-AF65-F5344CB8AC3E}">
        <p14:creationId xmlns:p14="http://schemas.microsoft.com/office/powerpoint/2010/main" val="4034967755"/>
      </p:ext>
    </p:extLst>
  </p:cSld>
  <p:clrMapOvr>
    <a:masterClrMapping/>
  </p:clrMapOvr>
</p:sld>
</file>

<file path=ppt/theme/theme1.xml><?xml version="1.0" encoding="utf-8"?>
<a:theme xmlns:a="http://schemas.openxmlformats.org/drawingml/2006/main" name="Galería">
  <a:themeElements>
    <a:clrScheme name="Galería">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ía">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518</TotalTime>
  <Words>563</Words>
  <Application>Microsoft Office PowerPoint</Application>
  <PresentationFormat>Presentación en pantalla (4:3)</PresentationFormat>
  <Paragraphs>38</Paragraphs>
  <Slides>6</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6</vt:i4>
      </vt:variant>
    </vt:vector>
  </HeadingPairs>
  <TitlesOfParts>
    <vt:vector size="12" baseType="lpstr">
      <vt:lpstr>Arial</vt:lpstr>
      <vt:lpstr>Calibri</vt:lpstr>
      <vt:lpstr>Gill Sans MT</vt:lpstr>
      <vt:lpstr>Myriad Pro</vt:lpstr>
      <vt:lpstr>Myriad Pro Light</vt:lpstr>
      <vt:lpstr>Galería</vt:lpstr>
      <vt:lpstr> sistema de freno</vt:lpstr>
      <vt:lpstr>Problemática de frenos convencionales</vt:lpstr>
      <vt:lpstr>Tema de investigación</vt:lpstr>
      <vt:lpstr>Sistema de freno ABS</vt:lpstr>
      <vt:lpstr>Prevención de riesgos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de la Presentación</dc:title>
  <dc:creator>agencia</dc:creator>
  <cp:lastModifiedBy>joaquin merino</cp:lastModifiedBy>
  <cp:revision>24</cp:revision>
  <dcterms:created xsi:type="dcterms:W3CDTF">2015-06-26T15:52:47Z</dcterms:created>
  <dcterms:modified xsi:type="dcterms:W3CDTF">2023-11-18T02:41:56Z</dcterms:modified>
</cp:coreProperties>
</file>