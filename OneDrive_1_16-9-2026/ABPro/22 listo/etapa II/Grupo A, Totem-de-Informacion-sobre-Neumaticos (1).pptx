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comments/comment1.xml" ContentType="application/vnd.openxmlformats-officedocument.presentationml.comments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comments/comment2.xml" ContentType="application/vnd.openxmlformats-officedocument.presentationml.comments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comments/comment3.xml" ContentType="application/vnd.openxmlformats-officedocument.presentationml.comments+xml"/>
  <Override PartName="/ppt/notesSlides/notesSlide8.xml" ContentType="application/vnd.openxmlformats-officedocument.presentationml.notesSlide+xml"/>
  <Override PartName="/ppt/comments/comment4.xml" ContentType="application/vnd.openxmlformats-officedocument.presentationml.comment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60" r:id="rId5"/>
    <p:sldId id="261" r:id="rId6"/>
    <p:sldId id="262" r:id="rId7"/>
    <p:sldId id="263" r:id="rId8"/>
    <p:sldId id="265" r:id="rId9"/>
    <p:sldId id="266" r:id="rId10"/>
    <p:sldId id="267" r:id="rId11"/>
  </p:sldIdLst>
  <p:sldSz cx="14630400" cy="8229600"/>
  <p:notesSz cx="8229600" cy="146304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LISSETTE ANDREA SALAMANCA MELLA" initials="LASM" lastIdx="5" clrIdx="0">
    <p:extLst>
      <p:ext uri="{19B8F6BF-5375-455C-9EA6-DF929625EA0E}">
        <p15:presenceInfo xmlns:p15="http://schemas.microsoft.com/office/powerpoint/2012/main" userId="S::lissette.salamanca@inacapmail.cl::e8cae1b9-6bd0-45e5-8679-6c0a2293f1a4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464" autoAdjust="0"/>
    <p:restoredTop sz="94610"/>
  </p:normalViewPr>
  <p:slideViewPr>
    <p:cSldViewPr snapToGrid="0" snapToObjects="1">
      <p:cViewPr varScale="1">
        <p:scale>
          <a:sx n="67" d="100"/>
          <a:sy n="67" d="100"/>
        </p:scale>
        <p:origin x="216" y="82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commentAuthors" Target="commentAuthor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comments/comment1.xml><?xml version="1.0" encoding="utf-8"?>
<p:cmLst xmlns:a="http://schemas.openxmlformats.org/drawingml/2006/main" xmlns:r="http://schemas.openxmlformats.org/officeDocument/2006/relationships" xmlns:p="http://schemas.openxmlformats.org/presentationml/2006/main">
  <p:cm authorId="1" dt="2023-12-13T14:50:49.977" idx="1">
    <p:pos x="8719" y="1850"/>
    <p:text>mejorar redacción</p:text>
    <p:extLst>
      <p:ext uri="{C676402C-5697-4E1C-873F-D02D1690AC5C}">
        <p15:threadingInfo xmlns:p15="http://schemas.microsoft.com/office/powerpoint/2012/main" timeZoneBias="180"/>
      </p:ext>
    </p:extLst>
  </p:cm>
</p:cmLst>
</file>

<file path=ppt/comments/comment2.xml><?xml version="1.0" encoding="utf-8"?>
<p:cmLst xmlns:a="http://schemas.openxmlformats.org/drawingml/2006/main" xmlns:r="http://schemas.openxmlformats.org/officeDocument/2006/relationships" xmlns:p="http://schemas.openxmlformats.org/presentationml/2006/main">
  <p:cm authorId="1" dt="2023-12-13T14:51:10.494" idx="2">
    <p:pos x="10" y="10"/>
    <p:text>usar APA para el pie de imagen</p:text>
    <p:extLst>
      <p:ext uri="{C676402C-5697-4E1C-873F-D02D1690AC5C}">
        <p15:threadingInfo xmlns:p15="http://schemas.microsoft.com/office/powerpoint/2012/main" timeZoneBias="180"/>
      </p:ext>
    </p:extLst>
  </p:cm>
</p:cmLst>
</file>

<file path=ppt/comments/comment3.xml><?xml version="1.0" encoding="utf-8"?>
<p:cmLst xmlns:a="http://schemas.openxmlformats.org/drawingml/2006/main" xmlns:r="http://schemas.openxmlformats.org/officeDocument/2006/relationships" xmlns:p="http://schemas.openxmlformats.org/presentationml/2006/main">
  <p:cm authorId="1" dt="2023-12-13T14:51:54.167" idx="3">
    <p:pos x="10" y="10"/>
    <p:text>no queda claro el tema di nvestigación</p:text>
    <p:extLst>
      <p:ext uri="{C676402C-5697-4E1C-873F-D02D1690AC5C}">
        <p15:threadingInfo xmlns:p15="http://schemas.microsoft.com/office/powerpoint/2012/main" timeZoneBias="180"/>
      </p:ext>
    </p:extLst>
  </p:cm>
  <p:cm authorId="1" dt="2023-12-13T14:52:21.421" idx="4">
    <p:pos x="10" y="106"/>
    <p:text>antes de tomar la encuesta la debe validar</p:text>
    <p:extLst>
      <p:ext uri="{C676402C-5697-4E1C-873F-D02D1690AC5C}">
        <p15:threadingInfo xmlns:p15="http://schemas.microsoft.com/office/powerpoint/2012/main" timeZoneBias="180">
          <p15:parentCm authorId="1" idx="3"/>
        </p15:threadingInfo>
      </p:ext>
    </p:extLst>
  </p:cm>
</p:cmLst>
</file>

<file path=ppt/comments/comment4.xml><?xml version="1.0" encoding="utf-8"?>
<p:cmLst xmlns:a="http://schemas.openxmlformats.org/drawingml/2006/main" xmlns:r="http://schemas.openxmlformats.org/officeDocument/2006/relationships" xmlns:p="http://schemas.openxmlformats.org/presentationml/2006/main">
  <p:cm authorId="1" dt="2023-12-13T14:52:48.576" idx="5">
    <p:pos x="10" y="10"/>
    <p:text>falta agregar cálculos asociados </p:text>
    <p:extLst>
      <p:ext uri="{C676402C-5697-4E1C-873F-D02D1690AC5C}">
        <p15:threadingInfo xmlns:p15="http://schemas.microsoft.com/office/powerpoint/2012/main" timeZoneBias="180"/>
      </p:ext>
    </p:extLst>
  </p:cm>
</p:cmLst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48581333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.png"/><Relationship Id="rId5" Type="http://schemas.openxmlformats.org/officeDocument/2006/relationships/hyperlink" Target="https://gamma.app" TargetMode="Externa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comments" Target="../comments/comment1.xm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.png"/><Relationship Id="rId5" Type="http://schemas.openxmlformats.org/officeDocument/2006/relationships/hyperlink" Target="https://gamma.app" TargetMode="External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hyperlink" Target="https://gamma.app" TargetMode="Externa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comments" Target="../comments/comment2.xm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.png"/><Relationship Id="rId5" Type="http://schemas.openxmlformats.org/officeDocument/2006/relationships/hyperlink" Target="https://gamma.app" TargetMode="External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.png"/><Relationship Id="rId5" Type="http://schemas.openxmlformats.org/officeDocument/2006/relationships/hyperlink" Target="https://gamma.app" TargetMode="External"/><Relationship Id="rId4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.png"/><Relationship Id="rId5" Type="http://schemas.openxmlformats.org/officeDocument/2006/relationships/hyperlink" Target="https://gamma.app" TargetMode="External"/><Relationship Id="rId4" Type="http://schemas.openxmlformats.org/officeDocument/2006/relationships/image" Target="../media/image7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comments" Target="../comments/comment3.xml"/><Relationship Id="rId3" Type="http://schemas.openxmlformats.org/officeDocument/2006/relationships/image" Target="../media/image1.png"/><Relationship Id="rId7" Type="http://schemas.openxmlformats.org/officeDocument/2006/relationships/image" Target="../media/image9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.png"/><Relationship Id="rId5" Type="http://schemas.openxmlformats.org/officeDocument/2006/relationships/image" Target="../media/image3.png"/><Relationship Id="rId4" Type="http://schemas.openxmlformats.org/officeDocument/2006/relationships/hyperlink" Target="https://gamma.app" TargetMode="Externa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1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.png"/><Relationship Id="rId5" Type="http://schemas.openxmlformats.org/officeDocument/2006/relationships/hyperlink" Target="https://gamma.app" TargetMode="External"/><Relationship Id="rId4" Type="http://schemas.openxmlformats.org/officeDocument/2006/relationships/image" Target="../media/image10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comments" Target="../comments/comment4.xm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C0C0C">
              <a:alpha val="75000"/>
            </a:srgbClr>
          </a:solidFill>
          <a:ln w="13811">
            <a:solidFill>
              <a:srgbClr val="FFFFFF">
                <a:alpha val="16000"/>
              </a:srgbClr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pic>
        <p:nvPicPr>
          <p:cNvPr id="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833199" y="2029301"/>
            <a:ext cx="7477601" cy="1666399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6561"/>
              </a:lnSpc>
              <a:buNone/>
            </a:pPr>
            <a:r>
              <a:rPr lang="en-US" sz="5249" dirty="0">
                <a:solidFill>
                  <a:srgbClr val="FFFFFF"/>
                </a:solidFill>
                <a:latin typeface="Barlow, sans-serif" pitchFamily="34" charset="0"/>
                <a:ea typeface="Barlow, sans-serif" pitchFamily="34" charset="-122"/>
                <a:cs typeface="Barlow, sans-serif" pitchFamily="34" charset="-120"/>
              </a:rPr>
              <a:t>Totem de Información sobre Neumáticos</a:t>
            </a:r>
            <a:endParaRPr lang="en-US" sz="5249" dirty="0"/>
          </a:p>
        </p:txBody>
      </p:sp>
      <p:sp>
        <p:nvSpPr>
          <p:cNvPr id="6" name="Text 2"/>
          <p:cNvSpPr/>
          <p:nvPr/>
        </p:nvSpPr>
        <p:spPr>
          <a:xfrm>
            <a:off x="833199" y="4028956"/>
            <a:ext cx="7477601" cy="355402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marL="0" indent="0">
              <a:lnSpc>
                <a:spcPts val="2799"/>
              </a:lnSpc>
              <a:buNone/>
            </a:pPr>
            <a:r>
              <a:rPr lang="en-US" sz="1750" dirty="0">
                <a:solidFill>
                  <a:srgbClr val="E5E0D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Nombres: Joacin Ferrada, Daniel Sandoval, Angelo Lavin, Bastian Guzman</a:t>
            </a:r>
            <a:endParaRPr lang="en-US" sz="1750" dirty="0"/>
          </a:p>
        </p:txBody>
      </p:sp>
      <p:sp>
        <p:nvSpPr>
          <p:cNvPr id="7" name="Text 3"/>
          <p:cNvSpPr/>
          <p:nvPr/>
        </p:nvSpPr>
        <p:spPr>
          <a:xfrm>
            <a:off x="833199" y="4634270"/>
            <a:ext cx="7477601" cy="355402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marL="0" indent="0">
              <a:lnSpc>
                <a:spcPts val="2799"/>
              </a:lnSpc>
              <a:buNone/>
            </a:pPr>
            <a:r>
              <a:rPr lang="en-US" sz="1750" dirty="0">
                <a:solidFill>
                  <a:srgbClr val="E5E0D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Docente: Lisette Salamanca </a:t>
            </a:r>
            <a:endParaRPr lang="en-US" sz="1750" dirty="0"/>
          </a:p>
        </p:txBody>
      </p:sp>
      <p:sp>
        <p:nvSpPr>
          <p:cNvPr id="8" name="Text 4"/>
          <p:cNvSpPr/>
          <p:nvPr/>
        </p:nvSpPr>
        <p:spPr>
          <a:xfrm>
            <a:off x="833199" y="5239583"/>
            <a:ext cx="7477601" cy="355402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marL="0" indent="0">
              <a:lnSpc>
                <a:spcPts val="2799"/>
              </a:lnSpc>
              <a:buNone/>
            </a:pPr>
            <a:r>
              <a:rPr lang="en-US" sz="1750" dirty="0">
                <a:solidFill>
                  <a:srgbClr val="E5E0D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Asignatura: Funciones y Geometría</a:t>
            </a:r>
            <a:endParaRPr lang="en-US" sz="1750" dirty="0"/>
          </a:p>
        </p:txBody>
      </p:sp>
      <p:sp>
        <p:nvSpPr>
          <p:cNvPr id="9" name="Text 5"/>
          <p:cNvSpPr/>
          <p:nvPr/>
        </p:nvSpPr>
        <p:spPr>
          <a:xfrm>
            <a:off x="833199" y="5844897"/>
            <a:ext cx="7477601" cy="355402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marL="0" indent="0">
              <a:lnSpc>
                <a:spcPts val="2799"/>
              </a:lnSpc>
              <a:buNone/>
            </a:pPr>
            <a:r>
              <a:rPr lang="en-US" sz="1750" dirty="0">
                <a:solidFill>
                  <a:srgbClr val="E5E0D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Carrera: Mecánica automotriz y Electromovilidad </a:t>
            </a:r>
            <a:endParaRPr lang="en-US" sz="1750" dirty="0"/>
          </a:p>
        </p:txBody>
      </p:sp>
      <p:pic>
        <p:nvPicPr>
          <p:cNvPr id="10" name="Image 2" descr="preencoded.png">
            <a:hlinkClick r:id="rId5"/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2242153" y="7589520"/>
            <a:ext cx="2296807" cy="54864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121922"/>
            <a:ext cx="14630400" cy="8229600"/>
          </a:xfrm>
          <a:prstGeom prst="rect">
            <a:avLst/>
          </a:prstGeom>
          <a:solidFill>
            <a:srgbClr val="0C0C0C">
              <a:alpha val="75000"/>
            </a:srgbClr>
          </a:solidFill>
          <a:ln w="13811">
            <a:solidFill>
              <a:srgbClr val="FFFFFF">
                <a:alpha val="16000"/>
              </a:srgbClr>
            </a:solidFill>
            <a:prstDash val="solid"/>
          </a:ln>
        </p:spPr>
        <p:txBody>
          <a:bodyPr/>
          <a:lstStyle/>
          <a:p>
            <a:endParaRPr lang="es-CL" dirty="0"/>
          </a:p>
        </p:txBody>
      </p:sp>
      <p:pic>
        <p:nvPicPr>
          <p:cNvPr id="7" name="Image 1" descr="preencoded.png">
            <a:extLst>
              <a:ext uri="{FF2B5EF4-FFF2-40B4-BE49-F238E27FC236}">
                <a16:creationId xmlns:a16="http://schemas.microsoft.com/office/drawing/2014/main" id="{6BD32324-5AFC-AB38-8E2B-D7B0ADE02AB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-118824" y="60961"/>
            <a:ext cx="5486400" cy="82296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486400" y="1293938"/>
            <a:ext cx="9381649" cy="1388745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5468"/>
              </a:lnSpc>
              <a:buNone/>
            </a:pPr>
            <a:r>
              <a:rPr lang="en-US" sz="4374" b="1" dirty="0">
                <a:solidFill>
                  <a:srgbClr val="FFFFF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¿Neumáticos y el conocimiento de los usuarios a este?</a:t>
            </a:r>
            <a:endParaRPr lang="en-US" sz="4374" dirty="0"/>
          </a:p>
        </p:txBody>
      </p:sp>
      <p:sp>
        <p:nvSpPr>
          <p:cNvPr id="5" name="Text 2"/>
          <p:cNvSpPr/>
          <p:nvPr/>
        </p:nvSpPr>
        <p:spPr>
          <a:xfrm>
            <a:off x="5308164" y="3048595"/>
            <a:ext cx="9381649" cy="1066205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2799"/>
              </a:lnSpc>
              <a:buNone/>
            </a:pPr>
            <a:endParaRPr lang="en-US" sz="1750" dirty="0"/>
          </a:p>
        </p:txBody>
      </p:sp>
      <p:pic>
        <p:nvPicPr>
          <p:cNvPr id="6" name="Image 1" descr="preencoded.png">
            <a:hlinkClick r:id="rId5"/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2242153" y="7589520"/>
            <a:ext cx="2296807" cy="548640"/>
          </a:xfrm>
          <a:prstGeom prst="rect">
            <a:avLst/>
          </a:prstGeom>
        </p:spPr>
      </p:pic>
      <p:sp>
        <p:nvSpPr>
          <p:cNvPr id="9" name="Rectangle 2">
            <a:extLst>
              <a:ext uri="{FF2B5EF4-FFF2-40B4-BE49-F238E27FC236}">
                <a16:creationId xmlns:a16="http://schemas.microsoft.com/office/drawing/2014/main" id="{9DE4DEA7-1860-4613-1CB2-9EE1D3E90D02}"/>
              </a:ext>
            </a:extLst>
          </p:cNvPr>
          <p:cNvSpPr>
            <a:spLocks noChangeArrowheads="1"/>
          </p:cNvSpPr>
          <p:nvPr/>
        </p:nvSpPr>
        <p:spPr bwMode="auto">
          <a:xfrm>
            <a:off x="5486400" y="2682683"/>
            <a:ext cx="8442394" cy="606319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s-CL" sz="2400" b="0" i="0" u="none" strike="noStrike" cap="none" normalizeH="0" baseline="0" dirty="0" err="1">
                <a:ln>
                  <a:noFill/>
                </a:ln>
                <a:solidFill>
                  <a:srgbClr val="E5E0DF"/>
                </a:solidFill>
                <a:effectLst/>
                <a:latin typeface="Barlow" panose="00000500000000000000" pitchFamily="2" charset="0"/>
                <a:ea typeface="+mn-ea"/>
                <a:cs typeface="+mn-cs"/>
              </a:rPr>
              <a:t>Según</a:t>
            </a:r>
            <a:r>
              <a:rPr kumimoji="0" lang="en-US" altLang="es-CL" sz="2400" b="0" i="0" u="none" strike="noStrike" cap="none" normalizeH="0" baseline="0" dirty="0">
                <a:ln>
                  <a:noFill/>
                </a:ln>
                <a:solidFill>
                  <a:srgbClr val="E5E0DF"/>
                </a:solidFill>
                <a:effectLst/>
                <a:latin typeface="Barlow" panose="00000500000000000000" pitchFamily="2" charset="0"/>
                <a:ea typeface="+mn-ea"/>
                <a:cs typeface="+mn-cs"/>
              </a:rPr>
              <a:t> </a:t>
            </a:r>
            <a:r>
              <a:rPr kumimoji="0" lang="en-US" altLang="es-CL" sz="2400" b="0" i="0" u="none" strike="noStrike" cap="none" normalizeH="0" baseline="0" dirty="0" err="1">
                <a:ln>
                  <a:noFill/>
                </a:ln>
                <a:solidFill>
                  <a:srgbClr val="E5E0DF"/>
                </a:solidFill>
                <a:effectLst/>
                <a:latin typeface="Barlow" panose="00000500000000000000" pitchFamily="2" charset="0"/>
                <a:ea typeface="+mn-ea"/>
                <a:cs typeface="+mn-cs"/>
              </a:rPr>
              <a:t>una</a:t>
            </a:r>
            <a:r>
              <a:rPr kumimoji="0" lang="en-US" altLang="es-CL" sz="2400" b="0" i="0" u="none" strike="noStrike" cap="none" normalizeH="0" baseline="0" dirty="0">
                <a:ln>
                  <a:noFill/>
                </a:ln>
                <a:solidFill>
                  <a:srgbClr val="E5E0DF"/>
                </a:solidFill>
                <a:effectLst/>
                <a:latin typeface="Barlow" panose="00000500000000000000" pitchFamily="2" charset="0"/>
                <a:ea typeface="+mn-ea"/>
                <a:cs typeface="+mn-cs"/>
              </a:rPr>
              <a:t> </a:t>
            </a:r>
            <a:r>
              <a:rPr kumimoji="0" lang="en-US" altLang="es-CL" sz="2400" b="0" i="0" u="none" strike="noStrike" cap="none" normalizeH="0" baseline="0" dirty="0" err="1">
                <a:ln>
                  <a:noFill/>
                </a:ln>
                <a:solidFill>
                  <a:srgbClr val="E5E0DF"/>
                </a:solidFill>
                <a:effectLst/>
                <a:latin typeface="Barlow" panose="00000500000000000000" pitchFamily="2" charset="0"/>
                <a:ea typeface="+mn-ea"/>
                <a:cs typeface="+mn-cs"/>
              </a:rPr>
              <a:t>entrevista</a:t>
            </a:r>
            <a:r>
              <a:rPr kumimoji="0" lang="en-US" altLang="es-CL" sz="2400" b="0" i="0" u="none" strike="noStrike" cap="none" normalizeH="0" baseline="0" dirty="0">
                <a:ln>
                  <a:noFill/>
                </a:ln>
                <a:solidFill>
                  <a:srgbClr val="E5E0DF"/>
                </a:solidFill>
                <a:effectLst/>
                <a:latin typeface="Barlow" panose="00000500000000000000" pitchFamily="2" charset="0"/>
                <a:ea typeface="+mn-ea"/>
                <a:cs typeface="+mn-cs"/>
              </a:rPr>
              <a:t> </a:t>
            </a:r>
            <a:r>
              <a:rPr kumimoji="0" lang="en-US" altLang="es-CL" sz="2400" b="0" i="0" u="none" strike="noStrike" cap="none" normalizeH="0" baseline="0" dirty="0" err="1">
                <a:ln>
                  <a:noFill/>
                </a:ln>
                <a:solidFill>
                  <a:srgbClr val="E5E0DF"/>
                </a:solidFill>
                <a:effectLst/>
                <a:latin typeface="Barlow" panose="00000500000000000000" pitchFamily="2" charset="0"/>
                <a:ea typeface="+mn-ea"/>
                <a:cs typeface="+mn-cs"/>
              </a:rPr>
              <a:t>realizada</a:t>
            </a:r>
            <a:r>
              <a:rPr kumimoji="0" lang="en-US" altLang="es-CL" sz="2400" b="0" i="0" u="none" strike="noStrike" cap="none" normalizeH="0" baseline="0" dirty="0">
                <a:ln>
                  <a:noFill/>
                </a:ln>
                <a:solidFill>
                  <a:srgbClr val="E5E0DF"/>
                </a:solidFill>
                <a:effectLst/>
                <a:latin typeface="Barlow" panose="00000500000000000000" pitchFamily="2" charset="0"/>
                <a:ea typeface="+mn-ea"/>
                <a:cs typeface="+mn-cs"/>
              </a:rPr>
              <a:t> a </a:t>
            </a:r>
            <a:r>
              <a:rPr kumimoji="0" lang="en-US" altLang="es-CL" sz="2400" b="0" i="0" u="none" strike="noStrike" cap="none" normalizeH="0" baseline="0" dirty="0" err="1">
                <a:ln>
                  <a:noFill/>
                </a:ln>
                <a:solidFill>
                  <a:srgbClr val="E5E0DF"/>
                </a:solidFill>
                <a:effectLst/>
                <a:latin typeface="Barlow" panose="00000500000000000000" pitchFamily="2" charset="0"/>
                <a:ea typeface="+mn-ea"/>
                <a:cs typeface="+mn-cs"/>
              </a:rPr>
              <a:t>distintos</a:t>
            </a:r>
            <a:r>
              <a:rPr kumimoji="0" lang="en-US" altLang="es-CL" sz="2400" b="0" i="0" u="none" strike="noStrike" cap="none" normalizeH="0" baseline="0" dirty="0">
                <a:ln>
                  <a:noFill/>
                </a:ln>
                <a:solidFill>
                  <a:srgbClr val="E5E0DF"/>
                </a:solidFill>
                <a:effectLst/>
                <a:latin typeface="Barlow" panose="00000500000000000000" pitchFamily="2" charset="0"/>
                <a:ea typeface="+mn-ea"/>
                <a:cs typeface="+mn-cs"/>
              </a:rPr>
              <a:t> </a:t>
            </a:r>
            <a:r>
              <a:rPr kumimoji="0" lang="en-US" altLang="es-CL" sz="2400" b="0" i="0" u="none" strike="noStrike" cap="none" normalizeH="0" baseline="0" dirty="0" err="1">
                <a:ln>
                  <a:noFill/>
                </a:ln>
                <a:solidFill>
                  <a:srgbClr val="E5E0DF"/>
                </a:solidFill>
                <a:effectLst/>
                <a:latin typeface="Barlow" panose="00000500000000000000" pitchFamily="2" charset="0"/>
                <a:ea typeface="+mn-ea"/>
                <a:cs typeface="+mn-cs"/>
              </a:rPr>
              <a:t>conductores</a:t>
            </a:r>
            <a:r>
              <a:rPr kumimoji="0" lang="en-US" altLang="es-CL" sz="2400" b="0" i="0" u="none" strike="noStrike" cap="none" normalizeH="0" baseline="0" dirty="0">
                <a:ln>
                  <a:noFill/>
                </a:ln>
                <a:solidFill>
                  <a:srgbClr val="E5E0DF"/>
                </a:solidFill>
                <a:effectLst/>
                <a:latin typeface="Barlow" panose="00000500000000000000" pitchFamily="2" charset="0"/>
                <a:ea typeface="+mn-ea"/>
                <a:cs typeface="+mn-cs"/>
              </a:rPr>
              <a:t> se </a:t>
            </a:r>
            <a:r>
              <a:rPr kumimoji="0" lang="en-US" altLang="es-CL" sz="2400" b="0" i="0" u="none" strike="noStrike" cap="none" normalizeH="0" baseline="0" dirty="0" err="1">
                <a:ln>
                  <a:noFill/>
                </a:ln>
                <a:solidFill>
                  <a:srgbClr val="E5E0DF"/>
                </a:solidFill>
                <a:effectLst/>
                <a:latin typeface="Barlow" panose="00000500000000000000" pitchFamily="2" charset="0"/>
                <a:ea typeface="+mn-ea"/>
                <a:cs typeface="+mn-cs"/>
              </a:rPr>
              <a:t>reflejó</a:t>
            </a:r>
            <a:r>
              <a:rPr kumimoji="0" lang="en-US" altLang="es-CL" sz="2400" b="0" i="0" u="none" strike="noStrike" cap="none" normalizeH="0" baseline="0" dirty="0">
                <a:ln>
                  <a:noFill/>
                </a:ln>
                <a:solidFill>
                  <a:srgbClr val="E5E0DF"/>
                </a:solidFill>
                <a:effectLst/>
                <a:latin typeface="Barlow" panose="00000500000000000000" pitchFamily="2" charset="0"/>
                <a:ea typeface="+mn-ea"/>
                <a:cs typeface="+mn-cs"/>
              </a:rPr>
              <a:t> el </a:t>
            </a:r>
            <a:r>
              <a:rPr kumimoji="0" lang="en-US" altLang="es-CL" sz="2400" b="0" i="0" u="none" strike="noStrike" cap="none" normalizeH="0" baseline="0" dirty="0" err="1">
                <a:ln>
                  <a:noFill/>
                </a:ln>
                <a:solidFill>
                  <a:srgbClr val="E5E0DF"/>
                </a:solidFill>
                <a:effectLst/>
                <a:latin typeface="Barlow" panose="00000500000000000000" pitchFamily="2" charset="0"/>
                <a:ea typeface="+mn-ea"/>
                <a:cs typeface="+mn-cs"/>
              </a:rPr>
              <a:t>resultado</a:t>
            </a:r>
            <a:r>
              <a:rPr kumimoji="0" lang="en-US" altLang="es-CL" sz="2400" b="0" i="0" u="none" strike="noStrike" cap="none" normalizeH="0" baseline="0" dirty="0">
                <a:ln>
                  <a:noFill/>
                </a:ln>
                <a:solidFill>
                  <a:srgbClr val="E5E0DF"/>
                </a:solidFill>
                <a:effectLst/>
                <a:latin typeface="Barlow" panose="00000500000000000000" pitchFamily="2" charset="0"/>
                <a:ea typeface="+mn-ea"/>
                <a:cs typeface="+mn-cs"/>
              </a:rPr>
              <a:t> de que el 68% de usuarios no </a:t>
            </a:r>
            <a:r>
              <a:rPr kumimoji="0" lang="en-US" altLang="es-CL" sz="2400" b="0" i="0" u="none" strike="noStrike" cap="none" normalizeH="0" baseline="0" dirty="0" err="1">
                <a:ln>
                  <a:noFill/>
                </a:ln>
                <a:solidFill>
                  <a:srgbClr val="E5E0DF"/>
                </a:solidFill>
                <a:effectLst/>
                <a:latin typeface="Barlow" panose="00000500000000000000" pitchFamily="2" charset="0"/>
                <a:ea typeface="+mn-ea"/>
                <a:cs typeface="+mn-cs"/>
              </a:rPr>
              <a:t>tienen</a:t>
            </a:r>
            <a:r>
              <a:rPr kumimoji="0" lang="en-US" altLang="es-CL" sz="2400" b="0" i="0" u="none" strike="noStrike" cap="none" normalizeH="0" baseline="0" dirty="0">
                <a:ln>
                  <a:noFill/>
                </a:ln>
                <a:solidFill>
                  <a:srgbClr val="E5E0DF"/>
                </a:solidFill>
                <a:effectLst/>
                <a:latin typeface="Barlow" panose="00000500000000000000" pitchFamily="2" charset="0"/>
                <a:ea typeface="+mn-ea"/>
                <a:cs typeface="+mn-cs"/>
              </a:rPr>
              <a:t> </a:t>
            </a:r>
            <a:r>
              <a:rPr kumimoji="0" lang="en-US" altLang="es-CL" sz="2400" b="0" i="0" u="none" strike="noStrike" cap="none" normalizeH="0" baseline="0" dirty="0" err="1">
                <a:ln>
                  <a:noFill/>
                </a:ln>
                <a:solidFill>
                  <a:srgbClr val="E5E0DF"/>
                </a:solidFill>
                <a:effectLst/>
                <a:latin typeface="Barlow" panose="00000500000000000000" pitchFamily="2" charset="0"/>
                <a:ea typeface="+mn-ea"/>
                <a:cs typeface="+mn-cs"/>
              </a:rPr>
              <a:t>información</a:t>
            </a:r>
            <a:r>
              <a:rPr kumimoji="0" lang="en-US" altLang="es-CL" sz="2400" b="0" i="0" u="none" strike="noStrike" cap="none" normalizeH="0" baseline="0" dirty="0">
                <a:ln>
                  <a:noFill/>
                </a:ln>
                <a:solidFill>
                  <a:srgbClr val="E5E0DF"/>
                </a:solidFill>
                <a:effectLst/>
                <a:latin typeface="Barlow" panose="00000500000000000000" pitchFamily="2" charset="0"/>
                <a:ea typeface="+mn-ea"/>
                <a:cs typeface="+mn-cs"/>
              </a:rPr>
              <a:t> </a:t>
            </a:r>
            <a:r>
              <a:rPr kumimoji="0" lang="en-US" altLang="es-CL" sz="2400" b="0" i="0" u="none" strike="noStrike" cap="none" normalizeH="0" baseline="0" dirty="0" err="1">
                <a:ln>
                  <a:noFill/>
                </a:ln>
                <a:solidFill>
                  <a:srgbClr val="E5E0DF"/>
                </a:solidFill>
                <a:effectLst/>
                <a:latin typeface="Barlow" panose="00000500000000000000" pitchFamily="2" charset="0"/>
                <a:ea typeface="+mn-ea"/>
                <a:cs typeface="+mn-cs"/>
              </a:rPr>
              <a:t>sobre</a:t>
            </a:r>
            <a:r>
              <a:rPr kumimoji="0" lang="en-US" altLang="es-CL" sz="2400" b="0" i="0" u="none" strike="noStrike" cap="none" normalizeH="0" baseline="0" dirty="0">
                <a:ln>
                  <a:noFill/>
                </a:ln>
                <a:solidFill>
                  <a:srgbClr val="E5E0DF"/>
                </a:solidFill>
                <a:effectLst/>
                <a:latin typeface="Barlow" panose="00000500000000000000" pitchFamily="2" charset="0"/>
                <a:ea typeface="+mn-ea"/>
                <a:cs typeface="+mn-cs"/>
              </a:rPr>
              <a:t> sus </a:t>
            </a:r>
            <a:r>
              <a:rPr kumimoji="0" lang="en-US" altLang="es-CL" sz="2400" b="0" i="0" u="none" strike="noStrike" cap="none" normalizeH="0" baseline="0" dirty="0" err="1">
                <a:ln>
                  <a:noFill/>
                </a:ln>
                <a:solidFill>
                  <a:srgbClr val="E5E0DF"/>
                </a:solidFill>
                <a:effectLst/>
                <a:latin typeface="Barlow" panose="00000500000000000000" pitchFamily="2" charset="0"/>
                <a:ea typeface="+mn-ea"/>
                <a:cs typeface="+mn-cs"/>
              </a:rPr>
              <a:t>neumáticos</a:t>
            </a:r>
            <a:r>
              <a:rPr kumimoji="0" lang="en-US" altLang="es-CL" sz="2400" b="0" i="0" u="none" strike="noStrike" cap="none" normalizeH="0" baseline="0" dirty="0">
                <a:ln>
                  <a:noFill/>
                </a:ln>
                <a:solidFill>
                  <a:srgbClr val="E5E0DF"/>
                </a:solidFill>
                <a:effectLst/>
                <a:latin typeface="Barlow" panose="00000500000000000000" pitchFamily="2" charset="0"/>
                <a:ea typeface="+mn-ea"/>
                <a:cs typeface="+mn-cs"/>
              </a:rPr>
              <a:t>, la gran </a:t>
            </a:r>
            <a:r>
              <a:rPr kumimoji="0" lang="en-US" altLang="es-CL" sz="2400" b="0" i="0" u="none" strike="noStrike" cap="none" normalizeH="0" baseline="0" dirty="0" err="1">
                <a:ln>
                  <a:noFill/>
                </a:ln>
                <a:solidFill>
                  <a:srgbClr val="E5E0DF"/>
                </a:solidFill>
                <a:effectLst/>
                <a:latin typeface="Barlow" panose="00000500000000000000" pitchFamily="2" charset="0"/>
                <a:ea typeface="+mn-ea"/>
                <a:cs typeface="+mn-cs"/>
              </a:rPr>
              <a:t>mayoría</a:t>
            </a:r>
            <a:r>
              <a:rPr kumimoji="0" lang="en-US" altLang="es-CL" sz="2400" b="0" i="0" u="none" strike="noStrike" cap="none" normalizeH="0" baseline="0" dirty="0">
                <a:ln>
                  <a:noFill/>
                </a:ln>
                <a:solidFill>
                  <a:srgbClr val="E5E0DF"/>
                </a:solidFill>
                <a:effectLst/>
                <a:latin typeface="Barlow" panose="00000500000000000000" pitchFamily="2" charset="0"/>
                <a:ea typeface="+mn-ea"/>
                <a:cs typeface="+mn-cs"/>
              </a:rPr>
              <a:t> </a:t>
            </a:r>
            <a:r>
              <a:rPr kumimoji="0" lang="en-US" altLang="es-CL" sz="2400" b="0" i="0" u="none" strike="noStrike" cap="none" normalizeH="0" baseline="0" dirty="0" err="1">
                <a:ln>
                  <a:noFill/>
                </a:ln>
                <a:solidFill>
                  <a:srgbClr val="E5E0DF"/>
                </a:solidFill>
                <a:effectLst/>
                <a:latin typeface="Barlow" panose="00000500000000000000" pitchFamily="2" charset="0"/>
                <a:ea typeface="+mn-ea"/>
                <a:cs typeface="+mn-cs"/>
              </a:rPr>
              <a:t>daba</a:t>
            </a:r>
            <a:r>
              <a:rPr kumimoji="0" lang="en-US" altLang="es-CL" sz="2400" b="0" i="0" u="none" strike="noStrike" cap="none" normalizeH="0" baseline="0" dirty="0">
                <a:ln>
                  <a:noFill/>
                </a:ln>
                <a:solidFill>
                  <a:srgbClr val="E5E0DF"/>
                </a:solidFill>
                <a:effectLst/>
                <a:latin typeface="Barlow" panose="00000500000000000000" pitchFamily="2" charset="0"/>
                <a:ea typeface="+mn-ea"/>
                <a:cs typeface="+mn-cs"/>
              </a:rPr>
              <a:t> </a:t>
            </a:r>
            <a:r>
              <a:rPr kumimoji="0" lang="en-US" altLang="es-CL" sz="2400" b="0" i="0" u="none" strike="noStrike" cap="none" normalizeH="0" baseline="0" dirty="0" err="1">
                <a:ln>
                  <a:noFill/>
                </a:ln>
                <a:solidFill>
                  <a:srgbClr val="E5E0DF"/>
                </a:solidFill>
                <a:effectLst/>
                <a:latin typeface="Barlow" panose="00000500000000000000" pitchFamily="2" charset="0"/>
                <a:ea typeface="+mn-ea"/>
                <a:cs typeface="+mn-cs"/>
              </a:rPr>
              <a:t>respuesta</a:t>
            </a:r>
            <a:r>
              <a:rPr kumimoji="0" lang="en-US" altLang="es-CL" sz="2400" b="0" i="0" u="none" strike="noStrike" cap="none" normalizeH="0" baseline="0" dirty="0">
                <a:ln>
                  <a:noFill/>
                </a:ln>
                <a:solidFill>
                  <a:srgbClr val="E5E0DF"/>
                </a:solidFill>
                <a:effectLst/>
                <a:latin typeface="Barlow" panose="00000500000000000000" pitchFamily="2" charset="0"/>
                <a:ea typeface="+mn-ea"/>
                <a:cs typeface="+mn-cs"/>
              </a:rPr>
              <a:t> de que </a:t>
            </a:r>
            <a:r>
              <a:rPr kumimoji="0" lang="en-US" altLang="es-CL" sz="2400" b="0" i="0" u="none" strike="noStrike" cap="none" normalizeH="0" baseline="0" dirty="0" err="1">
                <a:ln>
                  <a:noFill/>
                </a:ln>
                <a:solidFill>
                  <a:srgbClr val="E5E0DF"/>
                </a:solidFill>
                <a:effectLst/>
                <a:latin typeface="Barlow" panose="00000500000000000000" pitchFamily="2" charset="0"/>
                <a:ea typeface="+mn-ea"/>
                <a:cs typeface="+mn-cs"/>
              </a:rPr>
              <a:t>en</a:t>
            </a:r>
            <a:r>
              <a:rPr kumimoji="0" lang="en-US" altLang="es-CL" sz="2400" b="0" i="0" u="none" strike="noStrike" cap="none" normalizeH="0" baseline="0" dirty="0">
                <a:ln>
                  <a:noFill/>
                </a:ln>
                <a:solidFill>
                  <a:srgbClr val="E5E0DF"/>
                </a:solidFill>
                <a:effectLst/>
                <a:latin typeface="Barlow" panose="00000500000000000000" pitchFamily="2" charset="0"/>
                <a:ea typeface="+mn-ea"/>
                <a:cs typeface="+mn-cs"/>
              </a:rPr>
              <a:t> la tienda </a:t>
            </a:r>
            <a:r>
              <a:rPr kumimoji="0" lang="en-US" altLang="es-CL" sz="2400" b="0" i="0" u="none" strike="noStrike" cap="none" normalizeH="0" baseline="0" dirty="0" err="1">
                <a:ln>
                  <a:noFill/>
                </a:ln>
                <a:solidFill>
                  <a:srgbClr val="E5E0DF"/>
                </a:solidFill>
                <a:effectLst/>
                <a:latin typeface="Barlow" panose="00000500000000000000" pitchFamily="2" charset="0"/>
                <a:ea typeface="+mn-ea"/>
                <a:cs typeface="+mn-cs"/>
              </a:rPr>
              <a:t>donde</a:t>
            </a:r>
            <a:r>
              <a:rPr kumimoji="0" lang="en-US" altLang="es-CL" sz="2400" b="0" i="0" u="none" strike="noStrike" cap="none" normalizeH="0" baseline="0" dirty="0">
                <a:ln>
                  <a:noFill/>
                </a:ln>
                <a:solidFill>
                  <a:srgbClr val="E5E0DF"/>
                </a:solidFill>
                <a:effectLst/>
                <a:latin typeface="Barlow" panose="00000500000000000000" pitchFamily="2" charset="0"/>
                <a:ea typeface="+mn-ea"/>
                <a:cs typeface="+mn-cs"/>
              </a:rPr>
              <a:t> los </a:t>
            </a:r>
            <a:r>
              <a:rPr kumimoji="0" lang="en-US" altLang="es-CL" sz="2400" b="0" i="0" u="none" strike="noStrike" cap="none" normalizeH="0" baseline="0" dirty="0" err="1">
                <a:ln>
                  <a:noFill/>
                </a:ln>
                <a:solidFill>
                  <a:srgbClr val="E5E0DF"/>
                </a:solidFill>
                <a:effectLst/>
                <a:latin typeface="Barlow" panose="00000500000000000000" pitchFamily="2" charset="0"/>
                <a:ea typeface="+mn-ea"/>
                <a:cs typeface="+mn-cs"/>
              </a:rPr>
              <a:t>adquirían</a:t>
            </a:r>
            <a:r>
              <a:rPr kumimoji="0" lang="en-US" altLang="es-CL" sz="2400" b="0" i="0" u="none" strike="noStrike" cap="none" normalizeH="0" baseline="0" dirty="0">
                <a:ln>
                  <a:noFill/>
                </a:ln>
                <a:solidFill>
                  <a:srgbClr val="E5E0DF"/>
                </a:solidFill>
                <a:effectLst/>
                <a:latin typeface="Barlow" panose="00000500000000000000" pitchFamily="2" charset="0"/>
                <a:ea typeface="+mn-ea"/>
                <a:cs typeface="+mn-cs"/>
              </a:rPr>
              <a:t> los </a:t>
            </a:r>
            <a:r>
              <a:rPr kumimoji="0" lang="en-US" altLang="es-CL" sz="2400" b="0" i="0" u="none" strike="noStrike" cap="none" normalizeH="0" baseline="0" dirty="0" err="1">
                <a:ln>
                  <a:noFill/>
                </a:ln>
                <a:solidFill>
                  <a:srgbClr val="E5E0DF"/>
                </a:solidFill>
                <a:effectLst/>
                <a:latin typeface="Barlow" panose="00000500000000000000" pitchFamily="2" charset="0"/>
                <a:ea typeface="+mn-ea"/>
                <a:cs typeface="+mn-cs"/>
              </a:rPr>
              <a:t>escogían</a:t>
            </a:r>
            <a:r>
              <a:rPr kumimoji="0" lang="en-US" altLang="es-CL" sz="2400" b="0" i="0" u="none" strike="noStrike" cap="none" normalizeH="0" baseline="0" dirty="0">
                <a:ln>
                  <a:noFill/>
                </a:ln>
                <a:solidFill>
                  <a:srgbClr val="E5E0DF"/>
                </a:solidFill>
                <a:effectLst/>
                <a:latin typeface="Barlow" panose="00000500000000000000" pitchFamily="2" charset="0"/>
                <a:ea typeface="+mn-ea"/>
                <a:cs typeface="+mn-cs"/>
              </a:rPr>
              <a:t>.</a:t>
            </a:r>
            <a:endParaRPr kumimoji="0" lang="en-US" altLang="es-CL" sz="11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s-CL" sz="2400" b="0" i="0" u="none" strike="noStrike" cap="none" normalizeH="0" baseline="0" dirty="0" err="1">
                <a:ln>
                  <a:noFill/>
                </a:ln>
                <a:solidFill>
                  <a:srgbClr val="E5E0DF"/>
                </a:solidFill>
                <a:effectLst/>
                <a:latin typeface="Barlow" panose="00000500000000000000" pitchFamily="2" charset="0"/>
                <a:ea typeface="+mn-ea"/>
                <a:cs typeface="+mn-cs"/>
              </a:rPr>
              <a:t>Debido</a:t>
            </a:r>
            <a:r>
              <a:rPr kumimoji="0" lang="en-US" altLang="es-CL" sz="2400" b="0" i="0" u="none" strike="noStrike" cap="none" normalizeH="0" baseline="0" dirty="0">
                <a:ln>
                  <a:noFill/>
                </a:ln>
                <a:solidFill>
                  <a:srgbClr val="E5E0DF"/>
                </a:solidFill>
                <a:effectLst/>
                <a:latin typeface="Barlow" panose="00000500000000000000" pitchFamily="2" charset="0"/>
                <a:ea typeface="+mn-ea"/>
                <a:cs typeface="+mn-cs"/>
              </a:rPr>
              <a:t> a </a:t>
            </a:r>
            <a:r>
              <a:rPr kumimoji="0" lang="en-US" altLang="es-CL" sz="2400" b="0" i="0" u="none" strike="noStrike" cap="none" normalizeH="0" baseline="0" dirty="0" err="1">
                <a:ln>
                  <a:noFill/>
                </a:ln>
                <a:solidFill>
                  <a:srgbClr val="E5E0DF"/>
                </a:solidFill>
                <a:effectLst/>
                <a:latin typeface="Barlow" panose="00000500000000000000" pitchFamily="2" charset="0"/>
                <a:ea typeface="+mn-ea"/>
                <a:cs typeface="+mn-cs"/>
              </a:rPr>
              <a:t>esto</a:t>
            </a:r>
            <a:r>
              <a:rPr kumimoji="0" lang="en-US" altLang="es-CL" sz="2400" b="0" i="0" u="none" strike="noStrike" cap="none" normalizeH="0" baseline="0" dirty="0">
                <a:ln>
                  <a:noFill/>
                </a:ln>
                <a:solidFill>
                  <a:srgbClr val="E5E0DF"/>
                </a:solidFill>
                <a:effectLst/>
                <a:latin typeface="Barlow" panose="00000500000000000000" pitchFamily="2" charset="0"/>
                <a:ea typeface="+mn-ea"/>
                <a:cs typeface="+mn-cs"/>
              </a:rPr>
              <a:t> </a:t>
            </a:r>
            <a:r>
              <a:rPr kumimoji="0" lang="en-US" altLang="es-CL" sz="2400" b="0" i="0" u="none" strike="noStrike" cap="none" normalizeH="0" baseline="0" dirty="0" err="1">
                <a:ln>
                  <a:noFill/>
                </a:ln>
                <a:solidFill>
                  <a:srgbClr val="E5E0DF"/>
                </a:solidFill>
                <a:effectLst/>
                <a:latin typeface="Barlow" panose="00000500000000000000" pitchFamily="2" charset="0"/>
                <a:ea typeface="+mn-ea"/>
                <a:cs typeface="+mn-cs"/>
              </a:rPr>
              <a:t>suceden</a:t>
            </a:r>
            <a:r>
              <a:rPr kumimoji="0" lang="en-US" altLang="es-CL" sz="2400" b="0" i="0" u="none" strike="noStrike" cap="none" normalizeH="0" baseline="0" dirty="0">
                <a:ln>
                  <a:noFill/>
                </a:ln>
                <a:solidFill>
                  <a:srgbClr val="E5E0DF"/>
                </a:solidFill>
                <a:effectLst/>
                <a:latin typeface="Barlow" panose="00000500000000000000" pitchFamily="2" charset="0"/>
                <a:ea typeface="+mn-ea"/>
                <a:cs typeface="+mn-cs"/>
              </a:rPr>
              <a:t>, </a:t>
            </a:r>
            <a:r>
              <a:rPr kumimoji="0" lang="en-US" altLang="es-CL" sz="2400" b="0" i="0" u="none" strike="noStrike" cap="none" normalizeH="0" baseline="0" dirty="0" err="1">
                <a:ln>
                  <a:noFill/>
                </a:ln>
                <a:solidFill>
                  <a:srgbClr val="E5E0DF"/>
                </a:solidFill>
                <a:effectLst/>
                <a:latin typeface="Barlow" panose="00000500000000000000" pitchFamily="2" charset="0"/>
                <a:ea typeface="+mn-ea"/>
                <a:cs typeface="+mn-cs"/>
              </a:rPr>
              <a:t>suceden</a:t>
            </a:r>
            <a:r>
              <a:rPr kumimoji="0" lang="en-US" altLang="es-CL" sz="2400" b="0" i="0" u="none" strike="noStrike" cap="none" normalizeH="0" baseline="0" dirty="0">
                <a:ln>
                  <a:noFill/>
                </a:ln>
                <a:solidFill>
                  <a:srgbClr val="E5E0DF"/>
                </a:solidFill>
                <a:effectLst/>
                <a:latin typeface="Barlow" panose="00000500000000000000" pitchFamily="2" charset="0"/>
                <a:ea typeface="+mn-ea"/>
                <a:cs typeface="+mn-cs"/>
              </a:rPr>
              <a:t> </a:t>
            </a:r>
            <a:r>
              <a:rPr kumimoji="0" lang="en-US" altLang="es-CL" sz="2400" b="0" i="0" u="none" strike="noStrike" cap="none" normalizeH="0" baseline="0" dirty="0" err="1">
                <a:ln>
                  <a:noFill/>
                </a:ln>
                <a:solidFill>
                  <a:srgbClr val="E5E0DF"/>
                </a:solidFill>
                <a:effectLst/>
                <a:latin typeface="Barlow" panose="00000500000000000000" pitchFamily="2" charset="0"/>
                <a:ea typeface="+mn-ea"/>
                <a:cs typeface="+mn-cs"/>
              </a:rPr>
              <a:t>accidentes</a:t>
            </a:r>
            <a:r>
              <a:rPr kumimoji="0" lang="en-US" altLang="es-CL" sz="2400" b="0" i="0" u="none" strike="noStrike" cap="none" normalizeH="0" baseline="0" dirty="0">
                <a:ln>
                  <a:noFill/>
                </a:ln>
                <a:solidFill>
                  <a:srgbClr val="E5E0DF"/>
                </a:solidFill>
                <a:effectLst/>
                <a:latin typeface="Barlow" panose="00000500000000000000" pitchFamily="2" charset="0"/>
                <a:ea typeface="+mn-ea"/>
                <a:cs typeface="+mn-cs"/>
              </a:rPr>
              <a:t> o </a:t>
            </a:r>
            <a:r>
              <a:rPr kumimoji="0" lang="en-US" altLang="es-CL" sz="2400" b="0" i="0" u="none" strike="noStrike" cap="none" normalizeH="0" baseline="0" dirty="0" err="1">
                <a:ln>
                  <a:noFill/>
                </a:ln>
                <a:solidFill>
                  <a:srgbClr val="E5E0DF"/>
                </a:solidFill>
                <a:effectLst/>
                <a:latin typeface="Barlow" panose="00000500000000000000" pitchFamily="2" charset="0"/>
                <a:ea typeface="+mn-ea"/>
                <a:cs typeface="+mn-cs"/>
              </a:rPr>
              <a:t>vemos</a:t>
            </a:r>
            <a:r>
              <a:rPr kumimoji="0" lang="en-US" altLang="es-CL" sz="2400" b="0" i="0" u="none" strike="noStrike" cap="none" normalizeH="0" baseline="0" dirty="0">
                <a:ln>
                  <a:noFill/>
                </a:ln>
                <a:solidFill>
                  <a:srgbClr val="E5E0DF"/>
                </a:solidFill>
                <a:effectLst/>
                <a:latin typeface="Barlow" panose="00000500000000000000" pitchFamily="2" charset="0"/>
                <a:ea typeface="+mn-ea"/>
                <a:cs typeface="+mn-cs"/>
              </a:rPr>
              <a:t> tantos autos </a:t>
            </a:r>
            <a:r>
              <a:rPr kumimoji="0" lang="en-US" altLang="es-CL" sz="2400" b="0" i="0" u="none" strike="noStrike" cap="none" normalizeH="0" baseline="0" dirty="0" err="1">
                <a:ln>
                  <a:noFill/>
                </a:ln>
                <a:solidFill>
                  <a:srgbClr val="E5E0DF"/>
                </a:solidFill>
                <a:effectLst/>
                <a:latin typeface="Barlow" panose="00000500000000000000" pitchFamily="2" charset="0"/>
                <a:ea typeface="+mn-ea"/>
                <a:cs typeface="+mn-cs"/>
              </a:rPr>
              <a:t>varados</a:t>
            </a:r>
            <a:r>
              <a:rPr kumimoji="0" lang="en-US" altLang="es-CL" sz="2400" b="0" i="0" u="none" strike="noStrike" cap="none" normalizeH="0" baseline="0" dirty="0">
                <a:ln>
                  <a:noFill/>
                </a:ln>
                <a:solidFill>
                  <a:srgbClr val="E5E0DF"/>
                </a:solidFill>
                <a:effectLst/>
                <a:latin typeface="Barlow" panose="00000500000000000000" pitchFamily="2" charset="0"/>
                <a:ea typeface="+mn-ea"/>
                <a:cs typeface="+mn-cs"/>
              </a:rPr>
              <a:t> </a:t>
            </a:r>
            <a:r>
              <a:rPr kumimoji="0" lang="en-US" altLang="es-CL" sz="2400" b="0" i="0" u="none" strike="noStrike" cap="none" normalizeH="0" baseline="0" dirty="0" err="1">
                <a:ln>
                  <a:noFill/>
                </a:ln>
                <a:solidFill>
                  <a:srgbClr val="E5E0DF"/>
                </a:solidFill>
                <a:effectLst/>
                <a:latin typeface="Barlow" panose="00000500000000000000" pitchFamily="2" charset="0"/>
                <a:ea typeface="+mn-ea"/>
                <a:cs typeface="+mn-cs"/>
              </a:rPr>
              <a:t>en</a:t>
            </a:r>
            <a:r>
              <a:rPr kumimoji="0" lang="en-US" altLang="es-CL" sz="2400" b="0" i="0" u="none" strike="noStrike" cap="none" normalizeH="0" baseline="0" dirty="0">
                <a:ln>
                  <a:noFill/>
                </a:ln>
                <a:solidFill>
                  <a:srgbClr val="E5E0DF"/>
                </a:solidFill>
                <a:effectLst/>
                <a:latin typeface="Barlow" panose="00000500000000000000" pitchFamily="2" charset="0"/>
                <a:ea typeface="+mn-ea"/>
                <a:cs typeface="+mn-cs"/>
              </a:rPr>
              <a:t> los </a:t>
            </a:r>
            <a:r>
              <a:rPr kumimoji="0" lang="en-US" altLang="es-CL" sz="2400" b="0" i="0" u="none" strike="noStrike" cap="none" normalizeH="0" baseline="0" dirty="0" err="1">
                <a:ln>
                  <a:noFill/>
                </a:ln>
                <a:solidFill>
                  <a:srgbClr val="E5E0DF"/>
                </a:solidFill>
                <a:effectLst/>
                <a:latin typeface="Barlow" panose="00000500000000000000" pitchFamily="2" charset="0"/>
                <a:ea typeface="+mn-ea"/>
                <a:cs typeface="+mn-cs"/>
              </a:rPr>
              <a:t>costados</a:t>
            </a:r>
            <a:r>
              <a:rPr kumimoji="0" lang="en-US" altLang="es-CL" sz="2400" b="0" i="0" u="none" strike="noStrike" cap="none" normalizeH="0" baseline="0" dirty="0">
                <a:ln>
                  <a:noFill/>
                </a:ln>
                <a:solidFill>
                  <a:srgbClr val="E5E0DF"/>
                </a:solidFill>
                <a:effectLst/>
                <a:latin typeface="Barlow" panose="00000500000000000000" pitchFamily="2" charset="0"/>
                <a:ea typeface="+mn-ea"/>
                <a:cs typeface="+mn-cs"/>
              </a:rPr>
              <a:t> de los </a:t>
            </a:r>
            <a:r>
              <a:rPr kumimoji="0" lang="en-US" altLang="es-CL" sz="2400" b="0" i="0" u="none" strike="noStrike" cap="none" normalizeH="0" baseline="0" dirty="0" err="1">
                <a:ln>
                  <a:noFill/>
                </a:ln>
                <a:solidFill>
                  <a:srgbClr val="E5E0DF"/>
                </a:solidFill>
                <a:effectLst/>
                <a:latin typeface="Barlow" panose="00000500000000000000" pitchFamily="2" charset="0"/>
                <a:ea typeface="+mn-ea"/>
                <a:cs typeface="+mn-cs"/>
              </a:rPr>
              <a:t>caminos</a:t>
            </a:r>
            <a:r>
              <a:rPr kumimoji="0" lang="en-US" altLang="es-CL" sz="2400" b="0" i="0" u="none" strike="noStrike" cap="none" normalizeH="0" baseline="0" dirty="0">
                <a:ln>
                  <a:noFill/>
                </a:ln>
                <a:solidFill>
                  <a:srgbClr val="E5E0DF"/>
                </a:solidFill>
                <a:effectLst/>
                <a:latin typeface="Barlow" panose="00000500000000000000" pitchFamily="2" charset="0"/>
                <a:ea typeface="+mn-ea"/>
                <a:cs typeface="+mn-cs"/>
              </a:rPr>
              <a:t>, </a:t>
            </a:r>
            <a:r>
              <a:rPr kumimoji="0" lang="en-US" altLang="es-CL" sz="2400" b="0" i="0" u="none" strike="noStrike" cap="none" normalizeH="0" baseline="0" dirty="0" err="1">
                <a:ln>
                  <a:noFill/>
                </a:ln>
                <a:solidFill>
                  <a:srgbClr val="E5E0DF"/>
                </a:solidFill>
                <a:effectLst/>
                <a:latin typeface="Barlow" panose="00000500000000000000" pitchFamily="2" charset="0"/>
                <a:ea typeface="+mn-ea"/>
                <a:cs typeface="+mn-cs"/>
              </a:rPr>
              <a:t>ya</a:t>
            </a:r>
            <a:r>
              <a:rPr kumimoji="0" lang="en-US" altLang="es-CL" sz="2400" b="0" i="0" u="none" strike="noStrike" cap="none" normalizeH="0" baseline="0" dirty="0">
                <a:ln>
                  <a:noFill/>
                </a:ln>
                <a:solidFill>
                  <a:srgbClr val="E5E0DF"/>
                </a:solidFill>
                <a:effectLst/>
                <a:latin typeface="Barlow" panose="00000500000000000000" pitchFamily="2" charset="0"/>
                <a:ea typeface="+mn-ea"/>
                <a:cs typeface="+mn-cs"/>
              </a:rPr>
              <a:t> </a:t>
            </a:r>
            <a:r>
              <a:rPr kumimoji="0" lang="en-US" altLang="es-CL" sz="2400" b="0" i="0" u="none" strike="noStrike" cap="none" normalizeH="0" baseline="0" dirty="0" err="1">
                <a:ln>
                  <a:noFill/>
                </a:ln>
                <a:solidFill>
                  <a:srgbClr val="E5E0DF"/>
                </a:solidFill>
                <a:effectLst/>
                <a:latin typeface="Barlow" panose="00000500000000000000" pitchFamily="2" charset="0"/>
                <a:ea typeface="+mn-ea"/>
                <a:cs typeface="+mn-cs"/>
              </a:rPr>
              <a:t>quede</a:t>
            </a:r>
            <a:r>
              <a:rPr kumimoji="0" lang="en-US" altLang="es-CL" sz="2400" b="0" i="0" u="none" strike="noStrike" cap="none" normalizeH="0" baseline="0" dirty="0">
                <a:ln>
                  <a:noFill/>
                </a:ln>
                <a:solidFill>
                  <a:srgbClr val="E5E0DF"/>
                </a:solidFill>
                <a:effectLst/>
                <a:latin typeface="Barlow" panose="00000500000000000000" pitchFamily="2" charset="0"/>
                <a:ea typeface="+mn-ea"/>
                <a:cs typeface="+mn-cs"/>
              </a:rPr>
              <a:t> </a:t>
            </a:r>
            <a:r>
              <a:rPr kumimoji="0" lang="en-US" altLang="es-CL" sz="2400" b="0" i="0" u="none" strike="noStrike" cap="none" normalizeH="0" baseline="0" dirty="0" err="1">
                <a:ln>
                  <a:noFill/>
                </a:ln>
                <a:solidFill>
                  <a:srgbClr val="E5E0DF"/>
                </a:solidFill>
                <a:effectLst/>
                <a:latin typeface="Barlow" panose="00000500000000000000" pitchFamily="2" charset="0"/>
                <a:ea typeface="+mn-ea"/>
                <a:cs typeface="+mn-cs"/>
              </a:rPr>
              <a:t>estos</a:t>
            </a:r>
            <a:r>
              <a:rPr kumimoji="0" lang="en-US" altLang="es-CL" sz="2400" b="0" i="0" u="none" strike="noStrike" cap="none" normalizeH="0" baseline="0" dirty="0">
                <a:ln>
                  <a:noFill/>
                </a:ln>
                <a:solidFill>
                  <a:srgbClr val="E5E0DF"/>
                </a:solidFill>
                <a:effectLst/>
                <a:latin typeface="Barlow" panose="00000500000000000000" pitchFamily="2" charset="0"/>
                <a:ea typeface="+mn-ea"/>
                <a:cs typeface="+mn-cs"/>
              </a:rPr>
              <a:t> </a:t>
            </a:r>
            <a:r>
              <a:rPr kumimoji="0" lang="en-US" altLang="es-CL" sz="2400" b="0" i="0" u="none" strike="noStrike" cap="none" normalizeH="0" baseline="0" dirty="0" err="1">
                <a:ln>
                  <a:noFill/>
                </a:ln>
                <a:solidFill>
                  <a:srgbClr val="E5E0DF"/>
                </a:solidFill>
                <a:effectLst/>
                <a:latin typeface="Barlow" panose="00000500000000000000" pitchFamily="2" charset="0"/>
                <a:ea typeface="+mn-ea"/>
                <a:cs typeface="+mn-cs"/>
              </a:rPr>
              <a:t>vendedores</a:t>
            </a:r>
            <a:r>
              <a:rPr kumimoji="0" lang="en-US" altLang="es-CL" sz="2400" b="0" i="0" u="none" strike="noStrike" cap="none" normalizeH="0" baseline="0" dirty="0">
                <a:ln>
                  <a:noFill/>
                </a:ln>
                <a:solidFill>
                  <a:srgbClr val="E5E0DF"/>
                </a:solidFill>
                <a:effectLst/>
                <a:latin typeface="Barlow" panose="00000500000000000000" pitchFamily="2" charset="0"/>
                <a:ea typeface="+mn-ea"/>
                <a:cs typeface="+mn-cs"/>
              </a:rPr>
              <a:t> no </a:t>
            </a:r>
            <a:r>
              <a:rPr kumimoji="0" lang="en-US" altLang="es-CL" sz="2400" b="0" i="0" u="none" strike="noStrike" cap="none" normalizeH="0" baseline="0" dirty="0" err="1">
                <a:ln>
                  <a:noFill/>
                </a:ln>
                <a:solidFill>
                  <a:srgbClr val="E5E0DF"/>
                </a:solidFill>
                <a:effectLst/>
                <a:latin typeface="Barlow" panose="00000500000000000000" pitchFamily="2" charset="0"/>
                <a:ea typeface="+mn-ea"/>
                <a:cs typeface="+mn-cs"/>
              </a:rPr>
              <a:t>recopilan</a:t>
            </a:r>
            <a:r>
              <a:rPr kumimoji="0" lang="en-US" altLang="es-CL" sz="2400" b="0" i="0" u="none" strike="noStrike" cap="none" normalizeH="0" baseline="0" dirty="0">
                <a:ln>
                  <a:noFill/>
                </a:ln>
                <a:solidFill>
                  <a:srgbClr val="E5E0DF"/>
                </a:solidFill>
                <a:effectLst/>
                <a:latin typeface="Barlow" panose="00000500000000000000" pitchFamily="2" charset="0"/>
                <a:ea typeface="+mn-ea"/>
                <a:cs typeface="+mn-cs"/>
              </a:rPr>
              <a:t> </a:t>
            </a:r>
            <a:r>
              <a:rPr kumimoji="0" lang="en-US" altLang="es-CL" sz="2400" b="0" i="0" u="none" strike="noStrike" cap="none" normalizeH="0" baseline="0" dirty="0" err="1">
                <a:ln>
                  <a:noFill/>
                </a:ln>
                <a:solidFill>
                  <a:srgbClr val="E5E0DF"/>
                </a:solidFill>
                <a:effectLst/>
                <a:latin typeface="Barlow" panose="00000500000000000000" pitchFamily="2" charset="0"/>
                <a:ea typeface="+mn-ea"/>
                <a:cs typeface="+mn-cs"/>
              </a:rPr>
              <a:t>información</a:t>
            </a:r>
            <a:r>
              <a:rPr kumimoji="0" lang="en-US" altLang="es-CL" sz="2400" b="0" i="0" u="none" strike="noStrike" cap="none" normalizeH="0" baseline="0" dirty="0">
                <a:ln>
                  <a:noFill/>
                </a:ln>
                <a:solidFill>
                  <a:srgbClr val="E5E0DF"/>
                </a:solidFill>
                <a:effectLst/>
                <a:latin typeface="Barlow" panose="00000500000000000000" pitchFamily="2" charset="0"/>
                <a:ea typeface="+mn-ea"/>
                <a:cs typeface="+mn-cs"/>
              </a:rPr>
              <a:t> del </a:t>
            </a:r>
            <a:r>
              <a:rPr kumimoji="0" lang="en-US" altLang="es-CL" sz="2400" b="0" i="0" u="none" strike="noStrike" cap="none" normalizeH="0" baseline="0" dirty="0" err="1">
                <a:ln>
                  <a:noFill/>
                </a:ln>
                <a:solidFill>
                  <a:srgbClr val="E5E0DF"/>
                </a:solidFill>
                <a:effectLst/>
                <a:latin typeface="Barlow" panose="00000500000000000000" pitchFamily="2" charset="0"/>
                <a:ea typeface="+mn-ea"/>
                <a:cs typeface="+mn-cs"/>
              </a:rPr>
              <a:t>usuario</a:t>
            </a:r>
            <a:r>
              <a:rPr kumimoji="0" lang="en-US" altLang="es-CL" sz="2400" b="0" i="0" u="none" strike="noStrike" cap="none" normalizeH="0" baseline="0" dirty="0">
                <a:ln>
                  <a:noFill/>
                </a:ln>
                <a:solidFill>
                  <a:srgbClr val="E5E0DF"/>
                </a:solidFill>
                <a:effectLst/>
                <a:latin typeface="Barlow" panose="00000500000000000000" pitchFamily="2" charset="0"/>
                <a:ea typeface="+mn-ea"/>
                <a:cs typeface="+mn-cs"/>
              </a:rPr>
              <a:t> antes de </a:t>
            </a:r>
            <a:r>
              <a:rPr kumimoji="0" lang="en-US" altLang="es-CL" sz="2400" b="0" i="0" u="none" strike="noStrike" cap="none" normalizeH="0" baseline="0" dirty="0" err="1">
                <a:ln>
                  <a:noFill/>
                </a:ln>
                <a:solidFill>
                  <a:srgbClr val="E5E0DF"/>
                </a:solidFill>
                <a:effectLst/>
                <a:latin typeface="Barlow" panose="00000500000000000000" pitchFamily="2" charset="0"/>
                <a:ea typeface="+mn-ea"/>
                <a:cs typeface="+mn-cs"/>
              </a:rPr>
              <a:t>recomendar</a:t>
            </a:r>
            <a:r>
              <a:rPr kumimoji="0" lang="en-US" altLang="es-CL" sz="2400" b="0" i="0" u="none" strike="noStrike" cap="none" normalizeH="0" baseline="0" dirty="0">
                <a:ln>
                  <a:noFill/>
                </a:ln>
                <a:solidFill>
                  <a:srgbClr val="E5E0DF"/>
                </a:solidFill>
                <a:effectLst/>
                <a:latin typeface="Barlow" panose="00000500000000000000" pitchFamily="2" charset="0"/>
                <a:ea typeface="+mn-ea"/>
                <a:cs typeface="+mn-cs"/>
              </a:rPr>
              <a:t> los </a:t>
            </a:r>
            <a:r>
              <a:rPr kumimoji="0" lang="en-US" altLang="es-CL" sz="2400" b="0" i="0" u="none" strike="noStrike" cap="none" normalizeH="0" baseline="0" dirty="0" err="1">
                <a:ln>
                  <a:noFill/>
                </a:ln>
                <a:solidFill>
                  <a:srgbClr val="E5E0DF"/>
                </a:solidFill>
                <a:effectLst/>
                <a:latin typeface="Barlow" panose="00000500000000000000" pitchFamily="2" charset="0"/>
                <a:ea typeface="+mn-ea"/>
                <a:cs typeface="+mn-cs"/>
              </a:rPr>
              <a:t>tipos</a:t>
            </a:r>
            <a:r>
              <a:rPr kumimoji="0" lang="en-US" altLang="es-CL" sz="2400" b="0" i="0" u="none" strike="noStrike" cap="none" normalizeH="0" baseline="0" dirty="0">
                <a:ln>
                  <a:noFill/>
                </a:ln>
                <a:solidFill>
                  <a:srgbClr val="E5E0DF"/>
                </a:solidFill>
                <a:effectLst/>
                <a:latin typeface="Barlow" panose="00000500000000000000" pitchFamily="2" charset="0"/>
                <a:ea typeface="+mn-ea"/>
                <a:cs typeface="+mn-cs"/>
              </a:rPr>
              <a:t> de </a:t>
            </a:r>
            <a:r>
              <a:rPr kumimoji="0" lang="en-US" altLang="es-CL" sz="2400" b="0" i="0" u="none" strike="noStrike" cap="none" normalizeH="0" baseline="0" dirty="0" err="1">
                <a:ln>
                  <a:noFill/>
                </a:ln>
                <a:solidFill>
                  <a:srgbClr val="E5E0DF"/>
                </a:solidFill>
                <a:effectLst/>
                <a:latin typeface="Barlow" panose="00000500000000000000" pitchFamily="2" charset="0"/>
                <a:ea typeface="+mn-ea"/>
                <a:cs typeface="+mn-cs"/>
              </a:rPr>
              <a:t>neumáticos</a:t>
            </a:r>
            <a:r>
              <a:rPr kumimoji="0" lang="en-US" altLang="es-CL" sz="2400" b="0" i="0" u="none" strike="noStrike" cap="none" normalizeH="0" baseline="0" dirty="0">
                <a:ln>
                  <a:noFill/>
                </a:ln>
                <a:solidFill>
                  <a:srgbClr val="E5E0DF"/>
                </a:solidFill>
                <a:effectLst/>
                <a:latin typeface="Barlow" panose="00000500000000000000" pitchFamily="2" charset="0"/>
                <a:ea typeface="+mn-ea"/>
                <a:cs typeface="+mn-cs"/>
              </a:rPr>
              <a:t>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altLang="es-CL" sz="2400" dirty="0">
              <a:solidFill>
                <a:schemeClr val="bg1"/>
              </a:solidFill>
              <a:latin typeface="Barlow" panose="00000500000000000000" pitchFamily="2" charset="0"/>
            </a:endParaRPr>
          </a:p>
          <a:p>
            <a:r>
              <a:rPr lang="es-MX" sz="2400" kern="100" dirty="0">
                <a:solidFill>
                  <a:schemeClr val="bg1"/>
                </a:solidFill>
                <a:effectLst/>
                <a:latin typeface="Barlow" panose="00000500000000000000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El diseño de la banda de rodadura se realiza utilizando conceptos geométricos y matemáticos para garantizar un agarre adecuado en diversas condiciones climáticas y de carretera. Los patrones de la banda de rodadura se diseñan para proporcionar tracción en superficies secas, mojadas o nevadas.</a:t>
            </a:r>
            <a:endParaRPr lang="es-CL" sz="2400" kern="100" dirty="0">
              <a:solidFill>
                <a:schemeClr val="bg1"/>
              </a:solidFill>
              <a:effectLst/>
              <a:latin typeface="Barlow" panose="00000500000000000000" pitchFamily="2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s-CL" sz="2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C0C0C">
              <a:alpha val="75000"/>
            </a:srgbClr>
          </a:solidFill>
          <a:ln w="13811">
            <a:solidFill>
              <a:srgbClr val="FFFFFF">
                <a:alpha val="16000"/>
              </a:srgbClr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4" name="Text 1"/>
          <p:cNvSpPr/>
          <p:nvPr/>
        </p:nvSpPr>
        <p:spPr>
          <a:xfrm>
            <a:off x="2624376" y="652701"/>
            <a:ext cx="9381649" cy="1388745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5468"/>
              </a:lnSpc>
              <a:buNone/>
            </a:pPr>
            <a:r>
              <a:rPr lang="en-US" sz="4374" b="1" dirty="0">
                <a:solidFill>
                  <a:srgbClr val="FFFFF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Función y beneficios de un tótem de información sobre </a:t>
            </a:r>
            <a:r>
              <a:rPr lang="en-US" sz="4374" b="1" dirty="0" err="1">
                <a:solidFill>
                  <a:srgbClr val="FFFFF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neumáticos</a:t>
            </a:r>
            <a:endParaRPr lang="en-US" sz="4374" dirty="0"/>
          </a:p>
        </p:txBody>
      </p:sp>
      <p:sp>
        <p:nvSpPr>
          <p:cNvPr id="5" name="Shape 2"/>
          <p:cNvSpPr/>
          <p:nvPr/>
        </p:nvSpPr>
        <p:spPr>
          <a:xfrm>
            <a:off x="2624376" y="2659380"/>
            <a:ext cx="499943" cy="499943"/>
          </a:xfrm>
          <a:prstGeom prst="roundRect">
            <a:avLst>
              <a:gd name="adj" fmla="val 20000"/>
            </a:avLst>
          </a:prstGeom>
          <a:solidFill>
            <a:srgbClr val="790709"/>
          </a:solidFill>
          <a:ln w="13811">
            <a:solidFill>
              <a:srgbClr val="91080B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6" name="Text 3"/>
          <p:cNvSpPr/>
          <p:nvPr/>
        </p:nvSpPr>
        <p:spPr>
          <a:xfrm>
            <a:off x="2817138" y="2701052"/>
            <a:ext cx="114300" cy="416481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marL="0" indent="0" algn="ctr">
              <a:lnSpc>
                <a:spcPts val="3281"/>
              </a:lnSpc>
              <a:buNone/>
            </a:pPr>
            <a:r>
              <a:rPr lang="en-US" sz="2624" b="1" dirty="0">
                <a:solidFill>
                  <a:srgbClr val="E5E0D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1</a:t>
            </a:r>
            <a:endParaRPr lang="en-US" sz="2624" dirty="0"/>
          </a:p>
        </p:txBody>
      </p:sp>
      <p:sp>
        <p:nvSpPr>
          <p:cNvPr id="7" name="Text 4"/>
          <p:cNvSpPr/>
          <p:nvPr/>
        </p:nvSpPr>
        <p:spPr>
          <a:xfrm>
            <a:off x="3346490" y="2735699"/>
            <a:ext cx="2256949" cy="709613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2734"/>
              </a:lnSpc>
              <a:buNone/>
            </a:pPr>
            <a:r>
              <a:rPr lang="en-US" sz="2187" b="1" dirty="0">
                <a:solidFill>
                  <a:srgbClr val="E5E0D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Informar y educar </a:t>
            </a:r>
            <a:r>
              <a:rPr lang="en-US" sz="2187" b="1" dirty="0">
                <a:solidFill>
                  <a:srgbClr val="000000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📚</a:t>
            </a:r>
            <a:endParaRPr lang="en-US" sz="2187" dirty="0"/>
          </a:p>
        </p:txBody>
      </p:sp>
      <p:sp>
        <p:nvSpPr>
          <p:cNvPr id="8" name="Text 5"/>
          <p:cNvSpPr/>
          <p:nvPr/>
        </p:nvSpPr>
        <p:spPr>
          <a:xfrm>
            <a:off x="3346490" y="3667482"/>
            <a:ext cx="2256949" cy="355401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2799"/>
              </a:lnSpc>
              <a:buNone/>
            </a:pPr>
            <a:r>
              <a:rPr lang="en-US" sz="1750" dirty="0">
                <a:solidFill>
                  <a:srgbClr val="E5E0D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Los tótems proporcionan información clave sobre </a:t>
            </a:r>
            <a:r>
              <a:rPr lang="en-US" sz="1750" dirty="0" err="1">
                <a:solidFill>
                  <a:srgbClr val="E5E0D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neumáticos</a:t>
            </a:r>
            <a:r>
              <a:rPr lang="en-US" sz="1750" dirty="0">
                <a:solidFill>
                  <a:srgbClr val="E5E0D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, como presión adecuada y mantenimiento, ayudando a los conductores a tomar decisiones informadas.</a:t>
            </a:r>
            <a:endParaRPr lang="en-US" sz="1750" dirty="0"/>
          </a:p>
        </p:txBody>
      </p:sp>
      <p:sp>
        <p:nvSpPr>
          <p:cNvPr id="9" name="Shape 6"/>
          <p:cNvSpPr/>
          <p:nvPr/>
        </p:nvSpPr>
        <p:spPr>
          <a:xfrm>
            <a:off x="5825609" y="2659380"/>
            <a:ext cx="499943" cy="499943"/>
          </a:xfrm>
          <a:prstGeom prst="roundRect">
            <a:avLst>
              <a:gd name="adj" fmla="val 20000"/>
            </a:avLst>
          </a:prstGeom>
          <a:solidFill>
            <a:srgbClr val="790709"/>
          </a:solidFill>
          <a:ln w="13811">
            <a:solidFill>
              <a:srgbClr val="91080B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0" name="Text 7"/>
          <p:cNvSpPr/>
          <p:nvPr/>
        </p:nvSpPr>
        <p:spPr>
          <a:xfrm>
            <a:off x="5984081" y="2701052"/>
            <a:ext cx="182880" cy="416481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marL="0" indent="0" algn="ctr">
              <a:lnSpc>
                <a:spcPts val="3281"/>
              </a:lnSpc>
              <a:buNone/>
            </a:pPr>
            <a:r>
              <a:rPr lang="en-US" sz="2624" b="1" dirty="0">
                <a:solidFill>
                  <a:srgbClr val="E5E0D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2</a:t>
            </a:r>
            <a:endParaRPr lang="en-US" sz="2624" dirty="0"/>
          </a:p>
        </p:txBody>
      </p:sp>
      <p:sp>
        <p:nvSpPr>
          <p:cNvPr id="11" name="Text 8"/>
          <p:cNvSpPr/>
          <p:nvPr/>
        </p:nvSpPr>
        <p:spPr>
          <a:xfrm>
            <a:off x="6547723" y="2735699"/>
            <a:ext cx="2256949" cy="709613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2734"/>
              </a:lnSpc>
              <a:buNone/>
            </a:pPr>
            <a:r>
              <a:rPr lang="en-US" sz="2187" b="1" dirty="0">
                <a:solidFill>
                  <a:srgbClr val="E5E0D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Mejorar la seguridad vial </a:t>
            </a:r>
            <a:r>
              <a:rPr lang="en-US" sz="2187" b="1" dirty="0">
                <a:solidFill>
                  <a:srgbClr val="000000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🚗</a:t>
            </a:r>
            <a:endParaRPr lang="en-US" sz="2187" dirty="0"/>
          </a:p>
        </p:txBody>
      </p:sp>
      <p:sp>
        <p:nvSpPr>
          <p:cNvPr id="12" name="Text 9"/>
          <p:cNvSpPr/>
          <p:nvPr/>
        </p:nvSpPr>
        <p:spPr>
          <a:xfrm>
            <a:off x="6547723" y="3667482"/>
            <a:ext cx="2256949" cy="2843213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2799"/>
              </a:lnSpc>
              <a:buNone/>
            </a:pPr>
            <a:r>
              <a:rPr lang="en-US" sz="1750" dirty="0">
                <a:solidFill>
                  <a:srgbClr val="E5E0D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Al educar a los conductores sobre la importancia de tener buenos </a:t>
            </a:r>
            <a:r>
              <a:rPr lang="en-US" sz="1750" dirty="0" err="1">
                <a:solidFill>
                  <a:srgbClr val="E5E0D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neumáticos</a:t>
            </a:r>
            <a:r>
              <a:rPr lang="en-US" sz="1750" dirty="0">
                <a:solidFill>
                  <a:srgbClr val="E5E0D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, los tótems fomentan la seguridad vial y reducen el riesgo de accidentes.</a:t>
            </a:r>
            <a:endParaRPr lang="en-US" sz="1750" dirty="0"/>
          </a:p>
        </p:txBody>
      </p:sp>
      <p:sp>
        <p:nvSpPr>
          <p:cNvPr id="13" name="Shape 10"/>
          <p:cNvSpPr/>
          <p:nvPr/>
        </p:nvSpPr>
        <p:spPr>
          <a:xfrm>
            <a:off x="9026843" y="2659380"/>
            <a:ext cx="499943" cy="499943"/>
          </a:xfrm>
          <a:prstGeom prst="roundRect">
            <a:avLst>
              <a:gd name="adj" fmla="val 20000"/>
            </a:avLst>
          </a:prstGeom>
          <a:solidFill>
            <a:srgbClr val="790709"/>
          </a:solidFill>
          <a:ln w="13811">
            <a:solidFill>
              <a:srgbClr val="91080B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4" name="Text 11"/>
          <p:cNvSpPr/>
          <p:nvPr/>
        </p:nvSpPr>
        <p:spPr>
          <a:xfrm>
            <a:off x="9189125" y="2701052"/>
            <a:ext cx="175260" cy="416481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marL="0" indent="0" algn="ctr">
              <a:lnSpc>
                <a:spcPts val="3281"/>
              </a:lnSpc>
              <a:buNone/>
            </a:pPr>
            <a:r>
              <a:rPr lang="en-US" sz="2624" b="1" dirty="0">
                <a:solidFill>
                  <a:srgbClr val="E5E0D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3</a:t>
            </a:r>
            <a:endParaRPr lang="en-US" sz="2624" dirty="0"/>
          </a:p>
        </p:txBody>
      </p:sp>
      <p:sp>
        <p:nvSpPr>
          <p:cNvPr id="15" name="Text 12"/>
          <p:cNvSpPr/>
          <p:nvPr/>
        </p:nvSpPr>
        <p:spPr>
          <a:xfrm>
            <a:off x="9748957" y="2735699"/>
            <a:ext cx="2256949" cy="709613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2734"/>
              </a:lnSpc>
              <a:buNone/>
            </a:pPr>
            <a:r>
              <a:rPr lang="en-US" sz="2187" b="1" dirty="0">
                <a:solidFill>
                  <a:srgbClr val="E5E0D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Brindar conveniencia </a:t>
            </a:r>
            <a:r>
              <a:rPr lang="en-US" sz="2187" b="1" dirty="0">
                <a:solidFill>
                  <a:srgbClr val="000000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🕒</a:t>
            </a:r>
            <a:endParaRPr lang="en-US" sz="2187" dirty="0"/>
          </a:p>
        </p:txBody>
      </p:sp>
      <p:sp>
        <p:nvSpPr>
          <p:cNvPr id="16" name="Text 13"/>
          <p:cNvSpPr/>
          <p:nvPr/>
        </p:nvSpPr>
        <p:spPr>
          <a:xfrm>
            <a:off x="9748957" y="3667482"/>
            <a:ext cx="2256949" cy="3909417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2799"/>
              </a:lnSpc>
              <a:buNone/>
            </a:pPr>
            <a:r>
              <a:rPr lang="en-US" sz="1750" dirty="0">
                <a:solidFill>
                  <a:srgbClr val="E5E0D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Los tótems de información se ubican en lugares estratégicos, como estaciones de servicio o áreas de descanso, para que los conductores puedan acceder a la información de manera práctica y rápida.</a:t>
            </a:r>
            <a:endParaRPr lang="en-US" sz="1750" dirty="0"/>
          </a:p>
        </p:txBody>
      </p:sp>
      <p:pic>
        <p:nvPicPr>
          <p:cNvPr id="17" name="Image 1" descr="preencoded.png">
            <a:hlinkClick r:id="rId4"/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242153" y="7589520"/>
            <a:ext cx="2296807" cy="54864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C0C0C">
              <a:alpha val="75000"/>
            </a:srgbClr>
          </a:solidFill>
          <a:ln w="13811">
            <a:solidFill>
              <a:srgbClr val="FFFFFF">
                <a:alpha val="16000"/>
              </a:srgbClr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4" name="Text 1"/>
          <p:cNvSpPr/>
          <p:nvPr/>
        </p:nvSpPr>
        <p:spPr>
          <a:xfrm>
            <a:off x="2624376" y="702707"/>
            <a:ext cx="9381649" cy="1388745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5468"/>
              </a:lnSpc>
              <a:buNone/>
            </a:pPr>
            <a:r>
              <a:rPr lang="en-US" sz="4374" b="1" dirty="0">
                <a:solidFill>
                  <a:srgbClr val="FFFFF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Ubicación de un tótem de información sobre </a:t>
            </a:r>
            <a:r>
              <a:rPr lang="en-US" sz="4374" b="1" dirty="0" err="1">
                <a:solidFill>
                  <a:srgbClr val="FFFFF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neumáticos</a:t>
            </a:r>
            <a:endParaRPr lang="en-US" sz="4374" dirty="0"/>
          </a:p>
        </p:txBody>
      </p:sp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624376" y="2535793"/>
            <a:ext cx="5554980" cy="3433167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2624376" y="6246614"/>
            <a:ext cx="2674620" cy="347186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marL="0" indent="0" algn="l">
              <a:lnSpc>
                <a:spcPts val="2734"/>
              </a:lnSpc>
              <a:buNone/>
            </a:pPr>
            <a:r>
              <a:rPr lang="en-US" sz="2187" b="1" dirty="0">
                <a:solidFill>
                  <a:srgbClr val="FFFFF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Ubicación estratégica</a:t>
            </a:r>
            <a:endParaRPr lang="en-US" sz="2187" dirty="0"/>
          </a:p>
        </p:txBody>
      </p:sp>
      <p:sp>
        <p:nvSpPr>
          <p:cNvPr id="7" name="Text 3"/>
          <p:cNvSpPr/>
          <p:nvPr/>
        </p:nvSpPr>
        <p:spPr>
          <a:xfrm>
            <a:off x="2624376" y="6815971"/>
            <a:ext cx="9381649" cy="710803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ts val="2799"/>
              </a:lnSpc>
              <a:buNone/>
            </a:pPr>
            <a:r>
              <a:rPr lang="en-US" sz="1750" dirty="0">
                <a:solidFill>
                  <a:srgbClr val="E5E0D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Los tótems se encuentran en lugares de alto tráfico, como estaciones de servicio, para garantizar que alcancen a la mayor cantidad de conductores posible.</a:t>
            </a:r>
            <a:endParaRPr lang="en-US" sz="1750" dirty="0"/>
          </a:p>
        </p:txBody>
      </p:sp>
      <p:pic>
        <p:nvPicPr>
          <p:cNvPr id="8" name="Image 2" descr="preencoded.png">
            <a:hlinkClick r:id="rId5"/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2242153" y="7589520"/>
            <a:ext cx="2296807" cy="54864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C0C0C">
              <a:alpha val="75000"/>
            </a:srgbClr>
          </a:solidFill>
          <a:ln w="12025">
            <a:solidFill>
              <a:srgbClr val="FFFFFF">
                <a:alpha val="16000"/>
              </a:srgbClr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pic>
        <p:nvPicPr>
          <p:cNvPr id="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972800" y="0"/>
            <a:ext cx="3657600" cy="8229600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1390888" y="684252"/>
            <a:ext cx="8190905" cy="181844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4774"/>
              </a:lnSpc>
              <a:buNone/>
            </a:pPr>
            <a:r>
              <a:rPr lang="en-US" sz="3819" b="1" dirty="0">
                <a:solidFill>
                  <a:srgbClr val="FFFFF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Importancia de la información proporcionada en un tótem de información sobre </a:t>
            </a:r>
            <a:r>
              <a:rPr lang="en-US" sz="3819" b="1" dirty="0" err="1">
                <a:solidFill>
                  <a:srgbClr val="FFFFF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neumáticos</a:t>
            </a:r>
            <a:endParaRPr lang="en-US" sz="3819" dirty="0"/>
          </a:p>
        </p:txBody>
      </p:sp>
      <p:sp>
        <p:nvSpPr>
          <p:cNvPr id="6" name="Shape 2"/>
          <p:cNvSpPr/>
          <p:nvPr/>
        </p:nvSpPr>
        <p:spPr>
          <a:xfrm>
            <a:off x="1390888" y="2945249"/>
            <a:ext cx="436483" cy="436483"/>
          </a:xfrm>
          <a:prstGeom prst="roundRect">
            <a:avLst>
              <a:gd name="adj" fmla="val 20001"/>
            </a:avLst>
          </a:prstGeom>
          <a:solidFill>
            <a:srgbClr val="790709"/>
          </a:solidFill>
          <a:ln w="12025">
            <a:solidFill>
              <a:srgbClr val="91080B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7" name="Text 3"/>
          <p:cNvSpPr/>
          <p:nvPr/>
        </p:nvSpPr>
        <p:spPr>
          <a:xfrm>
            <a:off x="1559600" y="2981563"/>
            <a:ext cx="99060" cy="363736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marL="0" indent="0" algn="ctr">
              <a:lnSpc>
                <a:spcPts val="2864"/>
              </a:lnSpc>
              <a:buNone/>
            </a:pPr>
            <a:r>
              <a:rPr lang="en-US" sz="2291" b="1" dirty="0">
                <a:solidFill>
                  <a:srgbClr val="E5E0D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1</a:t>
            </a:r>
            <a:endParaRPr lang="en-US" sz="2291" dirty="0"/>
          </a:p>
        </p:txBody>
      </p:sp>
      <p:sp>
        <p:nvSpPr>
          <p:cNvPr id="8" name="Text 4"/>
          <p:cNvSpPr/>
          <p:nvPr/>
        </p:nvSpPr>
        <p:spPr>
          <a:xfrm>
            <a:off x="2021324" y="3011924"/>
            <a:ext cx="3543300" cy="318373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marL="0" indent="0">
              <a:lnSpc>
                <a:spcPts val="2387"/>
              </a:lnSpc>
              <a:buNone/>
            </a:pPr>
            <a:r>
              <a:rPr lang="en-US" sz="1909" b="1" dirty="0">
                <a:solidFill>
                  <a:srgbClr val="E5E0D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Mejor desempeño del vehículo </a:t>
            </a:r>
            <a:r>
              <a:rPr lang="en-US" sz="1909" b="1" dirty="0">
                <a:solidFill>
                  <a:srgbClr val="000000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🚙</a:t>
            </a:r>
            <a:endParaRPr lang="en-US" sz="1909" dirty="0"/>
          </a:p>
        </p:txBody>
      </p:sp>
      <p:sp>
        <p:nvSpPr>
          <p:cNvPr id="9" name="Text 5"/>
          <p:cNvSpPr/>
          <p:nvPr/>
        </p:nvSpPr>
        <p:spPr>
          <a:xfrm>
            <a:off x="2021324" y="3524250"/>
            <a:ext cx="7560469" cy="930831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2444"/>
              </a:lnSpc>
              <a:buNone/>
            </a:pPr>
            <a:r>
              <a:rPr lang="en-US" sz="1528" dirty="0">
                <a:solidFill>
                  <a:srgbClr val="E5E0D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La información del tótem ayuda a los conductores a mantener sus </a:t>
            </a:r>
            <a:r>
              <a:rPr lang="en-US" sz="1528" dirty="0" err="1">
                <a:solidFill>
                  <a:srgbClr val="E5E0D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neumáticos</a:t>
            </a:r>
            <a:r>
              <a:rPr lang="en-US" sz="1528" dirty="0">
                <a:solidFill>
                  <a:srgbClr val="E5E0D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 en buen estado, lo que se traduce en un mejor rendimiento del vehículo y una conducción más segura.</a:t>
            </a:r>
            <a:endParaRPr lang="en-US" sz="1528" dirty="0"/>
          </a:p>
        </p:txBody>
      </p:sp>
      <p:sp>
        <p:nvSpPr>
          <p:cNvPr id="10" name="Shape 6"/>
          <p:cNvSpPr/>
          <p:nvPr/>
        </p:nvSpPr>
        <p:spPr>
          <a:xfrm>
            <a:off x="1390888" y="4800600"/>
            <a:ext cx="436483" cy="436483"/>
          </a:xfrm>
          <a:prstGeom prst="roundRect">
            <a:avLst>
              <a:gd name="adj" fmla="val 20001"/>
            </a:avLst>
          </a:prstGeom>
          <a:solidFill>
            <a:srgbClr val="790709"/>
          </a:solidFill>
          <a:ln w="12025">
            <a:solidFill>
              <a:srgbClr val="91080B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1" name="Text 7"/>
          <p:cNvSpPr/>
          <p:nvPr/>
        </p:nvSpPr>
        <p:spPr>
          <a:xfrm>
            <a:off x="1529120" y="4836914"/>
            <a:ext cx="160020" cy="363736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marL="0" indent="0" algn="ctr">
              <a:lnSpc>
                <a:spcPts val="2864"/>
              </a:lnSpc>
              <a:buNone/>
            </a:pPr>
            <a:r>
              <a:rPr lang="en-US" sz="2291" b="1" dirty="0">
                <a:solidFill>
                  <a:srgbClr val="E5E0D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2</a:t>
            </a:r>
            <a:endParaRPr lang="en-US" sz="2291" dirty="0"/>
          </a:p>
        </p:txBody>
      </p:sp>
      <p:sp>
        <p:nvSpPr>
          <p:cNvPr id="12" name="Text 8"/>
          <p:cNvSpPr/>
          <p:nvPr/>
        </p:nvSpPr>
        <p:spPr>
          <a:xfrm>
            <a:off x="2021324" y="4867275"/>
            <a:ext cx="2141220" cy="318373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marL="0" indent="0">
              <a:lnSpc>
                <a:spcPts val="2387"/>
              </a:lnSpc>
              <a:buNone/>
            </a:pPr>
            <a:r>
              <a:rPr lang="en-US" sz="1909" b="1" dirty="0">
                <a:solidFill>
                  <a:srgbClr val="E5E0D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Ahorro de dinero </a:t>
            </a:r>
            <a:r>
              <a:rPr lang="en-US" sz="1909" b="1" dirty="0">
                <a:solidFill>
                  <a:srgbClr val="000000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💰</a:t>
            </a:r>
            <a:endParaRPr lang="en-US" sz="1909" dirty="0"/>
          </a:p>
        </p:txBody>
      </p:sp>
      <p:sp>
        <p:nvSpPr>
          <p:cNvPr id="13" name="Text 9"/>
          <p:cNvSpPr/>
          <p:nvPr/>
        </p:nvSpPr>
        <p:spPr>
          <a:xfrm>
            <a:off x="2021324" y="5379601"/>
            <a:ext cx="7560469" cy="62055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2444"/>
              </a:lnSpc>
              <a:buNone/>
            </a:pPr>
            <a:r>
              <a:rPr lang="en-US" sz="1528" dirty="0">
                <a:solidFill>
                  <a:srgbClr val="E5E0D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Al conocer cómo cuidar adecuadamente sus </a:t>
            </a:r>
            <a:r>
              <a:rPr lang="en-US" sz="1528" dirty="0" err="1">
                <a:solidFill>
                  <a:srgbClr val="E5E0D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neumáticos</a:t>
            </a:r>
            <a:r>
              <a:rPr lang="en-US" sz="1528" dirty="0">
                <a:solidFill>
                  <a:srgbClr val="E5E0D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, los conductores pueden evitar gastos innecesarios, como reemplazos prematuros debido a un mantenimiento deficiente.</a:t>
            </a:r>
            <a:endParaRPr lang="en-US" sz="1528" dirty="0"/>
          </a:p>
        </p:txBody>
      </p:sp>
      <p:sp>
        <p:nvSpPr>
          <p:cNvPr id="14" name="Shape 10"/>
          <p:cNvSpPr/>
          <p:nvPr/>
        </p:nvSpPr>
        <p:spPr>
          <a:xfrm>
            <a:off x="1390888" y="6345674"/>
            <a:ext cx="436483" cy="436483"/>
          </a:xfrm>
          <a:prstGeom prst="roundRect">
            <a:avLst>
              <a:gd name="adj" fmla="val 20001"/>
            </a:avLst>
          </a:prstGeom>
          <a:solidFill>
            <a:srgbClr val="790709"/>
          </a:solidFill>
          <a:ln w="12025">
            <a:solidFill>
              <a:srgbClr val="91080B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5" name="Text 11"/>
          <p:cNvSpPr/>
          <p:nvPr/>
        </p:nvSpPr>
        <p:spPr>
          <a:xfrm>
            <a:off x="1532930" y="6381988"/>
            <a:ext cx="152400" cy="363736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marL="0" indent="0" algn="ctr">
              <a:lnSpc>
                <a:spcPts val="2864"/>
              </a:lnSpc>
              <a:buNone/>
            </a:pPr>
            <a:r>
              <a:rPr lang="en-US" sz="2291" b="1" dirty="0">
                <a:solidFill>
                  <a:srgbClr val="E5E0D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3</a:t>
            </a:r>
            <a:endParaRPr lang="en-US" sz="2291" dirty="0"/>
          </a:p>
        </p:txBody>
      </p:sp>
      <p:sp>
        <p:nvSpPr>
          <p:cNvPr id="16" name="Text 12"/>
          <p:cNvSpPr/>
          <p:nvPr/>
        </p:nvSpPr>
        <p:spPr>
          <a:xfrm>
            <a:off x="2021324" y="6412349"/>
            <a:ext cx="2644140" cy="318373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marL="0" indent="0">
              <a:lnSpc>
                <a:spcPts val="2387"/>
              </a:lnSpc>
              <a:buNone/>
            </a:pPr>
            <a:r>
              <a:rPr lang="en-US" sz="1909" b="1" dirty="0">
                <a:solidFill>
                  <a:srgbClr val="E5E0D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Conciencia ambiental </a:t>
            </a:r>
            <a:r>
              <a:rPr lang="en-US" sz="1909" b="1" dirty="0">
                <a:solidFill>
                  <a:srgbClr val="000000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🌍</a:t>
            </a:r>
            <a:endParaRPr lang="en-US" sz="1909" dirty="0"/>
          </a:p>
        </p:txBody>
      </p:sp>
      <p:sp>
        <p:nvSpPr>
          <p:cNvPr id="17" name="Text 13"/>
          <p:cNvSpPr/>
          <p:nvPr/>
        </p:nvSpPr>
        <p:spPr>
          <a:xfrm>
            <a:off x="2021324" y="6924675"/>
            <a:ext cx="7560469" cy="62055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2444"/>
              </a:lnSpc>
              <a:buNone/>
            </a:pPr>
            <a:r>
              <a:rPr lang="en-US" sz="1528" dirty="0">
                <a:solidFill>
                  <a:srgbClr val="E5E0D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La información sobre </a:t>
            </a:r>
            <a:r>
              <a:rPr lang="en-US" sz="1528" dirty="0" err="1">
                <a:solidFill>
                  <a:srgbClr val="E5E0D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neumáticos</a:t>
            </a:r>
            <a:r>
              <a:rPr lang="en-US" sz="1528" dirty="0">
                <a:solidFill>
                  <a:srgbClr val="E5E0D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 eficientes y ecológicos que se suministra en los tótems fomenta la conducción sostenible y la reducción de la huella de carbono.</a:t>
            </a:r>
            <a:endParaRPr lang="en-US" sz="1528" dirty="0"/>
          </a:p>
        </p:txBody>
      </p:sp>
      <p:pic>
        <p:nvPicPr>
          <p:cNvPr id="18" name="Image 2" descr="preencoded.png">
            <a:hlinkClick r:id="rId5"/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2242153" y="7589520"/>
            <a:ext cx="2296807" cy="54864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C0C0C">
              <a:alpha val="75000"/>
            </a:srgbClr>
          </a:solidFill>
          <a:ln w="10478">
            <a:solidFill>
              <a:srgbClr val="FFFFFF">
                <a:alpha val="16000"/>
              </a:srgbClr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4" name="Text 1"/>
          <p:cNvSpPr/>
          <p:nvPr/>
        </p:nvSpPr>
        <p:spPr>
          <a:xfrm>
            <a:off x="3762494" y="463868"/>
            <a:ext cx="7105293" cy="105179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4141"/>
              </a:lnSpc>
              <a:buNone/>
            </a:pPr>
            <a:r>
              <a:rPr lang="en-US" sz="3313" b="1" dirty="0">
                <a:solidFill>
                  <a:srgbClr val="FFFFF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Objetivo y preguntas sobre la investigación </a:t>
            </a:r>
            <a:endParaRPr lang="en-US" sz="3313" dirty="0"/>
          </a:p>
        </p:txBody>
      </p:sp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53018" y="1852136"/>
            <a:ext cx="2524244" cy="2524244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3762494" y="4586645"/>
            <a:ext cx="7105293" cy="269081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marL="0" indent="0" algn="ctr">
              <a:lnSpc>
                <a:spcPts val="2120"/>
              </a:lnSpc>
              <a:buNone/>
            </a:pPr>
            <a:r>
              <a:rPr lang="en-US" sz="1325" dirty="0">
                <a:solidFill>
                  <a:srgbClr val="E5E0D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concientizar a los usuarios sobre que </a:t>
            </a:r>
            <a:r>
              <a:rPr lang="en-US" sz="1325" dirty="0" err="1">
                <a:solidFill>
                  <a:srgbClr val="E5E0D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neumáticos</a:t>
            </a:r>
            <a:r>
              <a:rPr lang="en-US" sz="1325" dirty="0">
                <a:solidFill>
                  <a:srgbClr val="E5E0D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 necesitan sus vehículos</a:t>
            </a:r>
            <a:endParaRPr lang="en-US" sz="1325" dirty="0"/>
          </a:p>
        </p:txBody>
      </p:sp>
      <p:sp>
        <p:nvSpPr>
          <p:cNvPr id="7" name="Text 3"/>
          <p:cNvSpPr/>
          <p:nvPr/>
        </p:nvSpPr>
        <p:spPr>
          <a:xfrm>
            <a:off x="3762494" y="5007173"/>
            <a:ext cx="7105293" cy="269081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marL="0" indent="0" algn="ctr">
              <a:lnSpc>
                <a:spcPts val="2120"/>
              </a:lnSpc>
              <a:buNone/>
            </a:pPr>
            <a:r>
              <a:rPr lang="en-US" sz="1325" dirty="0">
                <a:solidFill>
                  <a:srgbClr val="E5E0D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¿Porque los usuarios no tienen información sobre los </a:t>
            </a:r>
            <a:r>
              <a:rPr lang="en-US" sz="1325" dirty="0" err="1">
                <a:solidFill>
                  <a:srgbClr val="E5E0D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neumáticos</a:t>
            </a:r>
            <a:r>
              <a:rPr lang="en-US" sz="1325" dirty="0">
                <a:solidFill>
                  <a:srgbClr val="E5E0D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 que deberían comprar?</a:t>
            </a:r>
            <a:endParaRPr lang="en-US" sz="1325" dirty="0"/>
          </a:p>
        </p:txBody>
      </p:sp>
      <p:sp>
        <p:nvSpPr>
          <p:cNvPr id="8" name="Text 4"/>
          <p:cNvSpPr/>
          <p:nvPr/>
        </p:nvSpPr>
        <p:spPr>
          <a:xfrm>
            <a:off x="3762494" y="5427702"/>
            <a:ext cx="7105293" cy="538163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lnSpc>
                <a:spcPts val="2120"/>
              </a:lnSpc>
              <a:buNone/>
            </a:pPr>
            <a:r>
              <a:rPr lang="en-US" sz="1325" dirty="0">
                <a:solidFill>
                  <a:srgbClr val="E5E0D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¿Cuántos conductores conocen la vida útil recomendada de los </a:t>
            </a:r>
            <a:r>
              <a:rPr lang="en-US" sz="1325" dirty="0" err="1">
                <a:solidFill>
                  <a:srgbClr val="E5E0D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neumáticos</a:t>
            </a:r>
            <a:r>
              <a:rPr lang="en-US" sz="1325" dirty="0">
                <a:solidFill>
                  <a:srgbClr val="E5E0D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 y cuándo deberían reemplazarlos incluso si parecen en buen estado?</a:t>
            </a:r>
            <a:endParaRPr lang="en-US" sz="1325" dirty="0"/>
          </a:p>
        </p:txBody>
      </p:sp>
      <p:sp>
        <p:nvSpPr>
          <p:cNvPr id="9" name="Text 5"/>
          <p:cNvSpPr/>
          <p:nvPr/>
        </p:nvSpPr>
        <p:spPr>
          <a:xfrm>
            <a:off x="3762494" y="6117312"/>
            <a:ext cx="7105293" cy="269081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marL="0" indent="0" algn="ctr">
              <a:lnSpc>
                <a:spcPts val="2120"/>
              </a:lnSpc>
              <a:buNone/>
            </a:pPr>
            <a:r>
              <a:rPr lang="en-US" sz="1325" dirty="0">
                <a:solidFill>
                  <a:srgbClr val="E5E0D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¿Qué tan familiarizados están con los números y letras impresos en el lateral del neumático?</a:t>
            </a:r>
            <a:endParaRPr lang="en-US" sz="1325" dirty="0"/>
          </a:p>
        </p:txBody>
      </p:sp>
      <p:sp>
        <p:nvSpPr>
          <p:cNvPr id="10" name="Text 6"/>
          <p:cNvSpPr/>
          <p:nvPr/>
        </p:nvSpPr>
        <p:spPr>
          <a:xfrm>
            <a:off x="3762494" y="6537841"/>
            <a:ext cx="7105293" cy="538163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lnSpc>
                <a:spcPts val="2120"/>
              </a:lnSpc>
              <a:buNone/>
            </a:pPr>
            <a:r>
              <a:rPr lang="en-US" sz="1325" dirty="0">
                <a:solidFill>
                  <a:srgbClr val="E5E0D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¿Cuántos conductores tienen en cuenta las condiciones específicas de manejo y climáticas al seleccionar </a:t>
            </a:r>
            <a:r>
              <a:rPr lang="en-US" sz="1325" dirty="0" err="1">
                <a:solidFill>
                  <a:srgbClr val="E5E0D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neumáticos</a:t>
            </a:r>
            <a:r>
              <a:rPr lang="en-US" sz="1325" dirty="0">
                <a:solidFill>
                  <a:srgbClr val="E5E0D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?</a:t>
            </a:r>
            <a:endParaRPr lang="en-US" sz="1325" dirty="0"/>
          </a:p>
        </p:txBody>
      </p:sp>
      <p:sp>
        <p:nvSpPr>
          <p:cNvPr id="11" name="Text 7"/>
          <p:cNvSpPr/>
          <p:nvPr/>
        </p:nvSpPr>
        <p:spPr>
          <a:xfrm>
            <a:off x="3762494" y="7227451"/>
            <a:ext cx="7105293" cy="538163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lnSpc>
                <a:spcPts val="2120"/>
              </a:lnSpc>
              <a:buNone/>
            </a:pPr>
            <a:r>
              <a:rPr lang="en-US" sz="1325" dirty="0">
                <a:solidFill>
                  <a:srgbClr val="E5E0D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¿Creen que la falta de información podría tener consecuencias significativas en términos de seguridad y rendimiento?</a:t>
            </a:r>
            <a:endParaRPr lang="en-US" sz="1325" dirty="0"/>
          </a:p>
        </p:txBody>
      </p:sp>
      <p:pic>
        <p:nvPicPr>
          <p:cNvPr id="12" name="Image 2" descr="preencoded.png">
            <a:hlinkClick r:id="rId5"/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2242153" y="7589520"/>
            <a:ext cx="2296807" cy="54864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-91440" y="0"/>
            <a:ext cx="14630400" cy="8229600"/>
          </a:xfrm>
          <a:prstGeom prst="rect">
            <a:avLst/>
          </a:prstGeom>
          <a:solidFill>
            <a:srgbClr val="0C0C0C">
              <a:alpha val="75000"/>
            </a:srgbClr>
          </a:solidFill>
          <a:ln w="13811">
            <a:solidFill>
              <a:srgbClr val="FFFFFF">
                <a:alpha val="16000"/>
              </a:srgbClr>
            </a:solidFill>
            <a:prstDash val="solid"/>
          </a:ln>
        </p:spPr>
        <p:txBody>
          <a:bodyPr/>
          <a:lstStyle/>
          <a:p>
            <a:endParaRPr lang="es-CL" dirty="0"/>
          </a:p>
        </p:txBody>
      </p:sp>
      <p:sp>
        <p:nvSpPr>
          <p:cNvPr id="4" name="Text 1"/>
          <p:cNvSpPr/>
          <p:nvPr/>
        </p:nvSpPr>
        <p:spPr>
          <a:xfrm>
            <a:off x="2624376" y="422836"/>
            <a:ext cx="9381649" cy="1388745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5468"/>
              </a:lnSpc>
              <a:buNone/>
            </a:pPr>
            <a:r>
              <a:rPr lang="en-US" sz="4374" b="1" dirty="0">
                <a:solidFill>
                  <a:srgbClr val="FFFFF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Tema de investigación, nociones matemáticas y problemática a abordar</a:t>
            </a:r>
            <a:endParaRPr lang="en-US" sz="4374" dirty="0"/>
          </a:p>
        </p:txBody>
      </p:sp>
      <p:sp>
        <p:nvSpPr>
          <p:cNvPr id="5" name="Text 2"/>
          <p:cNvSpPr/>
          <p:nvPr/>
        </p:nvSpPr>
        <p:spPr>
          <a:xfrm>
            <a:off x="2624376" y="3767971"/>
            <a:ext cx="9381649" cy="355402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marL="0" indent="0">
              <a:lnSpc>
                <a:spcPts val="2799"/>
              </a:lnSpc>
              <a:buNone/>
            </a:pPr>
            <a:endParaRPr lang="en-US" sz="1750" dirty="0"/>
          </a:p>
        </p:txBody>
      </p:sp>
      <p:sp>
        <p:nvSpPr>
          <p:cNvPr id="6" name="Text 3"/>
          <p:cNvSpPr/>
          <p:nvPr/>
        </p:nvSpPr>
        <p:spPr>
          <a:xfrm>
            <a:off x="2624376" y="4373285"/>
            <a:ext cx="9381649" cy="710803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2799"/>
              </a:lnSpc>
              <a:buNone/>
            </a:pPr>
            <a:endParaRPr lang="en-US" sz="1750" dirty="0"/>
          </a:p>
        </p:txBody>
      </p:sp>
      <p:sp>
        <p:nvSpPr>
          <p:cNvPr id="7" name="Text 4"/>
          <p:cNvSpPr/>
          <p:nvPr/>
        </p:nvSpPr>
        <p:spPr>
          <a:xfrm>
            <a:off x="2624376" y="5334000"/>
            <a:ext cx="9381649" cy="355402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marL="0" indent="0">
              <a:lnSpc>
                <a:spcPts val="2799"/>
              </a:lnSpc>
              <a:buNone/>
            </a:pPr>
            <a:endParaRPr lang="en-US" sz="1750" dirty="0"/>
          </a:p>
        </p:txBody>
      </p:sp>
      <p:sp>
        <p:nvSpPr>
          <p:cNvPr id="8" name="Text 5"/>
          <p:cNvSpPr/>
          <p:nvPr/>
        </p:nvSpPr>
        <p:spPr>
          <a:xfrm>
            <a:off x="2624376" y="5939314"/>
            <a:ext cx="9381649" cy="355402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marL="0" indent="0">
              <a:lnSpc>
                <a:spcPts val="2799"/>
              </a:lnSpc>
              <a:buNone/>
            </a:pPr>
            <a:endParaRPr lang="en-US" sz="1750" dirty="0"/>
          </a:p>
        </p:txBody>
      </p:sp>
      <p:pic>
        <p:nvPicPr>
          <p:cNvPr id="9" name="Image 1" descr="preencoded.png">
            <a:hlinkClick r:id="rId4"/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242153" y="7589520"/>
            <a:ext cx="2296807" cy="548640"/>
          </a:xfrm>
          <a:prstGeom prst="rect">
            <a:avLst/>
          </a:prstGeom>
        </p:spPr>
      </p:pic>
      <p:sp>
        <p:nvSpPr>
          <p:cNvPr id="10" name="CuadroTexto 9">
            <a:extLst>
              <a:ext uri="{FF2B5EF4-FFF2-40B4-BE49-F238E27FC236}">
                <a16:creationId xmlns:a16="http://schemas.microsoft.com/office/drawing/2014/main" id="{656842D7-CA97-FC6A-9299-31AA58CCC404}"/>
              </a:ext>
            </a:extLst>
          </p:cNvPr>
          <p:cNvSpPr txBox="1"/>
          <p:nvPr/>
        </p:nvSpPr>
        <p:spPr>
          <a:xfrm>
            <a:off x="434067" y="3172956"/>
            <a:ext cx="6126220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dirty="0">
                <a:solidFill>
                  <a:schemeClr val="bg1"/>
                </a:solidFill>
              </a:rPr>
              <a:t>Para esto nuestro tótem incluirá una mini encuesta la cual nos dará el porcentaje adecuado para entregarle una recomendación de que neumáticos, también se adjuntara a un Excel el cual nos dejará registrado los porcentajes entregados para así dar información a las tiendas para que se reabastezcan de stock necesita nuestro usuario para su vehículo.</a:t>
            </a:r>
            <a:endParaRPr lang="es-CL" dirty="0"/>
          </a:p>
        </p:txBody>
      </p:sp>
      <p:pic>
        <p:nvPicPr>
          <p:cNvPr id="14" name="Imagen 13" descr="Interfaz de usuario gráfica, Gráfico, Aplicación&#10;&#10;Descripción generada automáticamente">
            <a:extLst>
              <a:ext uri="{FF2B5EF4-FFF2-40B4-BE49-F238E27FC236}">
                <a16:creationId xmlns:a16="http://schemas.microsoft.com/office/drawing/2014/main" id="{42674ECF-F432-FE8B-CB9F-FEBDDD39592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594754" y="2042192"/>
            <a:ext cx="3927733" cy="5547329"/>
          </a:xfrm>
          <a:prstGeom prst="rect">
            <a:avLst/>
          </a:prstGeom>
        </p:spPr>
      </p:pic>
      <p:pic>
        <p:nvPicPr>
          <p:cNvPr id="12" name="Imagen 11">
            <a:extLst>
              <a:ext uri="{FF2B5EF4-FFF2-40B4-BE49-F238E27FC236}">
                <a16:creationId xmlns:a16="http://schemas.microsoft.com/office/drawing/2014/main" id="{EBE3D648-1733-89EC-9043-1E74C15CD063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289028" y="1889342"/>
            <a:ext cx="2923135" cy="607588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C0C0C">
              <a:alpha val="75000"/>
            </a:srgbClr>
          </a:solidFill>
          <a:ln w="13811">
            <a:solidFill>
              <a:srgbClr val="FFFFFF">
                <a:alpha val="16000"/>
              </a:srgbClr>
            </a:solidFill>
            <a:prstDash val="solid"/>
          </a:ln>
        </p:spPr>
        <p:txBody>
          <a:bodyPr/>
          <a:lstStyle/>
          <a:p>
            <a:endParaRPr lang="es-CL" dirty="0"/>
          </a:p>
        </p:txBody>
      </p:sp>
      <p:pic>
        <p:nvPicPr>
          <p:cNvPr id="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11506" y="3982619"/>
            <a:ext cx="2750131" cy="4125197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110185" y="121784"/>
            <a:ext cx="4693920" cy="694373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marL="0" indent="0">
              <a:lnSpc>
                <a:spcPts val="5468"/>
              </a:lnSpc>
              <a:buNone/>
            </a:pPr>
            <a:r>
              <a:rPr lang="en-US" sz="4374" b="1" dirty="0">
                <a:solidFill>
                  <a:srgbClr val="FFFFF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Materiales a utilizar</a:t>
            </a:r>
            <a:endParaRPr lang="en-US" sz="4374" dirty="0"/>
          </a:p>
        </p:txBody>
      </p:sp>
      <p:sp>
        <p:nvSpPr>
          <p:cNvPr id="6" name="Text 2"/>
          <p:cNvSpPr/>
          <p:nvPr/>
        </p:nvSpPr>
        <p:spPr>
          <a:xfrm>
            <a:off x="546120" y="967288"/>
            <a:ext cx="4110941" cy="3692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2799"/>
              </a:lnSpc>
              <a:buNone/>
            </a:pPr>
            <a:r>
              <a:rPr lang="en-US" sz="1750" dirty="0">
                <a:solidFill>
                  <a:srgbClr val="E5E0D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el acero inoxidable, acero corten, aluminio o metacrilato. Estos materiales permiten crear la estructura del totem publicitario o monolitos y ser adornados con vinilos de corte o vinilos impresos en formato digital. Pantalla de 22 pulgadas para mostrar la informacion, mas cableado necesario para su energizacion</a:t>
            </a:r>
            <a:endParaRPr lang="en-US" sz="1750" dirty="0"/>
          </a:p>
        </p:txBody>
      </p:sp>
      <p:pic>
        <p:nvPicPr>
          <p:cNvPr id="7" name="Image 2" descr="preencoded.png">
            <a:hlinkClick r:id="rId5"/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2242153" y="7589520"/>
            <a:ext cx="2296807" cy="548640"/>
          </a:xfrm>
          <a:prstGeom prst="rect">
            <a:avLst/>
          </a:prstGeom>
        </p:spPr>
      </p:pic>
      <p:sp>
        <p:nvSpPr>
          <p:cNvPr id="8" name="CuadroTexto 7">
            <a:extLst>
              <a:ext uri="{FF2B5EF4-FFF2-40B4-BE49-F238E27FC236}">
                <a16:creationId xmlns:a16="http://schemas.microsoft.com/office/drawing/2014/main" id="{390580D9-10EB-D6D7-BDF9-002D93B7D58F}"/>
              </a:ext>
            </a:extLst>
          </p:cNvPr>
          <p:cNvSpPr txBox="1"/>
          <p:nvPr/>
        </p:nvSpPr>
        <p:spPr>
          <a:xfrm>
            <a:off x="9674390" y="166609"/>
            <a:ext cx="5135525" cy="6601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3690" b="1" dirty="0">
                <a:solidFill>
                  <a:schemeClr val="bg1"/>
                </a:solidFill>
                <a:latin typeface="Barlow" panose="00000500000000000000" pitchFamily="2" charset="0"/>
              </a:rPr>
              <a:t>Cronograma</a:t>
            </a:r>
            <a:endParaRPr lang="es-CL" sz="3690" b="1" dirty="0">
              <a:latin typeface="Barlow" panose="00000500000000000000" pitchFamily="2" charset="0"/>
            </a:endParaRPr>
          </a:p>
        </p:txBody>
      </p:sp>
      <p:pic>
        <p:nvPicPr>
          <p:cNvPr id="9" name="Image 1" descr="preencoded.png">
            <a:extLst>
              <a:ext uri="{FF2B5EF4-FFF2-40B4-BE49-F238E27FC236}">
                <a16:creationId xmlns:a16="http://schemas.microsoft.com/office/drawing/2014/main" id="{26E01F87-6722-DC6D-DE29-24330DC4CB84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315200" y="1599853"/>
            <a:ext cx="6955512" cy="5216604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0" descr="preencoded.png">
            <a:extLst>
              <a:ext uri="{FF2B5EF4-FFF2-40B4-BE49-F238E27FC236}">
                <a16:creationId xmlns:a16="http://schemas.microsoft.com/office/drawing/2014/main" id="{919733E6-EF76-F091-8FC8-AD82CB43BAFE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alphaModFix/>
          </a:blip>
          <a:srcRect t="19"/>
          <a:stretch/>
        </p:blipFill>
        <p:spPr>
          <a:xfrm>
            <a:off x="-1829" y="-106326"/>
            <a:ext cx="14630400" cy="8229600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828" y="0"/>
            <a:ext cx="14626743" cy="82296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AC949C87-45AA-94C5-0FEB-8E85FA65D7AB}"/>
              </a:ext>
            </a:extLst>
          </p:cNvPr>
          <p:cNvSpPr txBox="1"/>
          <p:nvPr/>
        </p:nvSpPr>
        <p:spPr>
          <a:xfrm>
            <a:off x="2945219" y="669851"/>
            <a:ext cx="8091376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4000" dirty="0">
                <a:solidFill>
                  <a:schemeClr val="bg1"/>
                </a:solidFill>
                <a:latin typeface="Barlow" panose="00000500000000000000" pitchFamily="2" charset="0"/>
              </a:rPr>
              <a:t>Comparativa de los neumáticos</a:t>
            </a:r>
          </a:p>
        </p:txBody>
      </p:sp>
      <p:pic>
        <p:nvPicPr>
          <p:cNvPr id="6" name="Imagen 5" descr="Imagen en blanco y negro de una rueda de auto&#10;&#10;Descripción generada automáticamente con confianza baja">
            <a:extLst>
              <a:ext uri="{FF2B5EF4-FFF2-40B4-BE49-F238E27FC236}">
                <a16:creationId xmlns:a16="http://schemas.microsoft.com/office/drawing/2014/main" id="{17235146-874D-CFD3-8C76-E64B0425642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9992" y="1527316"/>
            <a:ext cx="2374615" cy="2954003"/>
          </a:xfrm>
          <a:prstGeom prst="rect">
            <a:avLst/>
          </a:prstGeom>
        </p:spPr>
      </p:pic>
      <p:pic>
        <p:nvPicPr>
          <p:cNvPr id="11" name="Imagen 10">
            <a:extLst>
              <a:ext uri="{FF2B5EF4-FFF2-40B4-BE49-F238E27FC236}">
                <a16:creationId xmlns:a16="http://schemas.microsoft.com/office/drawing/2014/main" id="{B6A46BD4-738E-0B75-FD22-664D0BA06B3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47387" y="1527316"/>
            <a:ext cx="2648609" cy="2954004"/>
          </a:xfrm>
          <a:prstGeom prst="rect">
            <a:avLst/>
          </a:prstGeom>
        </p:spPr>
      </p:pic>
      <p:pic>
        <p:nvPicPr>
          <p:cNvPr id="13" name="Imagen 12" descr="Una rueda de metal&#10;&#10;Descripción generada automáticamente con confianza media">
            <a:extLst>
              <a:ext uri="{FF2B5EF4-FFF2-40B4-BE49-F238E27FC236}">
                <a16:creationId xmlns:a16="http://schemas.microsoft.com/office/drawing/2014/main" id="{B6DFA44D-03EB-A6B6-C4DC-80725526A41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379899" y="1527315"/>
            <a:ext cx="2700509" cy="2954004"/>
          </a:xfrm>
          <a:prstGeom prst="rect">
            <a:avLst/>
          </a:prstGeom>
        </p:spPr>
      </p:pic>
      <p:sp>
        <p:nvSpPr>
          <p:cNvPr id="14" name="CuadroTexto 13">
            <a:extLst>
              <a:ext uri="{FF2B5EF4-FFF2-40B4-BE49-F238E27FC236}">
                <a16:creationId xmlns:a16="http://schemas.microsoft.com/office/drawing/2014/main" id="{77A08D8C-B92A-7A48-4ACD-7330AFBC890C}"/>
              </a:ext>
            </a:extLst>
          </p:cNvPr>
          <p:cNvSpPr txBox="1"/>
          <p:nvPr/>
        </p:nvSpPr>
        <p:spPr>
          <a:xfrm>
            <a:off x="570604" y="4483118"/>
            <a:ext cx="2374615" cy="36933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dirty="0">
                <a:solidFill>
                  <a:schemeClr val="bg1"/>
                </a:solidFill>
              </a:rPr>
              <a:t>Principalmente recomendado para camionetas o SUV</a:t>
            </a:r>
          </a:p>
          <a:p>
            <a:endParaRPr lang="es-CL" dirty="0">
              <a:solidFill>
                <a:schemeClr val="bg1"/>
              </a:solidFill>
            </a:endParaRPr>
          </a:p>
          <a:p>
            <a:r>
              <a:rPr lang="es-CL" dirty="0">
                <a:solidFill>
                  <a:schemeClr val="bg1"/>
                </a:solidFill>
              </a:rPr>
              <a:t>Fabricado para ofrecer el mejor agarre en terrenos complicados como tierra y piedras</a:t>
            </a:r>
          </a:p>
          <a:p>
            <a:endParaRPr lang="es-MX" dirty="0">
              <a:solidFill>
                <a:schemeClr val="bg1"/>
              </a:solidFill>
            </a:endParaRPr>
          </a:p>
          <a:p>
            <a:r>
              <a:rPr lang="es-MX" dirty="0">
                <a:solidFill>
                  <a:schemeClr val="bg1"/>
                </a:solidFill>
              </a:rPr>
              <a:t>No recomendado para alguien que transita principalmente carreteras y asfalto</a:t>
            </a:r>
            <a:endParaRPr lang="es-CL" dirty="0">
              <a:solidFill>
                <a:schemeClr val="bg1"/>
              </a:solidFill>
            </a:endParaRPr>
          </a:p>
        </p:txBody>
      </p:sp>
      <p:sp>
        <p:nvSpPr>
          <p:cNvPr id="15" name="CuadroTexto 14">
            <a:extLst>
              <a:ext uri="{FF2B5EF4-FFF2-40B4-BE49-F238E27FC236}">
                <a16:creationId xmlns:a16="http://schemas.microsoft.com/office/drawing/2014/main" id="{586AD9AE-9091-0203-4979-15B725BACE8B}"/>
              </a:ext>
            </a:extLst>
          </p:cNvPr>
          <p:cNvSpPr txBox="1"/>
          <p:nvPr/>
        </p:nvSpPr>
        <p:spPr>
          <a:xfrm>
            <a:off x="5972817" y="4420428"/>
            <a:ext cx="2775098" cy="3139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dirty="0">
                <a:solidFill>
                  <a:schemeClr val="bg1"/>
                </a:solidFill>
              </a:rPr>
              <a:t>Principalmente recomendado para vehículos deportivos o para conducción deportiva</a:t>
            </a:r>
          </a:p>
          <a:p>
            <a:endParaRPr lang="es-CL" dirty="0">
              <a:solidFill>
                <a:schemeClr val="bg1"/>
              </a:solidFill>
            </a:endParaRPr>
          </a:p>
          <a:p>
            <a:r>
              <a:rPr lang="es-CL" dirty="0">
                <a:solidFill>
                  <a:schemeClr val="bg1"/>
                </a:solidFill>
              </a:rPr>
              <a:t>Fabricados para ofrecer el máximo agarre en asfalto</a:t>
            </a:r>
          </a:p>
          <a:p>
            <a:endParaRPr lang="es-CL" dirty="0">
              <a:solidFill>
                <a:schemeClr val="bg1"/>
              </a:solidFill>
            </a:endParaRPr>
          </a:p>
          <a:p>
            <a:r>
              <a:rPr lang="es-MX" dirty="0">
                <a:solidFill>
                  <a:schemeClr val="bg1"/>
                </a:solidFill>
              </a:rPr>
              <a:t>No recomendado para días de lluvia y terrenos complicados </a:t>
            </a:r>
            <a:endParaRPr lang="es-CL" dirty="0">
              <a:solidFill>
                <a:schemeClr val="bg1"/>
              </a:solidFill>
            </a:endParaRPr>
          </a:p>
        </p:txBody>
      </p:sp>
      <p:sp>
        <p:nvSpPr>
          <p:cNvPr id="16" name="CuadroTexto 15">
            <a:extLst>
              <a:ext uri="{FF2B5EF4-FFF2-40B4-BE49-F238E27FC236}">
                <a16:creationId xmlns:a16="http://schemas.microsoft.com/office/drawing/2014/main" id="{10615898-F241-6979-816C-6C892384ED65}"/>
              </a:ext>
            </a:extLst>
          </p:cNvPr>
          <p:cNvSpPr txBox="1"/>
          <p:nvPr/>
        </p:nvSpPr>
        <p:spPr>
          <a:xfrm>
            <a:off x="11542288" y="4558927"/>
            <a:ext cx="2538120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dirty="0">
                <a:solidFill>
                  <a:schemeClr val="bg1"/>
                </a:solidFill>
              </a:rPr>
              <a:t>Principalmente recomendado para conducción diaria </a:t>
            </a:r>
          </a:p>
          <a:p>
            <a:endParaRPr lang="es-MX" dirty="0">
              <a:solidFill>
                <a:schemeClr val="bg1"/>
              </a:solidFill>
            </a:endParaRPr>
          </a:p>
          <a:p>
            <a:r>
              <a:rPr lang="es-MX" dirty="0">
                <a:solidFill>
                  <a:schemeClr val="bg1"/>
                </a:solidFill>
              </a:rPr>
              <a:t>Fabricado para ofrecer máximo rendimiento y máxima durabilidad</a:t>
            </a:r>
          </a:p>
          <a:p>
            <a:endParaRPr lang="es-MX" dirty="0">
              <a:solidFill>
                <a:schemeClr val="bg1"/>
              </a:solidFill>
            </a:endParaRPr>
          </a:p>
          <a:p>
            <a:r>
              <a:rPr lang="es-MX" dirty="0">
                <a:solidFill>
                  <a:schemeClr val="bg1"/>
                </a:solidFill>
              </a:rPr>
              <a:t>No recomendado para conducción deportiva.</a:t>
            </a:r>
            <a:endParaRPr lang="es-CL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4516593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
            <a:extLst>
              <a:ext uri="{FF2B5EF4-FFF2-40B4-BE49-F238E27FC236}">
                <a16:creationId xmlns:a16="http://schemas.microsoft.com/office/drawing/2014/main" id="{2B0910E7-CF7A-BB86-373F-A6C69CF0867D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alphaModFix/>
          </a:blip>
          <a:srcRect t="19"/>
          <a:stretch/>
        </p:blipFill>
        <p:spPr>
          <a:xfrm>
            <a:off x="-1829" y="-106326"/>
            <a:ext cx="14630400" cy="8229600"/>
          </a:xfrm>
          <a:prstGeom prst="rect">
            <a:avLst/>
          </a:prstGeom>
        </p:spPr>
      </p:pic>
      <p:sp>
        <p:nvSpPr>
          <p:cNvPr id="3" name="CuadroTexto 2">
            <a:extLst>
              <a:ext uri="{FF2B5EF4-FFF2-40B4-BE49-F238E27FC236}">
                <a16:creationId xmlns:a16="http://schemas.microsoft.com/office/drawing/2014/main" id="{B00AFB68-F800-AE1B-34D2-C7CFFA17BD31}"/>
              </a:ext>
            </a:extLst>
          </p:cNvPr>
          <p:cNvSpPr txBox="1"/>
          <p:nvPr/>
        </p:nvSpPr>
        <p:spPr>
          <a:xfrm>
            <a:off x="978195" y="733647"/>
            <a:ext cx="10627651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L" sz="2800" dirty="0">
                <a:solidFill>
                  <a:schemeClr val="bg1"/>
                </a:solidFill>
              </a:rPr>
              <a:t>Las matemáticas nos ayudaran obteniendo los porcentajes de las respuestas dadas por los usuarios, dando así la mejor recomendación para ellos y </a:t>
            </a:r>
            <a:r>
              <a:rPr lang="es-CL" sz="2800">
                <a:solidFill>
                  <a:schemeClr val="bg1"/>
                </a:solidFill>
              </a:rPr>
              <a:t>su vehículo.</a:t>
            </a:r>
            <a:endParaRPr lang="es-CL" sz="2800" dirty="0">
              <a:solidFill>
                <a:schemeClr val="bg1"/>
              </a:solidFill>
            </a:endParaRPr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09B48D3A-9FD8-F38A-4766-3ABE997B19B7}"/>
              </a:ext>
            </a:extLst>
          </p:cNvPr>
          <p:cNvSpPr txBox="1"/>
          <p:nvPr/>
        </p:nvSpPr>
        <p:spPr>
          <a:xfrm>
            <a:off x="8867553" y="1063256"/>
            <a:ext cx="4784652" cy="50079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s-CL" dirty="0"/>
          </a:p>
        </p:txBody>
      </p:sp>
    </p:spTree>
    <p:extLst>
      <p:ext uri="{BB962C8B-B14F-4D97-AF65-F5344CB8AC3E}">
        <p14:creationId xmlns:p14="http://schemas.microsoft.com/office/powerpoint/2010/main" val="186010424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114</TotalTime>
  <Words>761</Words>
  <Application>Microsoft Macintosh PowerPoint</Application>
  <PresentationFormat>Personalizado</PresentationFormat>
  <Paragraphs>70</Paragraphs>
  <Slides>10</Slides>
  <Notes>8</Notes>
  <HiddenSlides>0</HiddenSlides>
  <MMClips>0</MMClips>
  <ScaleCrop>false</ScaleCrop>
  <HeadingPairs>
    <vt:vector size="6" baseType="variant">
      <vt:variant>
        <vt:lpstr>Fuentes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10</vt:i4>
      </vt:variant>
    </vt:vector>
  </HeadingPairs>
  <TitlesOfParts>
    <vt:vector size="16" baseType="lpstr">
      <vt:lpstr>Arial</vt:lpstr>
      <vt:lpstr>Barlow</vt:lpstr>
      <vt:lpstr>Barlow, sans-serif</vt:lpstr>
      <vt:lpstr>Calibri</vt:lpstr>
      <vt:lpstr>Times New Roman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>PptxGenJS</Company>
  <LinksUpToDate>false</LinksUpToDate>
  <SharedDoc>false</SharedDoc>
  <HyperlinksChanged>false</HyperlinksChanged>
  <AppVersion>16.0016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LISSETTE ANDREA SALAMANCA MELLA</cp:lastModifiedBy>
  <cp:revision>8</cp:revision>
  <dcterms:created xsi:type="dcterms:W3CDTF">2023-11-17T00:42:05Z</dcterms:created>
  <dcterms:modified xsi:type="dcterms:W3CDTF">2023-12-13T17:53:02Z</dcterms:modified>
</cp:coreProperties>
</file>