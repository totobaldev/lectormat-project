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notesSlides/notesSlide2.xml" ContentType="application/vnd.openxmlformats-officedocument.presentationml.notesSlide+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13"/>
  </p:notesMasterIdLst>
  <p:sldIdLst>
    <p:sldId id="256" r:id="rId2"/>
    <p:sldId id="257" r:id="rId3"/>
    <p:sldId id="258" r:id="rId4"/>
    <p:sldId id="259" r:id="rId5"/>
    <p:sldId id="260" r:id="rId6"/>
    <p:sldId id="261" r:id="rId7"/>
    <p:sldId id="265" r:id="rId8"/>
    <p:sldId id="262" r:id="rId9"/>
    <p:sldId id="263" r:id="rId10"/>
    <p:sldId id="264"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tias Reyes ortega" initials="MR" lastIdx="1" clrIdx="0">
    <p:extLst>
      <p:ext uri="{19B8F6BF-5375-455C-9EA6-DF929625EA0E}">
        <p15:presenceInfo xmlns:p15="http://schemas.microsoft.com/office/powerpoint/2012/main" userId="5cced238c7d714f2" providerId="Windows Live"/>
      </p:ext>
    </p:extLst>
  </p:cmAuthor>
  <p:cmAuthor id="2" name="LISSETTE ANDREA SALAMANCA MELLA" initials="LASM" lastIdx="8" clrIdx="1">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57" autoAdjust="0"/>
    <p:restoredTop sz="94291" autoAdjust="0"/>
  </p:normalViewPr>
  <p:slideViewPr>
    <p:cSldViewPr snapToGrid="0">
      <p:cViewPr varScale="1">
        <p:scale>
          <a:sx n="86" d="100"/>
          <a:sy n="86" d="100"/>
        </p:scale>
        <p:origin x="24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12-13T14:18:44.603" idx="1">
    <p:pos x="10" y="10"/>
    <p:text>debe escribir en tercera persona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3-12-13T14:19:03.855" idx="2">
    <p:pos x="10" y="10"/>
    <p:text>describir la situación problematica</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3-12-13T14:23:51.509" idx="3">
    <p:pos x="5394" y="1472"/>
    <p:text>¿es posible medir?</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3-12-13T14:24:17.534" idx="4">
    <p:pos x="3493" y="1664"/>
    <p:text>más que la fiscalización, el tema tiene relación con la normativa, ¿qué dice la normativa vigente al respecto?</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07T13:35:16.465" idx="1">
    <p:pos x="10" y="10"/>
    <p:text>Una vez ingresados los valores en Excel, se procede a ingresar el código: =D2/$E$2 lo que nos entrega el porcentaje de vehículos ruidosos del total de los vehículos registrados</p:text>
    <p:extLst>
      <p:ext uri="{C676402C-5697-4E1C-873F-D02D1690AC5C}">
        <p15:threadingInfo xmlns:p15="http://schemas.microsoft.com/office/powerpoint/2012/main" timeZoneBias="180"/>
      </p:ext>
    </p:extLst>
  </p:cm>
  <p:cm authorId="2" dt="2023-12-13T14:25:20.419" idx="5">
    <p:pos x="5723" y="2560"/>
    <p:text>¿como determinaron lo vehículos con escape ruidoso?, ¿que es considerado ruidoso?</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3-12-13T14:26:49.732" idx="6">
    <p:pos x="10" y="10"/>
    <p:text>agregar APA al grafico</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3-12-13T14:27:38.459" idx="7">
    <p:pos x="10" y="10"/>
    <p:text>la fuente de información debe agregarla antes de la toma de muestras ya que las respuestas a sus preguntas sirven de base para la clasificación de las muestras</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3-12-13T14:28:43.051" idx="8">
    <p:pos x="10" y="10"/>
    <p:text>todos los link debe agregarlos en la etapa III de acuerdo a las referencias bibliográficas (APA)</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653494-7A2A-7747-A1AE-2F62E4A13B08}" type="datetimeFigureOut">
              <a:rPr lang="es-CL" smtClean="0"/>
              <a:t>13-12-23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1A0F8-30F4-7848-8860-AB9DF237D80E}" type="slidenum">
              <a:rPr lang="es-CL" smtClean="0"/>
              <a:t>‹Nº›</a:t>
            </a:fld>
            <a:endParaRPr lang="es-CL"/>
          </a:p>
        </p:txBody>
      </p:sp>
    </p:spTree>
    <p:extLst>
      <p:ext uri="{BB962C8B-B14F-4D97-AF65-F5344CB8AC3E}">
        <p14:creationId xmlns:p14="http://schemas.microsoft.com/office/powerpoint/2010/main" val="667968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53D1A0F8-30F4-7848-8860-AB9DF237D80E}" type="slidenum">
              <a:rPr lang="es-CL" smtClean="0"/>
              <a:t>1</a:t>
            </a:fld>
            <a:endParaRPr lang="es-CL"/>
          </a:p>
        </p:txBody>
      </p:sp>
    </p:spTree>
    <p:extLst>
      <p:ext uri="{BB962C8B-B14F-4D97-AF65-F5344CB8AC3E}">
        <p14:creationId xmlns:p14="http://schemas.microsoft.com/office/powerpoint/2010/main" val="4286153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53D1A0F8-30F4-7848-8860-AB9DF237D80E}" type="slidenum">
              <a:rPr lang="es-CL" smtClean="0"/>
              <a:t>6</a:t>
            </a:fld>
            <a:endParaRPr lang="es-CL"/>
          </a:p>
        </p:txBody>
      </p:sp>
    </p:spTree>
    <p:extLst>
      <p:ext uri="{BB962C8B-B14F-4D97-AF65-F5344CB8AC3E}">
        <p14:creationId xmlns:p14="http://schemas.microsoft.com/office/powerpoint/2010/main" val="2518156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FC8D1AAA-B18F-4B5D-A7C0-67F0D7B1D8C3}" type="datetimeFigureOut">
              <a:rPr lang="es-CL" smtClean="0"/>
              <a:t>13-12-23</a:t>
            </a:fld>
            <a:endParaRPr lang="es-CL"/>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s-CL"/>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B79B78B-F1F0-4A02-A307-29CA1E43FF55}" type="slidenum">
              <a:rPr lang="es-CL" smtClean="0"/>
              <a:t>‹Nº›</a:t>
            </a:fld>
            <a:endParaRPr lang="es-CL"/>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51204938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C8D1AAA-B18F-4B5D-A7C0-67F0D7B1D8C3}" type="datetimeFigureOut">
              <a:rPr lang="es-CL" smtClean="0"/>
              <a:t>13-12-23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4241754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FC8D1AAA-B18F-4B5D-A7C0-67F0D7B1D8C3}" type="datetimeFigureOut">
              <a:rPr lang="es-CL" smtClean="0"/>
              <a:t>13-12-23</a:t>
            </a:fld>
            <a:endParaRPr lang="es-CL"/>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s-CL"/>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B79B78B-F1F0-4A02-A307-29CA1E43FF55}" type="slidenum">
              <a:rPr lang="es-CL" smtClean="0"/>
              <a:t>‹Nº›</a:t>
            </a:fld>
            <a:endParaRPr lang="es-CL"/>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54762648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FC8D1AAA-B18F-4B5D-A7C0-67F0D7B1D8C3}" type="datetimeFigureOut">
              <a:rPr lang="es-CL" smtClean="0"/>
              <a:t>13-12-23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1880650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C8D1AAA-B18F-4B5D-A7C0-67F0D7B1D8C3}" type="datetimeFigureOut">
              <a:rPr lang="es-CL" smtClean="0"/>
              <a:t>13-12-23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2411302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FC8D1AAA-B18F-4B5D-A7C0-67F0D7B1D8C3}" type="datetimeFigureOut">
              <a:rPr lang="es-CL" smtClean="0"/>
              <a:t>13-12-23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3016705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D1AAA-B18F-4B5D-A7C0-67F0D7B1D8C3}" type="datetimeFigureOut">
              <a:rPr lang="es-CL" smtClean="0"/>
              <a:t>13-12-23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3526357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FC8D1AAA-B18F-4B5D-A7C0-67F0D7B1D8C3}" type="datetimeFigureOut">
              <a:rPr lang="es-CL" smtClean="0"/>
              <a:t>13-12-23</a:t>
            </a:fld>
            <a:endParaRPr lang="es-CL"/>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CL"/>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B79B78B-F1F0-4A02-A307-29CA1E43FF55}" type="slidenum">
              <a:rPr lang="es-CL" smtClean="0"/>
              <a:t>‹Nº›</a:t>
            </a:fld>
            <a:endParaRPr lang="es-CL"/>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40374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FC8D1AAA-B18F-4B5D-A7C0-67F0D7B1D8C3}" type="datetimeFigureOut">
              <a:rPr lang="es-CL" smtClean="0"/>
              <a:t>13-12-23</a:t>
            </a:fld>
            <a:endParaRPr lang="es-CL"/>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B79B78B-F1F0-4A02-A307-29CA1E43FF55}" type="slidenum">
              <a:rPr lang="es-CL" smtClean="0"/>
              <a:t>‹Nº›</a:t>
            </a:fld>
            <a:endParaRPr lang="es-CL"/>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02054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C8D1AAA-B18F-4B5D-A7C0-67F0D7B1D8C3}" type="datetimeFigureOut">
              <a:rPr lang="es-CL" smtClean="0"/>
              <a:t>13-12-23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187903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C8D1AAA-B18F-4B5D-A7C0-67F0D7B1D8C3}" type="datetimeFigureOut">
              <a:rPr lang="es-CL" smtClean="0"/>
              <a:t>13-12-23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DB79B78B-F1F0-4A02-A307-29CA1E43FF55}" type="slidenum">
              <a:rPr lang="es-CL" smtClean="0"/>
              <a:t>‹Nº›</a:t>
            </a:fld>
            <a:endParaRPr lang="es-CL"/>
          </a:p>
        </p:txBody>
      </p:sp>
    </p:spTree>
    <p:extLst>
      <p:ext uri="{BB962C8B-B14F-4D97-AF65-F5344CB8AC3E}">
        <p14:creationId xmlns:p14="http://schemas.microsoft.com/office/powerpoint/2010/main" val="3424584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FC8D1AAA-B18F-4B5D-A7C0-67F0D7B1D8C3}" type="datetimeFigureOut">
              <a:rPr lang="es-CL" smtClean="0"/>
              <a:t>13-12-23</a:t>
            </a:fld>
            <a:endParaRPr lang="es-CL"/>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s-CL"/>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B79B78B-F1F0-4A02-A307-29CA1E43FF55}" type="slidenum">
              <a:rPr lang="es-CL" smtClean="0"/>
              <a:t>‹Nº›</a:t>
            </a:fld>
            <a:endParaRPr lang="es-CL"/>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942090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play.google.com/store/apps/details?id=com.splendapps.decibel&amp;hl=es_419&amp;gl=US&amp;pli=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bcn.cl/portal/leyfacil/recurso/ruidos-molestos" TargetMode="External"/><Relationship Id="rId2" Type="http://schemas.openxmlformats.org/officeDocument/2006/relationships/hyperlink" Target="https://mma.gob.cl/comienza-a-regir-en-chile-la-norma-de-emision-de-ruido-para-vehiculos-livianos-medianos-y-motocicletas/" TargetMode="External"/><Relationship Id="rId1" Type="http://schemas.openxmlformats.org/officeDocument/2006/relationships/slideLayout" Target="../slideLayouts/slideLayout2.xml"/><Relationship Id="rId4" Type="http://schemas.openxmlformats.org/officeDocument/2006/relationships/comments" Target="../comments/commen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autofact.cl/blog/mi-auto/infracciones/multa-ruido-moto#:~:text=Por%20otra%20parte%2C%20en%202019,a%20veh%C3%ADculos%20que%20superen%20ese" TargetMode="External"/><Relationship Id="rId2" Type="http://schemas.openxmlformats.org/officeDocument/2006/relationships/hyperlink" Target="https://www.puromotores.com/13140336/como-medir-el-ruido-de-escape#google_vignett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comments" Target="../comments/commen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0C4619-4EA0-4792-35A3-02B5C6343C8F}"/>
              </a:ext>
            </a:extLst>
          </p:cNvPr>
          <p:cNvSpPr>
            <a:spLocks noGrp="1"/>
          </p:cNvSpPr>
          <p:nvPr>
            <p:ph type="ctrTitle"/>
          </p:nvPr>
        </p:nvSpPr>
        <p:spPr/>
        <p:txBody>
          <a:bodyPr>
            <a:normAutofit fontScale="90000"/>
          </a:bodyPr>
          <a:lstStyle/>
          <a:p>
            <a:r>
              <a:rPr lang="es-MX" dirty="0"/>
              <a:t>Disminución de contaminación acústica vehicular </a:t>
            </a:r>
            <a:endParaRPr lang="es-CL" dirty="0"/>
          </a:p>
        </p:txBody>
      </p:sp>
      <p:sp>
        <p:nvSpPr>
          <p:cNvPr id="3" name="Subtítulo 2">
            <a:extLst>
              <a:ext uri="{FF2B5EF4-FFF2-40B4-BE49-F238E27FC236}">
                <a16:creationId xmlns:a16="http://schemas.microsoft.com/office/drawing/2014/main" id="{00C6CD87-E0AD-DB5A-316C-5A9FF909D425}"/>
              </a:ext>
            </a:extLst>
          </p:cNvPr>
          <p:cNvSpPr>
            <a:spLocks noGrp="1"/>
          </p:cNvSpPr>
          <p:nvPr>
            <p:ph type="subTitle" idx="1"/>
          </p:nvPr>
        </p:nvSpPr>
        <p:spPr>
          <a:xfrm>
            <a:off x="2679905" y="4304622"/>
            <a:ext cx="6831673" cy="1086237"/>
          </a:xfrm>
        </p:spPr>
        <p:txBody>
          <a:bodyPr>
            <a:normAutofit fontScale="62500" lnSpcReduction="20000"/>
          </a:bodyPr>
          <a:lstStyle/>
          <a:p>
            <a:pPr algn="l"/>
            <a:r>
              <a:rPr lang="es-MX" dirty="0"/>
              <a:t>Nombres : Víctor Lagos Matías Reyes Diego San Martin</a:t>
            </a:r>
          </a:p>
          <a:p>
            <a:pPr algn="l"/>
            <a:r>
              <a:rPr lang="es-MX" dirty="0"/>
              <a:t>Profesor : Lissette Andrea Salamanca Mella</a:t>
            </a:r>
          </a:p>
          <a:p>
            <a:pPr algn="l"/>
            <a:r>
              <a:rPr lang="es-MX" dirty="0"/>
              <a:t>Asignatura : Funciones Y Geometría </a:t>
            </a:r>
          </a:p>
          <a:p>
            <a:pPr algn="l"/>
            <a:r>
              <a:rPr lang="es-MX" dirty="0"/>
              <a:t>Carrera : </a:t>
            </a:r>
            <a:r>
              <a:rPr lang="es-MX" dirty="0" err="1"/>
              <a:t>Tec</a:t>
            </a:r>
            <a:r>
              <a:rPr lang="es-MX" dirty="0"/>
              <a:t>. Mecánica y Electromovilidad Automotriz</a:t>
            </a:r>
          </a:p>
          <a:p>
            <a:pPr algn="l"/>
            <a:r>
              <a:rPr lang="es-MX" dirty="0" err="1"/>
              <a:t>Seccion</a:t>
            </a:r>
            <a:r>
              <a:rPr lang="es-MX" dirty="0"/>
              <a:t> : 22</a:t>
            </a:r>
          </a:p>
        </p:txBody>
      </p:sp>
    </p:spTree>
    <p:extLst>
      <p:ext uri="{BB962C8B-B14F-4D97-AF65-F5344CB8AC3E}">
        <p14:creationId xmlns:p14="http://schemas.microsoft.com/office/powerpoint/2010/main" val="9419547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25754-4541-48BA-B49B-23BA59AB3B62}"/>
              </a:ext>
            </a:extLst>
          </p:cNvPr>
          <p:cNvSpPr>
            <a:spLocks noGrp="1"/>
          </p:cNvSpPr>
          <p:nvPr>
            <p:ph type="title"/>
          </p:nvPr>
        </p:nvSpPr>
        <p:spPr/>
        <p:txBody>
          <a:bodyPr/>
          <a:lstStyle/>
          <a:p>
            <a:r>
              <a:rPr lang="es-MX" dirty="0"/>
              <a:t>Definición del proyecto</a:t>
            </a:r>
            <a:endParaRPr lang="es-CL" dirty="0"/>
          </a:p>
        </p:txBody>
      </p:sp>
      <p:sp>
        <p:nvSpPr>
          <p:cNvPr id="3" name="Marcador de contenido 2">
            <a:extLst>
              <a:ext uri="{FF2B5EF4-FFF2-40B4-BE49-F238E27FC236}">
                <a16:creationId xmlns:a16="http://schemas.microsoft.com/office/drawing/2014/main" id="{48EB8553-5B01-74F0-80D1-7E079E56596D}"/>
              </a:ext>
            </a:extLst>
          </p:cNvPr>
          <p:cNvSpPr>
            <a:spLocks noGrp="1"/>
          </p:cNvSpPr>
          <p:nvPr>
            <p:ph idx="1"/>
          </p:nvPr>
        </p:nvSpPr>
        <p:spPr/>
        <p:txBody>
          <a:bodyPr/>
          <a:lstStyle/>
          <a:p>
            <a:r>
              <a:rPr lang="es-MX" dirty="0"/>
              <a:t>La contaminación acústica es algo que nos afecta a todos, ya sea en la vía pública o en el hogar por lo que nuestro proyecto lo que busca es que se disminuya esa contaminación acústica causada por los vehículos con escapes modificados</a:t>
            </a:r>
            <a:endParaRPr lang="es-CL" dirty="0"/>
          </a:p>
        </p:txBody>
      </p:sp>
    </p:spTree>
    <p:extLst>
      <p:ext uri="{BB962C8B-B14F-4D97-AF65-F5344CB8AC3E}">
        <p14:creationId xmlns:p14="http://schemas.microsoft.com/office/powerpoint/2010/main" val="297786561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0D0DF5-FF97-AF5E-AC14-D454DACB649C}"/>
              </a:ext>
            </a:extLst>
          </p:cNvPr>
          <p:cNvSpPr>
            <a:spLocks noGrp="1"/>
          </p:cNvSpPr>
          <p:nvPr>
            <p:ph type="title"/>
          </p:nvPr>
        </p:nvSpPr>
        <p:spPr/>
        <p:txBody>
          <a:bodyPr/>
          <a:lstStyle/>
          <a:p>
            <a:r>
              <a:rPr lang="es-MX" dirty="0"/>
              <a:t>Problemáticas a abordar</a:t>
            </a:r>
            <a:endParaRPr lang="es-CL" dirty="0"/>
          </a:p>
        </p:txBody>
      </p:sp>
      <p:sp>
        <p:nvSpPr>
          <p:cNvPr id="3" name="Marcador de contenido 2">
            <a:extLst>
              <a:ext uri="{FF2B5EF4-FFF2-40B4-BE49-F238E27FC236}">
                <a16:creationId xmlns:a16="http://schemas.microsoft.com/office/drawing/2014/main" id="{65C973F7-D9BB-D270-6270-80968D43F907}"/>
              </a:ext>
            </a:extLst>
          </p:cNvPr>
          <p:cNvSpPr>
            <a:spLocks noGrp="1"/>
          </p:cNvSpPr>
          <p:nvPr>
            <p:ph idx="1"/>
          </p:nvPr>
        </p:nvSpPr>
        <p:spPr/>
        <p:txBody>
          <a:bodyPr/>
          <a:lstStyle/>
          <a:p>
            <a:r>
              <a:rPr lang="es-MX" dirty="0"/>
              <a:t>La principal problemática a la que se enfoca nuestro proyecto es al ruido generado por los vehículos que circulan con los escapes modificados los cuales generan un alto nivel de ruido(decibeles)</a:t>
            </a:r>
          </a:p>
          <a:p>
            <a:endParaRPr lang="es-CL" dirty="0"/>
          </a:p>
          <a:p>
            <a:endParaRPr lang="es-CL" dirty="0"/>
          </a:p>
        </p:txBody>
      </p:sp>
      <p:pic>
        <p:nvPicPr>
          <p:cNvPr id="2052" name="Picture 4" descr="Andes on line | Controles de Carabineros">
            <a:extLst>
              <a:ext uri="{FF2B5EF4-FFF2-40B4-BE49-F238E27FC236}">
                <a16:creationId xmlns:a16="http://schemas.microsoft.com/office/drawing/2014/main" id="{DF62AE08-CDCD-5D05-2996-7A79601F2A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992" y="3299603"/>
            <a:ext cx="4052155" cy="307457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E0ED0DC-3A91-EB76-E7DB-829F60AD09BB}"/>
              </a:ext>
            </a:extLst>
          </p:cNvPr>
          <p:cNvSpPr txBox="1"/>
          <p:nvPr/>
        </p:nvSpPr>
        <p:spPr>
          <a:xfrm>
            <a:off x="5988991" y="3053382"/>
            <a:ext cx="1657134" cy="246221"/>
          </a:xfrm>
          <a:prstGeom prst="rect">
            <a:avLst/>
          </a:prstGeom>
          <a:noFill/>
        </p:spPr>
        <p:txBody>
          <a:bodyPr wrap="square" rtlCol="0">
            <a:spAutoFit/>
          </a:bodyPr>
          <a:lstStyle/>
          <a:p>
            <a:r>
              <a:rPr lang="en-GB" sz="1000" i="1" dirty="0">
                <a:latin typeface="Arial" panose="020B0604020202020204" pitchFamily="34" charset="0"/>
                <a:cs typeface="Arial" panose="020B0604020202020204" pitchFamily="34" charset="0"/>
              </a:rPr>
              <a:t>Fiscalización rutinaria</a:t>
            </a:r>
            <a:endParaRPr lang="es-CL" sz="1000" i="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4FA59E8-F1D6-796C-5426-4C6EF6113171}"/>
              </a:ext>
            </a:extLst>
          </p:cNvPr>
          <p:cNvSpPr txBox="1"/>
          <p:nvPr/>
        </p:nvSpPr>
        <p:spPr>
          <a:xfrm>
            <a:off x="5988992" y="6374176"/>
            <a:ext cx="4356792" cy="507831"/>
          </a:xfrm>
          <a:prstGeom prst="rect">
            <a:avLst/>
          </a:prstGeom>
          <a:noFill/>
        </p:spPr>
        <p:txBody>
          <a:bodyPr wrap="square" rtlCol="0">
            <a:spAutoFit/>
          </a:bodyPr>
          <a:lstStyle/>
          <a:p>
            <a:r>
              <a:rPr lang="en-GB" sz="900" dirty="0">
                <a:latin typeface="Arial" panose="020B0604020202020204" pitchFamily="34" charset="0"/>
                <a:cs typeface="Arial" panose="020B0604020202020204" pitchFamily="34" charset="0"/>
              </a:rPr>
              <a:t>Nota. La fiscalización de vehículos rutinaria  debería incluir un sonómetro. Tomado de </a:t>
            </a:r>
            <a:r>
              <a:rPr lang="en-GB" sz="900" i="1" dirty="0">
                <a:latin typeface="Arial" panose="020B0604020202020204" pitchFamily="34" charset="0"/>
                <a:cs typeface="Arial" panose="020B0604020202020204" pitchFamily="34" charset="0"/>
              </a:rPr>
              <a:t>Fiscalización rutinaria </a:t>
            </a:r>
            <a:r>
              <a:rPr lang="en-GB" sz="900" dirty="0">
                <a:latin typeface="Arial" panose="020B0604020202020204" pitchFamily="34" charset="0"/>
                <a:cs typeface="Arial" panose="020B0604020202020204" pitchFamily="34" charset="0"/>
              </a:rPr>
              <a:t>[fotografia] esperanzafm, 2023, esperanzafm.cl</a:t>
            </a:r>
            <a:endParaRPr lang="es-CL" sz="900" i="1" dirty="0">
              <a:latin typeface="Arial" panose="020B0604020202020204" pitchFamily="34" charset="0"/>
              <a:cs typeface="Arial" panose="020B0604020202020204" pitchFamily="34" charset="0"/>
            </a:endParaRPr>
          </a:p>
          <a:p>
            <a:endParaRPr lang="es-CL"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479789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97634-5041-ABEE-3446-5ACB9403DE50}"/>
              </a:ext>
            </a:extLst>
          </p:cNvPr>
          <p:cNvSpPr>
            <a:spLocks noGrp="1"/>
          </p:cNvSpPr>
          <p:nvPr>
            <p:ph type="title"/>
          </p:nvPr>
        </p:nvSpPr>
        <p:spPr/>
        <p:txBody>
          <a:bodyPr/>
          <a:lstStyle/>
          <a:p>
            <a:r>
              <a:rPr lang="es-MX" dirty="0"/>
              <a:t>Objetivos y preguntas</a:t>
            </a:r>
            <a:endParaRPr lang="es-CL" dirty="0"/>
          </a:p>
        </p:txBody>
      </p:sp>
      <p:sp>
        <p:nvSpPr>
          <p:cNvPr id="3" name="Marcador de contenido 2">
            <a:extLst>
              <a:ext uri="{FF2B5EF4-FFF2-40B4-BE49-F238E27FC236}">
                <a16:creationId xmlns:a16="http://schemas.microsoft.com/office/drawing/2014/main" id="{7F8731F1-47FD-9579-579A-72252C798D62}"/>
              </a:ext>
            </a:extLst>
          </p:cNvPr>
          <p:cNvSpPr>
            <a:spLocks noGrp="1"/>
          </p:cNvSpPr>
          <p:nvPr>
            <p:ph idx="1"/>
          </p:nvPr>
        </p:nvSpPr>
        <p:spPr/>
        <p:txBody>
          <a:bodyPr>
            <a:normAutofit fontScale="92500" lnSpcReduction="20000"/>
          </a:bodyPr>
          <a:lstStyle/>
          <a:p>
            <a:pPr marL="0" indent="0">
              <a:buNone/>
            </a:pPr>
            <a:r>
              <a:rPr lang="es-MX" dirty="0"/>
              <a:t>Disminuir el uso de vehículos con escape modificado en la vía pública.</a:t>
            </a:r>
          </a:p>
          <a:p>
            <a:pPr marL="0" indent="0">
              <a:buNone/>
            </a:pPr>
            <a:endParaRPr lang="es-MX" dirty="0"/>
          </a:p>
          <a:p>
            <a:pPr marL="0" indent="0">
              <a:buNone/>
            </a:pPr>
            <a:r>
              <a:rPr lang="es-MX" dirty="0"/>
              <a:t>¿Cuál es el limite legal de decibeles en los vehículos motorizados?</a:t>
            </a:r>
          </a:p>
          <a:p>
            <a:pPr marL="0" indent="0">
              <a:buNone/>
            </a:pPr>
            <a:endParaRPr lang="es-MX" dirty="0"/>
          </a:p>
          <a:p>
            <a:pPr marL="0" indent="0">
              <a:buNone/>
            </a:pPr>
            <a:r>
              <a:rPr lang="es-MX" dirty="0"/>
              <a:t>¿Quién controla el ruido de los vehículos motorizados?</a:t>
            </a:r>
          </a:p>
          <a:p>
            <a:pPr marL="0" indent="0">
              <a:buNone/>
            </a:pPr>
            <a:endParaRPr lang="es-MX" dirty="0"/>
          </a:p>
          <a:p>
            <a:pPr marL="0" indent="0">
              <a:buNone/>
            </a:pPr>
            <a:r>
              <a:rPr lang="es-MX" dirty="0"/>
              <a:t>¿Cómo se mide el nivel de decibeles de un vehículo?</a:t>
            </a:r>
          </a:p>
          <a:p>
            <a:pPr marL="0" indent="0">
              <a:buNone/>
            </a:pPr>
            <a:endParaRPr lang="es-MX" dirty="0"/>
          </a:p>
          <a:p>
            <a:pPr marL="0" indent="0">
              <a:buNone/>
            </a:pPr>
            <a:r>
              <a:rPr lang="es-MX" dirty="0"/>
              <a:t>¿Qué se puede hacer para disminuir el uso de vehículos con escape modificado en vía pública?</a:t>
            </a:r>
          </a:p>
          <a:p>
            <a:pPr marL="0" indent="0">
              <a:buNone/>
            </a:pPr>
            <a:endParaRPr lang="es-MX" dirty="0"/>
          </a:p>
          <a:p>
            <a:pPr marL="0" indent="0">
              <a:buNone/>
            </a:pPr>
            <a:endParaRPr lang="es-MX" dirty="0"/>
          </a:p>
          <a:p>
            <a:pPr marL="0" indent="0">
              <a:buNone/>
            </a:pPr>
            <a:endParaRPr lang="es-MX" dirty="0"/>
          </a:p>
        </p:txBody>
      </p:sp>
      <p:pic>
        <p:nvPicPr>
          <p:cNvPr id="4" name="Imagen 3"/>
          <p:cNvPicPr>
            <a:picLocks noChangeAspect="1"/>
          </p:cNvPicPr>
          <p:nvPr/>
        </p:nvPicPr>
        <p:blipFill>
          <a:blip r:embed="rId2"/>
          <a:stretch>
            <a:fillRect/>
          </a:stretch>
        </p:blipFill>
        <p:spPr>
          <a:xfrm>
            <a:off x="8874034" y="2415439"/>
            <a:ext cx="3251200" cy="2438400"/>
          </a:xfrm>
          <a:prstGeom prst="rect">
            <a:avLst/>
          </a:prstGeom>
        </p:spPr>
      </p:pic>
      <p:sp>
        <p:nvSpPr>
          <p:cNvPr id="5" name="CuadroTexto 4">
            <a:extLst>
              <a:ext uri="{FF2B5EF4-FFF2-40B4-BE49-F238E27FC236}">
                <a16:creationId xmlns:a16="http://schemas.microsoft.com/office/drawing/2014/main" id="{ECC50C0B-1CC2-D3B0-4A2F-77606ED5D1FD}"/>
              </a:ext>
            </a:extLst>
          </p:cNvPr>
          <p:cNvSpPr txBox="1"/>
          <p:nvPr/>
        </p:nvSpPr>
        <p:spPr>
          <a:xfrm>
            <a:off x="8874034" y="2206229"/>
            <a:ext cx="2518629" cy="246221"/>
          </a:xfrm>
          <a:prstGeom prst="rect">
            <a:avLst/>
          </a:prstGeom>
          <a:noFill/>
        </p:spPr>
        <p:txBody>
          <a:bodyPr wrap="square" rtlCol="0">
            <a:spAutoFit/>
          </a:bodyPr>
          <a:lstStyle/>
          <a:p>
            <a:r>
              <a:rPr lang="en-GB" sz="1000" i="1" dirty="0">
                <a:latin typeface="Arial" panose="020B0604020202020204" pitchFamily="34" charset="0"/>
                <a:cs typeface="Arial" panose="020B0604020202020204" pitchFamily="34" charset="0"/>
              </a:rPr>
              <a:t>Salida de escape.</a:t>
            </a:r>
            <a:endParaRPr lang="es-MX" sz="1000" i="1"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33B22EBD-DA4D-1D1B-A93D-2D8994760049}"/>
              </a:ext>
            </a:extLst>
          </p:cNvPr>
          <p:cNvSpPr txBox="1"/>
          <p:nvPr/>
        </p:nvSpPr>
        <p:spPr>
          <a:xfrm>
            <a:off x="8813074" y="4818194"/>
            <a:ext cx="3251200" cy="230832"/>
          </a:xfrm>
          <a:prstGeom prst="rect">
            <a:avLst/>
          </a:prstGeom>
          <a:noFill/>
        </p:spPr>
        <p:txBody>
          <a:bodyPr wrap="square" rtlCol="0">
            <a:spAutoFit/>
          </a:bodyPr>
          <a:lstStyle/>
          <a:p>
            <a:r>
              <a:rPr lang="en-GB" sz="900" dirty="0">
                <a:latin typeface="Arial" panose="020B0604020202020204" pitchFamily="34" charset="0"/>
                <a:cs typeface="Arial" panose="020B0604020202020204" pitchFamily="34" charset="0"/>
              </a:rPr>
              <a:t>Tomado de, </a:t>
            </a:r>
            <a:r>
              <a:rPr lang="en-GB" sz="900" dirty="0" err="1">
                <a:latin typeface="Arial" panose="020B0604020202020204" pitchFamily="34" charset="0"/>
                <a:cs typeface="Arial" panose="020B0604020202020204" pitchFamily="34" charset="0"/>
              </a:rPr>
              <a:t>pxfuel</a:t>
            </a:r>
            <a:r>
              <a:rPr lang="en-GB" sz="900" dirty="0">
                <a:latin typeface="Arial" panose="020B0604020202020204" pitchFamily="34" charset="0"/>
                <a:cs typeface="Arial" panose="020B0604020202020204" pitchFamily="34" charset="0"/>
              </a:rPr>
              <a:t>, www.pxfuel.com </a:t>
            </a:r>
            <a:endParaRPr lang="es-MX"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431224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39755B-FDBF-02E3-511B-63628A54EF73}"/>
              </a:ext>
            </a:extLst>
          </p:cNvPr>
          <p:cNvSpPr>
            <a:spLocks noGrp="1"/>
          </p:cNvSpPr>
          <p:nvPr>
            <p:ph type="title"/>
          </p:nvPr>
        </p:nvSpPr>
        <p:spPr/>
        <p:txBody>
          <a:bodyPr/>
          <a:lstStyle/>
          <a:p>
            <a:r>
              <a:rPr lang="es-MX" dirty="0"/>
              <a:t>Temas iniciales involucrados</a:t>
            </a:r>
            <a:endParaRPr lang="es-CL" dirty="0"/>
          </a:p>
        </p:txBody>
      </p:sp>
      <p:sp>
        <p:nvSpPr>
          <p:cNvPr id="3" name="Marcador de contenido 2">
            <a:extLst>
              <a:ext uri="{FF2B5EF4-FFF2-40B4-BE49-F238E27FC236}">
                <a16:creationId xmlns:a16="http://schemas.microsoft.com/office/drawing/2014/main" id="{215BAAA1-CA0C-9B05-FE28-E88CC0C90ACB}"/>
              </a:ext>
            </a:extLst>
          </p:cNvPr>
          <p:cNvSpPr>
            <a:spLocks noGrp="1"/>
          </p:cNvSpPr>
          <p:nvPr>
            <p:ph idx="1"/>
          </p:nvPr>
        </p:nvSpPr>
        <p:spPr/>
        <p:txBody>
          <a:bodyPr/>
          <a:lstStyle/>
          <a:p>
            <a:r>
              <a:rPr lang="es-CL" dirty="0"/>
              <a:t>Contaminacion acustica vehicular</a:t>
            </a:r>
            <a:r>
              <a:rPr lang="es-419" dirty="0"/>
              <a:t>.</a:t>
            </a:r>
          </a:p>
          <a:p>
            <a:r>
              <a:rPr lang="es-419" dirty="0"/>
              <a:t>Fa</a:t>
            </a:r>
            <a:r>
              <a:rPr lang="es-CL" dirty="0"/>
              <a:t>lta de fiscalizacion enfocada en el ruido generado por los automoviles</a:t>
            </a:r>
          </a:p>
        </p:txBody>
      </p:sp>
      <p:pic>
        <p:nvPicPr>
          <p:cNvPr id="6" name="Imagen 5"/>
          <p:cNvPicPr>
            <a:picLocks noChangeAspect="1"/>
          </p:cNvPicPr>
          <p:nvPr/>
        </p:nvPicPr>
        <p:blipFill>
          <a:blip r:embed="rId2"/>
          <a:stretch>
            <a:fillRect/>
          </a:stretch>
        </p:blipFill>
        <p:spPr>
          <a:xfrm>
            <a:off x="2583485" y="3753757"/>
            <a:ext cx="3170464" cy="2113643"/>
          </a:xfrm>
          <a:prstGeom prst="rect">
            <a:avLst/>
          </a:prstGeom>
        </p:spPr>
      </p:pic>
      <p:sp>
        <p:nvSpPr>
          <p:cNvPr id="4" name="CuadroTexto 3">
            <a:extLst>
              <a:ext uri="{FF2B5EF4-FFF2-40B4-BE49-F238E27FC236}">
                <a16:creationId xmlns:a16="http://schemas.microsoft.com/office/drawing/2014/main" id="{ED585892-7CE4-D93D-595E-333B2FF1FDDD}"/>
              </a:ext>
            </a:extLst>
          </p:cNvPr>
          <p:cNvSpPr txBox="1"/>
          <p:nvPr/>
        </p:nvSpPr>
        <p:spPr>
          <a:xfrm>
            <a:off x="2583485" y="3507536"/>
            <a:ext cx="3170464" cy="246221"/>
          </a:xfrm>
          <a:prstGeom prst="rect">
            <a:avLst/>
          </a:prstGeom>
          <a:noFill/>
        </p:spPr>
        <p:txBody>
          <a:bodyPr wrap="square" rtlCol="0">
            <a:spAutoFit/>
          </a:bodyPr>
          <a:lstStyle/>
          <a:p>
            <a:r>
              <a:rPr lang="en-GB" sz="1000" i="1" dirty="0">
                <a:latin typeface="Arial" panose="020B0604020202020204" pitchFamily="34" charset="0"/>
                <a:cs typeface="Arial" panose="020B0604020202020204" pitchFamily="34" charset="0"/>
              </a:rPr>
              <a:t>Ruido del trafico</a:t>
            </a:r>
            <a:endParaRPr lang="es-MX" sz="1000" i="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DBD010A7-83AB-AC2C-59C1-9E1AAAD87353}"/>
              </a:ext>
            </a:extLst>
          </p:cNvPr>
          <p:cNvSpPr txBox="1"/>
          <p:nvPr/>
        </p:nvSpPr>
        <p:spPr>
          <a:xfrm>
            <a:off x="2522525" y="5867400"/>
            <a:ext cx="3573475" cy="400110"/>
          </a:xfrm>
          <a:prstGeom prst="rect">
            <a:avLst/>
          </a:prstGeom>
          <a:noFill/>
        </p:spPr>
        <p:txBody>
          <a:bodyPr wrap="square" rtlCol="0">
            <a:spAutoFit/>
          </a:bodyPr>
          <a:lstStyle/>
          <a:p>
            <a:r>
              <a:rPr lang="en-GB" sz="1000" dirty="0">
                <a:latin typeface="Arial" panose="020B0604020202020204" pitchFamily="34" charset="0"/>
                <a:cs typeface="Arial" panose="020B0604020202020204" pitchFamily="34" charset="0"/>
              </a:rPr>
              <a:t>Tomado de </a:t>
            </a:r>
            <a:r>
              <a:rPr lang="en-GB" sz="1000" i="1" dirty="0">
                <a:latin typeface="Arial" panose="020B0604020202020204" pitchFamily="34" charset="0"/>
                <a:cs typeface="Arial" panose="020B0604020202020204" pitchFamily="34" charset="0"/>
              </a:rPr>
              <a:t>Ruido del trafico [ </a:t>
            </a:r>
            <a:r>
              <a:rPr lang="en-GB" sz="1000" dirty="0">
                <a:latin typeface="Arial" panose="020B0604020202020204" pitchFamily="34" charset="0"/>
                <a:cs typeface="Arial" panose="020B0604020202020204" pitchFamily="34" charset="0"/>
              </a:rPr>
              <a:t>Fotografia] sibuscascoche, 2014, www.sibuscascoche.com</a:t>
            </a:r>
            <a:endParaRPr lang="es-MX" sz="1000" dirty="0">
              <a:latin typeface="Arial" panose="020B0604020202020204" pitchFamily="34" charset="0"/>
              <a:cs typeface="Arial" panose="020B0604020202020204" pitchFamily="34" charset="0"/>
            </a:endParaRPr>
          </a:p>
        </p:txBody>
      </p:sp>
      <p:pic>
        <p:nvPicPr>
          <p:cNvPr id="11" name="Imagen 10"/>
          <p:cNvPicPr>
            <a:picLocks noChangeAspect="1"/>
          </p:cNvPicPr>
          <p:nvPr/>
        </p:nvPicPr>
        <p:blipFill>
          <a:blip r:embed="rId3"/>
          <a:stretch>
            <a:fillRect/>
          </a:stretch>
        </p:blipFill>
        <p:spPr>
          <a:xfrm>
            <a:off x="6775661" y="3753757"/>
            <a:ext cx="3175426" cy="2113643"/>
          </a:xfrm>
          <a:prstGeom prst="rect">
            <a:avLst/>
          </a:prstGeom>
        </p:spPr>
      </p:pic>
      <p:sp>
        <p:nvSpPr>
          <p:cNvPr id="12" name="CuadroTexto 11"/>
          <p:cNvSpPr txBox="1"/>
          <p:nvPr/>
        </p:nvSpPr>
        <p:spPr>
          <a:xfrm>
            <a:off x="6775661" y="5867400"/>
            <a:ext cx="3175426" cy="400110"/>
          </a:xfrm>
          <a:prstGeom prst="rect">
            <a:avLst/>
          </a:prstGeom>
          <a:noFill/>
        </p:spPr>
        <p:txBody>
          <a:bodyPr wrap="square" rtlCol="0">
            <a:spAutoFit/>
          </a:bodyPr>
          <a:lstStyle/>
          <a:p>
            <a:r>
              <a:rPr lang="es-CL" sz="1000" dirty="0">
                <a:latin typeface="Arial" panose="020B0604020202020204" pitchFamily="34" charset="0"/>
                <a:cs typeface="Arial" panose="020B0604020202020204" pitchFamily="34" charset="0"/>
              </a:rPr>
              <a:t>Niño tapando sus oídos [Fotografía] diariodesalud, 2017, https://www.diariodesalud.com.do</a:t>
            </a:r>
            <a:endParaRPr lang="en-US" sz="1000" dirty="0">
              <a:latin typeface="Arial" panose="020B0604020202020204" pitchFamily="34" charset="0"/>
              <a:cs typeface="Arial" panose="020B0604020202020204" pitchFamily="34" charset="0"/>
            </a:endParaRPr>
          </a:p>
        </p:txBody>
      </p:sp>
      <p:sp>
        <p:nvSpPr>
          <p:cNvPr id="13" name="CuadroTexto 12"/>
          <p:cNvSpPr txBox="1"/>
          <p:nvPr/>
        </p:nvSpPr>
        <p:spPr>
          <a:xfrm>
            <a:off x="6775660" y="3507536"/>
            <a:ext cx="1480065" cy="246221"/>
          </a:xfrm>
          <a:prstGeom prst="rect">
            <a:avLst/>
          </a:prstGeom>
          <a:noFill/>
        </p:spPr>
        <p:txBody>
          <a:bodyPr wrap="square" rtlCol="0">
            <a:spAutoFit/>
          </a:bodyPr>
          <a:lstStyle/>
          <a:p>
            <a:r>
              <a:rPr lang="es-CL" sz="1000" dirty="0">
                <a:latin typeface="Arial" panose="020B0604020202020204" pitchFamily="34" charset="0"/>
                <a:cs typeface="Arial" panose="020B0604020202020204" pitchFamily="34" charset="0"/>
              </a:rPr>
              <a:t>Sensibilidad auditiva</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010750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2A64F5-04F4-FD18-93A0-DFCA43EA6CB7}"/>
              </a:ext>
            </a:extLst>
          </p:cNvPr>
          <p:cNvSpPr>
            <a:spLocks noGrp="1"/>
          </p:cNvSpPr>
          <p:nvPr>
            <p:ph type="title"/>
          </p:nvPr>
        </p:nvSpPr>
        <p:spPr>
          <a:xfrm>
            <a:off x="1100522" y="272845"/>
            <a:ext cx="9601200" cy="1485900"/>
          </a:xfrm>
        </p:spPr>
        <p:txBody>
          <a:bodyPr/>
          <a:lstStyle/>
          <a:p>
            <a:r>
              <a:rPr lang="es-MX" dirty="0"/>
              <a:t>Cronograma</a:t>
            </a:r>
            <a:endParaRPr lang="es-CL" dirty="0"/>
          </a:p>
        </p:txBody>
      </p:sp>
      <p:pic>
        <p:nvPicPr>
          <p:cNvPr id="21" name="Imagen 20"/>
          <p:cNvPicPr>
            <a:picLocks noChangeAspect="1"/>
          </p:cNvPicPr>
          <p:nvPr/>
        </p:nvPicPr>
        <p:blipFill>
          <a:blip r:embed="rId3"/>
          <a:stretch>
            <a:fillRect/>
          </a:stretch>
        </p:blipFill>
        <p:spPr>
          <a:xfrm>
            <a:off x="1490278" y="1157022"/>
            <a:ext cx="9211235" cy="2741904"/>
          </a:xfrm>
          <a:prstGeom prst="rect">
            <a:avLst/>
          </a:prstGeom>
        </p:spPr>
      </p:pic>
      <p:sp>
        <p:nvSpPr>
          <p:cNvPr id="4" name="CuadroTexto 3">
            <a:extLst>
              <a:ext uri="{FF2B5EF4-FFF2-40B4-BE49-F238E27FC236}">
                <a16:creationId xmlns:a16="http://schemas.microsoft.com/office/drawing/2014/main" id="{6AFAD0EA-8603-9B58-5F6B-75829792A1C3}"/>
              </a:ext>
            </a:extLst>
          </p:cNvPr>
          <p:cNvSpPr txBox="1"/>
          <p:nvPr/>
        </p:nvSpPr>
        <p:spPr>
          <a:xfrm>
            <a:off x="1405611" y="4021667"/>
            <a:ext cx="9295902" cy="1754326"/>
          </a:xfrm>
          <a:prstGeom prst="rect">
            <a:avLst/>
          </a:prstGeom>
          <a:noFill/>
        </p:spPr>
        <p:txBody>
          <a:bodyPr wrap="square">
            <a:spAutoFit/>
          </a:bodyPr>
          <a:lstStyle/>
          <a:p>
            <a:r>
              <a:rPr lang="es-ES" dirty="0"/>
              <a:t>Para calcular el porcentaje, lo hicimos con regla de 3 simple, de forma en que:</a:t>
            </a:r>
          </a:p>
          <a:p>
            <a:r>
              <a:rPr lang="es-ES" dirty="0"/>
              <a:t>A= total de vehículos del día =100%  </a:t>
            </a:r>
          </a:p>
          <a:p>
            <a:r>
              <a:rPr lang="es-ES" dirty="0"/>
              <a:t>B= cantidad de vehículos con escape ruidoso = X%</a:t>
            </a:r>
          </a:p>
          <a:p>
            <a:r>
              <a:rPr lang="es-ES" dirty="0"/>
              <a:t>(B×100):A= X% </a:t>
            </a:r>
          </a:p>
          <a:p>
            <a:r>
              <a:rPr lang="es-ES" dirty="0"/>
              <a:t>Ej. Lunes 27/10.</a:t>
            </a:r>
          </a:p>
          <a:p>
            <a:r>
              <a:rPr lang="es-ES" dirty="0"/>
              <a:t>(20×100):35= 2000:35= 57% del total de vehículos</a:t>
            </a:r>
          </a:p>
        </p:txBody>
      </p:sp>
    </p:spTree>
    <p:extLst>
      <p:ext uri="{BB962C8B-B14F-4D97-AF65-F5344CB8AC3E}">
        <p14:creationId xmlns:p14="http://schemas.microsoft.com/office/powerpoint/2010/main" val="188825960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Resultados de las muestras</a:t>
            </a:r>
            <a:endParaRPr lang="en-US" dirty="0"/>
          </a:p>
        </p:txBody>
      </p:sp>
      <p:pic>
        <p:nvPicPr>
          <p:cNvPr id="4" name="Marcador de contenido 3"/>
          <p:cNvPicPr>
            <a:picLocks noGrp="1" noChangeAspect="1"/>
          </p:cNvPicPr>
          <p:nvPr>
            <p:ph idx="1"/>
          </p:nvPr>
        </p:nvPicPr>
        <p:blipFill>
          <a:blip r:embed="rId2"/>
          <a:stretch>
            <a:fillRect/>
          </a:stretch>
        </p:blipFill>
        <p:spPr>
          <a:xfrm>
            <a:off x="2316479" y="1617102"/>
            <a:ext cx="8229599" cy="5051541"/>
          </a:xfrm>
          <a:prstGeom prst="rect">
            <a:avLst/>
          </a:prstGeom>
        </p:spPr>
      </p:pic>
    </p:spTree>
    <p:extLst>
      <p:ext uri="{BB962C8B-B14F-4D97-AF65-F5344CB8AC3E}">
        <p14:creationId xmlns:p14="http://schemas.microsoft.com/office/powerpoint/2010/main" val="547598630"/>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8806D2-3329-F6B2-1BA5-B714141B7C1F}"/>
              </a:ext>
            </a:extLst>
          </p:cNvPr>
          <p:cNvSpPr>
            <a:spLocks noGrp="1"/>
          </p:cNvSpPr>
          <p:nvPr>
            <p:ph type="title"/>
          </p:nvPr>
        </p:nvSpPr>
        <p:spPr/>
        <p:txBody>
          <a:bodyPr/>
          <a:lstStyle/>
          <a:p>
            <a:r>
              <a:rPr lang="es-MX" dirty="0"/>
              <a:t>HERRAMIENTA DE APOYO</a:t>
            </a:r>
            <a:endParaRPr lang="es-CL" dirty="0"/>
          </a:p>
        </p:txBody>
      </p:sp>
      <p:sp>
        <p:nvSpPr>
          <p:cNvPr id="3" name="Marcador de contenido 2">
            <a:extLst>
              <a:ext uri="{FF2B5EF4-FFF2-40B4-BE49-F238E27FC236}">
                <a16:creationId xmlns:a16="http://schemas.microsoft.com/office/drawing/2014/main" id="{8ACED883-DCAB-7ABD-5B3D-796EB4BD5EE3}"/>
              </a:ext>
            </a:extLst>
          </p:cNvPr>
          <p:cNvSpPr>
            <a:spLocks noGrp="1"/>
          </p:cNvSpPr>
          <p:nvPr>
            <p:ph idx="1"/>
          </p:nvPr>
        </p:nvSpPr>
        <p:spPr>
          <a:xfrm>
            <a:off x="1371600" y="2299252"/>
            <a:ext cx="6736080" cy="3581400"/>
          </a:xfrm>
        </p:spPr>
        <p:txBody>
          <a:bodyPr/>
          <a:lstStyle/>
          <a:p>
            <a:r>
              <a:rPr lang="es-MX" b="1" dirty="0"/>
              <a:t>SONOMETRO</a:t>
            </a:r>
            <a:endParaRPr lang="es-MX" dirty="0"/>
          </a:p>
          <a:p>
            <a:r>
              <a:rPr lang="es-MX" dirty="0"/>
              <a:t>Incorporamos una aplicación que nos permite medir los decibles, con esta aplicación logramos tomar las muestras de los niveles de decibles, en la entrada del estacionamiento de Inacap, Sede Los Ángeles. Esta herramienta nos permitió una buena tomas de datos para nuestro proyecto. Y la podemos encontrar para todo tipo de dispositivos móviles.</a:t>
            </a:r>
          </a:p>
          <a:p>
            <a:r>
              <a:rPr lang="es-CL" dirty="0"/>
              <a:t> Link : </a:t>
            </a:r>
            <a:r>
              <a:rPr lang="es-CL" sz="1400" dirty="0">
                <a:hlinkClick r:id="rId2"/>
              </a:rPr>
              <a:t>https://play.google.com/store/</a:t>
            </a:r>
          </a:p>
          <a:p>
            <a:pPr marL="0" indent="0">
              <a:buNone/>
            </a:pPr>
            <a:r>
              <a:rPr lang="es-CL" sz="1400" dirty="0">
                <a:hlinkClick r:id="rId2"/>
              </a:rPr>
              <a:t>apps/details?id=com.splendapps.decibel&amp;hl=es_419&amp;gl=US&amp;pli=1</a:t>
            </a:r>
            <a:endParaRPr lang="es-CL" sz="1400" dirty="0"/>
          </a:p>
          <a:p>
            <a:endParaRPr lang="es-CL" dirty="0"/>
          </a:p>
          <a:p>
            <a:endParaRPr lang="es-CL" dirty="0"/>
          </a:p>
          <a:p>
            <a:endParaRPr lang="es-CL" dirty="0"/>
          </a:p>
        </p:txBody>
      </p:sp>
      <p:pic>
        <p:nvPicPr>
          <p:cNvPr id="5" name="Imagen 4">
            <a:extLst>
              <a:ext uri="{FF2B5EF4-FFF2-40B4-BE49-F238E27FC236}">
                <a16:creationId xmlns:a16="http://schemas.microsoft.com/office/drawing/2014/main" id="{5A34E170-FA95-C269-0D66-1DB22E204466}"/>
              </a:ext>
            </a:extLst>
          </p:cNvPr>
          <p:cNvPicPr>
            <a:picLocks noChangeAspect="1"/>
          </p:cNvPicPr>
          <p:nvPr/>
        </p:nvPicPr>
        <p:blipFill rotWithShape="1">
          <a:blip r:embed="rId3"/>
          <a:srcRect t="4815" b="15760"/>
          <a:stretch/>
        </p:blipFill>
        <p:spPr>
          <a:xfrm>
            <a:off x="8642423" y="2171700"/>
            <a:ext cx="2051703" cy="3438683"/>
          </a:xfrm>
          <a:prstGeom prst="rect">
            <a:avLst/>
          </a:prstGeom>
        </p:spPr>
      </p:pic>
      <p:sp>
        <p:nvSpPr>
          <p:cNvPr id="4" name="CuadroTexto 3"/>
          <p:cNvSpPr txBox="1"/>
          <p:nvPr/>
        </p:nvSpPr>
        <p:spPr>
          <a:xfrm>
            <a:off x="8555338" y="5610383"/>
            <a:ext cx="2138788" cy="400110"/>
          </a:xfrm>
          <a:prstGeom prst="rect">
            <a:avLst/>
          </a:prstGeom>
          <a:noFill/>
        </p:spPr>
        <p:txBody>
          <a:bodyPr wrap="square" rtlCol="0">
            <a:spAutoFit/>
          </a:bodyPr>
          <a:lstStyle/>
          <a:p>
            <a:r>
              <a:rPr lang="es-CL" sz="1000" dirty="0">
                <a:latin typeface="Arial" panose="020B0604020202020204" pitchFamily="34" charset="0"/>
                <a:cs typeface="Arial" panose="020B0604020202020204" pitchFamily="34" charset="0"/>
              </a:rPr>
              <a:t>Captura de pantalla, [fotografía]  de sonómetro, 2023</a:t>
            </a:r>
            <a:endParaRPr lang="en-US" sz="1000" dirty="0">
              <a:latin typeface="Arial" panose="020B0604020202020204" pitchFamily="34" charset="0"/>
              <a:cs typeface="Arial" panose="020B0604020202020204" pitchFamily="34" charset="0"/>
            </a:endParaRPr>
          </a:p>
        </p:txBody>
      </p:sp>
      <p:sp>
        <p:nvSpPr>
          <p:cNvPr id="6" name="CuadroTexto 5"/>
          <p:cNvSpPr txBox="1"/>
          <p:nvPr/>
        </p:nvSpPr>
        <p:spPr>
          <a:xfrm>
            <a:off x="8555338" y="1989255"/>
            <a:ext cx="1506583" cy="246221"/>
          </a:xfrm>
          <a:prstGeom prst="rect">
            <a:avLst/>
          </a:prstGeom>
          <a:noFill/>
        </p:spPr>
        <p:txBody>
          <a:bodyPr wrap="square" rtlCol="0">
            <a:spAutoFit/>
          </a:bodyPr>
          <a:lstStyle/>
          <a:p>
            <a:r>
              <a:rPr lang="es-CL" sz="1000" dirty="0">
                <a:latin typeface="Arial" panose="020B0604020202020204" pitchFamily="34" charset="0"/>
                <a:cs typeface="Arial" panose="020B0604020202020204" pitchFamily="34" charset="0"/>
              </a:rPr>
              <a:t>APP</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090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1B3FF8-A704-FD53-CF2B-D54C9992BE49}"/>
              </a:ext>
            </a:extLst>
          </p:cNvPr>
          <p:cNvSpPr>
            <a:spLocks noGrp="1"/>
          </p:cNvSpPr>
          <p:nvPr>
            <p:ph type="title"/>
          </p:nvPr>
        </p:nvSpPr>
        <p:spPr/>
        <p:txBody>
          <a:bodyPr/>
          <a:lstStyle/>
          <a:p>
            <a:r>
              <a:rPr lang="es-MX" dirty="0"/>
              <a:t>Fuentes de información.</a:t>
            </a:r>
            <a:endParaRPr lang="es-CL" dirty="0"/>
          </a:p>
        </p:txBody>
      </p:sp>
      <p:sp>
        <p:nvSpPr>
          <p:cNvPr id="3" name="Marcador de contenido 2">
            <a:extLst>
              <a:ext uri="{FF2B5EF4-FFF2-40B4-BE49-F238E27FC236}">
                <a16:creationId xmlns:a16="http://schemas.microsoft.com/office/drawing/2014/main" id="{6B5E16CE-504A-292A-33F0-3825A28B3BBE}"/>
              </a:ext>
            </a:extLst>
          </p:cNvPr>
          <p:cNvSpPr>
            <a:spLocks noGrp="1"/>
          </p:cNvSpPr>
          <p:nvPr>
            <p:ph idx="1"/>
          </p:nvPr>
        </p:nvSpPr>
        <p:spPr/>
        <p:txBody>
          <a:bodyPr>
            <a:normAutofit fontScale="92500" lnSpcReduction="10000"/>
          </a:bodyPr>
          <a:lstStyle/>
          <a:p>
            <a:r>
              <a:rPr lang="es-MX" b="1" dirty="0"/>
              <a:t>¿Cuál es el limite legal de decibeles en los vehículos motorizados?</a:t>
            </a:r>
          </a:p>
          <a:p>
            <a:r>
              <a:rPr lang="es-MX" dirty="0"/>
              <a:t>El ministerio del medio ambiente nos facilita la información de la cantidad máxima de decibles para vehículos </a:t>
            </a:r>
            <a:r>
              <a:rPr lang="es-MX" dirty="0">
                <a:solidFill>
                  <a:srgbClr val="FF0000"/>
                </a:solidFill>
              </a:rPr>
              <a:t>livianos/medianos</a:t>
            </a:r>
            <a:r>
              <a:rPr lang="es-MX" dirty="0"/>
              <a:t>.</a:t>
            </a:r>
            <a:endParaRPr lang="es-MX" dirty="0">
              <a:solidFill>
                <a:srgbClr val="FF0000"/>
              </a:solidFill>
            </a:endParaRPr>
          </a:p>
          <a:p>
            <a:r>
              <a:rPr lang="es-CL" dirty="0"/>
              <a:t>Información disponible : </a:t>
            </a:r>
            <a:r>
              <a:rPr lang="es-CL" dirty="0">
                <a:hlinkClick r:id="rId2"/>
              </a:rPr>
              <a:t>https://mma.gob.cl/comienza-a-regir-en-chile-la-norma-de-emision-de-ruido-para-vehiculos-livianos-medianos-y-motocicletas/</a:t>
            </a:r>
            <a:endParaRPr lang="es-CL" dirty="0"/>
          </a:p>
          <a:p>
            <a:pPr marL="0" indent="0">
              <a:buNone/>
            </a:pPr>
            <a:endParaRPr lang="es-CL" dirty="0"/>
          </a:p>
          <a:p>
            <a:r>
              <a:rPr lang="es-CL" b="1" dirty="0"/>
              <a:t> </a:t>
            </a:r>
            <a:r>
              <a:rPr lang="es-MX" b="1" dirty="0"/>
              <a:t>¿Quién controla el ruido de los vehículos motorizados?</a:t>
            </a:r>
          </a:p>
          <a:p>
            <a:r>
              <a:rPr lang="es-MX" b="1" dirty="0">
                <a:solidFill>
                  <a:srgbClr val="FF0000"/>
                </a:solidFill>
              </a:rPr>
              <a:t> </a:t>
            </a:r>
            <a:r>
              <a:rPr lang="es-MX" dirty="0">
                <a:solidFill>
                  <a:srgbClr val="FF0000"/>
                </a:solidFill>
              </a:rPr>
              <a:t>La superintendencia del medio ambiente </a:t>
            </a:r>
            <a:r>
              <a:rPr lang="es-MX" dirty="0"/>
              <a:t>es quien debe fiscalizar el cumplimiento de las disipaciones fijas.</a:t>
            </a:r>
          </a:p>
          <a:p>
            <a:r>
              <a:rPr lang="es-MX" dirty="0"/>
              <a:t>Información disponible : </a:t>
            </a:r>
            <a:r>
              <a:rPr lang="es-MX" dirty="0">
                <a:hlinkClick r:id="rId3"/>
              </a:rPr>
              <a:t>https://www.bcn.cl/portal/leyfacil/recurso/ruidos-molestos</a:t>
            </a:r>
            <a:endParaRPr lang="es-MX" dirty="0"/>
          </a:p>
          <a:p>
            <a:endParaRPr lang="es-CL" dirty="0"/>
          </a:p>
          <a:p>
            <a:pPr marL="0" indent="0">
              <a:buNone/>
            </a:pPr>
            <a:endParaRPr lang="es-CL" dirty="0"/>
          </a:p>
        </p:txBody>
      </p:sp>
    </p:spTree>
    <p:extLst>
      <p:ext uri="{BB962C8B-B14F-4D97-AF65-F5344CB8AC3E}">
        <p14:creationId xmlns:p14="http://schemas.microsoft.com/office/powerpoint/2010/main" val="3674772069"/>
      </p:ext>
    </p:extLst>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198DD4-5258-5E69-3569-15304466A715}"/>
              </a:ext>
            </a:extLst>
          </p:cNvPr>
          <p:cNvSpPr>
            <a:spLocks noGrp="1"/>
          </p:cNvSpPr>
          <p:nvPr>
            <p:ph type="title"/>
          </p:nvPr>
        </p:nvSpPr>
        <p:spPr/>
        <p:txBody>
          <a:bodyPr/>
          <a:lstStyle/>
          <a:p>
            <a:r>
              <a:rPr lang="es-MX" dirty="0"/>
              <a:t>Fuentes de información </a:t>
            </a:r>
            <a:endParaRPr lang="es-CL" dirty="0"/>
          </a:p>
        </p:txBody>
      </p:sp>
      <p:sp>
        <p:nvSpPr>
          <p:cNvPr id="3" name="Marcador de contenido 2">
            <a:extLst>
              <a:ext uri="{FF2B5EF4-FFF2-40B4-BE49-F238E27FC236}">
                <a16:creationId xmlns:a16="http://schemas.microsoft.com/office/drawing/2014/main" id="{EC421852-D7F2-A0FA-BD91-EDB01A6BC1FA}"/>
              </a:ext>
            </a:extLst>
          </p:cNvPr>
          <p:cNvSpPr>
            <a:spLocks noGrp="1"/>
          </p:cNvSpPr>
          <p:nvPr>
            <p:ph idx="1"/>
          </p:nvPr>
        </p:nvSpPr>
        <p:spPr>
          <a:xfrm>
            <a:off x="1371600" y="2285999"/>
            <a:ext cx="9601200" cy="4288971"/>
          </a:xfrm>
        </p:spPr>
        <p:txBody>
          <a:bodyPr>
            <a:normAutofit fontScale="92500" lnSpcReduction="20000"/>
          </a:bodyPr>
          <a:lstStyle/>
          <a:p>
            <a:r>
              <a:rPr lang="es-MX" b="1" dirty="0"/>
              <a:t>¿Cómo se mide el nivel de decibeles de un vehículo?</a:t>
            </a:r>
          </a:p>
          <a:p>
            <a:pPr algn="l"/>
            <a:r>
              <a:rPr lang="es-CL" dirty="0"/>
              <a:t> </a:t>
            </a:r>
            <a:r>
              <a:rPr lang="es-MX" dirty="0"/>
              <a:t>Coloque el micrófono a 50 cm (19 1/2 pulgadas) detrás del tubo de escape en un ángulo de 45 grados con respecto a la abertura</a:t>
            </a:r>
            <a:r>
              <a:rPr lang="es-MX" dirty="0">
                <a:solidFill>
                  <a:srgbClr val="FF0000"/>
                </a:solidFill>
              </a:rPr>
              <a:t>. Los micrófonos no deben estar en el camino directo del aire de escape</a:t>
            </a:r>
            <a:r>
              <a:rPr lang="es-MX" dirty="0"/>
              <a:t>.</a:t>
            </a:r>
            <a:endParaRPr lang="es-CL" dirty="0"/>
          </a:p>
          <a:p>
            <a:r>
              <a:rPr lang="es-CL" dirty="0"/>
              <a:t>Información disponible : </a:t>
            </a:r>
            <a:r>
              <a:rPr lang="es-CL" dirty="0">
                <a:hlinkClick r:id="rId2"/>
              </a:rPr>
              <a:t>https://www.puromotores.com/13140336/como-medir-el-ruido-de-escape#google_vignette</a:t>
            </a:r>
            <a:endParaRPr lang="es-CL" dirty="0"/>
          </a:p>
          <a:p>
            <a:pPr marL="0" indent="0">
              <a:buNone/>
            </a:pPr>
            <a:endParaRPr lang="es-CL" dirty="0"/>
          </a:p>
          <a:p>
            <a:r>
              <a:rPr lang="es-MX" dirty="0"/>
              <a:t>¿Qué se puede hacer para disminuir el uso de </a:t>
            </a:r>
            <a:r>
              <a:rPr lang="es-MX" dirty="0" err="1"/>
              <a:t>vehiculos</a:t>
            </a:r>
            <a:r>
              <a:rPr lang="es-MX" dirty="0"/>
              <a:t> con escape modificado en </a:t>
            </a:r>
            <a:r>
              <a:rPr lang="es-MX" dirty="0" err="1"/>
              <a:t>via</a:t>
            </a:r>
            <a:r>
              <a:rPr lang="es-MX" dirty="0"/>
              <a:t> publica?</a:t>
            </a:r>
          </a:p>
          <a:p>
            <a:r>
              <a:rPr lang="es-MX" dirty="0">
                <a:solidFill>
                  <a:srgbClr val="FF0000"/>
                </a:solidFill>
              </a:rPr>
              <a:t>Designado un guardia que fiscalice el ingreso </a:t>
            </a:r>
            <a:r>
              <a:rPr lang="es-MX" dirty="0"/>
              <a:t>al estacionamiento Inacap, contratando o capacitando a los guardias actuales.</a:t>
            </a:r>
          </a:p>
          <a:p>
            <a:r>
              <a:rPr lang="es-MX" dirty="0"/>
              <a:t>Información disponible : </a:t>
            </a:r>
            <a:r>
              <a:rPr lang="es-MX" dirty="0">
                <a:hlinkClick r:id="rId3"/>
              </a:rPr>
              <a:t>https://www.autofact.cl/blog/mi-auto/infracciones/multa-ruido-moto#:~:text=Por%20otra%20parte%2C%20en%202019,a%20veh%C3%ADculos%20que%20superen%20ese</a:t>
            </a:r>
            <a:endParaRPr lang="es-MX" dirty="0"/>
          </a:p>
          <a:p>
            <a:endParaRPr lang="es-MX" dirty="0"/>
          </a:p>
        </p:txBody>
      </p:sp>
    </p:spTree>
    <p:extLst>
      <p:ext uri="{BB962C8B-B14F-4D97-AF65-F5344CB8AC3E}">
        <p14:creationId xmlns:p14="http://schemas.microsoft.com/office/powerpoint/2010/main" val="3366536363"/>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04E243-1A03-DC6D-A469-83F0915C8883}"/>
              </a:ext>
            </a:extLst>
          </p:cNvPr>
          <p:cNvSpPr>
            <a:spLocks noGrp="1"/>
          </p:cNvSpPr>
          <p:nvPr>
            <p:ph type="title"/>
          </p:nvPr>
        </p:nvSpPr>
        <p:spPr/>
        <p:txBody>
          <a:bodyPr/>
          <a:lstStyle/>
          <a:p>
            <a:r>
              <a:rPr lang="es-MX" dirty="0"/>
              <a:t>Medición con </a:t>
            </a:r>
            <a:r>
              <a:rPr lang="es-MX" b="1" dirty="0"/>
              <a:t>SONOMETRO </a:t>
            </a:r>
            <a:r>
              <a:rPr lang="es-MX" dirty="0"/>
              <a:t>en el establecimiento</a:t>
            </a:r>
            <a:endParaRPr lang="es-CL" dirty="0"/>
          </a:p>
        </p:txBody>
      </p:sp>
      <p:sp>
        <p:nvSpPr>
          <p:cNvPr id="3" name="Marcador de contenido 2">
            <a:extLst>
              <a:ext uri="{FF2B5EF4-FFF2-40B4-BE49-F238E27FC236}">
                <a16:creationId xmlns:a16="http://schemas.microsoft.com/office/drawing/2014/main" id="{FC8023AB-5863-1719-605F-FDFDC768EC38}"/>
              </a:ext>
            </a:extLst>
          </p:cNvPr>
          <p:cNvSpPr>
            <a:spLocks noGrp="1"/>
          </p:cNvSpPr>
          <p:nvPr>
            <p:ph idx="1"/>
          </p:nvPr>
        </p:nvSpPr>
        <p:spPr/>
        <p:txBody>
          <a:bodyPr/>
          <a:lstStyle/>
          <a:p>
            <a:r>
              <a:rPr lang="es-MX" dirty="0"/>
              <a:t>Nos ubicamos en el estacionamiento de la sede de Inacap los ángeles  para hacer mediciones de emisión de ruidos de escape con el </a:t>
            </a:r>
            <a:r>
              <a:rPr lang="es-MX" b="1" dirty="0"/>
              <a:t>SONOMETRO. </a:t>
            </a:r>
            <a:r>
              <a:rPr lang="es-MX" dirty="0"/>
              <a:t>Nos ubicamos cerca de la salida del tuvo de escape a una distancia de 50 centímetros y mantenemos el teléfono lo más estable para que la medición sea precisa. </a:t>
            </a:r>
          </a:p>
          <a:p>
            <a:endParaRPr lang="es-CL" dirty="0"/>
          </a:p>
        </p:txBody>
      </p:sp>
      <p:pic>
        <p:nvPicPr>
          <p:cNvPr id="4" name="Imagen 3">
            <a:extLst>
              <a:ext uri="{FF2B5EF4-FFF2-40B4-BE49-F238E27FC236}">
                <a16:creationId xmlns:a16="http://schemas.microsoft.com/office/drawing/2014/main" id="{0B9CF402-F2D0-CC27-D374-4AC6AEDC065D}"/>
              </a:ext>
            </a:extLst>
          </p:cNvPr>
          <p:cNvPicPr>
            <a:picLocks noChangeAspect="1"/>
          </p:cNvPicPr>
          <p:nvPr/>
        </p:nvPicPr>
        <p:blipFill>
          <a:blip r:embed="rId2"/>
          <a:stretch>
            <a:fillRect/>
          </a:stretch>
        </p:blipFill>
        <p:spPr>
          <a:xfrm>
            <a:off x="1729409" y="3791300"/>
            <a:ext cx="1970443" cy="2628836"/>
          </a:xfrm>
          <a:prstGeom prst="rect">
            <a:avLst/>
          </a:prstGeom>
        </p:spPr>
      </p:pic>
      <p:pic>
        <p:nvPicPr>
          <p:cNvPr id="6" name="Imagen 5">
            <a:extLst>
              <a:ext uri="{FF2B5EF4-FFF2-40B4-BE49-F238E27FC236}">
                <a16:creationId xmlns:a16="http://schemas.microsoft.com/office/drawing/2014/main" id="{1D27E430-E690-3431-2317-57F2B9353F44}"/>
              </a:ext>
            </a:extLst>
          </p:cNvPr>
          <p:cNvPicPr>
            <a:picLocks noChangeAspect="1"/>
          </p:cNvPicPr>
          <p:nvPr/>
        </p:nvPicPr>
        <p:blipFill>
          <a:blip r:embed="rId3"/>
          <a:stretch>
            <a:fillRect/>
          </a:stretch>
        </p:blipFill>
        <p:spPr>
          <a:xfrm>
            <a:off x="4226616" y="3791300"/>
            <a:ext cx="1971627" cy="2628836"/>
          </a:xfrm>
          <a:prstGeom prst="rect">
            <a:avLst/>
          </a:prstGeom>
        </p:spPr>
      </p:pic>
      <p:sp>
        <p:nvSpPr>
          <p:cNvPr id="5" name="CuadroTexto 4"/>
          <p:cNvSpPr txBox="1"/>
          <p:nvPr/>
        </p:nvSpPr>
        <p:spPr>
          <a:xfrm>
            <a:off x="1619795" y="6420136"/>
            <a:ext cx="2080058" cy="400110"/>
          </a:xfrm>
          <a:prstGeom prst="rect">
            <a:avLst/>
          </a:prstGeom>
          <a:noFill/>
        </p:spPr>
        <p:txBody>
          <a:bodyPr wrap="square" rtlCol="0">
            <a:spAutoFit/>
          </a:bodyPr>
          <a:lstStyle/>
          <a:p>
            <a:r>
              <a:rPr lang="es-CL" sz="1000" dirty="0">
                <a:latin typeface="Arial" panose="020B0604020202020204" pitchFamily="34" charset="0"/>
                <a:cs typeface="Arial" panose="020B0604020202020204" pitchFamily="34" charset="0"/>
              </a:rPr>
              <a:t>Tomada del celular [fotografía], 2023</a:t>
            </a:r>
            <a:endParaRPr lang="en-US" sz="1000" dirty="0">
              <a:latin typeface="Arial" panose="020B0604020202020204" pitchFamily="34" charset="0"/>
              <a:cs typeface="Arial" panose="020B0604020202020204" pitchFamily="34" charset="0"/>
            </a:endParaRPr>
          </a:p>
        </p:txBody>
      </p:sp>
      <p:sp>
        <p:nvSpPr>
          <p:cNvPr id="7" name="CuadroTexto 6"/>
          <p:cNvSpPr txBox="1"/>
          <p:nvPr/>
        </p:nvSpPr>
        <p:spPr>
          <a:xfrm>
            <a:off x="4145280" y="6420136"/>
            <a:ext cx="2052963" cy="553998"/>
          </a:xfrm>
          <a:prstGeom prst="rect">
            <a:avLst/>
          </a:prstGeom>
          <a:noFill/>
        </p:spPr>
        <p:txBody>
          <a:bodyPr wrap="square" rtlCol="0">
            <a:spAutoFit/>
          </a:bodyPr>
          <a:lstStyle/>
          <a:p>
            <a:r>
              <a:rPr lang="es-CL" sz="1000" dirty="0">
                <a:latin typeface="Arial" panose="020B0604020202020204" pitchFamily="34" charset="0"/>
                <a:cs typeface="Arial" panose="020B0604020202020204" pitchFamily="34" charset="0"/>
              </a:rPr>
              <a:t>Tomada del celular [fotografía], 2023</a:t>
            </a:r>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p:txBody>
      </p:sp>
      <p:sp>
        <p:nvSpPr>
          <p:cNvPr id="8" name="CuadroTexto 7"/>
          <p:cNvSpPr txBox="1"/>
          <p:nvPr/>
        </p:nvSpPr>
        <p:spPr>
          <a:xfrm>
            <a:off x="1619795" y="3553889"/>
            <a:ext cx="1970443" cy="246221"/>
          </a:xfrm>
          <a:prstGeom prst="rect">
            <a:avLst/>
          </a:prstGeom>
          <a:noFill/>
        </p:spPr>
        <p:txBody>
          <a:bodyPr wrap="square" rtlCol="0">
            <a:spAutoFit/>
          </a:bodyPr>
          <a:lstStyle/>
          <a:p>
            <a:r>
              <a:rPr lang="es-CL" sz="1000" dirty="0">
                <a:latin typeface="Arial" panose="020B0604020202020204" pitchFamily="34" charset="0"/>
                <a:cs typeface="Arial" panose="020B0604020202020204" pitchFamily="34" charset="0"/>
              </a:rPr>
              <a:t>Medición</a:t>
            </a:r>
            <a:endParaRPr lang="en-US" sz="1000" dirty="0">
              <a:latin typeface="Arial" panose="020B0604020202020204" pitchFamily="34" charset="0"/>
              <a:cs typeface="Arial" panose="020B0604020202020204" pitchFamily="34" charset="0"/>
            </a:endParaRPr>
          </a:p>
        </p:txBody>
      </p:sp>
      <p:sp>
        <p:nvSpPr>
          <p:cNvPr id="9" name="CuadroTexto 8"/>
          <p:cNvSpPr txBox="1"/>
          <p:nvPr/>
        </p:nvSpPr>
        <p:spPr>
          <a:xfrm>
            <a:off x="4145280" y="3553889"/>
            <a:ext cx="923109" cy="246221"/>
          </a:xfrm>
          <a:prstGeom prst="rect">
            <a:avLst/>
          </a:prstGeom>
          <a:noFill/>
        </p:spPr>
        <p:txBody>
          <a:bodyPr wrap="square" rtlCol="0">
            <a:spAutoFit/>
          </a:bodyPr>
          <a:lstStyle/>
          <a:p>
            <a:r>
              <a:rPr lang="es-CL" sz="1000" dirty="0">
                <a:latin typeface="Arial" panose="020B0604020202020204" pitchFamily="34" charset="0"/>
                <a:cs typeface="Arial" panose="020B0604020202020204" pitchFamily="34" charset="0"/>
              </a:rPr>
              <a:t>Medición</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440372"/>
      </p:ext>
    </p:extLst>
  </p:cSld>
  <p:clrMapOvr>
    <a:masterClrMapping/>
  </p:clrMapOvr>
</p:sld>
</file>

<file path=ppt/theme/theme1.xml><?xml version="1.0" encoding="utf-8"?>
<a:theme xmlns:a="http://schemas.openxmlformats.org/drawingml/2006/main" name="Recorte">
  <a:themeElements>
    <a:clrScheme name="Recort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Recort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cort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TM10001105[[fn=Recorte]]</Template>
  <TotalTime>469</TotalTime>
  <Words>810</Words>
  <Application>Microsoft Macintosh PowerPoint</Application>
  <PresentationFormat>Panorámica</PresentationFormat>
  <Paragraphs>72</Paragraphs>
  <Slides>11</Slides>
  <Notes>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Franklin Gothic Book</vt:lpstr>
      <vt:lpstr>Recorte</vt:lpstr>
      <vt:lpstr>Disminución de contaminación acústica vehicular </vt:lpstr>
      <vt:lpstr>Definición del proyecto</vt:lpstr>
      <vt:lpstr>Problemáticas a abordar</vt:lpstr>
      <vt:lpstr>Objetivos y preguntas</vt:lpstr>
      <vt:lpstr>Temas iniciales involucrados</vt:lpstr>
      <vt:lpstr>Cronograma</vt:lpstr>
      <vt:lpstr>Resultados de las muestras</vt:lpstr>
      <vt:lpstr>HERRAMIENTA DE APOYO</vt:lpstr>
      <vt:lpstr>Fuentes de información.</vt:lpstr>
      <vt:lpstr>Fuentes de información </vt:lpstr>
      <vt:lpstr>Medición con SONOMETRO en el establecimiento</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Disminución de contaminación acústica vehicular</dc:title>
  <dc:creator>Rafael San Martin</dc:creator>
  <cp:lastModifiedBy>LISSETTE ANDREA SALAMANCA MELLA</cp:lastModifiedBy>
  <cp:revision>23</cp:revision>
  <dcterms:created xsi:type="dcterms:W3CDTF">2023-11-16T20:29:52Z</dcterms:created>
  <dcterms:modified xsi:type="dcterms:W3CDTF">2023-12-13T17:29:17Z</dcterms:modified>
</cp:coreProperties>
</file>