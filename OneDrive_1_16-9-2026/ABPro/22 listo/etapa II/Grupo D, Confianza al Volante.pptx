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4" r:id="rId11"/>
    <p:sldId id="265" r:id="rId12"/>
    <p:sldId id="266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SETTE ANDREA SALAMANCA MELLA" initials="LASM" lastIdx="10" clrIdx="0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62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6:26.723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  <p:cm authorId="1" dt="2023-12-13T14:56:33.806" idx="2">
    <p:pos x="6459" y="1124"/>
    <p:text>redactar en tercera persona</p:text>
    <p:extLst>
      <p:ext uri="{C676402C-5697-4E1C-873F-D02D1690AC5C}">
        <p15:threadingInfo xmlns:p15="http://schemas.microsoft.com/office/powerpoint/2012/main" timeZoneBias="180"/>
      </p:ext>
    </p:extLst>
  </p:cm>
  <p:cm authorId="1" dt="2023-12-13T14:57:01.021" idx="3">
    <p:pos x="146" y="146"/>
    <p:text>usar APA para la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7:47.251" idx="4">
    <p:pos x="3131" y="845"/>
    <p:text>mejorar redacción... acá entiendo que es de los mecánicos hacia los clientes no los clientes hacia los mecánicos</p:text>
    <p:extLst>
      <p:ext uri="{C676402C-5697-4E1C-873F-D02D1690AC5C}">
        <p15:threadingInfo xmlns:p15="http://schemas.microsoft.com/office/powerpoint/2012/main" timeZoneBias="180"/>
      </p:ext>
    </p:extLst>
  </p:cm>
  <p:cm authorId="1" dt="2023-12-13T14:58:19.168" idx="5">
    <p:pos x="3126" y="1794"/>
    <p:text>buenas preguntas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8:32.706" idx="6">
    <p:pos x="10" y="10"/>
    <p:text>muy bien!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8:40.216" idx="7">
    <p:pos x="10" y="10"/>
    <p:text>muy bien!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8:51.041" idx="8">
    <p:pos x="10" y="10"/>
    <p:text>incorporar imágenes donde aplique y/o utilicen estas herramientas 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9:26.750" idx="9">
    <p:pos x="10" y="10"/>
    <p:text>uso APA para las imágenes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9:46.417" idx="10">
    <p:pos x="10" y="10"/>
    <p:text>muy bien!</p:text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366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18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14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84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99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59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581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115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363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80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7386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18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509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53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6563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84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698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21C2BD6D-8342-8794-7569-F66224CA3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2" t="9091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3559A5F2-8BE0-4998-A1E4-1B145465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3A6596D4-D53C-424F-9F16-CC8686C0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BB890B-70D4-42FE-A599-6AEF1A42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842D646-B58C-43C8-8152-01BC782B7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23">
            <a:extLst>
              <a:ext uri="{FF2B5EF4-FFF2-40B4-BE49-F238E27FC236}">
                <a16:creationId xmlns:a16="http://schemas.microsoft.com/office/drawing/2014/main" id="{9772CABD-4211-42AA-B349-D4002E52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2" name="Rectangle 25">
            <a:extLst>
              <a:ext uri="{FF2B5EF4-FFF2-40B4-BE49-F238E27FC236}">
                <a16:creationId xmlns:a16="http://schemas.microsoft.com/office/drawing/2014/main" id="{BBD91630-4DBA-4294-8016-FEB5C3B0C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E67D1587-504D-41BC-9D48-B61257BF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4200" y="1678665"/>
            <a:ext cx="4569803" cy="1999713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US" sz="3800" b="0" i="0" dirty="0">
                <a:effectLst/>
              </a:rPr>
            </a:br>
            <a:r>
              <a:rPr lang="en-US" sz="3200" i="0" dirty="0">
                <a:effectLst/>
              </a:rPr>
              <a:t>CONFIANZA </a:t>
            </a:r>
            <a:r>
              <a:rPr lang="en-US" sz="3200" dirty="0"/>
              <a:t>AL </a:t>
            </a:r>
            <a:r>
              <a:rPr lang="en-US" sz="3200" i="0" dirty="0">
                <a:effectLst/>
              </a:rPr>
              <a:t>VOLANTE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583324" y="4050832"/>
            <a:ext cx="5016944" cy="1999712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</a:rPr>
              <a:t>Integrantes</a:t>
            </a:r>
            <a:r>
              <a:rPr lang="en-US" sz="1600" dirty="0">
                <a:solidFill>
                  <a:schemeClr val="bg1"/>
                </a:solidFill>
              </a:rPr>
              <a:t>: Leonardo García Soto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Marcelo Valenzuela Padilla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Vicente Salazar Fonseca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Christian Castillo Pérez 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Docente</a:t>
            </a:r>
            <a:r>
              <a:rPr lang="en-US" sz="1600" dirty="0">
                <a:solidFill>
                  <a:schemeClr val="bg1"/>
                </a:solidFill>
              </a:rPr>
              <a:t>: Lissette Salamanca Mella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Asignatura</a:t>
            </a:r>
            <a:r>
              <a:rPr lang="en-US" sz="1600" dirty="0">
                <a:solidFill>
                  <a:schemeClr val="bg1"/>
                </a:solidFill>
              </a:rPr>
              <a:t>: Funciones y Geometría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Carrera</a:t>
            </a:r>
            <a:r>
              <a:rPr lang="en-US" sz="1600" dirty="0">
                <a:solidFill>
                  <a:schemeClr val="bg1"/>
                </a:solidFill>
              </a:rPr>
              <a:t>: Mecánica y Electromovilidad Automotriz</a:t>
            </a:r>
          </a:p>
        </p:txBody>
      </p:sp>
      <p:sp>
        <p:nvSpPr>
          <p:cNvPr id="66" name="Rectangle 27">
            <a:extLst>
              <a:ext uri="{FF2B5EF4-FFF2-40B4-BE49-F238E27FC236}">
                <a16:creationId xmlns:a16="http://schemas.microsoft.com/office/drawing/2014/main" id="{8765DD1A-F044-4DE7-8A9B-7C30DC85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8" name="Rectangle 28">
            <a:extLst>
              <a:ext uri="{FF2B5EF4-FFF2-40B4-BE49-F238E27FC236}">
                <a16:creationId xmlns:a16="http://schemas.microsoft.com/office/drawing/2014/main" id="{2FE2170D-72D6-48A8-8E9A-BFF3BF0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0" name="Rectangle 29">
            <a:extLst>
              <a:ext uri="{FF2B5EF4-FFF2-40B4-BE49-F238E27FC236}">
                <a16:creationId xmlns:a16="http://schemas.microsoft.com/office/drawing/2014/main" id="{01D19436-094D-463D-AFEA-870FDBD0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9A2DE6E0-967C-4C58-8558-EC08F113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AD67D530-062C-5B91-903A-2B9F49A6E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5" r="24177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s-E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DEL PROYECTO</a:t>
            </a:r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4371745" cy="427996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Los mecánicos automotrices enfrentan un trabajo crucial hacia los vehículos, ellos son los encargados de diagnosticar, reparar y efectuar mantenimiento hacia los automóviles, por ello, las personas deben tener mucha confianza a quien les otorgue una excelente calidad de servicio hacia sus vehículos, donde el mecánico desempeña un papel crucial en el trabajo.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Dentro de la comuna de Los Ángeles existen muchas personas con sus propios vehículos llevándolos a reparar o realizar sus mantenimientos, todos ellos se enfrentan a la incertidumbre y desconfianza si el servicio realizado es el correcto, si el cobro es el adecuado o si simplemente los están engañando.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Como estudiantes del área mecánica de INACAP y futuros mecánicos creamos este proyecto con la finalidad de encontrar las razones por la cual existe esta desconfianza hacia los mecánicos automotriz.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 algn="ctr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325440" y="1549201"/>
            <a:ext cx="4969566" cy="494306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TEMA DE INVESTIGACIÓN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700" dirty="0">
                <a:solidFill>
                  <a:schemeClr val="tx1"/>
                </a:solidFill>
              </a:rPr>
              <a:t>Como equipo de trabajo investigaremos la calidad del servicio que brindan los mecánicos automotrices a los cliente, esto mediante una encuesta creada por nosotros y validada por expertos del área automotriz, esta encuesta será entregada a diferentes personas, con el fin de obtener sus opiniones y experiencias vividas.</a:t>
            </a:r>
          </a:p>
          <a:p>
            <a:pPr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PROBLEMÁTICA A ABORDAR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Cuando hablamos de un taller mecánico y su cliente, la confianza es el valor más importante a destacar, los mecánicos deben brindar confianza al entregar en perfectas condiciones el automóvil a su cliente, sin tener este ninguna duda de que será estafado, por ello, la problemática que abordaremos será, la poca credibilidad de los mecánicos automotrices hacia sus clientes.</a:t>
            </a:r>
          </a:p>
          <a:p>
            <a:pPr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NOCIONES MATEMÁTICAS A UTILIZAR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El crear un ABPro nos implica implementar nociones matemáticas en nuestro proyecto, por lo tanto, como equipo de trabajo utilizaremos las estadísticas, los porcentajes y software estadísticos.</a:t>
            </a:r>
          </a:p>
        </p:txBody>
      </p:sp>
      <p:pic>
        <p:nvPicPr>
          <p:cNvPr id="4" name="Imagen 3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876BBAED-B8F6-0F4C-D7D7-31CD6283BF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8" r="33389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FB057BF9-5164-E7DD-BAA1-C85ACFEB5C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5" r="24177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511957-82E8-115C-643E-E2F3E1D8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s-ES" b="0" i="0"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1692" y="1060173"/>
            <a:ext cx="4656406" cy="548130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OBJETIVO DEL PROYECTO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Realizar un estudio de análisis sobre la credibilidad de los mecánicos hacia los clientes.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s-CL" sz="11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s-CL" sz="11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PREGUNTAS</a:t>
            </a:r>
            <a:endParaRPr lang="es-CL" sz="1100" b="1" dirty="0">
              <a:solidFill>
                <a:schemeClr val="tx1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Preguntas que nos ayudaran a la hora de avanzar con nuestro proyecto.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es-CL" sz="1600" dirty="0">
                <a:solidFill>
                  <a:schemeClr val="tx1"/>
                </a:solidFill>
              </a:rPr>
              <a:t>¿Por qué causan dudas las reparaciones automotriz?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es-CL" sz="1600" dirty="0">
                <a:solidFill>
                  <a:schemeClr val="tx1"/>
                </a:solidFill>
              </a:rPr>
              <a:t>¿Cuánto entiende un cliente sobre la mecánica básica?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es-CL" sz="1600" dirty="0">
                <a:solidFill>
                  <a:schemeClr val="tx1"/>
                </a:solidFill>
              </a:rPr>
              <a:t>¿Se cree que los mecánicos suben los precios cuando se trata de una persona sin conocimiento?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es-CL" sz="1600" dirty="0">
                <a:solidFill>
                  <a:schemeClr val="tx1"/>
                </a:solidFill>
              </a:rPr>
              <a:t>¿Son honestos los mecánicos con los clientes? 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es-CL" sz="1600" dirty="0">
                <a:solidFill>
                  <a:schemeClr val="tx1"/>
                </a:solidFill>
              </a:rPr>
              <a:t>¿Hacen un buen trabajo los mecánicos a la hora de reparar un automóvil?</a:t>
            </a:r>
          </a:p>
          <a:p>
            <a:pPr marL="0" indent="0">
              <a:lnSpc>
                <a:spcPct val="90000"/>
              </a:lnSpc>
              <a:buNone/>
            </a:pPr>
            <a:endParaRPr lang="es-CL" sz="11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52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sz="3100" b="1" dirty="0">
                <a:latin typeface="Arial" panose="020B0604020202020204" pitchFamily="34" charset="0"/>
                <a:cs typeface="Arial" panose="020B0604020202020204" pitchFamily="34" charset="0"/>
              </a:rPr>
              <a:t>TEMAS INICIALES INVOLUCRADOS</a:t>
            </a:r>
            <a:endParaRPr lang="es-CL" sz="3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09563" y="2160589"/>
            <a:ext cx="4703063" cy="4412489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La calidad del servicio que ofrece el mecánico al cliente.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La calidad del servicio desempeña un papel fundamental en el éxito de cualquier negocio o empresa, ya que brindar un servicio excepcional no solo satisface las necesidades y expectativas de los clientes, sino que también fortalece su confianza y lealtad.</a:t>
            </a:r>
          </a:p>
          <a:p>
            <a:pPr algn="just">
              <a:lnSpc>
                <a:spcPct val="90000"/>
              </a:lnSpc>
            </a:pPr>
            <a:r>
              <a:rPr lang="es-CL" b="1" dirty="0">
                <a:solidFill>
                  <a:schemeClr val="tx1"/>
                </a:solidFill>
              </a:rPr>
              <a:t>La credibilidad y honestidad a la hora de completar el servicio mecánico.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El cliente busca un servicio bien realizado, por lo tanto, el mecánico debe brindarle a su cliente lo mejor dentro de sus posibilidades, habilidades y capacidades para que así el vehículo no vuelva a fallar y el cliente este satisfecho en todos los aspectos por el servicio desarrollado.</a:t>
            </a:r>
          </a:p>
          <a:p>
            <a:pPr marL="0" indent="0">
              <a:lnSpc>
                <a:spcPct val="90000"/>
              </a:lnSpc>
              <a:buNone/>
            </a:pPr>
            <a:endParaRPr lang="es-CL" sz="1400" dirty="0"/>
          </a:p>
          <a:p>
            <a:pPr marL="0" indent="0">
              <a:lnSpc>
                <a:spcPct val="90000"/>
              </a:lnSpc>
              <a:buNone/>
            </a:pPr>
            <a:endParaRPr lang="es-CL" sz="1400" dirty="0"/>
          </a:p>
        </p:txBody>
      </p:sp>
      <p:pic>
        <p:nvPicPr>
          <p:cNvPr id="5" name="Imagen 4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DED8758B-0C3D-5433-A57B-66C5185762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8" r="33389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72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Marcador de contenido 14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915DAA5B-D33A-739A-086A-8A5C5F9612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r="86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E92EFDE-4DF5-E260-683F-CAE885C4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83319"/>
            <a:ext cx="8596668" cy="708992"/>
          </a:xfrm>
        </p:spPr>
        <p:txBody>
          <a:bodyPr>
            <a:normAutofit/>
          </a:bodyPr>
          <a:lstStyle/>
          <a:p>
            <a:pPr algn="ctr"/>
            <a:r>
              <a:rPr lang="es-CL" b="1" dirty="0"/>
              <a:t>CRONOGRAMA</a:t>
            </a:r>
            <a:endParaRPr lang="es-ES" b="1" dirty="0"/>
          </a:p>
        </p:txBody>
      </p:sp>
      <p:graphicFrame>
        <p:nvGraphicFramePr>
          <p:cNvPr id="17" name="Tabla 18">
            <a:extLst>
              <a:ext uri="{FF2B5EF4-FFF2-40B4-BE49-F238E27FC236}">
                <a16:creationId xmlns:a16="http://schemas.microsoft.com/office/drawing/2014/main" id="{D8F3A9E4-67F7-2977-DC89-31B60BEC2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32481"/>
              </p:ext>
            </p:extLst>
          </p:nvPr>
        </p:nvGraphicFramePr>
        <p:xfrm>
          <a:off x="1099930" y="1008974"/>
          <a:ext cx="9992139" cy="58656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03513">
                  <a:extLst>
                    <a:ext uri="{9D8B030D-6E8A-4147-A177-3AD203B41FA5}">
                      <a16:colId xmlns:a16="http://schemas.microsoft.com/office/drawing/2014/main" val="2488065512"/>
                    </a:ext>
                  </a:extLst>
                </a:gridCol>
                <a:gridCol w="2822713">
                  <a:extLst>
                    <a:ext uri="{9D8B030D-6E8A-4147-A177-3AD203B41FA5}">
                      <a16:colId xmlns:a16="http://schemas.microsoft.com/office/drawing/2014/main" val="1654057716"/>
                    </a:ext>
                  </a:extLst>
                </a:gridCol>
                <a:gridCol w="1656522">
                  <a:extLst>
                    <a:ext uri="{9D8B030D-6E8A-4147-A177-3AD203B41FA5}">
                      <a16:colId xmlns:a16="http://schemas.microsoft.com/office/drawing/2014/main" val="168583751"/>
                    </a:ext>
                  </a:extLst>
                </a:gridCol>
                <a:gridCol w="1802296">
                  <a:extLst>
                    <a:ext uri="{9D8B030D-6E8A-4147-A177-3AD203B41FA5}">
                      <a16:colId xmlns:a16="http://schemas.microsoft.com/office/drawing/2014/main" val="1178243445"/>
                    </a:ext>
                  </a:extLst>
                </a:gridCol>
                <a:gridCol w="2107095">
                  <a:extLst>
                    <a:ext uri="{9D8B030D-6E8A-4147-A177-3AD203B41FA5}">
                      <a16:colId xmlns:a16="http://schemas.microsoft.com/office/drawing/2014/main" val="3868013296"/>
                    </a:ext>
                  </a:extLst>
                </a:gridCol>
              </a:tblGrid>
              <a:tr h="424911">
                <a:tc>
                  <a:txBody>
                    <a:bodyPr/>
                    <a:lstStyle/>
                    <a:p>
                      <a:r>
                        <a:rPr lang="es-CL" dirty="0"/>
                        <a:t>TAREAS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RESULTADOS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PLAZOS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RESPONSABLE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INSUMOS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046986"/>
                  </a:ext>
                </a:extLst>
              </a:tr>
              <a:tr h="960219">
                <a:tc>
                  <a:txBody>
                    <a:bodyPr/>
                    <a:lstStyle/>
                    <a:p>
                      <a:r>
                        <a:rPr lang="es-CL" dirty="0"/>
                        <a:t>Creación de preguntas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Obtener preguntas para validarlas por expertos del área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18 de noviembre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Vicente Salazar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Internet</a:t>
                      </a:r>
                    </a:p>
                    <a:p>
                      <a:r>
                        <a:rPr lang="es-CL" dirty="0"/>
                        <a:t>Computadora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97339"/>
                  </a:ext>
                </a:extLst>
              </a:tr>
              <a:tr h="848140">
                <a:tc>
                  <a:txBody>
                    <a:bodyPr/>
                    <a:lstStyle/>
                    <a:p>
                      <a:r>
                        <a:rPr lang="es-CL" dirty="0"/>
                        <a:t>Validación por expertos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Expertos del área automotriz nos darán sus opiniones para mejorar nuestra preguntas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25 de noviembre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Marcelo Valenzuela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Internet</a:t>
                      </a:r>
                    </a:p>
                    <a:p>
                      <a:r>
                        <a:rPr lang="es-CL" dirty="0"/>
                        <a:t>Computadora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42045"/>
                  </a:ext>
                </a:extLst>
              </a:tr>
              <a:tr h="8481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Realización de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Obtendremos las opiniones de distintas personas junto a sus experiencias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04 de diciembre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Leonardo García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Computadora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829635"/>
                  </a:ext>
                </a:extLst>
              </a:tr>
              <a:tr h="733407">
                <a:tc>
                  <a:txBody>
                    <a:bodyPr/>
                    <a:lstStyle/>
                    <a:p>
                      <a:r>
                        <a:rPr lang="es-CL" dirty="0"/>
                        <a:t>Recopilación de los datos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Obtendremos la cantidad de personas que realizaron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06 de diciembre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Vicente Salazar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Internet</a:t>
                      </a:r>
                    </a:p>
                    <a:p>
                      <a:r>
                        <a:rPr lang="es-CL" dirty="0"/>
                        <a:t>Computadora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36076"/>
                  </a:ext>
                </a:extLst>
              </a:tr>
              <a:tr h="733407">
                <a:tc>
                  <a:txBody>
                    <a:bodyPr/>
                    <a:lstStyle/>
                    <a:p>
                      <a:r>
                        <a:rPr lang="es-CL" dirty="0"/>
                        <a:t>Análisis de los datos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Porcentaje de personas que sienten desconfianza por servicios de los mecánico automotrices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7 de diciembre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Christian Castillo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Calculadora</a:t>
                      </a:r>
                    </a:p>
                    <a:p>
                      <a:r>
                        <a:rPr lang="es-CL" dirty="0"/>
                        <a:t>Computador</a:t>
                      </a:r>
                    </a:p>
                    <a:p>
                      <a:r>
                        <a:rPr lang="es-CL" dirty="0"/>
                        <a:t>Internet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098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199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ersona, interior, tabla, computadora&#10;&#10;Descripción generada automáticamente">
            <a:extLst>
              <a:ext uri="{FF2B5EF4-FFF2-40B4-BE49-F238E27FC236}">
                <a16:creationId xmlns:a16="http://schemas.microsoft.com/office/drawing/2014/main" id="{7E5CEF60-E0B1-E3BB-30D6-635879BFA8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1" r="2262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9D3D51A-987F-89F9-84EF-977927BB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s-CL" b="1" dirty="0"/>
              <a:t>HERRAMIENTAS TECNOLÓGICAS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AB976C-1E8E-9E39-CAF2-206596E74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763558" cy="42799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1600" b="1" dirty="0">
                <a:solidFill>
                  <a:schemeClr val="tx1"/>
                </a:solidFill>
              </a:rPr>
              <a:t>Buscador de Google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Este buscador es una herramienta que nos permite navegar por el internet por medio de páginas web de diferentes sitios, buscando y encontrando respuestas a nuestras preguntas e información para guiar a nuestro equipo de trabajo, con el fin de completar nuestro proyecto.</a:t>
            </a:r>
          </a:p>
          <a:p>
            <a:pPr marL="0" indent="0">
              <a:lnSpc>
                <a:spcPct val="90000"/>
              </a:lnSpc>
              <a:buNone/>
            </a:pPr>
            <a:endParaRPr lang="es-CL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s-CL" sz="1600" b="1" dirty="0">
                <a:solidFill>
                  <a:schemeClr val="tx1"/>
                </a:solidFill>
              </a:rPr>
              <a:t>Google Drive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Esta aplicación nos permite almacenar, compartir y dar acceso a diferentes archivos y documentos desde cualquier dispositivo. Esta herramienta nos brinda la posibilidad de compartir nuestros documentos facilitando editarlos en conjunto como grupo de trabajo.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081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rsona, interior, tabla, computadora&#10;&#10;Descripción generada automáticamente">
            <a:extLst>
              <a:ext uri="{FF2B5EF4-FFF2-40B4-BE49-F238E27FC236}">
                <a16:creationId xmlns:a16="http://schemas.microsoft.com/office/drawing/2014/main" id="{9CC03A80-89E9-D279-ADC7-D504A5E5BE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1" r="2262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D03E81-FB67-0D37-0B73-74A63C64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84739"/>
            <a:ext cx="4401103" cy="540199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s-CL" sz="1600" b="1" dirty="0">
                <a:solidFill>
                  <a:schemeClr val="tx1"/>
                </a:solidFill>
              </a:rPr>
              <a:t>Aplicaciones Office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1600" b="1" dirty="0">
                <a:solidFill>
                  <a:schemeClr val="tx1"/>
                </a:solidFill>
              </a:rPr>
              <a:t>Power Point</a:t>
            </a:r>
            <a:r>
              <a:rPr lang="es-CL" sz="1600" dirty="0">
                <a:solidFill>
                  <a:schemeClr val="tx1"/>
                </a:solidFill>
              </a:rPr>
              <a:t>: Es una aplicación sencilla de utilizar, esta nos permite crear presentaciones en diapositivas, podemos incluir en ellas, textos, imágenes, videos o gráficos. Esta herramienta tecnológica nos ayuda a guardar y ordenar la información que hemos investigado, es una herramienta muy útil para avanzar en nuestro proyecto.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1600" b="1" dirty="0">
                <a:solidFill>
                  <a:schemeClr val="tx1"/>
                </a:solidFill>
              </a:rPr>
              <a:t>Word</a:t>
            </a:r>
            <a:r>
              <a:rPr lang="es-CL" sz="1600" dirty="0">
                <a:solidFill>
                  <a:schemeClr val="tx1"/>
                </a:solidFill>
              </a:rPr>
              <a:t>: Esta aplicación nos brinda la opción de crear y modificar documentos a nuestro antojo. Esta herramienta contiene diversas opciones que nos ayudaron a la hora de crear la validación de encuesta.</a:t>
            </a:r>
          </a:p>
          <a:p>
            <a:pPr>
              <a:lnSpc>
                <a:spcPct val="90000"/>
              </a:lnSpc>
            </a:pPr>
            <a:r>
              <a:rPr lang="es-CL" sz="1600" b="1" dirty="0">
                <a:solidFill>
                  <a:schemeClr val="tx1"/>
                </a:solidFill>
              </a:rPr>
              <a:t>Formulario de Google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1600" dirty="0">
                <a:solidFill>
                  <a:schemeClr val="tx1"/>
                </a:solidFill>
              </a:rPr>
              <a:t>Esta herramienta tecnológica nos proporciona la posibilidad de crear encuestas o cuestionarios directamente de un computador o móvil. Con formulario de Google creamos la encuesta que va dirigida a distintas personas, con la finalidad de que la respondan y nos cuenten sus opiniones y experiencias.</a:t>
            </a:r>
          </a:p>
          <a:p>
            <a:pPr>
              <a:lnSpc>
                <a:spcPct val="90000"/>
              </a:lnSpc>
            </a:pPr>
            <a:endParaRPr lang="es-ES" sz="1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480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5A159-03E5-8957-2256-1754D63D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91" y="461038"/>
            <a:ext cx="9095621" cy="660400"/>
          </a:xfrm>
        </p:spPr>
        <p:txBody>
          <a:bodyPr/>
          <a:lstStyle/>
          <a:p>
            <a:r>
              <a:rPr lang="es-CL" b="1" dirty="0"/>
              <a:t>EVIDENCIA FUENTES DE INFORMACIÓN</a:t>
            </a:r>
            <a:endParaRPr lang="es-ES" b="1" dirty="0"/>
          </a:p>
        </p:txBody>
      </p:sp>
      <p:pic>
        <p:nvPicPr>
          <p:cNvPr id="5" name="Marcador de contenido 4" descr="Texto, Carta&#10;&#10;Descripción generada automáticamente">
            <a:extLst>
              <a:ext uri="{FF2B5EF4-FFF2-40B4-BE49-F238E27FC236}">
                <a16:creationId xmlns:a16="http://schemas.microsoft.com/office/drawing/2014/main" id="{8B0C2CE6-2CA2-45CE-CF2B-C297B5880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4" t="19449" r="11527" b="3731"/>
          <a:stretch/>
        </p:blipFill>
        <p:spPr>
          <a:xfrm>
            <a:off x="271905" y="2121161"/>
            <a:ext cx="2621978" cy="3470264"/>
          </a:xfrm>
          <a:ln w="12700">
            <a:solidFill>
              <a:schemeClr val="tx1"/>
            </a:solidFill>
          </a:ln>
        </p:spPr>
      </p:pic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9A36930-5886-47C2-1D93-DF4CF6C5E6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0" t="1843" r="5278" b="13856"/>
          <a:stretch/>
        </p:blipFill>
        <p:spPr>
          <a:xfrm>
            <a:off x="3220000" y="2121161"/>
            <a:ext cx="2712941" cy="3470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Imagen 8" descr="Texto, Carta&#10;&#10;Descripción generada automáticamente">
            <a:extLst>
              <a:ext uri="{FF2B5EF4-FFF2-40B4-BE49-F238E27FC236}">
                <a16:creationId xmlns:a16="http://schemas.microsoft.com/office/drawing/2014/main" id="{D26E08A6-BC5D-BC84-4862-1EB69A16A7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" t="5118"/>
          <a:stretch/>
        </p:blipFill>
        <p:spPr>
          <a:xfrm>
            <a:off x="6259058" y="2121161"/>
            <a:ext cx="2661337" cy="3470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Imagen 10" descr="Texto, Carta&#10;&#10;Descripción generada automáticamente">
            <a:extLst>
              <a:ext uri="{FF2B5EF4-FFF2-40B4-BE49-F238E27FC236}">
                <a16:creationId xmlns:a16="http://schemas.microsoft.com/office/drawing/2014/main" id="{591DE6C6-9CD7-5087-30E7-9443F91B7E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1" t="4594" r="1990" b="4851"/>
          <a:stretch/>
        </p:blipFill>
        <p:spPr>
          <a:xfrm>
            <a:off x="9246512" y="2093162"/>
            <a:ext cx="2585723" cy="347307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C47AE6F-E060-0E84-F8CC-DF717357292F}"/>
              </a:ext>
            </a:extLst>
          </p:cNvPr>
          <p:cNvSpPr txBox="1"/>
          <p:nvPr/>
        </p:nvSpPr>
        <p:spPr>
          <a:xfrm>
            <a:off x="1359947" y="1590261"/>
            <a:ext cx="32165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/>
              <a:t>Docente Alejandro Sandoval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FD0516-9388-6112-DDF7-71184F9DB6F8}"/>
              </a:ext>
            </a:extLst>
          </p:cNvPr>
          <p:cNvSpPr txBox="1"/>
          <p:nvPr/>
        </p:nvSpPr>
        <p:spPr>
          <a:xfrm>
            <a:off x="7589726" y="1590261"/>
            <a:ext cx="32165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/>
              <a:t>Docente Claudio Morales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310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Texto, Carta&#10;&#10;Descripción generada automáticamente">
            <a:extLst>
              <a:ext uri="{FF2B5EF4-FFF2-40B4-BE49-F238E27FC236}">
                <a16:creationId xmlns:a16="http://schemas.microsoft.com/office/drawing/2014/main" id="{FB287F12-5C36-2356-8301-660A1D75F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0" r="2422"/>
          <a:stretch/>
        </p:blipFill>
        <p:spPr>
          <a:xfrm>
            <a:off x="167681" y="1594056"/>
            <a:ext cx="2776829" cy="3587544"/>
          </a:xfrm>
          <a:ln w="12700">
            <a:solidFill>
              <a:schemeClr val="tx1"/>
            </a:solidFill>
          </a:ln>
        </p:spPr>
      </p:pic>
      <p:pic>
        <p:nvPicPr>
          <p:cNvPr id="7" name="Imagen 6" descr="Texto, Carta&#10;&#10;Descripción generada automáticamente">
            <a:extLst>
              <a:ext uri="{FF2B5EF4-FFF2-40B4-BE49-F238E27FC236}">
                <a16:creationId xmlns:a16="http://schemas.microsoft.com/office/drawing/2014/main" id="{7BA13077-9C44-5ECD-7D73-6B0443E217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2" t="4172" r="7141" b="10829"/>
          <a:stretch/>
        </p:blipFill>
        <p:spPr>
          <a:xfrm>
            <a:off x="3172496" y="1572960"/>
            <a:ext cx="2708951" cy="36086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Imagen 8" descr="Imagen que contiene Tabla&#10;&#10;Descripción generada automáticamente">
            <a:extLst>
              <a:ext uri="{FF2B5EF4-FFF2-40B4-BE49-F238E27FC236}">
                <a16:creationId xmlns:a16="http://schemas.microsoft.com/office/drawing/2014/main" id="{BE38F40E-8923-7F8D-B58E-CC4A6DD687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" r="11528" b="4305"/>
          <a:stretch/>
        </p:blipFill>
        <p:spPr>
          <a:xfrm rot="16200000">
            <a:off x="5712407" y="1977649"/>
            <a:ext cx="3608641" cy="284145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Imagen 10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8270A5E3-7A44-2125-6678-C8FA92AB79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3" t="6064" r="5836" b="5229"/>
          <a:stretch/>
        </p:blipFill>
        <p:spPr>
          <a:xfrm rot="16200000">
            <a:off x="8775186" y="1970879"/>
            <a:ext cx="3608638" cy="28549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AF9FDAC-9063-4F20-C8EC-ADE33C02A90E}"/>
              </a:ext>
            </a:extLst>
          </p:cNvPr>
          <p:cNvSpPr txBox="1"/>
          <p:nvPr/>
        </p:nvSpPr>
        <p:spPr>
          <a:xfrm>
            <a:off x="1556095" y="1033670"/>
            <a:ext cx="32165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/>
              <a:t>Jefe de taller Juan Muñoz 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3F028A4-8393-2F3A-FF39-6E160A0379EC}"/>
              </a:ext>
            </a:extLst>
          </p:cNvPr>
          <p:cNvSpPr txBox="1"/>
          <p:nvPr/>
        </p:nvSpPr>
        <p:spPr>
          <a:xfrm>
            <a:off x="7419384" y="1033670"/>
            <a:ext cx="32165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/>
              <a:t>Docente Ubaldo Moreno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330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C3E5968B-2CA3-BB5E-092C-D8FE7820AE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r="86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D46DC6-EA19-78F8-827A-E48C0F65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5" y="651943"/>
            <a:ext cx="8596668" cy="927652"/>
          </a:xfrm>
        </p:spPr>
        <p:txBody>
          <a:bodyPr>
            <a:normAutofit/>
          </a:bodyPr>
          <a:lstStyle/>
          <a:p>
            <a:pPr algn="ctr"/>
            <a:r>
              <a:rPr lang="es-CL" b="1" dirty="0"/>
              <a:t>BITÁCORA</a:t>
            </a:r>
            <a:endParaRPr lang="es-ES" b="1" dirty="0"/>
          </a:p>
        </p:txBody>
      </p:sp>
      <p:graphicFrame>
        <p:nvGraphicFramePr>
          <p:cNvPr id="11" name="Tabla 12">
            <a:extLst>
              <a:ext uri="{FF2B5EF4-FFF2-40B4-BE49-F238E27FC236}">
                <a16:creationId xmlns:a16="http://schemas.microsoft.com/office/drawing/2014/main" id="{49EB8A20-7B37-4980-C478-AEDD4EF28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031148"/>
              </p:ext>
            </p:extLst>
          </p:nvPr>
        </p:nvGraphicFramePr>
        <p:xfrm>
          <a:off x="1034037" y="1881798"/>
          <a:ext cx="10123924" cy="432425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38972">
                  <a:extLst>
                    <a:ext uri="{9D8B030D-6E8A-4147-A177-3AD203B41FA5}">
                      <a16:colId xmlns:a16="http://schemas.microsoft.com/office/drawing/2014/main" val="1933932305"/>
                    </a:ext>
                  </a:extLst>
                </a:gridCol>
                <a:gridCol w="2190073">
                  <a:extLst>
                    <a:ext uri="{9D8B030D-6E8A-4147-A177-3AD203B41FA5}">
                      <a16:colId xmlns:a16="http://schemas.microsoft.com/office/drawing/2014/main" val="259512539"/>
                    </a:ext>
                  </a:extLst>
                </a:gridCol>
                <a:gridCol w="4892584">
                  <a:extLst>
                    <a:ext uri="{9D8B030D-6E8A-4147-A177-3AD203B41FA5}">
                      <a16:colId xmlns:a16="http://schemas.microsoft.com/office/drawing/2014/main" val="552301207"/>
                    </a:ext>
                  </a:extLst>
                </a:gridCol>
                <a:gridCol w="1802295">
                  <a:extLst>
                    <a:ext uri="{9D8B030D-6E8A-4147-A177-3AD203B41FA5}">
                      <a16:colId xmlns:a16="http://schemas.microsoft.com/office/drawing/2014/main" val="3689293648"/>
                    </a:ext>
                  </a:extLst>
                </a:gridCol>
              </a:tblGrid>
              <a:tr h="409100">
                <a:tc>
                  <a:txBody>
                    <a:bodyPr/>
                    <a:lstStyle/>
                    <a:p>
                      <a:r>
                        <a:rPr lang="es-CL" dirty="0"/>
                        <a:t>FECHA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TAREA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DETALLE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RESPONSABLE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500053"/>
                  </a:ext>
                </a:extLst>
              </a:tr>
              <a:tr h="855624">
                <a:tc>
                  <a:txBody>
                    <a:bodyPr/>
                    <a:lstStyle/>
                    <a:p>
                      <a:r>
                        <a:rPr lang="es-CL" dirty="0"/>
                        <a:t>15/11/23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Búsqueda de información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Esta información será utilizada para guiarnos en el proyecto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Christian Castillo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075352"/>
                  </a:ext>
                </a:extLst>
              </a:tr>
              <a:tr h="785462">
                <a:tc>
                  <a:txBody>
                    <a:bodyPr/>
                    <a:lstStyle/>
                    <a:p>
                      <a:r>
                        <a:rPr lang="es-CL" dirty="0"/>
                        <a:t>18/11/23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Preguntas para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Crear las preguntas para la realización de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Vicente Salazar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024570"/>
                  </a:ext>
                </a:extLst>
              </a:tr>
              <a:tr h="871059">
                <a:tc>
                  <a:txBody>
                    <a:bodyPr/>
                    <a:lstStyle/>
                    <a:p>
                      <a:r>
                        <a:rPr lang="es-CL" dirty="0"/>
                        <a:t>22/11/23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Búsqueda de información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Encontrar información para la creación del documento para la validación de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Leonardo García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009363"/>
                  </a:ext>
                </a:extLst>
              </a:tr>
              <a:tr h="762934">
                <a:tc>
                  <a:txBody>
                    <a:bodyPr/>
                    <a:lstStyle/>
                    <a:p>
                      <a:r>
                        <a:rPr lang="es-CL" dirty="0"/>
                        <a:t>25/11/23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Validación de expertos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Crear el documento para validar nuestra encuesta con expertos del área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Marcelo Valenzuela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970889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r>
                        <a:rPr lang="es-CL" dirty="0"/>
                        <a:t>30/11/23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Entrega del documento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Realizar la entrega del documento a distintos expertos del área para lograr validarla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Vicente Salazar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33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711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Un grupo de personas con equipaje en un aeropuerto&#10;&#10;Descripción generada automáticamente con confianza media">
            <a:extLst>
              <a:ext uri="{FF2B5EF4-FFF2-40B4-BE49-F238E27FC236}">
                <a16:creationId xmlns:a16="http://schemas.microsoft.com/office/drawing/2014/main" id="{9862E87D-9FB1-39AD-CAA2-3F6D122D72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r="86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DF20AA5F-5BA8-A532-A0B4-CC875CF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8522045"/>
              </p:ext>
            </p:extLst>
          </p:nvPr>
        </p:nvGraphicFramePr>
        <p:xfrm>
          <a:off x="1020418" y="2054570"/>
          <a:ext cx="10151164" cy="361826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25217">
                  <a:extLst>
                    <a:ext uri="{9D8B030D-6E8A-4147-A177-3AD203B41FA5}">
                      <a16:colId xmlns:a16="http://schemas.microsoft.com/office/drawing/2014/main" val="193136565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5472062"/>
                    </a:ext>
                  </a:extLst>
                </a:gridCol>
                <a:gridCol w="4452730">
                  <a:extLst>
                    <a:ext uri="{9D8B030D-6E8A-4147-A177-3AD203B41FA5}">
                      <a16:colId xmlns:a16="http://schemas.microsoft.com/office/drawing/2014/main" val="609300474"/>
                    </a:ext>
                  </a:extLst>
                </a:gridCol>
                <a:gridCol w="2239617">
                  <a:extLst>
                    <a:ext uri="{9D8B030D-6E8A-4147-A177-3AD203B41FA5}">
                      <a16:colId xmlns:a16="http://schemas.microsoft.com/office/drawing/2014/main" val="768386230"/>
                    </a:ext>
                  </a:extLst>
                </a:gridCol>
              </a:tblGrid>
              <a:tr h="1039948">
                <a:tc>
                  <a:txBody>
                    <a:bodyPr/>
                    <a:lstStyle/>
                    <a:p>
                      <a:r>
                        <a:rPr lang="es-CL" b="0" dirty="0">
                          <a:solidFill>
                            <a:schemeClr val="tx1"/>
                          </a:solidFill>
                        </a:rPr>
                        <a:t>01/12/23</a:t>
                      </a:r>
                      <a:endParaRPr lang="es-E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dirty="0">
                          <a:solidFill>
                            <a:schemeClr val="tx1"/>
                          </a:solidFill>
                        </a:rPr>
                        <a:t>Búsqueda de la validación de expertos</a:t>
                      </a:r>
                      <a:endParaRPr lang="es-E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dirty="0">
                          <a:solidFill>
                            <a:schemeClr val="tx1"/>
                          </a:solidFill>
                        </a:rPr>
                        <a:t>Pedir el documento a los expertos del área para dar comienzo a la encuesta</a:t>
                      </a:r>
                      <a:endParaRPr lang="es-E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Christian Castillo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604936"/>
                  </a:ext>
                </a:extLst>
              </a:tr>
              <a:tr h="727964">
                <a:tc>
                  <a:txBody>
                    <a:bodyPr/>
                    <a:lstStyle/>
                    <a:p>
                      <a:r>
                        <a:rPr lang="es-CL" dirty="0"/>
                        <a:t>04/12/23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Creación de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Crear la encuesta luego de la validación por expertos del área, junto a sus opiniones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Leonardo García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2181"/>
                  </a:ext>
                </a:extLst>
              </a:tr>
              <a:tr h="1663918">
                <a:tc>
                  <a:txBody>
                    <a:bodyPr/>
                    <a:lstStyle/>
                    <a:p>
                      <a:r>
                        <a:rPr lang="es-CL" dirty="0"/>
                        <a:t>05/12/23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Entrega de la encuesta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Proporcionamos la encuesta a diferentes personas para que nos den sus opiniones y experiencias vividas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Vicente Salazar</a:t>
                      </a:r>
                    </a:p>
                    <a:p>
                      <a:r>
                        <a:rPr lang="es-CL" dirty="0"/>
                        <a:t>Leonardo García</a:t>
                      </a:r>
                    </a:p>
                    <a:p>
                      <a:r>
                        <a:rPr lang="es-CL" dirty="0"/>
                        <a:t>Christian Castillo</a:t>
                      </a:r>
                    </a:p>
                    <a:p>
                      <a:r>
                        <a:rPr lang="es-CL" dirty="0"/>
                        <a:t>Marcelo Valenzuela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552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839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Props1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3AC9BC-3A48-41FB-89C8-97DFFCFF99CC}">
  <ds:schemaRefs>
    <ds:schemaRef ds:uri="http://schemas.microsoft.com/office/infopath/2007/PartnerControls"/>
    <ds:schemaRef ds:uri="044690ba-3bcd-4bf0-9bed-6c935b699a1b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e18e1d99-ad59-48f1-b4b7-e09c670c4281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546</TotalTime>
  <Words>1091</Words>
  <Application>Microsoft Macintosh PowerPoint</Application>
  <PresentationFormat>Panorámica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Faceta</vt:lpstr>
      <vt:lpstr> CONFIANZA AL VOLANTE </vt:lpstr>
      <vt:lpstr>DEFINICIÓN DEL PROYECTO</vt:lpstr>
      <vt:lpstr>PROYECTO</vt:lpstr>
      <vt:lpstr> </vt:lpstr>
      <vt:lpstr>TEMAS INICIALES INVOLUCRADOS</vt:lpstr>
      <vt:lpstr>CRONOGRAMA</vt:lpstr>
      <vt:lpstr>HERRAMIENTAS TECNOLÓGICAS</vt:lpstr>
      <vt:lpstr>Presentación de PowerPoint</vt:lpstr>
      <vt:lpstr>EVIDENCIA FUENTES DE INFORMACIÓN</vt:lpstr>
      <vt:lpstr>Presentación de PowerPoint</vt:lpstr>
      <vt:lpstr>BITÁCORA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</dc:title>
  <dc:creator>GISELLE ANGELICA MORA OCARES</dc:creator>
  <cp:lastModifiedBy>LISSETTE ANDREA SALAMANCA MELLA</cp:lastModifiedBy>
  <cp:revision>28</cp:revision>
  <dcterms:created xsi:type="dcterms:W3CDTF">2023-08-31T16:26:40Z</dcterms:created>
  <dcterms:modified xsi:type="dcterms:W3CDTF">2023-12-13T17:59:52Z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