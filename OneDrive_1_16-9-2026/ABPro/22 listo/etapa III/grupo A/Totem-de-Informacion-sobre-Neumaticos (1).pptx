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omments/comment1.xml" ContentType="application/vnd.openxmlformats-officedocument.presentationml.comments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comment2.xml" ContentType="application/vnd.openxmlformats-officedocument.presentationml.comments+xml"/>
  <Override PartName="/ppt/notesSlides/notesSlide8.xml" ContentType="application/vnd.openxmlformats-officedocument.presentationml.notesSlide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</p:sld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crosoft Office User" initials="MOU" lastIdx="7" clrIdx="0">
    <p:extLst>
      <p:ext uri="{19B8F6BF-5375-455C-9EA6-DF929625EA0E}">
        <p15:presenceInfo xmlns:p15="http://schemas.microsoft.com/office/powerpoint/2012/main" userId="Microsoft Office Us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271" autoAdjust="0"/>
    <p:restoredTop sz="94610"/>
  </p:normalViewPr>
  <p:slideViewPr>
    <p:cSldViewPr snapToGrid="0" snapToObjects="1">
      <p:cViewPr>
        <p:scale>
          <a:sx n="53" d="100"/>
          <a:sy n="53" d="100"/>
        </p:scale>
        <p:origin x="904" y="1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44:31.800" idx="1">
    <p:pos x="10" y="10"/>
    <p:text>falta uso de APA en imagen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46:52.865" idx="2">
    <p:pos x="6155" y="-46"/>
    <p:text>¿quien validó su encuesta?</p:text>
    <p:extLst>
      <p:ext uri="{C676402C-5697-4E1C-873F-D02D1690AC5C}">
        <p15:threadingInfo xmlns:p15="http://schemas.microsoft.com/office/powerpoint/2012/main" timeZoneBias="180"/>
      </p:ext>
    </p:extLst>
  </p:cm>
  <p:cm authorId="1" dt="2023-12-20T14:47:22.688" idx="3">
    <p:pos x="10" y="10"/>
    <p:text>¿a cuantas personas encuestaron?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48:19.386" idx="4">
    <p:pos x="10" y="10"/>
    <p:text>en cada una de las tareas del cronograma asumo debe tener ítems o subtareas a desarrollar que deben desarrollar durante el porceso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49:13.927" idx="5">
    <p:pos x="10" y="10"/>
    <p:text>falta referencias bibliográficas...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49:32.986" idx="6">
    <p:pos x="8600" y="670"/>
    <p:text>que software utilizaron para el prototipo?</p:text>
    <p:extLst>
      <p:ext uri="{C676402C-5697-4E1C-873F-D02D1690AC5C}">
        <p15:threadingInfo xmlns:p15="http://schemas.microsoft.com/office/powerpoint/2012/main" timeZoneBias="180"/>
      </p:ext>
    </p:extLs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3-12-20T14:50:12.447" idx="7">
    <p:pos x="10" y="10"/>
    <p:text>la bibliografía debe presentarse según APA</p:text>
    <p:extLst>
      <p:ext uri="{C676402C-5697-4E1C-873F-D02D1690AC5C}">
        <p15:threadingInfo xmlns:p15="http://schemas.microsoft.com/office/powerpoint/2012/main" timeZoneBias="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58133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comments" Target="../comments/commen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2.xml"/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3.png"/><Relationship Id="rId4" Type="http://schemas.openxmlformats.org/officeDocument/2006/relationships/hyperlink" Target="https://gamma.app" TargetMode="Externa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omments" Target="../comments/comment3.xml"/><Relationship Id="rId3" Type="http://schemas.openxmlformats.org/officeDocument/2006/relationships/image" Target="../media/image1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hyperlink" Target="https://gamma.app" TargetMode="Externa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4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ichelin.com.ar/auto/consejos/elegir-neumaticos/elegir-neumaticos-para-mi-auto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comments" Target="../comments/comment6.xml"/><Relationship Id="rId5" Type="http://schemas.openxmlformats.org/officeDocument/2006/relationships/hyperlink" Target="https://www.bridgestone.cl/" TargetMode="External"/><Relationship Id="rId4" Type="http://schemas.openxmlformats.org/officeDocument/2006/relationships/hyperlink" Target="https://www.confortauto.com/como-leer-un-neumatico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833199" y="2029301"/>
            <a:ext cx="7477601" cy="16663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6561"/>
              </a:lnSpc>
              <a:buNone/>
            </a:pPr>
            <a:r>
              <a:rPr lang="en-US" sz="5249" dirty="0">
                <a:solidFill>
                  <a:srgbClr val="FFFFFF"/>
                </a:solidFill>
                <a:latin typeface="Barlow, sans-serif" pitchFamily="34" charset="0"/>
                <a:ea typeface="Barlow, sans-serif" pitchFamily="34" charset="-122"/>
                <a:cs typeface="Barlow, sans-serif" pitchFamily="34" charset="-120"/>
              </a:rPr>
              <a:t>Totem de Información sobre Neumáticos</a:t>
            </a:r>
            <a:endParaRPr lang="en-US" sz="5249" dirty="0"/>
          </a:p>
        </p:txBody>
      </p:sp>
      <p:sp>
        <p:nvSpPr>
          <p:cNvPr id="6" name="Text 2"/>
          <p:cNvSpPr/>
          <p:nvPr/>
        </p:nvSpPr>
        <p:spPr>
          <a:xfrm>
            <a:off x="833199" y="4028956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Nombres: Joacin Ferrada, Daniel Sandoval, Angelo Lavin, Bastian Guzman</a:t>
            </a:r>
            <a:endParaRPr lang="en-US" sz="1750" dirty="0"/>
          </a:p>
        </p:txBody>
      </p:sp>
      <p:sp>
        <p:nvSpPr>
          <p:cNvPr id="7" name="Text 3"/>
          <p:cNvSpPr/>
          <p:nvPr/>
        </p:nvSpPr>
        <p:spPr>
          <a:xfrm>
            <a:off x="833199" y="4634270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Docente: Lisette Salamanca </a:t>
            </a: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833199" y="5239583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Asignatura: Funciones y Geometría</a:t>
            </a:r>
            <a:endParaRPr lang="en-US" sz="1750" dirty="0"/>
          </a:p>
        </p:txBody>
      </p:sp>
      <p:sp>
        <p:nvSpPr>
          <p:cNvPr id="9" name="Text 5"/>
          <p:cNvSpPr/>
          <p:nvPr/>
        </p:nvSpPr>
        <p:spPr>
          <a:xfrm>
            <a:off x="833199" y="5844897"/>
            <a:ext cx="7477601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Carrera: Mecánica automotriz y Electromovilidad </a:t>
            </a:r>
            <a:endParaRPr lang="en-US" sz="1750" dirty="0"/>
          </a:p>
        </p:txBody>
      </p:sp>
      <p:pic>
        <p:nvPicPr>
          <p:cNvPr id="10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1922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6BD32324-5AFC-AB38-8E2B-D7B0ADE02A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18824" y="60961"/>
            <a:ext cx="5486400" cy="8229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0" y="1293938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¿Neumáticos y el conocimiento de los usuarios a este?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5308164" y="3048595"/>
            <a:ext cx="9381649" cy="106620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6" name="Image 1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9" name="Rectangle 2">
            <a:extLst>
              <a:ext uri="{FF2B5EF4-FFF2-40B4-BE49-F238E27FC236}">
                <a16:creationId xmlns:a16="http://schemas.microsoft.com/office/drawing/2014/main" id="{9DE4DEA7-1860-4613-1CB2-9EE1D3E90D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2682683"/>
            <a:ext cx="8442394" cy="60631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Según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una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entrevista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realizada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distintos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conductores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se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reflejó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el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resultado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que el 68% de usuarios no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tienen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información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sobre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sus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neumáticos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la gran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mayoría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daba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respuesta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que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la tienda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donde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adquirían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escogían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.</a:t>
            </a:r>
            <a:endParaRPr kumimoji="0" lang="en-US" altLang="es-CL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Debido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esto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suceden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suceden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accidentes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vemos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tantos autos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varados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costados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caminos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,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ya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quede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 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estos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vendedores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no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recopilan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información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del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usuario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antes de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recomendar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los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tipos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 de </a:t>
            </a:r>
            <a:r>
              <a:rPr kumimoji="0" lang="en-US" altLang="es-CL" sz="2400" b="0" i="0" u="none" strike="noStrike" cap="none" normalizeH="0" baseline="0" dirty="0" err="1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neumáticos</a:t>
            </a:r>
            <a:r>
              <a:rPr kumimoji="0" lang="en-US" altLang="es-CL" sz="2400" b="0" i="0" u="none" strike="noStrike" cap="none" normalizeH="0" baseline="0" dirty="0">
                <a:ln>
                  <a:noFill/>
                </a:ln>
                <a:solidFill>
                  <a:srgbClr val="E5E0DF"/>
                </a:solidFill>
                <a:effectLst/>
                <a:latin typeface="Barlow" panose="00000500000000000000" pitchFamily="2" charset="0"/>
                <a:ea typeface="+mn-ea"/>
                <a:cs typeface="+mn-cs"/>
              </a:rPr>
              <a:t>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s-CL" sz="2400" dirty="0">
              <a:solidFill>
                <a:schemeClr val="bg1"/>
              </a:solidFill>
              <a:latin typeface="Barlow" panose="00000500000000000000" pitchFamily="2" charset="0"/>
            </a:endParaRPr>
          </a:p>
          <a:p>
            <a:r>
              <a:rPr lang="es-MX" sz="2400" kern="100" dirty="0">
                <a:solidFill>
                  <a:schemeClr val="bg1"/>
                </a:solidFill>
                <a:effectLst/>
                <a:latin typeface="Barlow" panose="00000500000000000000" pitchFamily="2" charset="0"/>
                <a:ea typeface="Calibri" panose="020F0502020204030204" pitchFamily="34" charset="0"/>
                <a:cs typeface="Times New Roman" panose="02020603050405020304" pitchFamily="18" charset="0"/>
              </a:rPr>
              <a:t>El diseño de la banda de rodadura se realiza utilizando conceptos geométricos y matemáticos para garantizar un agarre adecuado en diversas condiciones climáticas y de carretera. Los patrones de la banda de rodadura se diseñan para proporcionar tracción en superficies secas, mojadas o nevadas.</a:t>
            </a:r>
            <a:endParaRPr lang="es-CL" sz="2400" kern="100" dirty="0">
              <a:solidFill>
                <a:schemeClr val="bg1"/>
              </a:solidFill>
              <a:effectLst/>
              <a:latin typeface="Barlow" panose="00000500000000000000" pitchFamily="2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s-CL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2624376" y="652701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Función y beneficios de un tótem de información sobre </a:t>
            </a:r>
            <a:r>
              <a:rPr lang="en-US" sz="4374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4374" dirty="0"/>
          </a:p>
        </p:txBody>
      </p:sp>
      <p:sp>
        <p:nvSpPr>
          <p:cNvPr id="5" name="Shape 2"/>
          <p:cNvSpPr/>
          <p:nvPr/>
        </p:nvSpPr>
        <p:spPr>
          <a:xfrm>
            <a:off x="2624376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3"/>
          <p:cNvSpPr/>
          <p:nvPr/>
        </p:nvSpPr>
        <p:spPr>
          <a:xfrm>
            <a:off x="2817138" y="2701052"/>
            <a:ext cx="11430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624" dirty="0"/>
          </a:p>
        </p:txBody>
      </p:sp>
      <p:sp>
        <p:nvSpPr>
          <p:cNvPr id="7" name="Text 4"/>
          <p:cNvSpPr/>
          <p:nvPr/>
        </p:nvSpPr>
        <p:spPr>
          <a:xfrm>
            <a:off x="3346490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Informar y educar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📚</a:t>
            </a:r>
            <a:endParaRPr lang="en-US" sz="2187" dirty="0"/>
          </a:p>
        </p:txBody>
      </p:sp>
      <p:sp>
        <p:nvSpPr>
          <p:cNvPr id="8" name="Text 5"/>
          <p:cNvSpPr/>
          <p:nvPr/>
        </p:nvSpPr>
        <p:spPr>
          <a:xfrm>
            <a:off x="3346490" y="3667482"/>
            <a:ext cx="2256949" cy="3554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proporcionan información clave sobre </a:t>
            </a:r>
            <a:r>
              <a:rPr lang="en-US" sz="1750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como presión adecuada y mantenimiento, ayudando a los conductores a tomar decisiones informadas.</a:t>
            </a:r>
            <a:endParaRPr lang="en-US" sz="1750" dirty="0"/>
          </a:p>
        </p:txBody>
      </p:sp>
      <p:sp>
        <p:nvSpPr>
          <p:cNvPr id="9" name="Shape 6"/>
          <p:cNvSpPr/>
          <p:nvPr/>
        </p:nvSpPr>
        <p:spPr>
          <a:xfrm>
            <a:off x="5825609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7"/>
          <p:cNvSpPr/>
          <p:nvPr/>
        </p:nvSpPr>
        <p:spPr>
          <a:xfrm>
            <a:off x="5984081" y="2701052"/>
            <a:ext cx="18288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624" dirty="0"/>
          </a:p>
        </p:txBody>
      </p:sp>
      <p:sp>
        <p:nvSpPr>
          <p:cNvPr id="11" name="Text 8"/>
          <p:cNvSpPr/>
          <p:nvPr/>
        </p:nvSpPr>
        <p:spPr>
          <a:xfrm>
            <a:off x="6547723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Mejorar la seguridad vial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🚗</a:t>
            </a:r>
            <a:endParaRPr lang="en-US" sz="2187" dirty="0"/>
          </a:p>
        </p:txBody>
      </p:sp>
      <p:sp>
        <p:nvSpPr>
          <p:cNvPr id="12" name="Text 9"/>
          <p:cNvSpPr/>
          <p:nvPr/>
        </p:nvSpPr>
        <p:spPr>
          <a:xfrm>
            <a:off x="6547723" y="3667482"/>
            <a:ext cx="2256949" cy="28432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educar a los conductores sobre la importancia de tener buenos </a:t>
            </a:r>
            <a:r>
              <a:rPr lang="en-US" sz="1750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los tótems fomentan la seguridad vial y reducen el riesgo de accidentes.</a:t>
            </a:r>
            <a:endParaRPr lang="en-US" sz="1750" dirty="0"/>
          </a:p>
        </p:txBody>
      </p:sp>
      <p:sp>
        <p:nvSpPr>
          <p:cNvPr id="13" name="Shape 10"/>
          <p:cNvSpPr/>
          <p:nvPr/>
        </p:nvSpPr>
        <p:spPr>
          <a:xfrm>
            <a:off x="9026843" y="2659380"/>
            <a:ext cx="499943" cy="499943"/>
          </a:xfrm>
          <a:prstGeom prst="roundRect">
            <a:avLst>
              <a:gd name="adj" fmla="val 20000"/>
            </a:avLst>
          </a:prstGeom>
          <a:solidFill>
            <a:srgbClr val="790709"/>
          </a:solidFill>
          <a:ln w="13811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1"/>
          <p:cNvSpPr/>
          <p:nvPr/>
        </p:nvSpPr>
        <p:spPr>
          <a:xfrm>
            <a:off x="9189125" y="2701052"/>
            <a:ext cx="175260" cy="4164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3281"/>
              </a:lnSpc>
              <a:buNone/>
            </a:pPr>
            <a:r>
              <a:rPr lang="en-US" sz="2624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624" dirty="0"/>
          </a:p>
        </p:txBody>
      </p:sp>
      <p:sp>
        <p:nvSpPr>
          <p:cNvPr id="15" name="Text 12"/>
          <p:cNvSpPr/>
          <p:nvPr/>
        </p:nvSpPr>
        <p:spPr>
          <a:xfrm>
            <a:off x="9748957" y="2735699"/>
            <a:ext cx="2256949" cy="7096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Brindar conveniencia </a:t>
            </a:r>
            <a:r>
              <a:rPr lang="en-US" sz="2187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🕒</a:t>
            </a:r>
            <a:endParaRPr lang="en-US" sz="2187" dirty="0"/>
          </a:p>
        </p:txBody>
      </p:sp>
      <p:sp>
        <p:nvSpPr>
          <p:cNvPr id="16" name="Text 13"/>
          <p:cNvSpPr/>
          <p:nvPr/>
        </p:nvSpPr>
        <p:spPr>
          <a:xfrm>
            <a:off x="9748957" y="3667482"/>
            <a:ext cx="2256949" cy="390941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de información se ubican en lugares estratégicos, como estaciones de servicio o áreas de descanso, para que los conductores puedan acceder a la información de manera práctica y rápida.</a:t>
            </a:r>
            <a:endParaRPr lang="en-US" sz="1750" dirty="0"/>
          </a:p>
        </p:txBody>
      </p:sp>
      <p:pic>
        <p:nvPicPr>
          <p:cNvPr id="17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2624376" y="702707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de un tótem de información sobre </a:t>
            </a:r>
            <a:r>
              <a:rPr lang="en-US" sz="4374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4374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24376" y="2535793"/>
            <a:ext cx="5554980" cy="343316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624376" y="6246614"/>
            <a:ext cx="2674620" cy="34718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l">
              <a:lnSpc>
                <a:spcPts val="2734"/>
              </a:lnSpc>
              <a:buNone/>
            </a:pPr>
            <a:r>
              <a:rPr lang="en-US" sz="2187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Ubicación estratégica</a:t>
            </a:r>
            <a:endParaRPr lang="en-US" sz="2187" dirty="0"/>
          </a:p>
        </p:txBody>
      </p:sp>
      <p:sp>
        <p:nvSpPr>
          <p:cNvPr id="7" name="Text 3"/>
          <p:cNvSpPr/>
          <p:nvPr/>
        </p:nvSpPr>
        <p:spPr>
          <a:xfrm>
            <a:off x="2624376" y="6815971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Los tótems se encuentran en lugares de alto tráfico, como estaciones de servicio, para garantizar que alcancen a la mayor cantidad de conductores posible.</a:t>
            </a:r>
            <a:endParaRPr lang="en-US" sz="1750" dirty="0"/>
          </a:p>
        </p:txBody>
      </p:sp>
      <p:pic>
        <p:nvPicPr>
          <p:cNvPr id="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2025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0" y="0"/>
            <a:ext cx="36576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390888" y="684252"/>
            <a:ext cx="8190905" cy="181844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774"/>
              </a:lnSpc>
              <a:buNone/>
            </a:pPr>
            <a:r>
              <a:rPr lang="en-US" sz="3819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Importancia de la información proporcionada en un tótem de información sobre </a:t>
            </a:r>
            <a:r>
              <a:rPr lang="en-US" sz="3819" b="1" dirty="0" err="1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endParaRPr lang="en-US" sz="3819" dirty="0"/>
          </a:p>
        </p:txBody>
      </p:sp>
      <p:sp>
        <p:nvSpPr>
          <p:cNvPr id="6" name="Shape 2"/>
          <p:cNvSpPr/>
          <p:nvPr/>
        </p:nvSpPr>
        <p:spPr>
          <a:xfrm>
            <a:off x="1390888" y="2945249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7" name="Text 3"/>
          <p:cNvSpPr/>
          <p:nvPr/>
        </p:nvSpPr>
        <p:spPr>
          <a:xfrm>
            <a:off x="1559600" y="2981563"/>
            <a:ext cx="9906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2291" dirty="0"/>
          </a:p>
        </p:txBody>
      </p:sp>
      <p:sp>
        <p:nvSpPr>
          <p:cNvPr id="8" name="Text 4"/>
          <p:cNvSpPr/>
          <p:nvPr/>
        </p:nvSpPr>
        <p:spPr>
          <a:xfrm>
            <a:off x="2021324" y="3011924"/>
            <a:ext cx="354330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Mejor desempeño del vehículo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🚙</a:t>
            </a:r>
            <a:endParaRPr lang="en-US" sz="1909" dirty="0"/>
          </a:p>
        </p:txBody>
      </p:sp>
      <p:sp>
        <p:nvSpPr>
          <p:cNvPr id="9" name="Text 5"/>
          <p:cNvSpPr/>
          <p:nvPr/>
        </p:nvSpPr>
        <p:spPr>
          <a:xfrm>
            <a:off x="2021324" y="3524250"/>
            <a:ext cx="7560469" cy="93083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del tótem ayuda a los conductores a mantener sus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en buen estado, lo que se traduce en un mejor rendimiento del vehículo y una conducción más segura.</a:t>
            </a:r>
            <a:endParaRPr lang="en-US" sz="1528" dirty="0"/>
          </a:p>
        </p:txBody>
      </p:sp>
      <p:sp>
        <p:nvSpPr>
          <p:cNvPr id="10" name="Shape 6"/>
          <p:cNvSpPr/>
          <p:nvPr/>
        </p:nvSpPr>
        <p:spPr>
          <a:xfrm>
            <a:off x="1390888" y="4800600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Text 7"/>
          <p:cNvSpPr/>
          <p:nvPr/>
        </p:nvSpPr>
        <p:spPr>
          <a:xfrm>
            <a:off x="1529120" y="4836914"/>
            <a:ext cx="16002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2291" dirty="0"/>
          </a:p>
        </p:txBody>
      </p:sp>
      <p:sp>
        <p:nvSpPr>
          <p:cNvPr id="12" name="Text 8"/>
          <p:cNvSpPr/>
          <p:nvPr/>
        </p:nvSpPr>
        <p:spPr>
          <a:xfrm>
            <a:off x="2021324" y="4867275"/>
            <a:ext cx="214122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Ahorro de dinero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💰</a:t>
            </a:r>
            <a:endParaRPr lang="en-US" sz="1909" dirty="0"/>
          </a:p>
        </p:txBody>
      </p:sp>
      <p:sp>
        <p:nvSpPr>
          <p:cNvPr id="13" name="Text 9"/>
          <p:cNvSpPr/>
          <p:nvPr/>
        </p:nvSpPr>
        <p:spPr>
          <a:xfrm>
            <a:off x="2021324" y="5379601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Al conocer cómo cuidar adecuadamente sus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los conductores pueden evitar gastos innecesarios, como reemplazos prematuros debido a un mantenimiento deficiente.</a:t>
            </a:r>
            <a:endParaRPr lang="en-US" sz="1528" dirty="0"/>
          </a:p>
        </p:txBody>
      </p:sp>
      <p:sp>
        <p:nvSpPr>
          <p:cNvPr id="14" name="Shape 10"/>
          <p:cNvSpPr/>
          <p:nvPr/>
        </p:nvSpPr>
        <p:spPr>
          <a:xfrm>
            <a:off x="1390888" y="6345674"/>
            <a:ext cx="436483" cy="436483"/>
          </a:xfrm>
          <a:prstGeom prst="roundRect">
            <a:avLst>
              <a:gd name="adj" fmla="val 20001"/>
            </a:avLst>
          </a:prstGeom>
          <a:solidFill>
            <a:srgbClr val="790709"/>
          </a:solidFill>
          <a:ln w="12025">
            <a:solidFill>
              <a:srgbClr val="91080B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1"/>
          <p:cNvSpPr/>
          <p:nvPr/>
        </p:nvSpPr>
        <p:spPr>
          <a:xfrm>
            <a:off x="1532930" y="6381988"/>
            <a:ext cx="152400" cy="363736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864"/>
              </a:lnSpc>
              <a:buNone/>
            </a:pPr>
            <a:r>
              <a:rPr lang="en-US" sz="2291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2291" dirty="0"/>
          </a:p>
        </p:txBody>
      </p:sp>
      <p:sp>
        <p:nvSpPr>
          <p:cNvPr id="16" name="Text 12"/>
          <p:cNvSpPr/>
          <p:nvPr/>
        </p:nvSpPr>
        <p:spPr>
          <a:xfrm>
            <a:off x="2021324" y="6412349"/>
            <a:ext cx="2644140" cy="318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387"/>
              </a:lnSpc>
              <a:buNone/>
            </a:pPr>
            <a:r>
              <a:rPr lang="en-US" sz="1909" b="1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Conciencia ambiental </a:t>
            </a:r>
            <a:r>
              <a:rPr lang="en-US" sz="1909" b="1" dirty="0">
                <a:solidFill>
                  <a:srgbClr val="000000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🌍</a:t>
            </a:r>
            <a:endParaRPr lang="en-US" sz="1909" dirty="0"/>
          </a:p>
        </p:txBody>
      </p:sp>
      <p:sp>
        <p:nvSpPr>
          <p:cNvPr id="17" name="Text 13"/>
          <p:cNvSpPr/>
          <p:nvPr/>
        </p:nvSpPr>
        <p:spPr>
          <a:xfrm>
            <a:off x="2021324" y="6924675"/>
            <a:ext cx="7560469" cy="6205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444"/>
              </a:lnSpc>
              <a:buNone/>
            </a:pP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La información sobre </a:t>
            </a:r>
            <a:r>
              <a:rPr lang="en-US" sz="1528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528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eficientes y ecológicos que se suministra en los tótems fomenta la conducción sostenible y la reducción de la huella de carbono.</a:t>
            </a:r>
            <a:endParaRPr lang="en-US" sz="1528" dirty="0"/>
          </a:p>
        </p:txBody>
      </p:sp>
      <p:pic>
        <p:nvPicPr>
          <p:cNvPr id="18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0478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4" name="Text 1"/>
          <p:cNvSpPr/>
          <p:nvPr/>
        </p:nvSpPr>
        <p:spPr>
          <a:xfrm>
            <a:off x="3762494" y="463868"/>
            <a:ext cx="7105293" cy="105179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141"/>
              </a:lnSpc>
              <a:buNone/>
            </a:pPr>
            <a:r>
              <a:rPr lang="en-US" sz="3313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Objetivo y preguntas sobre la investigación </a:t>
            </a:r>
            <a:endParaRPr lang="en-US" sz="3313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3018" y="1852136"/>
            <a:ext cx="2524244" cy="25242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762494" y="4586645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concientizar a los usuarios sobre que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necesitan sus vehículos</a:t>
            </a:r>
            <a:endParaRPr lang="en-US" sz="1325" dirty="0"/>
          </a:p>
        </p:txBody>
      </p:sp>
      <p:sp>
        <p:nvSpPr>
          <p:cNvPr id="7" name="Text 3"/>
          <p:cNvSpPr/>
          <p:nvPr/>
        </p:nvSpPr>
        <p:spPr>
          <a:xfrm>
            <a:off x="3762494" y="5007173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¿Porque los usuarios no tienen información sobre los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que deberían comprar?</a:t>
            </a:r>
            <a:endParaRPr lang="en-US" sz="1325" dirty="0"/>
          </a:p>
        </p:txBody>
      </p:sp>
      <p:sp>
        <p:nvSpPr>
          <p:cNvPr id="8" name="Text 4"/>
          <p:cNvSpPr/>
          <p:nvPr/>
        </p:nvSpPr>
        <p:spPr>
          <a:xfrm>
            <a:off x="3762494" y="5427702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conocen la vida útil recomendada de los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y cuándo deberían reemplazarlos incluso si parecen en buen estado?</a:t>
            </a:r>
            <a:endParaRPr lang="en-US" sz="1325" dirty="0"/>
          </a:p>
        </p:txBody>
      </p:sp>
      <p:sp>
        <p:nvSpPr>
          <p:cNvPr id="9" name="Text 5"/>
          <p:cNvSpPr/>
          <p:nvPr/>
        </p:nvSpPr>
        <p:spPr>
          <a:xfrm>
            <a:off x="3762494" y="6117312"/>
            <a:ext cx="7105293" cy="269081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¿Qué tan familiarizados están con los números y letras impresos en el lateral del neumático?</a:t>
            </a:r>
            <a:endParaRPr lang="en-US" sz="1325" dirty="0"/>
          </a:p>
        </p:txBody>
      </p:sp>
      <p:sp>
        <p:nvSpPr>
          <p:cNvPr id="10" name="Text 6"/>
          <p:cNvSpPr/>
          <p:nvPr/>
        </p:nvSpPr>
        <p:spPr>
          <a:xfrm>
            <a:off x="3762494" y="653784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¿Cuántos conductores tienen en cuenta las condiciones específicas de manejo y climáticas al seleccionar </a:t>
            </a:r>
            <a:r>
              <a:rPr lang="en-US" sz="1325" dirty="0" err="1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neumáticos</a:t>
            </a: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?</a:t>
            </a:r>
            <a:endParaRPr lang="en-US" sz="1325" dirty="0"/>
          </a:p>
        </p:txBody>
      </p:sp>
      <p:sp>
        <p:nvSpPr>
          <p:cNvPr id="11" name="Text 7"/>
          <p:cNvSpPr/>
          <p:nvPr/>
        </p:nvSpPr>
        <p:spPr>
          <a:xfrm>
            <a:off x="3762494" y="7227451"/>
            <a:ext cx="7105293" cy="53816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2120"/>
              </a:lnSpc>
              <a:buNone/>
            </a:pPr>
            <a:r>
              <a:rPr lang="en-US" sz="1325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¿Creen que la falta de información podría tener consecuencias significativas en términos de seguridad y rendimiento?</a:t>
            </a:r>
            <a:endParaRPr lang="en-US" sz="1325" dirty="0"/>
          </a:p>
        </p:txBody>
      </p:sp>
      <p:pic>
        <p:nvPicPr>
          <p:cNvPr id="12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6172" y="8573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-4859345" y="-72402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sp>
        <p:nvSpPr>
          <p:cNvPr id="4" name="Text 1"/>
          <p:cNvSpPr/>
          <p:nvPr/>
        </p:nvSpPr>
        <p:spPr>
          <a:xfrm>
            <a:off x="2624376" y="422836"/>
            <a:ext cx="9381649" cy="138874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Tema de investigación, nociones matemáticas y problemática a abordar</a:t>
            </a:r>
            <a:endParaRPr lang="en-US" sz="4374" dirty="0"/>
          </a:p>
        </p:txBody>
      </p:sp>
      <p:sp>
        <p:nvSpPr>
          <p:cNvPr id="5" name="Text 2"/>
          <p:cNvSpPr/>
          <p:nvPr/>
        </p:nvSpPr>
        <p:spPr>
          <a:xfrm>
            <a:off x="2624376" y="3767971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2624376" y="4373285"/>
            <a:ext cx="9381649" cy="71080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2624376" y="5334000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2624376" y="5939314"/>
            <a:ext cx="9381649" cy="35540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2799"/>
              </a:lnSpc>
              <a:buNone/>
            </a:pPr>
            <a:endParaRPr lang="en-US" sz="1750" dirty="0"/>
          </a:p>
        </p:txBody>
      </p:sp>
      <p:pic>
        <p:nvPicPr>
          <p:cNvPr id="9" name="Image 1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656842D7-CA97-FC6A-9299-31AA58CCC404}"/>
              </a:ext>
            </a:extLst>
          </p:cNvPr>
          <p:cNvSpPr txBox="1"/>
          <p:nvPr/>
        </p:nvSpPr>
        <p:spPr>
          <a:xfrm>
            <a:off x="1313053" y="2579549"/>
            <a:ext cx="4479521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Para esto nuestro tótem incluirá una mini encuesta la cual nos dará el porcentaje adecuado para entregarle una recomendación de que neumáticos, también se adjuntara a un Excel el cual nos dejará registrado los porcentajes entregados para así dar información a las tiendas para que se reabastezcan de stock necesita nuestro usuario para su vehículo.</a:t>
            </a:r>
            <a:endParaRPr lang="es-CL" dirty="0"/>
          </a:p>
        </p:txBody>
      </p:sp>
      <p:pic>
        <p:nvPicPr>
          <p:cNvPr id="14" name="Imagen 13" descr="Interfaz de usuario gráfica, Gráfico, Aplicación&#10;&#10;Descripción generada automáticamente">
            <a:extLst>
              <a:ext uri="{FF2B5EF4-FFF2-40B4-BE49-F238E27FC236}">
                <a16:creationId xmlns:a16="http://schemas.microsoft.com/office/drawing/2014/main" id="{42674ECF-F432-FE8B-CB9F-FEBDDD3959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94754" y="2042192"/>
            <a:ext cx="3927733" cy="5547329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EBE3D648-1733-89EC-9043-1E74C15CD06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83683" y="1811581"/>
            <a:ext cx="2923135" cy="60758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>
              <a:alpha val="75000"/>
            </a:srgbClr>
          </a:solidFill>
          <a:ln w="13811">
            <a:solidFill>
              <a:srgbClr val="FFFFFF">
                <a:alpha val="16000"/>
              </a:srgbClr>
            </a:solidFill>
            <a:prstDash val="solid"/>
          </a:ln>
        </p:spPr>
        <p:txBody>
          <a:bodyPr/>
          <a:lstStyle/>
          <a:p>
            <a:endParaRPr lang="es-CL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506" y="3982619"/>
            <a:ext cx="2750131" cy="412519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10185" y="121784"/>
            <a:ext cx="4693920" cy="694373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>
              <a:lnSpc>
                <a:spcPts val="5468"/>
              </a:lnSpc>
              <a:buNone/>
            </a:pPr>
            <a:r>
              <a:rPr lang="en-US" sz="4374" b="1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Materiales a utilizar</a:t>
            </a:r>
            <a:endParaRPr lang="en-US" sz="4374" dirty="0"/>
          </a:p>
        </p:txBody>
      </p:sp>
      <p:sp>
        <p:nvSpPr>
          <p:cNvPr id="6" name="Text 2"/>
          <p:cNvSpPr/>
          <p:nvPr/>
        </p:nvSpPr>
        <p:spPr>
          <a:xfrm>
            <a:off x="546120" y="967288"/>
            <a:ext cx="4110941" cy="3692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2799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el acero inoxidable, acero corten, aluminio o metacrilato. Estos materiales permiten crear la estructura del totem publicitario o monolitos y ser adornados con vinilos de corte o vinilos impresos en formato digital. Pantalla de 22 pulgadas para mostrar la informacion, mas cableado necesario para su energizacion</a:t>
            </a:r>
            <a:endParaRPr lang="en-US" sz="1750" dirty="0"/>
          </a:p>
        </p:txBody>
      </p:sp>
      <p:pic>
        <p:nvPicPr>
          <p:cNvPr id="7" name="Image 2" descr="preencoded.png">
            <a:hlinkClick r:id="rId5"/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2153" y="7589520"/>
            <a:ext cx="2296807" cy="548640"/>
          </a:xfrm>
          <a:prstGeom prst="rect">
            <a:avLst/>
          </a:prstGeom>
        </p:spPr>
      </p:pic>
      <p:sp>
        <p:nvSpPr>
          <p:cNvPr id="8" name="CuadroTexto 7">
            <a:extLst>
              <a:ext uri="{FF2B5EF4-FFF2-40B4-BE49-F238E27FC236}">
                <a16:creationId xmlns:a16="http://schemas.microsoft.com/office/drawing/2014/main" id="{390580D9-10EB-D6D7-BDF9-002D93B7D58F}"/>
              </a:ext>
            </a:extLst>
          </p:cNvPr>
          <p:cNvSpPr txBox="1"/>
          <p:nvPr/>
        </p:nvSpPr>
        <p:spPr>
          <a:xfrm>
            <a:off x="9674390" y="166609"/>
            <a:ext cx="5135525" cy="660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sz="3690" b="1" dirty="0">
                <a:solidFill>
                  <a:schemeClr val="bg1"/>
                </a:solidFill>
                <a:latin typeface="Barlow" panose="00000500000000000000" pitchFamily="2" charset="0"/>
              </a:rPr>
              <a:t>Cronograma</a:t>
            </a:r>
            <a:endParaRPr lang="es-CL" sz="3690" b="1" dirty="0">
              <a:latin typeface="Barlow" panose="00000500000000000000" pitchFamily="2" charset="0"/>
            </a:endParaRPr>
          </a:p>
        </p:txBody>
      </p:sp>
      <p:pic>
        <p:nvPicPr>
          <p:cNvPr id="9" name="Image 1" descr="preencoded.png">
            <a:extLst>
              <a:ext uri="{FF2B5EF4-FFF2-40B4-BE49-F238E27FC236}">
                <a16:creationId xmlns:a16="http://schemas.microsoft.com/office/drawing/2014/main" id="{26E01F87-6722-DC6D-DE29-24330DC4C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0" y="1599853"/>
            <a:ext cx="6955512" cy="521660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919733E6-EF76-F091-8FC8-AD82CB43BAF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/>
          </a:blip>
          <a:srcRect t="19"/>
          <a:stretch/>
        </p:blipFill>
        <p:spPr>
          <a:xfrm>
            <a:off x="-1829" y="-106326"/>
            <a:ext cx="14630400" cy="82296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C949C87-45AA-94C5-0FEB-8E85FA65D7AB}"/>
              </a:ext>
            </a:extLst>
          </p:cNvPr>
          <p:cNvSpPr txBox="1"/>
          <p:nvPr/>
        </p:nvSpPr>
        <p:spPr>
          <a:xfrm>
            <a:off x="2945219" y="669851"/>
            <a:ext cx="80913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4000" dirty="0">
                <a:solidFill>
                  <a:schemeClr val="bg1"/>
                </a:solidFill>
                <a:latin typeface="Barlow" panose="00000500000000000000" pitchFamily="2" charset="0"/>
              </a:rPr>
              <a:t>Comparativa de los neumáticos</a:t>
            </a:r>
          </a:p>
        </p:txBody>
      </p:sp>
      <p:pic>
        <p:nvPicPr>
          <p:cNvPr id="6" name="Imagen 5" descr="Imagen en blanco y negro de una rueda de auto&#10;&#10;Descripción generada automáticamente con confianza baja">
            <a:extLst>
              <a:ext uri="{FF2B5EF4-FFF2-40B4-BE49-F238E27FC236}">
                <a16:creationId xmlns:a16="http://schemas.microsoft.com/office/drawing/2014/main" id="{17235146-874D-CFD3-8C76-E64B042564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92" y="1527316"/>
            <a:ext cx="2374615" cy="2954003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B6A46BD4-738E-0B75-FD22-664D0BA06B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7387" y="1527316"/>
            <a:ext cx="2648609" cy="2954004"/>
          </a:xfrm>
          <a:prstGeom prst="rect">
            <a:avLst/>
          </a:prstGeom>
        </p:spPr>
      </p:pic>
      <p:pic>
        <p:nvPicPr>
          <p:cNvPr id="13" name="Imagen 12" descr="Una rueda de metal&#10;&#10;Descripción generada automáticamente con confianza media">
            <a:extLst>
              <a:ext uri="{FF2B5EF4-FFF2-40B4-BE49-F238E27FC236}">
                <a16:creationId xmlns:a16="http://schemas.microsoft.com/office/drawing/2014/main" id="{B6DFA44D-03EB-A6B6-C4DC-80725526A4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79899" y="1527315"/>
            <a:ext cx="2700509" cy="2954004"/>
          </a:xfrm>
          <a:prstGeom prst="rect">
            <a:avLst/>
          </a:prstGeom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77A08D8C-B92A-7A48-4ACD-7330AFBC890C}"/>
              </a:ext>
            </a:extLst>
          </p:cNvPr>
          <p:cNvSpPr txBox="1"/>
          <p:nvPr/>
        </p:nvSpPr>
        <p:spPr>
          <a:xfrm>
            <a:off x="570604" y="4483118"/>
            <a:ext cx="237461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camionetas o SUV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Fabricado para ofrecer el mejor agarre en terrenos complicados como tierra y piedras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alguien que transita principalmente carreteras y asfalto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586AD9AE-9091-0203-4979-15B725BACE8B}"/>
              </a:ext>
            </a:extLst>
          </p:cNvPr>
          <p:cNvSpPr txBox="1"/>
          <p:nvPr/>
        </p:nvSpPr>
        <p:spPr>
          <a:xfrm>
            <a:off x="5972817" y="4420428"/>
            <a:ext cx="2775098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vehículos deportivos o para conducción deportiva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CL" dirty="0">
                <a:solidFill>
                  <a:schemeClr val="bg1"/>
                </a:solidFill>
              </a:rPr>
              <a:t>Fabricados para ofrecer el máximo agarre en asfalto</a:t>
            </a:r>
          </a:p>
          <a:p>
            <a:endParaRPr lang="es-CL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días de lluvia y terrenos complicados </a:t>
            </a:r>
            <a:endParaRPr lang="es-CL" dirty="0">
              <a:solidFill>
                <a:schemeClr val="bg1"/>
              </a:solidFill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0615898-F241-6979-816C-6C892384ED65}"/>
              </a:ext>
            </a:extLst>
          </p:cNvPr>
          <p:cNvSpPr txBox="1"/>
          <p:nvPr/>
        </p:nvSpPr>
        <p:spPr>
          <a:xfrm>
            <a:off x="11542288" y="4558927"/>
            <a:ext cx="253812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MX" dirty="0">
                <a:solidFill>
                  <a:schemeClr val="bg1"/>
                </a:solidFill>
              </a:rPr>
              <a:t>Principalmente recomendado para conducción diaria 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Fabricado para ofrecer máximo rendimiento y máxima durabilidad</a:t>
            </a:r>
          </a:p>
          <a:p>
            <a:endParaRPr lang="es-MX" dirty="0">
              <a:solidFill>
                <a:schemeClr val="bg1"/>
              </a:solidFill>
            </a:endParaRPr>
          </a:p>
          <a:p>
            <a:r>
              <a:rPr lang="es-MX" dirty="0">
                <a:solidFill>
                  <a:schemeClr val="bg1"/>
                </a:solidFill>
              </a:rPr>
              <a:t>No recomendado para conducción deportiva.</a:t>
            </a:r>
            <a:endParaRPr lang="es-CL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51659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8CCCB6D-5162-4AAE-A5E3-3AC55410DB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4626742" cy="82296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BCD8C04-CC7B-40EF-82EB-E9821F79BB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04" y="2949"/>
            <a:ext cx="14626742" cy="8229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2B0910E7-CF7A-BB86-373F-A6C69CF0867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40000"/>
          </a:blip>
          <a:srcRect l="9832" r="20858"/>
          <a:stretch/>
        </p:blipFill>
        <p:spPr>
          <a:xfrm>
            <a:off x="-204" y="10"/>
            <a:ext cx="10140380" cy="822959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00AFB68-F800-AE1B-34D2-C7CFFA17BD31}"/>
              </a:ext>
            </a:extLst>
          </p:cNvPr>
          <p:cNvSpPr txBox="1"/>
          <p:nvPr/>
        </p:nvSpPr>
        <p:spPr>
          <a:xfrm>
            <a:off x="772161" y="772160"/>
            <a:ext cx="5544701" cy="548056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3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Prototipo de nuestro tótem de información  </a:t>
            </a:r>
          </a:p>
        </p:txBody>
      </p:sp>
      <p:pic>
        <p:nvPicPr>
          <p:cNvPr id="6" name="Imagen 5" descr="Imagen en blanco y negro&#10;&#10;Descripción generada automáticamente con confianza media">
            <a:extLst>
              <a:ext uri="{FF2B5EF4-FFF2-40B4-BE49-F238E27FC236}">
                <a16:creationId xmlns:a16="http://schemas.microsoft.com/office/drawing/2014/main" id="{92EE4E09-BDC3-FA79-BBFA-5E712ABB03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148" r="20860" b="1"/>
          <a:stretch/>
        </p:blipFill>
        <p:spPr>
          <a:xfrm>
            <a:off x="7471196" y="-2949"/>
            <a:ext cx="7155342" cy="8229599"/>
          </a:xfrm>
          <a:custGeom>
            <a:avLst/>
            <a:gdLst/>
            <a:ahLst/>
            <a:cxnLst/>
            <a:rect l="l" t="t" r="r" b="b"/>
            <a:pathLst>
              <a:path w="5962785" h="6858000">
                <a:moveTo>
                  <a:pt x="1044839" y="0"/>
                </a:moveTo>
                <a:lnTo>
                  <a:pt x="5962785" y="0"/>
                </a:lnTo>
                <a:lnTo>
                  <a:pt x="5962785" y="6858000"/>
                </a:lnTo>
                <a:lnTo>
                  <a:pt x="1469886" y="6858000"/>
                </a:lnTo>
                <a:lnTo>
                  <a:pt x="1416006" y="6823984"/>
                </a:lnTo>
                <a:cubicBezTo>
                  <a:pt x="1356767" y="6787940"/>
                  <a:pt x="1296437" y="6755500"/>
                  <a:pt x="1232473" y="6733873"/>
                </a:cubicBezTo>
                <a:cubicBezTo>
                  <a:pt x="1145250" y="6705037"/>
                  <a:pt x="1060933" y="6654575"/>
                  <a:pt x="1075471" y="6503186"/>
                </a:cubicBezTo>
                <a:cubicBezTo>
                  <a:pt x="1078378" y="6459932"/>
                  <a:pt x="1055118" y="6427493"/>
                  <a:pt x="1020229" y="6438306"/>
                </a:cubicBezTo>
                <a:cubicBezTo>
                  <a:pt x="953358" y="6459932"/>
                  <a:pt x="921375" y="6398656"/>
                  <a:pt x="883579" y="6351798"/>
                </a:cubicBezTo>
                <a:cubicBezTo>
                  <a:pt x="816707" y="6268895"/>
                  <a:pt x="752743" y="6182387"/>
                  <a:pt x="645167" y="6167969"/>
                </a:cubicBezTo>
                <a:cubicBezTo>
                  <a:pt x="665519" y="6103088"/>
                  <a:pt x="700408" y="6110298"/>
                  <a:pt x="732391" y="6124716"/>
                </a:cubicBezTo>
                <a:cubicBezTo>
                  <a:pt x="816707" y="6160761"/>
                  <a:pt x="901023" y="6200410"/>
                  <a:pt x="985339" y="6236455"/>
                </a:cubicBezTo>
                <a:cubicBezTo>
                  <a:pt x="1040581" y="6258081"/>
                  <a:pt x="1095822" y="6290522"/>
                  <a:pt x="1168509" y="6265291"/>
                </a:cubicBezTo>
                <a:cubicBezTo>
                  <a:pt x="1104545" y="6135530"/>
                  <a:pt x="996969" y="6110298"/>
                  <a:pt x="909746" y="6070649"/>
                </a:cubicBezTo>
                <a:cubicBezTo>
                  <a:pt x="802169" y="6020185"/>
                  <a:pt x="738206" y="5926470"/>
                  <a:pt x="659704" y="5818335"/>
                </a:cubicBezTo>
                <a:cubicBezTo>
                  <a:pt x="738206" y="5789500"/>
                  <a:pt x="787632" y="5868798"/>
                  <a:pt x="851597" y="5865193"/>
                </a:cubicBezTo>
                <a:cubicBezTo>
                  <a:pt x="854504" y="5854380"/>
                  <a:pt x="860319" y="5832753"/>
                  <a:pt x="860319" y="5832753"/>
                </a:cubicBezTo>
                <a:cubicBezTo>
                  <a:pt x="755650" y="5775081"/>
                  <a:pt x="709132" y="5666947"/>
                  <a:pt x="691686" y="5533581"/>
                </a:cubicBezTo>
                <a:cubicBezTo>
                  <a:pt x="685872" y="5465095"/>
                  <a:pt x="648075" y="5443468"/>
                  <a:pt x="610278" y="5411029"/>
                </a:cubicBezTo>
                <a:cubicBezTo>
                  <a:pt x="482350" y="5299289"/>
                  <a:pt x="345700" y="5198364"/>
                  <a:pt x="238123" y="5046976"/>
                </a:cubicBezTo>
                <a:cubicBezTo>
                  <a:pt x="363144" y="5064998"/>
                  <a:pt x="461997" y="5165924"/>
                  <a:pt x="592833" y="5209177"/>
                </a:cubicBezTo>
                <a:cubicBezTo>
                  <a:pt x="488165" y="5043371"/>
                  <a:pt x="351514" y="4956864"/>
                  <a:pt x="226494" y="4855939"/>
                </a:cubicBezTo>
                <a:cubicBezTo>
                  <a:pt x="168344" y="4809081"/>
                  <a:pt x="116011" y="4751408"/>
                  <a:pt x="49139" y="4726177"/>
                </a:cubicBezTo>
                <a:cubicBezTo>
                  <a:pt x="25879" y="4718968"/>
                  <a:pt x="-14825" y="4700947"/>
                  <a:pt x="5527" y="4650483"/>
                </a:cubicBezTo>
                <a:cubicBezTo>
                  <a:pt x="22972" y="4607230"/>
                  <a:pt x="54954" y="4621648"/>
                  <a:pt x="84029" y="4632460"/>
                </a:cubicBezTo>
                <a:cubicBezTo>
                  <a:pt x="153807" y="4661296"/>
                  <a:pt x="229401" y="4661296"/>
                  <a:pt x="325347" y="4661296"/>
                </a:cubicBezTo>
                <a:cubicBezTo>
                  <a:pt x="243939" y="4524326"/>
                  <a:pt x="95658" y="4567580"/>
                  <a:pt x="25879" y="4423401"/>
                </a:cubicBezTo>
                <a:cubicBezTo>
                  <a:pt x="113103" y="4398170"/>
                  <a:pt x="179975" y="4448632"/>
                  <a:pt x="249753" y="4459446"/>
                </a:cubicBezTo>
                <a:cubicBezTo>
                  <a:pt x="313718" y="4470259"/>
                  <a:pt x="328254" y="4445028"/>
                  <a:pt x="313718" y="4365729"/>
                </a:cubicBezTo>
                <a:cubicBezTo>
                  <a:pt x="290458" y="4243177"/>
                  <a:pt x="325347" y="4181900"/>
                  <a:pt x="418386" y="4214341"/>
                </a:cubicBezTo>
                <a:cubicBezTo>
                  <a:pt x="505609" y="4246781"/>
                  <a:pt x="514332" y="4199922"/>
                  <a:pt x="491072" y="4131438"/>
                </a:cubicBezTo>
                <a:cubicBezTo>
                  <a:pt x="456183" y="4030512"/>
                  <a:pt x="493979" y="3951214"/>
                  <a:pt x="520147" y="3864706"/>
                </a:cubicBezTo>
                <a:cubicBezTo>
                  <a:pt x="560851" y="3734945"/>
                  <a:pt x="543407" y="3670064"/>
                  <a:pt x="459090" y="3572743"/>
                </a:cubicBezTo>
                <a:cubicBezTo>
                  <a:pt x="409664" y="3518676"/>
                  <a:pt x="360236" y="3471818"/>
                  <a:pt x="290458" y="3424959"/>
                </a:cubicBezTo>
                <a:cubicBezTo>
                  <a:pt x="450368" y="3399728"/>
                  <a:pt x="284643" y="3313221"/>
                  <a:pt x="339884" y="3259153"/>
                </a:cubicBezTo>
                <a:cubicBezTo>
                  <a:pt x="453275" y="3237527"/>
                  <a:pt x="543407" y="3410542"/>
                  <a:pt x="697501" y="3360078"/>
                </a:cubicBezTo>
                <a:cubicBezTo>
                  <a:pt x="511425" y="3212294"/>
                  <a:pt x="302087" y="3165436"/>
                  <a:pt x="165437" y="2967190"/>
                </a:cubicBezTo>
                <a:cubicBezTo>
                  <a:pt x="197419" y="2923937"/>
                  <a:pt x="229401" y="2967190"/>
                  <a:pt x="255568" y="2949167"/>
                </a:cubicBezTo>
                <a:cubicBezTo>
                  <a:pt x="255568" y="2938354"/>
                  <a:pt x="560851" y="3006840"/>
                  <a:pt x="578296" y="2725691"/>
                </a:cubicBezTo>
                <a:cubicBezTo>
                  <a:pt x="584111" y="2725691"/>
                  <a:pt x="589926" y="2725691"/>
                  <a:pt x="595740" y="2714876"/>
                </a:cubicBezTo>
                <a:cubicBezTo>
                  <a:pt x="627722" y="2675228"/>
                  <a:pt x="598648" y="2581510"/>
                  <a:pt x="650982" y="2574301"/>
                </a:cubicBezTo>
                <a:cubicBezTo>
                  <a:pt x="709132" y="2567092"/>
                  <a:pt x="764373" y="2534653"/>
                  <a:pt x="825429" y="2552674"/>
                </a:cubicBezTo>
                <a:cubicBezTo>
                  <a:pt x="871949" y="2567092"/>
                  <a:pt x="921375" y="2585115"/>
                  <a:pt x="970802" y="2585115"/>
                </a:cubicBezTo>
                <a:cubicBezTo>
                  <a:pt x="1023136" y="2585115"/>
                  <a:pt x="1095822" y="2707668"/>
                  <a:pt x="1127805" y="2545465"/>
                </a:cubicBezTo>
                <a:cubicBezTo>
                  <a:pt x="1127805" y="2538257"/>
                  <a:pt x="1217936" y="2556280"/>
                  <a:pt x="1267362" y="2563488"/>
                </a:cubicBezTo>
                <a:cubicBezTo>
                  <a:pt x="1308067" y="2570698"/>
                  <a:pt x="1357494" y="2603137"/>
                  <a:pt x="1386568" y="2538257"/>
                </a:cubicBezTo>
                <a:cubicBezTo>
                  <a:pt x="1401105" y="2498607"/>
                  <a:pt x="1331326" y="2426518"/>
                  <a:pt x="1270270" y="2419309"/>
                </a:cubicBezTo>
                <a:cubicBezTo>
                  <a:pt x="1215029" y="2412101"/>
                  <a:pt x="1159787" y="2404892"/>
                  <a:pt x="1107453" y="2419309"/>
                </a:cubicBezTo>
                <a:cubicBezTo>
                  <a:pt x="1043489" y="2437331"/>
                  <a:pt x="1008599" y="2408495"/>
                  <a:pt x="991154" y="2343615"/>
                </a:cubicBezTo>
                <a:cubicBezTo>
                  <a:pt x="970802" y="2275131"/>
                  <a:pt x="933005" y="2239085"/>
                  <a:pt x="880671" y="2206645"/>
                </a:cubicBezTo>
                <a:cubicBezTo>
                  <a:pt x="752743" y="2127346"/>
                  <a:pt x="630630" y="2033629"/>
                  <a:pt x="491072" y="1986771"/>
                </a:cubicBezTo>
                <a:cubicBezTo>
                  <a:pt x="464905" y="1979562"/>
                  <a:pt x="432923" y="1965145"/>
                  <a:pt x="421293" y="1903868"/>
                </a:cubicBezTo>
                <a:cubicBezTo>
                  <a:pt x="799262" y="1997584"/>
                  <a:pt x="1142342" y="2239085"/>
                  <a:pt x="1531941" y="2224667"/>
                </a:cubicBezTo>
                <a:cubicBezTo>
                  <a:pt x="1427272" y="2148974"/>
                  <a:pt x="1302252" y="2145369"/>
                  <a:pt x="1188861" y="2091301"/>
                </a:cubicBezTo>
                <a:cubicBezTo>
                  <a:pt x="1270270" y="2051652"/>
                  <a:pt x="1345864" y="2094906"/>
                  <a:pt x="1421458" y="2116532"/>
                </a:cubicBezTo>
                <a:cubicBezTo>
                  <a:pt x="1485422" y="2134554"/>
                  <a:pt x="1543571" y="2138160"/>
                  <a:pt x="1549386" y="2026420"/>
                </a:cubicBezTo>
                <a:cubicBezTo>
                  <a:pt x="1549386" y="2015607"/>
                  <a:pt x="1549386" y="2008398"/>
                  <a:pt x="1549386" y="1997584"/>
                </a:cubicBezTo>
                <a:cubicBezTo>
                  <a:pt x="1526126" y="1950727"/>
                  <a:pt x="1494144" y="1929099"/>
                  <a:pt x="1453440" y="1914682"/>
                </a:cubicBezTo>
                <a:cubicBezTo>
                  <a:pt x="1430180" y="1907473"/>
                  <a:pt x="1398198" y="1893056"/>
                  <a:pt x="1398198" y="1860614"/>
                </a:cubicBezTo>
                <a:cubicBezTo>
                  <a:pt x="1401105" y="1738063"/>
                  <a:pt x="1322604" y="1702018"/>
                  <a:pt x="1247011" y="1665972"/>
                </a:cubicBezTo>
                <a:cubicBezTo>
                  <a:pt x="1287715" y="1604696"/>
                  <a:pt x="1322604" y="1647950"/>
                  <a:pt x="1354586" y="1644345"/>
                </a:cubicBezTo>
                <a:cubicBezTo>
                  <a:pt x="1374939" y="1640741"/>
                  <a:pt x="1395290" y="1637138"/>
                  <a:pt x="1395290" y="1604696"/>
                </a:cubicBezTo>
                <a:cubicBezTo>
                  <a:pt x="1395290" y="1579465"/>
                  <a:pt x="1386568" y="1547025"/>
                  <a:pt x="1366216" y="1547025"/>
                </a:cubicBezTo>
                <a:cubicBezTo>
                  <a:pt x="1238288" y="1543420"/>
                  <a:pt x="1165601" y="1370405"/>
                  <a:pt x="1031858" y="1370405"/>
                </a:cubicBezTo>
                <a:cubicBezTo>
                  <a:pt x="950450" y="1370405"/>
                  <a:pt x="1072563" y="1273083"/>
                  <a:pt x="1005692" y="1233435"/>
                </a:cubicBezTo>
                <a:cubicBezTo>
                  <a:pt x="991154" y="1222621"/>
                  <a:pt x="1046396" y="1208203"/>
                  <a:pt x="1069655" y="1211808"/>
                </a:cubicBezTo>
                <a:cubicBezTo>
                  <a:pt x="1092915" y="1215412"/>
                  <a:pt x="1113268" y="1240644"/>
                  <a:pt x="1142342" y="1222621"/>
                </a:cubicBezTo>
                <a:cubicBezTo>
                  <a:pt x="1156879" y="1157741"/>
                  <a:pt x="1119082" y="1132510"/>
                  <a:pt x="1084193" y="1114487"/>
                </a:cubicBezTo>
                <a:cubicBezTo>
                  <a:pt x="1008599" y="1071234"/>
                  <a:pt x="933005" y="1020771"/>
                  <a:pt x="848689" y="1006353"/>
                </a:cubicBezTo>
                <a:cubicBezTo>
                  <a:pt x="819615" y="1002748"/>
                  <a:pt x="802169" y="984726"/>
                  <a:pt x="805077" y="948681"/>
                </a:cubicBezTo>
                <a:cubicBezTo>
                  <a:pt x="810892" y="901822"/>
                  <a:pt x="839967" y="916240"/>
                  <a:pt x="863226" y="919844"/>
                </a:cubicBezTo>
                <a:cubicBezTo>
                  <a:pt x="877764" y="923450"/>
                  <a:pt x="892301" y="934263"/>
                  <a:pt x="906838" y="909031"/>
                </a:cubicBezTo>
                <a:cubicBezTo>
                  <a:pt x="566666" y="653113"/>
                  <a:pt x="386404" y="667532"/>
                  <a:pt x="5527" y="458471"/>
                </a:cubicBezTo>
                <a:cubicBezTo>
                  <a:pt x="89843" y="418822"/>
                  <a:pt x="150900" y="447658"/>
                  <a:pt x="209049" y="454867"/>
                </a:cubicBezTo>
                <a:cubicBezTo>
                  <a:pt x="354422" y="472890"/>
                  <a:pt x="264290" y="505329"/>
                  <a:pt x="409664" y="526956"/>
                </a:cubicBezTo>
                <a:cubicBezTo>
                  <a:pt x="479443" y="537770"/>
                  <a:pt x="543407" y="573815"/>
                  <a:pt x="621908" y="516143"/>
                </a:cubicBezTo>
                <a:cubicBezTo>
                  <a:pt x="674242" y="476494"/>
                  <a:pt x="758558" y="519747"/>
                  <a:pt x="822522" y="552188"/>
                </a:cubicBezTo>
                <a:cubicBezTo>
                  <a:pt x="874856" y="581024"/>
                  <a:pt x="927190" y="588232"/>
                  <a:pt x="996969" y="552188"/>
                </a:cubicBezTo>
                <a:cubicBezTo>
                  <a:pt x="933005" y="530562"/>
                  <a:pt x="883579" y="512539"/>
                  <a:pt x="834151" y="498120"/>
                </a:cubicBezTo>
                <a:cubicBezTo>
                  <a:pt x="793447" y="487307"/>
                  <a:pt x="770187" y="462076"/>
                  <a:pt x="773095" y="408008"/>
                </a:cubicBezTo>
                <a:cubicBezTo>
                  <a:pt x="773095" y="379172"/>
                  <a:pt x="764373" y="339523"/>
                  <a:pt x="793447" y="325106"/>
                </a:cubicBezTo>
                <a:cubicBezTo>
                  <a:pt x="816707" y="310688"/>
                  <a:pt x="848689" y="325106"/>
                  <a:pt x="860319" y="350336"/>
                </a:cubicBezTo>
                <a:cubicBezTo>
                  <a:pt x="874856" y="397195"/>
                  <a:pt x="889393" y="440449"/>
                  <a:pt x="938820" y="444054"/>
                </a:cubicBezTo>
                <a:cubicBezTo>
                  <a:pt x="1005692" y="451262"/>
                  <a:pt x="967894" y="422426"/>
                  <a:pt x="956265" y="386381"/>
                </a:cubicBezTo>
                <a:cubicBezTo>
                  <a:pt x="944635" y="346733"/>
                  <a:pt x="979525" y="335919"/>
                  <a:pt x="1002784" y="343127"/>
                </a:cubicBezTo>
                <a:cubicBezTo>
                  <a:pt x="1090008" y="375569"/>
                  <a:pt x="1180139" y="317897"/>
                  <a:pt x="1270270" y="364755"/>
                </a:cubicBezTo>
                <a:cubicBezTo>
                  <a:pt x="1247011" y="249411"/>
                  <a:pt x="1197583" y="198949"/>
                  <a:pt x="1092915" y="180926"/>
                </a:cubicBezTo>
                <a:cubicBezTo>
                  <a:pt x="1055118" y="177322"/>
                  <a:pt x="1014414" y="184530"/>
                  <a:pt x="979525" y="152090"/>
                </a:cubicBezTo>
                <a:cubicBezTo>
                  <a:pt x="959172" y="134068"/>
                  <a:pt x="938820" y="112441"/>
                  <a:pt x="953358" y="76396"/>
                </a:cubicBezTo>
                <a:cubicBezTo>
                  <a:pt x="962080" y="51165"/>
                  <a:pt x="985339" y="51165"/>
                  <a:pt x="1005692" y="58373"/>
                </a:cubicBezTo>
                <a:cubicBezTo>
                  <a:pt x="1090008" y="98023"/>
                  <a:pt x="1180139" y="108837"/>
                  <a:pt x="1267362" y="123254"/>
                </a:cubicBezTo>
                <a:cubicBezTo>
                  <a:pt x="1281900" y="126859"/>
                  <a:pt x="1296437" y="134068"/>
                  <a:pt x="1310975" y="98023"/>
                </a:cubicBezTo>
                <a:cubicBezTo>
                  <a:pt x="1260095" y="81803"/>
                  <a:pt x="1209941" y="62879"/>
                  <a:pt x="1159787" y="43505"/>
                </a:cubicBezTo>
                <a:close/>
              </a:path>
            </a:pathLst>
          </a:custGeom>
        </p:spPr>
      </p:pic>
      <p:sp>
        <p:nvSpPr>
          <p:cNvPr id="4" name="CuadroTexto 3">
            <a:extLst>
              <a:ext uri="{FF2B5EF4-FFF2-40B4-BE49-F238E27FC236}">
                <a16:creationId xmlns:a16="http://schemas.microsoft.com/office/drawing/2014/main" id="{09B48D3A-9FD8-F38A-4766-3ABE997B19B7}"/>
              </a:ext>
            </a:extLst>
          </p:cNvPr>
          <p:cNvSpPr txBox="1"/>
          <p:nvPr/>
        </p:nvSpPr>
        <p:spPr>
          <a:xfrm>
            <a:off x="8867553" y="1063256"/>
            <a:ext cx="4784652" cy="50079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8601042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92086B67-8444-3EC2-D5CB-45BA35B16CE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-1809" y="0"/>
            <a:ext cx="14630380" cy="82280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C5F69F4-976C-128D-7358-25E290A8F8F2}"/>
              </a:ext>
            </a:extLst>
          </p:cNvPr>
          <p:cNvSpPr txBox="1"/>
          <p:nvPr/>
        </p:nvSpPr>
        <p:spPr>
          <a:xfrm>
            <a:off x="3968005" y="634277"/>
            <a:ext cx="971271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400" b="1" dirty="0">
                <a:solidFill>
                  <a:schemeClr val="bg1"/>
                </a:solidFill>
              </a:rPr>
              <a:t>Resultados y conclusiones 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3EDCFED8-0DE0-CA85-6B54-6E4793050D75}"/>
              </a:ext>
            </a:extLst>
          </p:cNvPr>
          <p:cNvSpPr txBox="1"/>
          <p:nvPr/>
        </p:nvSpPr>
        <p:spPr>
          <a:xfrm>
            <a:off x="1226634" y="2262928"/>
            <a:ext cx="1274584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sz="2400" dirty="0">
                <a:solidFill>
                  <a:schemeClr val="bg1"/>
                </a:solidFill>
              </a:rPr>
              <a:t>En conclusión, el tótem de información diseñado para informar a los conductores sobre los neumáticos adecuados ofrece una herramienta valiosa para mejorar la seguridad y el rendimiento de los vehículos. Proporciona datos esenciales, como el tipo de neumático recomendado, la presión adecuada y otros aspectos clave que impactan directamente en la conducción. Al empoderar a los conductores con conocimientos detallados, contribuimos no solo a la eficiencia y durabilidad de los neumáticos, sino también a la seguridad en las carreteras. En última instancia, este </a:t>
            </a:r>
            <a:r>
              <a:rPr lang="es-ES" sz="2400" dirty="0" err="1">
                <a:solidFill>
                  <a:schemeClr val="bg1"/>
                </a:solidFill>
              </a:rPr>
              <a:t>totem</a:t>
            </a:r>
            <a:r>
              <a:rPr lang="es-ES" sz="2400" dirty="0">
                <a:solidFill>
                  <a:schemeClr val="bg1"/>
                </a:solidFill>
              </a:rPr>
              <a:t> representa un paso significativo hacia una experiencia de conducción más informada y segura para todos.</a:t>
            </a:r>
            <a:endParaRPr lang="es-C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6596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3163C12-C5B2-5700-0993-411DBAA2D4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"/>
          <a:stretch/>
        </p:blipFill>
        <p:spPr>
          <a:xfrm>
            <a:off x="1828" y="0"/>
            <a:ext cx="14630380" cy="8228062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828" y="0"/>
            <a:ext cx="14626743" cy="8229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73EE4C5E-BB80-961C-239A-F06DE5A5E227}"/>
              </a:ext>
            </a:extLst>
          </p:cNvPr>
          <p:cNvSpPr txBox="1"/>
          <p:nvPr/>
        </p:nvSpPr>
        <p:spPr>
          <a:xfrm>
            <a:off x="5307981" y="733847"/>
            <a:ext cx="657921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4800" dirty="0">
                <a:solidFill>
                  <a:schemeClr val="bg1"/>
                </a:solidFill>
              </a:rPr>
              <a:t>Bibliografía</a:t>
            </a:r>
            <a:r>
              <a:rPr lang="es-CL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79707E4-5A45-068A-3FD5-67DD3F1F23BC}"/>
              </a:ext>
            </a:extLst>
          </p:cNvPr>
          <p:cNvSpPr txBox="1"/>
          <p:nvPr/>
        </p:nvSpPr>
        <p:spPr>
          <a:xfrm>
            <a:off x="1371600" y="2209481"/>
            <a:ext cx="898788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400" dirty="0">
                <a:solidFill>
                  <a:schemeClr val="bg1"/>
                </a:solidFill>
                <a:hlinkClick r:id="rId3"/>
              </a:rPr>
              <a:t>https://www.michelin.com.ar/auto/consejos/elegir-neumaticos/elegir-neumaticos-para-mi-auto</a:t>
            </a:r>
            <a:endParaRPr lang="es-CL" sz="2400" dirty="0">
              <a:solidFill>
                <a:schemeClr val="bg1"/>
              </a:solidFill>
            </a:endParaRPr>
          </a:p>
          <a:p>
            <a:endParaRPr lang="es-CL" sz="2400" dirty="0">
              <a:solidFill>
                <a:schemeClr val="bg1"/>
              </a:solidFill>
            </a:endParaRPr>
          </a:p>
          <a:p>
            <a:r>
              <a:rPr lang="es-CL" sz="2400" dirty="0">
                <a:solidFill>
                  <a:schemeClr val="bg1"/>
                </a:solidFill>
                <a:hlinkClick r:id="rId4"/>
              </a:rPr>
              <a:t>https://www.confortauto.com/como-leer-un-neumatico</a:t>
            </a:r>
            <a:endParaRPr lang="es-CL" sz="2400" dirty="0">
              <a:solidFill>
                <a:schemeClr val="bg1"/>
              </a:solidFill>
            </a:endParaRPr>
          </a:p>
          <a:p>
            <a:endParaRPr lang="es-CL" sz="2400" dirty="0">
              <a:solidFill>
                <a:schemeClr val="bg1"/>
              </a:solidFill>
            </a:endParaRPr>
          </a:p>
          <a:p>
            <a:r>
              <a:rPr lang="es-CL" sz="2400" dirty="0">
                <a:solidFill>
                  <a:schemeClr val="bg1"/>
                </a:solidFill>
                <a:hlinkClick r:id="rId5"/>
              </a:rPr>
              <a:t>https://www.bridgestone.cl/</a:t>
            </a:r>
            <a:endParaRPr lang="es-CL" sz="2400" dirty="0">
              <a:solidFill>
                <a:schemeClr val="bg1"/>
              </a:solidFill>
            </a:endParaRPr>
          </a:p>
          <a:p>
            <a:endParaRPr lang="es-CL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55583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141</TotalTime>
  <Words>888</Words>
  <Application>Microsoft Macintosh PowerPoint</Application>
  <PresentationFormat>Personalizado</PresentationFormat>
  <Paragraphs>78</Paragraphs>
  <Slides>12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12</vt:i4>
      </vt:variant>
    </vt:vector>
  </HeadingPairs>
  <TitlesOfParts>
    <vt:vector size="19" baseType="lpstr">
      <vt:lpstr>Arial</vt:lpstr>
      <vt:lpstr>Barlow</vt:lpstr>
      <vt:lpstr>Barlow, sans-serif</vt:lpstr>
      <vt:lpstr>Calibri</vt:lpstr>
      <vt:lpstr>Calibri Light</vt:lpstr>
      <vt:lpstr>Times New Roman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Office User</cp:lastModifiedBy>
  <cp:revision>9</cp:revision>
  <dcterms:created xsi:type="dcterms:W3CDTF">2023-11-17T00:42:05Z</dcterms:created>
  <dcterms:modified xsi:type="dcterms:W3CDTF">2023-12-20T17:50:29Z</dcterms:modified>
</cp:coreProperties>
</file>