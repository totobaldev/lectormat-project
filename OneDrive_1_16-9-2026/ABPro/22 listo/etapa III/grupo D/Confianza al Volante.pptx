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comments/comment1.xml" ContentType="application/vnd.openxmlformats-officedocument.presentationml.comments+xml"/>
  <Override PartName="/ppt/comments/comment2.xml" ContentType="application/vnd.openxmlformats-officedocument.presentationml.comments+xml"/>
  <Override PartName="/ppt/comments/comment3.xml" ContentType="application/vnd.openxmlformats-officedocument.presentationml.comments+xml"/>
  <Override PartName="/ppt/comments/comment4.xml" ContentType="application/vnd.openxmlformats-officedocument.presentationml.comments+xml"/>
  <Override PartName="/ppt/comments/comment5.xml" ContentType="application/vnd.openxmlformats-officedocument.presentationml.comments+xml"/>
  <Override PartName="/ppt/comments/comment6.xml" ContentType="application/vnd.openxmlformats-officedocument.presentationml.comments+xml"/>
  <Override PartName="/ppt/comments/comment7.xml" ContentType="application/vnd.openxmlformats-officedocument.presentationml.comments+xml"/>
  <Override PartName="/ppt/comments/comment8.xml" ContentType="application/vnd.openxmlformats-officedocument.presentationml.comments+xml"/>
  <Override PartName="/ppt/comments/comment9.xml" ContentType="application/vnd.openxmlformats-officedocument.presentationml.comment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7" r:id="rId4"/>
  </p:sldMasterIdLst>
  <p:sldIdLst>
    <p:sldId id="256" r:id="rId5"/>
    <p:sldId id="257" r:id="rId6"/>
    <p:sldId id="258" r:id="rId7"/>
    <p:sldId id="259" r:id="rId8"/>
    <p:sldId id="260" r:id="rId9"/>
    <p:sldId id="263" r:id="rId10"/>
    <p:sldId id="264" r:id="rId11"/>
    <p:sldId id="265" r:id="rId12"/>
    <p:sldId id="266" r:id="rId13"/>
    <p:sldId id="269" r:id="rId14"/>
    <p:sldId id="274" r:id="rId15"/>
    <p:sldId id="271" r:id="rId16"/>
    <p:sldId id="272" r:id="rId17"/>
    <p:sldId id="273" r:id="rId18"/>
    <p:sldId id="268" r:id="rId19"/>
    <p:sldId id="270" r:id="rId20"/>
    <p:sldId id="275"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icrosoft Office User" initials="MOU" lastIdx="16" clrIdx="0">
    <p:extLst>
      <p:ext uri="{19B8F6BF-5375-455C-9EA6-DF929625EA0E}">
        <p15:presenceInfo xmlns:p15="http://schemas.microsoft.com/office/powerpoint/2012/main" userId="Microsoft Office User"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C89EF96-8CEA-46FF-86C4-4CE0E7609802}" styleName="Estilo claro 3 - Acento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69012ECD-51FC-41F1-AA8D-1B2483CD663E}" styleName="Estilo claro 2 - Acento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3B4B98B0-60AC-42C2-AFA5-B58CD77FA1E5}" styleName="Estilo claro 1 - Acento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7841" autoAdjust="0"/>
    <p:restoredTop sz="94660"/>
  </p:normalViewPr>
  <p:slideViewPr>
    <p:cSldViewPr snapToGrid="0">
      <p:cViewPr varScale="1">
        <p:scale>
          <a:sx n="22" d="100"/>
          <a:sy n="22" d="100"/>
        </p:scale>
        <p:origin x="216" y="181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commentAuthors" Target="commentAuthors.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23-12-26T19:01:55.619" idx="1">
    <p:pos x="10" y="10"/>
    <p:text>buena definición de la problemática y proyecto como tal</p:text>
    <p:extLst>
      <p:ext uri="{C676402C-5697-4E1C-873F-D02D1690AC5C}">
        <p15:threadingInfo xmlns:p15="http://schemas.microsoft.com/office/powerpoint/2012/main" timeZoneBias="180"/>
      </p:ext>
    </p:extLst>
  </p:cm>
</p:cmLst>
</file>

<file path=ppt/comments/comment2.xml><?xml version="1.0" encoding="utf-8"?>
<p:cmLst xmlns:a="http://schemas.openxmlformats.org/drawingml/2006/main" xmlns:r="http://schemas.openxmlformats.org/officeDocument/2006/relationships" xmlns:p="http://schemas.openxmlformats.org/presentationml/2006/main">
  <p:cm authorId="1" dt="2023-12-26T19:02:27.835" idx="2">
    <p:pos x="6317" y="1282"/>
    <p:text>en que se basa para investigar la "calidad" del servicio?.... faltan referencias</p:text>
    <p:extLst>
      <p:ext uri="{C676402C-5697-4E1C-873F-D02D1690AC5C}">
        <p15:threadingInfo xmlns:p15="http://schemas.microsoft.com/office/powerpoint/2012/main" timeZoneBias="180"/>
      </p:ext>
    </p:extLst>
  </p:cm>
  <p:cm authorId="1" dt="2023-12-26T19:03:28.862" idx="4">
    <p:pos x="6317" y="3948"/>
    <p:text>cuando los utilicen deben mostrar el ejemplo del cálculo, del programa, etc. no basta solo con nombrar.</p:text>
    <p:extLst>
      <p:ext uri="{C676402C-5697-4E1C-873F-D02D1690AC5C}">
        <p15:threadingInfo xmlns:p15="http://schemas.microsoft.com/office/powerpoint/2012/main" timeZoneBias="180"/>
      </p:ext>
    </p:extLst>
  </p:cm>
</p:cmLst>
</file>

<file path=ppt/comments/comment3.xml><?xml version="1.0" encoding="utf-8"?>
<p:cmLst xmlns:a="http://schemas.openxmlformats.org/drawingml/2006/main" xmlns:r="http://schemas.openxmlformats.org/officeDocument/2006/relationships" xmlns:p="http://schemas.openxmlformats.org/presentationml/2006/main">
  <p:cm authorId="1" dt="2023-12-26T19:04:17.237" idx="5">
    <p:pos x="2899" y="845"/>
    <p:text>¿como mide la "poca" o "mucha" credibilidad?</p:text>
    <p:extLst>
      <p:ext uri="{C676402C-5697-4E1C-873F-D02D1690AC5C}">
        <p15:threadingInfo xmlns:p15="http://schemas.microsoft.com/office/powerpoint/2012/main" timeZoneBias="180"/>
      </p:ext>
    </p:extLst>
  </p:cm>
  <p:cm authorId="1" dt="2023-12-26T19:05:00.498" idx="6">
    <p:pos x="1319" y="1551"/>
    <p:text>las prez bien dirigidas</p:text>
    <p:extLst>
      <p:ext uri="{C676402C-5697-4E1C-873F-D02D1690AC5C}">
        <p15:threadingInfo xmlns:p15="http://schemas.microsoft.com/office/powerpoint/2012/main" timeZoneBias="180"/>
      </p:ext>
    </p:extLst>
  </p:cm>
</p:cmLst>
</file>

<file path=ppt/comments/comment4.xml><?xml version="1.0" encoding="utf-8"?>
<p:cmLst xmlns:a="http://schemas.openxmlformats.org/drawingml/2006/main" xmlns:r="http://schemas.openxmlformats.org/officeDocument/2006/relationships" xmlns:p="http://schemas.openxmlformats.org/presentationml/2006/main">
  <p:cm authorId="1" dt="2023-12-26T19:05:20.864" idx="7">
    <p:pos x="10" y="10"/>
    <p:text>faltan referencias que sustenten lo que comentan en cada tema</p:text>
    <p:extLst>
      <p:ext uri="{C676402C-5697-4E1C-873F-D02D1690AC5C}">
        <p15:threadingInfo xmlns:p15="http://schemas.microsoft.com/office/powerpoint/2012/main" timeZoneBias="180"/>
      </p:ext>
    </p:extLst>
  </p:cm>
</p:cmLst>
</file>

<file path=ppt/comments/comment5.xml><?xml version="1.0" encoding="utf-8"?>
<p:cmLst xmlns:a="http://schemas.openxmlformats.org/drawingml/2006/main" xmlns:r="http://schemas.openxmlformats.org/officeDocument/2006/relationships" xmlns:p="http://schemas.openxmlformats.org/presentationml/2006/main">
  <p:cm authorId="1" dt="2023-12-26T19:06:04.182" idx="8">
    <p:pos x="10" y="10"/>
    <p:text>bien el cronograma</p:text>
    <p:extLst>
      <p:ext uri="{C676402C-5697-4E1C-873F-D02D1690AC5C}">
        <p15:threadingInfo xmlns:p15="http://schemas.microsoft.com/office/powerpoint/2012/main" timeZoneBias="180"/>
      </p:ext>
    </p:extLst>
  </p:cm>
  <p:cm authorId="1" dt="2023-12-26T19:06:14.698" idx="9">
    <p:pos x="146" y="146"/>
    <p:text>queda al debe el cálculo del universo o muestra que consideraron significativa para la toma de muestra, así como también el lugar,etc.</p:text>
    <p:extLst>
      <p:ext uri="{C676402C-5697-4E1C-873F-D02D1690AC5C}">
        <p15:threadingInfo xmlns:p15="http://schemas.microsoft.com/office/powerpoint/2012/main" timeZoneBias="180"/>
      </p:ext>
    </p:extLst>
  </p:cm>
</p:cmLst>
</file>

<file path=ppt/comments/comment6.xml><?xml version="1.0" encoding="utf-8"?>
<p:cmLst xmlns:a="http://schemas.openxmlformats.org/drawingml/2006/main" xmlns:r="http://schemas.openxmlformats.org/officeDocument/2006/relationships" xmlns:p="http://schemas.openxmlformats.org/presentationml/2006/main">
  <p:cm authorId="1" dt="2023-12-26T19:07:14.953" idx="10">
    <p:pos x="10" y="10"/>
    <p:text>faltan imágenes usando cada programa para la búsqueda de la solución de su proyecto</p:text>
    <p:extLst>
      <p:ext uri="{C676402C-5697-4E1C-873F-D02D1690AC5C}">
        <p15:threadingInfo xmlns:p15="http://schemas.microsoft.com/office/powerpoint/2012/main" timeZoneBias="180"/>
      </p:ext>
    </p:extLst>
  </p:cm>
</p:cmLst>
</file>

<file path=ppt/comments/comment7.xml><?xml version="1.0" encoding="utf-8"?>
<p:cmLst xmlns:a="http://schemas.openxmlformats.org/drawingml/2006/main" xmlns:r="http://schemas.openxmlformats.org/officeDocument/2006/relationships" xmlns:p="http://schemas.openxmlformats.org/presentationml/2006/main">
  <p:cm authorId="1" dt="2023-12-26T19:07:52.232" idx="11">
    <p:pos x="10" y="10"/>
    <p:text>muy bien con las validaciones!</p:text>
    <p:extLst>
      <p:ext uri="{C676402C-5697-4E1C-873F-D02D1690AC5C}">
        <p15:threadingInfo xmlns:p15="http://schemas.microsoft.com/office/powerpoint/2012/main" timeZoneBias="180"/>
      </p:ext>
    </p:extLst>
  </p:cm>
</p:cmLst>
</file>

<file path=ppt/comments/comment8.xml><?xml version="1.0" encoding="utf-8"?>
<p:cmLst xmlns:a="http://schemas.openxmlformats.org/drawingml/2006/main" xmlns:r="http://schemas.openxmlformats.org/officeDocument/2006/relationships" xmlns:p="http://schemas.openxmlformats.org/presentationml/2006/main">
  <p:cm authorId="1" dt="2023-12-26T19:08:23.580" idx="12">
    <p:pos x="10" y="10"/>
    <p:text>¿que características  tenían los 16 encuestados?</p:text>
    <p:extLst>
      <p:ext uri="{C676402C-5697-4E1C-873F-D02D1690AC5C}">
        <p15:threadingInfo xmlns:p15="http://schemas.microsoft.com/office/powerpoint/2012/main" timeZoneBias="180"/>
      </p:ext>
    </p:extLst>
  </p:cm>
  <p:cm authorId="1" dt="2023-12-26T19:09:06.414" idx="13">
    <p:pos x="10" y="146"/>
    <p:text>son significativos para el universo de clientes de los talleres mecánicos?</p:text>
    <p:extLst>
      <p:ext uri="{C676402C-5697-4E1C-873F-D02D1690AC5C}">
        <p15:threadingInfo xmlns:p15="http://schemas.microsoft.com/office/powerpoint/2012/main" timeZoneBias="180">
          <p15:parentCm authorId="1" idx="12"/>
        </p15:threadingInfo>
      </p:ext>
    </p:extLst>
  </p:cm>
  <p:cm authorId="1" dt="2023-12-26T19:09:47.979" idx="14">
    <p:pos x="10" y="282"/>
    <p:text>solo con las 3 preguntas es suficiente para obtener la información necesaria y tomar la decisión acertiva?</p:text>
    <p:extLst>
      <p:ext uri="{C676402C-5697-4E1C-873F-D02D1690AC5C}">
        <p15:threadingInfo xmlns:p15="http://schemas.microsoft.com/office/powerpoint/2012/main" timeZoneBias="180">
          <p15:parentCm authorId="1" idx="12"/>
        </p15:threadingInfo>
      </p:ext>
    </p:extLst>
  </p:cm>
</p:cmLst>
</file>

<file path=ppt/comments/comment9.xml><?xml version="1.0" encoding="utf-8"?>
<p:cmLst xmlns:a="http://schemas.openxmlformats.org/drawingml/2006/main" xmlns:r="http://schemas.openxmlformats.org/officeDocument/2006/relationships" xmlns:p="http://schemas.openxmlformats.org/presentationml/2006/main">
  <p:cm authorId="1" dt="2023-12-26T19:11:58.553" idx="15">
    <p:pos x="10" y="10"/>
    <p:text>buena actuación para la simulación!</p:text>
    <p:extLst>
      <p:ext uri="{C676402C-5697-4E1C-873F-D02D1690AC5C}">
        <p15:threadingInfo xmlns:p15="http://schemas.microsoft.com/office/powerpoint/2012/main" timeZoneBias="180"/>
      </p:ext>
    </p:extLst>
  </p:cm>
  <p:cm authorId="1" dt="2023-12-26T19:12:15.875" idx="16">
    <p:pos x="146" y="146"/>
    <p:text>ustedes, como mecánicos o futuros mecánicos, ¿que tan viable ven ésta propuesta de solución? (considerando la cantidad de clientes o vehículos revisados o reparados por día, por semana, etc)...</p:text>
    <p:extLst>
      <p:ext uri="{C676402C-5697-4E1C-873F-D02D1690AC5C}">
        <p15:threadingInfo xmlns:p15="http://schemas.microsoft.com/office/powerpoint/2012/main" timeZoneBias="180"/>
      </p:ext>
    </p:extLst>
  </p:cm>
</p:cmLst>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a:t>Haga clic para editar el estilo de subtítulo del patrón</a:t>
            </a:r>
            <a:endParaRPr lang="en-US" dirty="0"/>
          </a:p>
        </p:txBody>
      </p:sp>
      <p:sp>
        <p:nvSpPr>
          <p:cNvPr id="4" name="Date Placeholder 3"/>
          <p:cNvSpPr>
            <a:spLocks noGrp="1"/>
          </p:cNvSpPr>
          <p:nvPr>
            <p:ph type="dt" sz="half" idx="10"/>
          </p:nvPr>
        </p:nvSpPr>
        <p:spPr/>
        <p:txBody>
          <a:bodyPr/>
          <a:lstStyle/>
          <a:p>
            <a:fld id="{3D145F0F-ABEA-49D3-ADF5-B61D2DA89C31}" type="datetimeFigureOut">
              <a:rPr lang="es-CL" smtClean="0"/>
              <a:t>26-12-23</a:t>
            </a:fld>
            <a:endParaRPr lang="es-CL"/>
          </a:p>
        </p:txBody>
      </p:sp>
      <p:sp>
        <p:nvSpPr>
          <p:cNvPr id="5" name="Footer Placeholder 4"/>
          <p:cNvSpPr>
            <a:spLocks noGrp="1"/>
          </p:cNvSpPr>
          <p:nvPr>
            <p:ph type="ftr" sz="quarter" idx="11"/>
          </p:nvPr>
        </p:nvSpPr>
        <p:spPr/>
        <p:txBody>
          <a:bodyPr/>
          <a:lstStyle/>
          <a:p>
            <a:endParaRPr lang="es-CL"/>
          </a:p>
        </p:txBody>
      </p:sp>
      <p:sp>
        <p:nvSpPr>
          <p:cNvPr id="6" name="Slide Number Placeholder 5"/>
          <p:cNvSpPr>
            <a:spLocks noGrp="1"/>
          </p:cNvSpPr>
          <p:nvPr>
            <p:ph type="sldNum" sz="quarter" idx="12"/>
          </p:nvPr>
        </p:nvSpPr>
        <p:spPr/>
        <p:txBody>
          <a:bodyPr/>
          <a:lstStyle/>
          <a:p>
            <a:fld id="{9BCB0801-C394-46F1-BA09-9052FD73111B}" type="slidenum">
              <a:rPr lang="es-CL" smtClean="0"/>
              <a:t>‹Nº›</a:t>
            </a:fld>
            <a:endParaRPr lang="es-CL"/>
          </a:p>
        </p:txBody>
      </p:sp>
    </p:spTree>
    <p:extLst>
      <p:ext uri="{BB962C8B-B14F-4D97-AF65-F5344CB8AC3E}">
        <p14:creationId xmlns:p14="http://schemas.microsoft.com/office/powerpoint/2010/main" val="20136608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3D145F0F-ABEA-49D3-ADF5-B61D2DA89C31}" type="datetimeFigureOut">
              <a:rPr lang="es-CL" smtClean="0"/>
              <a:t>26-12-23</a:t>
            </a:fld>
            <a:endParaRPr lang="es-CL"/>
          </a:p>
        </p:txBody>
      </p:sp>
      <p:sp>
        <p:nvSpPr>
          <p:cNvPr id="5" name="Footer Placeholder 4"/>
          <p:cNvSpPr>
            <a:spLocks noGrp="1"/>
          </p:cNvSpPr>
          <p:nvPr>
            <p:ph type="ftr" sz="quarter" idx="11"/>
          </p:nvPr>
        </p:nvSpPr>
        <p:spPr/>
        <p:txBody>
          <a:bodyPr/>
          <a:lstStyle/>
          <a:p>
            <a:endParaRPr lang="es-CL"/>
          </a:p>
        </p:txBody>
      </p:sp>
      <p:sp>
        <p:nvSpPr>
          <p:cNvPr id="6" name="Slide Number Placeholder 5"/>
          <p:cNvSpPr>
            <a:spLocks noGrp="1"/>
          </p:cNvSpPr>
          <p:nvPr>
            <p:ph type="sldNum" sz="quarter" idx="12"/>
          </p:nvPr>
        </p:nvSpPr>
        <p:spPr/>
        <p:txBody>
          <a:bodyPr/>
          <a:lstStyle/>
          <a:p>
            <a:fld id="{9BCB0801-C394-46F1-BA09-9052FD73111B}" type="slidenum">
              <a:rPr lang="es-CL" smtClean="0"/>
              <a:t>‹Nº›</a:t>
            </a:fld>
            <a:endParaRPr lang="es-CL"/>
          </a:p>
        </p:txBody>
      </p:sp>
    </p:spTree>
    <p:extLst>
      <p:ext uri="{BB962C8B-B14F-4D97-AF65-F5344CB8AC3E}">
        <p14:creationId xmlns:p14="http://schemas.microsoft.com/office/powerpoint/2010/main" val="36381830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Editar el estilo de texto del patrón</a:t>
            </a:r>
          </a:p>
        </p:txBody>
      </p:sp>
      <p:sp>
        <p:nvSpPr>
          <p:cNvPr id="4" name="Date Placeholder 3"/>
          <p:cNvSpPr>
            <a:spLocks noGrp="1"/>
          </p:cNvSpPr>
          <p:nvPr>
            <p:ph type="dt" sz="half" idx="10"/>
          </p:nvPr>
        </p:nvSpPr>
        <p:spPr/>
        <p:txBody>
          <a:bodyPr/>
          <a:lstStyle/>
          <a:p>
            <a:fld id="{3D145F0F-ABEA-49D3-ADF5-B61D2DA89C31}" type="datetimeFigureOut">
              <a:rPr lang="es-CL" smtClean="0"/>
              <a:t>26-12-23</a:t>
            </a:fld>
            <a:endParaRPr lang="es-CL"/>
          </a:p>
        </p:txBody>
      </p:sp>
      <p:sp>
        <p:nvSpPr>
          <p:cNvPr id="5" name="Footer Placeholder 4"/>
          <p:cNvSpPr>
            <a:spLocks noGrp="1"/>
          </p:cNvSpPr>
          <p:nvPr>
            <p:ph type="ftr" sz="quarter" idx="11"/>
          </p:nvPr>
        </p:nvSpPr>
        <p:spPr/>
        <p:txBody>
          <a:bodyPr/>
          <a:lstStyle/>
          <a:p>
            <a:endParaRPr lang="es-CL"/>
          </a:p>
        </p:txBody>
      </p:sp>
      <p:sp>
        <p:nvSpPr>
          <p:cNvPr id="6" name="Slide Number Placeholder 5"/>
          <p:cNvSpPr>
            <a:spLocks noGrp="1"/>
          </p:cNvSpPr>
          <p:nvPr>
            <p:ph type="sldNum" sz="quarter" idx="12"/>
          </p:nvPr>
        </p:nvSpPr>
        <p:spPr/>
        <p:txBody>
          <a:bodyPr/>
          <a:lstStyle/>
          <a:p>
            <a:fld id="{9BCB0801-C394-46F1-BA09-9052FD73111B}" type="slidenum">
              <a:rPr lang="es-CL" smtClean="0"/>
              <a:t>‹Nº›</a:t>
            </a:fld>
            <a:endParaRPr lang="es-CL"/>
          </a:p>
        </p:txBody>
      </p:sp>
    </p:spTree>
    <p:extLst>
      <p:ext uri="{BB962C8B-B14F-4D97-AF65-F5344CB8AC3E}">
        <p14:creationId xmlns:p14="http://schemas.microsoft.com/office/powerpoint/2010/main" val="2501469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3D145F0F-ABEA-49D3-ADF5-B61D2DA89C31}" type="datetimeFigureOut">
              <a:rPr lang="es-CL" smtClean="0"/>
              <a:t>26-12-23</a:t>
            </a:fld>
            <a:endParaRPr lang="es-CL"/>
          </a:p>
        </p:txBody>
      </p:sp>
      <p:sp>
        <p:nvSpPr>
          <p:cNvPr id="6" name="Footer Placeholder 5"/>
          <p:cNvSpPr>
            <a:spLocks noGrp="1"/>
          </p:cNvSpPr>
          <p:nvPr>
            <p:ph type="ftr" sz="quarter" idx="11"/>
          </p:nvPr>
        </p:nvSpPr>
        <p:spPr/>
        <p:txBody>
          <a:bodyPr/>
          <a:lstStyle/>
          <a:p>
            <a:endParaRPr lang="es-CL"/>
          </a:p>
        </p:txBody>
      </p:sp>
      <p:sp>
        <p:nvSpPr>
          <p:cNvPr id="7" name="Slide Number Placeholder 6"/>
          <p:cNvSpPr>
            <a:spLocks noGrp="1"/>
          </p:cNvSpPr>
          <p:nvPr>
            <p:ph type="sldNum" sz="quarter" idx="12"/>
          </p:nvPr>
        </p:nvSpPr>
        <p:spPr/>
        <p:txBody>
          <a:bodyPr/>
          <a:lstStyle/>
          <a:p>
            <a:fld id="{9BCB0801-C394-46F1-BA09-9052FD73111B}" type="slidenum">
              <a:rPr lang="es-CL" smtClean="0"/>
              <a:t>‹Nº›</a:t>
            </a:fld>
            <a:endParaRPr lang="es-CL"/>
          </a:p>
        </p:txBody>
      </p:sp>
    </p:spTree>
    <p:extLst>
      <p:ext uri="{BB962C8B-B14F-4D97-AF65-F5344CB8AC3E}">
        <p14:creationId xmlns:p14="http://schemas.microsoft.com/office/powerpoint/2010/main" val="3518447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el estilo de texto del patrón</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el estilo de texto del patrón</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3D145F0F-ABEA-49D3-ADF5-B61D2DA89C31}" type="datetimeFigureOut">
              <a:rPr lang="es-CL" smtClean="0"/>
              <a:t>26-12-23</a:t>
            </a:fld>
            <a:endParaRPr lang="es-CL"/>
          </a:p>
        </p:txBody>
      </p:sp>
      <p:sp>
        <p:nvSpPr>
          <p:cNvPr id="8" name="Footer Placeholder 7"/>
          <p:cNvSpPr>
            <a:spLocks noGrp="1"/>
          </p:cNvSpPr>
          <p:nvPr>
            <p:ph type="ftr" sz="quarter" idx="11"/>
          </p:nvPr>
        </p:nvSpPr>
        <p:spPr/>
        <p:txBody>
          <a:bodyPr/>
          <a:lstStyle/>
          <a:p>
            <a:endParaRPr lang="es-CL"/>
          </a:p>
        </p:txBody>
      </p:sp>
      <p:sp>
        <p:nvSpPr>
          <p:cNvPr id="9" name="Slide Number Placeholder 8"/>
          <p:cNvSpPr>
            <a:spLocks noGrp="1"/>
          </p:cNvSpPr>
          <p:nvPr>
            <p:ph type="sldNum" sz="quarter" idx="12"/>
          </p:nvPr>
        </p:nvSpPr>
        <p:spPr/>
        <p:txBody>
          <a:bodyPr/>
          <a:lstStyle/>
          <a:p>
            <a:fld id="{9BCB0801-C394-46F1-BA09-9052FD73111B}" type="slidenum">
              <a:rPr lang="es-CL" smtClean="0"/>
              <a:t>‹Nº›</a:t>
            </a:fld>
            <a:endParaRPr lang="es-CL"/>
          </a:p>
        </p:txBody>
      </p:sp>
    </p:spTree>
    <p:extLst>
      <p:ext uri="{BB962C8B-B14F-4D97-AF65-F5344CB8AC3E}">
        <p14:creationId xmlns:p14="http://schemas.microsoft.com/office/powerpoint/2010/main" val="21429971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3D145F0F-ABEA-49D3-ADF5-B61D2DA89C31}" type="datetimeFigureOut">
              <a:rPr lang="es-CL" smtClean="0"/>
              <a:t>26-12-23</a:t>
            </a:fld>
            <a:endParaRPr lang="es-CL"/>
          </a:p>
        </p:txBody>
      </p:sp>
      <p:sp>
        <p:nvSpPr>
          <p:cNvPr id="4" name="Footer Placeholder 3"/>
          <p:cNvSpPr>
            <a:spLocks noGrp="1"/>
          </p:cNvSpPr>
          <p:nvPr>
            <p:ph type="ftr" sz="quarter" idx="11"/>
          </p:nvPr>
        </p:nvSpPr>
        <p:spPr/>
        <p:txBody>
          <a:bodyPr/>
          <a:lstStyle/>
          <a:p>
            <a:endParaRPr lang="es-CL"/>
          </a:p>
        </p:txBody>
      </p:sp>
      <p:sp>
        <p:nvSpPr>
          <p:cNvPr id="5" name="Slide Number Placeholder 4"/>
          <p:cNvSpPr>
            <a:spLocks noGrp="1"/>
          </p:cNvSpPr>
          <p:nvPr>
            <p:ph type="sldNum" sz="quarter" idx="12"/>
          </p:nvPr>
        </p:nvSpPr>
        <p:spPr/>
        <p:txBody>
          <a:bodyPr/>
          <a:lstStyle/>
          <a:p>
            <a:fld id="{9BCB0801-C394-46F1-BA09-9052FD73111B}" type="slidenum">
              <a:rPr lang="es-CL" smtClean="0"/>
              <a:t>‹Nº›</a:t>
            </a:fld>
            <a:endParaRPr lang="es-CL"/>
          </a:p>
        </p:txBody>
      </p:sp>
    </p:spTree>
    <p:extLst>
      <p:ext uri="{BB962C8B-B14F-4D97-AF65-F5344CB8AC3E}">
        <p14:creationId xmlns:p14="http://schemas.microsoft.com/office/powerpoint/2010/main" val="7559650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D145F0F-ABEA-49D3-ADF5-B61D2DA89C31}" type="datetimeFigureOut">
              <a:rPr lang="es-CL" smtClean="0"/>
              <a:t>26-12-23</a:t>
            </a:fld>
            <a:endParaRPr lang="es-CL"/>
          </a:p>
        </p:txBody>
      </p:sp>
      <p:sp>
        <p:nvSpPr>
          <p:cNvPr id="3" name="Footer Placeholder 2"/>
          <p:cNvSpPr>
            <a:spLocks noGrp="1"/>
          </p:cNvSpPr>
          <p:nvPr>
            <p:ph type="ftr" sz="quarter" idx="11"/>
          </p:nvPr>
        </p:nvSpPr>
        <p:spPr/>
        <p:txBody>
          <a:bodyPr/>
          <a:lstStyle/>
          <a:p>
            <a:endParaRPr lang="es-CL"/>
          </a:p>
        </p:txBody>
      </p:sp>
      <p:sp>
        <p:nvSpPr>
          <p:cNvPr id="4" name="Slide Number Placeholder 3"/>
          <p:cNvSpPr>
            <a:spLocks noGrp="1"/>
          </p:cNvSpPr>
          <p:nvPr>
            <p:ph type="sldNum" sz="quarter" idx="12"/>
          </p:nvPr>
        </p:nvSpPr>
        <p:spPr/>
        <p:txBody>
          <a:bodyPr/>
          <a:lstStyle/>
          <a:p>
            <a:fld id="{9BCB0801-C394-46F1-BA09-9052FD73111B}" type="slidenum">
              <a:rPr lang="es-CL" smtClean="0"/>
              <a:t>‹Nº›</a:t>
            </a:fld>
            <a:endParaRPr lang="es-CL"/>
          </a:p>
        </p:txBody>
      </p:sp>
    </p:spTree>
    <p:extLst>
      <p:ext uri="{BB962C8B-B14F-4D97-AF65-F5344CB8AC3E}">
        <p14:creationId xmlns:p14="http://schemas.microsoft.com/office/powerpoint/2010/main" val="31558164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s-ES"/>
              <a:t>Haga clic para modificar el estilo de título del patrón</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s-ES"/>
              <a:t>Editar el estilo de texto del patrón</a:t>
            </a:r>
          </a:p>
        </p:txBody>
      </p:sp>
      <p:sp>
        <p:nvSpPr>
          <p:cNvPr id="5" name="Date Placeholder 4"/>
          <p:cNvSpPr>
            <a:spLocks noGrp="1"/>
          </p:cNvSpPr>
          <p:nvPr>
            <p:ph type="dt" sz="half" idx="10"/>
          </p:nvPr>
        </p:nvSpPr>
        <p:spPr/>
        <p:txBody>
          <a:bodyPr/>
          <a:lstStyle/>
          <a:p>
            <a:fld id="{3D145F0F-ABEA-49D3-ADF5-B61D2DA89C31}" type="datetimeFigureOut">
              <a:rPr lang="es-CL" smtClean="0"/>
              <a:t>26-12-23</a:t>
            </a:fld>
            <a:endParaRPr lang="es-CL"/>
          </a:p>
        </p:txBody>
      </p:sp>
      <p:sp>
        <p:nvSpPr>
          <p:cNvPr id="6" name="Footer Placeholder 5"/>
          <p:cNvSpPr>
            <a:spLocks noGrp="1"/>
          </p:cNvSpPr>
          <p:nvPr>
            <p:ph type="ftr" sz="quarter" idx="11"/>
          </p:nvPr>
        </p:nvSpPr>
        <p:spPr/>
        <p:txBody>
          <a:bodyPr/>
          <a:lstStyle/>
          <a:p>
            <a:endParaRPr lang="es-CL"/>
          </a:p>
        </p:txBody>
      </p:sp>
      <p:sp>
        <p:nvSpPr>
          <p:cNvPr id="7" name="Slide Number Placeholder 6"/>
          <p:cNvSpPr>
            <a:spLocks noGrp="1"/>
          </p:cNvSpPr>
          <p:nvPr>
            <p:ph type="sldNum" sz="quarter" idx="12"/>
          </p:nvPr>
        </p:nvSpPr>
        <p:spPr/>
        <p:txBody>
          <a:bodyPr/>
          <a:lstStyle/>
          <a:p>
            <a:fld id="{9BCB0801-C394-46F1-BA09-9052FD73111B}" type="slidenum">
              <a:rPr lang="es-CL" smtClean="0"/>
              <a:t>‹Nº›</a:t>
            </a:fld>
            <a:endParaRPr lang="es-CL"/>
          </a:p>
        </p:txBody>
      </p:sp>
    </p:spTree>
    <p:extLst>
      <p:ext uri="{BB962C8B-B14F-4D97-AF65-F5344CB8AC3E}">
        <p14:creationId xmlns:p14="http://schemas.microsoft.com/office/powerpoint/2010/main" val="33011582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Editar el estilo de texto del patrón</a:t>
            </a:r>
          </a:p>
        </p:txBody>
      </p:sp>
      <p:sp>
        <p:nvSpPr>
          <p:cNvPr id="5" name="Date Placeholder 4"/>
          <p:cNvSpPr>
            <a:spLocks noGrp="1"/>
          </p:cNvSpPr>
          <p:nvPr>
            <p:ph type="dt" sz="half" idx="10"/>
          </p:nvPr>
        </p:nvSpPr>
        <p:spPr/>
        <p:txBody>
          <a:bodyPr/>
          <a:lstStyle/>
          <a:p>
            <a:fld id="{3D145F0F-ABEA-49D3-ADF5-B61D2DA89C31}" type="datetimeFigureOut">
              <a:rPr lang="es-CL" smtClean="0"/>
              <a:t>26-12-23</a:t>
            </a:fld>
            <a:endParaRPr lang="es-CL"/>
          </a:p>
        </p:txBody>
      </p:sp>
      <p:sp>
        <p:nvSpPr>
          <p:cNvPr id="6" name="Footer Placeholder 5"/>
          <p:cNvSpPr>
            <a:spLocks noGrp="1"/>
          </p:cNvSpPr>
          <p:nvPr>
            <p:ph type="ftr" sz="quarter" idx="11"/>
          </p:nvPr>
        </p:nvSpPr>
        <p:spPr/>
        <p:txBody>
          <a:bodyPr/>
          <a:lstStyle/>
          <a:p>
            <a:endParaRPr lang="es-CL"/>
          </a:p>
        </p:txBody>
      </p:sp>
      <p:sp>
        <p:nvSpPr>
          <p:cNvPr id="7" name="Slide Number Placeholder 6"/>
          <p:cNvSpPr>
            <a:spLocks noGrp="1"/>
          </p:cNvSpPr>
          <p:nvPr>
            <p:ph type="sldNum" sz="quarter" idx="12"/>
          </p:nvPr>
        </p:nvSpPr>
        <p:spPr/>
        <p:txBody>
          <a:bodyPr/>
          <a:lstStyle/>
          <a:p>
            <a:fld id="{9BCB0801-C394-46F1-BA09-9052FD73111B}" type="slidenum">
              <a:rPr lang="es-CL" smtClean="0"/>
              <a:t>‹Nº›</a:t>
            </a:fld>
            <a:endParaRPr lang="es-CL"/>
          </a:p>
        </p:txBody>
      </p:sp>
    </p:spTree>
    <p:extLst>
      <p:ext uri="{BB962C8B-B14F-4D97-AF65-F5344CB8AC3E}">
        <p14:creationId xmlns:p14="http://schemas.microsoft.com/office/powerpoint/2010/main" val="11736363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ítulo y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Editar el estilo de texto del patrón</a:t>
            </a:r>
          </a:p>
        </p:txBody>
      </p:sp>
      <p:sp>
        <p:nvSpPr>
          <p:cNvPr id="4" name="Date Placeholder 3"/>
          <p:cNvSpPr>
            <a:spLocks noGrp="1"/>
          </p:cNvSpPr>
          <p:nvPr>
            <p:ph type="dt" sz="half" idx="10"/>
          </p:nvPr>
        </p:nvSpPr>
        <p:spPr/>
        <p:txBody>
          <a:bodyPr/>
          <a:lstStyle/>
          <a:p>
            <a:fld id="{3D145F0F-ABEA-49D3-ADF5-B61D2DA89C31}" type="datetimeFigureOut">
              <a:rPr lang="es-CL" smtClean="0"/>
              <a:t>26-12-23</a:t>
            </a:fld>
            <a:endParaRPr lang="es-CL"/>
          </a:p>
        </p:txBody>
      </p:sp>
      <p:sp>
        <p:nvSpPr>
          <p:cNvPr id="5" name="Footer Placeholder 4"/>
          <p:cNvSpPr>
            <a:spLocks noGrp="1"/>
          </p:cNvSpPr>
          <p:nvPr>
            <p:ph type="ftr" sz="quarter" idx="11"/>
          </p:nvPr>
        </p:nvSpPr>
        <p:spPr/>
        <p:txBody>
          <a:bodyPr/>
          <a:lstStyle/>
          <a:p>
            <a:endParaRPr lang="es-CL"/>
          </a:p>
        </p:txBody>
      </p:sp>
      <p:sp>
        <p:nvSpPr>
          <p:cNvPr id="6" name="Slide Number Placeholder 5"/>
          <p:cNvSpPr>
            <a:spLocks noGrp="1"/>
          </p:cNvSpPr>
          <p:nvPr>
            <p:ph type="sldNum" sz="quarter" idx="12"/>
          </p:nvPr>
        </p:nvSpPr>
        <p:spPr/>
        <p:txBody>
          <a:bodyPr/>
          <a:lstStyle/>
          <a:p>
            <a:fld id="{9BCB0801-C394-46F1-BA09-9052FD73111B}" type="slidenum">
              <a:rPr lang="es-CL" smtClean="0"/>
              <a:t>‹Nº›</a:t>
            </a:fld>
            <a:endParaRPr lang="es-CL"/>
          </a:p>
        </p:txBody>
      </p:sp>
    </p:spTree>
    <p:extLst>
      <p:ext uri="{BB962C8B-B14F-4D97-AF65-F5344CB8AC3E}">
        <p14:creationId xmlns:p14="http://schemas.microsoft.com/office/powerpoint/2010/main" val="12358040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it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s-ES"/>
              <a:t>Haga clic para modificar el estilo de título del patrón</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Editar el estilo de texto del patrón</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Editar el estilo de texto del patrón</a:t>
            </a:r>
          </a:p>
        </p:txBody>
      </p:sp>
      <p:sp>
        <p:nvSpPr>
          <p:cNvPr id="4" name="Date Placeholder 3"/>
          <p:cNvSpPr>
            <a:spLocks noGrp="1"/>
          </p:cNvSpPr>
          <p:nvPr>
            <p:ph type="dt" sz="half" idx="10"/>
          </p:nvPr>
        </p:nvSpPr>
        <p:spPr/>
        <p:txBody>
          <a:bodyPr/>
          <a:lstStyle/>
          <a:p>
            <a:fld id="{3D145F0F-ABEA-49D3-ADF5-B61D2DA89C31}" type="datetimeFigureOut">
              <a:rPr lang="es-CL" smtClean="0"/>
              <a:t>26-12-23</a:t>
            </a:fld>
            <a:endParaRPr lang="es-CL"/>
          </a:p>
        </p:txBody>
      </p:sp>
      <p:sp>
        <p:nvSpPr>
          <p:cNvPr id="5" name="Footer Placeholder 4"/>
          <p:cNvSpPr>
            <a:spLocks noGrp="1"/>
          </p:cNvSpPr>
          <p:nvPr>
            <p:ph type="ftr" sz="quarter" idx="11"/>
          </p:nvPr>
        </p:nvSpPr>
        <p:spPr/>
        <p:txBody>
          <a:bodyPr/>
          <a:lstStyle/>
          <a:p>
            <a:endParaRPr lang="es-CL"/>
          </a:p>
        </p:txBody>
      </p:sp>
      <p:sp>
        <p:nvSpPr>
          <p:cNvPr id="6" name="Slide Number Placeholder 5"/>
          <p:cNvSpPr>
            <a:spLocks noGrp="1"/>
          </p:cNvSpPr>
          <p:nvPr>
            <p:ph type="sldNum" sz="quarter" idx="12"/>
          </p:nvPr>
        </p:nvSpPr>
        <p:spPr/>
        <p:txBody>
          <a:bodyPr/>
          <a:lstStyle/>
          <a:p>
            <a:fld id="{9BCB0801-C394-46F1-BA09-9052FD73111B}" type="slidenum">
              <a:rPr lang="es-CL" smtClean="0"/>
              <a:t>‹Nº›</a:t>
            </a:fld>
            <a:endParaRPr lang="es-CL"/>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194738672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Editar el estilo de texto del patrón</a:t>
            </a:r>
          </a:p>
        </p:txBody>
      </p:sp>
      <p:sp>
        <p:nvSpPr>
          <p:cNvPr id="4" name="Date Placeholder 3"/>
          <p:cNvSpPr>
            <a:spLocks noGrp="1"/>
          </p:cNvSpPr>
          <p:nvPr>
            <p:ph type="dt" sz="half" idx="10"/>
          </p:nvPr>
        </p:nvSpPr>
        <p:spPr/>
        <p:txBody>
          <a:bodyPr/>
          <a:lstStyle/>
          <a:p>
            <a:fld id="{3D145F0F-ABEA-49D3-ADF5-B61D2DA89C31}" type="datetimeFigureOut">
              <a:rPr lang="es-CL" smtClean="0"/>
              <a:t>26-12-23</a:t>
            </a:fld>
            <a:endParaRPr lang="es-CL"/>
          </a:p>
        </p:txBody>
      </p:sp>
      <p:sp>
        <p:nvSpPr>
          <p:cNvPr id="5" name="Footer Placeholder 4"/>
          <p:cNvSpPr>
            <a:spLocks noGrp="1"/>
          </p:cNvSpPr>
          <p:nvPr>
            <p:ph type="ftr" sz="quarter" idx="11"/>
          </p:nvPr>
        </p:nvSpPr>
        <p:spPr/>
        <p:txBody>
          <a:bodyPr/>
          <a:lstStyle/>
          <a:p>
            <a:endParaRPr lang="es-CL"/>
          </a:p>
        </p:txBody>
      </p:sp>
      <p:sp>
        <p:nvSpPr>
          <p:cNvPr id="6" name="Slide Number Placeholder 5"/>
          <p:cNvSpPr>
            <a:spLocks noGrp="1"/>
          </p:cNvSpPr>
          <p:nvPr>
            <p:ph type="sldNum" sz="quarter" idx="12"/>
          </p:nvPr>
        </p:nvSpPr>
        <p:spPr/>
        <p:txBody>
          <a:bodyPr/>
          <a:lstStyle/>
          <a:p>
            <a:fld id="{9BCB0801-C394-46F1-BA09-9052FD73111B}" type="slidenum">
              <a:rPr lang="es-CL" smtClean="0"/>
              <a:t>‹Nº›</a:t>
            </a:fld>
            <a:endParaRPr lang="es-CL"/>
          </a:p>
        </p:txBody>
      </p:sp>
    </p:spTree>
    <p:extLst>
      <p:ext uri="{BB962C8B-B14F-4D97-AF65-F5344CB8AC3E}">
        <p14:creationId xmlns:p14="http://schemas.microsoft.com/office/powerpoint/2010/main" val="6331839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itar la 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s-ES"/>
              <a:t>Haga clic para modificar el estilo de título del patrón</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Editar el estilo de texto del patrón</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Editar el estilo de texto del patrón</a:t>
            </a:r>
          </a:p>
        </p:txBody>
      </p:sp>
      <p:sp>
        <p:nvSpPr>
          <p:cNvPr id="4" name="Date Placeholder 3"/>
          <p:cNvSpPr>
            <a:spLocks noGrp="1"/>
          </p:cNvSpPr>
          <p:nvPr>
            <p:ph type="dt" sz="half" idx="10"/>
          </p:nvPr>
        </p:nvSpPr>
        <p:spPr/>
        <p:txBody>
          <a:bodyPr/>
          <a:lstStyle/>
          <a:p>
            <a:fld id="{3D145F0F-ABEA-49D3-ADF5-B61D2DA89C31}" type="datetimeFigureOut">
              <a:rPr lang="es-CL" smtClean="0"/>
              <a:t>26-12-23</a:t>
            </a:fld>
            <a:endParaRPr lang="es-CL"/>
          </a:p>
        </p:txBody>
      </p:sp>
      <p:sp>
        <p:nvSpPr>
          <p:cNvPr id="5" name="Footer Placeholder 4"/>
          <p:cNvSpPr>
            <a:spLocks noGrp="1"/>
          </p:cNvSpPr>
          <p:nvPr>
            <p:ph type="ftr" sz="quarter" idx="11"/>
          </p:nvPr>
        </p:nvSpPr>
        <p:spPr/>
        <p:txBody>
          <a:bodyPr/>
          <a:lstStyle/>
          <a:p>
            <a:endParaRPr lang="es-CL"/>
          </a:p>
        </p:txBody>
      </p:sp>
      <p:sp>
        <p:nvSpPr>
          <p:cNvPr id="6" name="Slide Number Placeholder 5"/>
          <p:cNvSpPr>
            <a:spLocks noGrp="1"/>
          </p:cNvSpPr>
          <p:nvPr>
            <p:ph type="sldNum" sz="quarter" idx="12"/>
          </p:nvPr>
        </p:nvSpPr>
        <p:spPr/>
        <p:txBody>
          <a:bodyPr/>
          <a:lstStyle/>
          <a:p>
            <a:fld id="{9BCB0801-C394-46F1-BA09-9052FD73111B}" type="slidenum">
              <a:rPr lang="es-CL" smtClean="0"/>
              <a:t>‹Nº›</a:t>
            </a:fld>
            <a:endParaRPr lang="es-CL"/>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70509785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Verdadero o falso">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s-ES"/>
              <a:t>Haga clic para modificar el estilo de título del patrón</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Editar el estilo de texto del patrón</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Editar el estilo de texto del patrón</a:t>
            </a:r>
          </a:p>
        </p:txBody>
      </p:sp>
      <p:sp>
        <p:nvSpPr>
          <p:cNvPr id="4" name="Date Placeholder 3"/>
          <p:cNvSpPr>
            <a:spLocks noGrp="1"/>
          </p:cNvSpPr>
          <p:nvPr>
            <p:ph type="dt" sz="half" idx="10"/>
          </p:nvPr>
        </p:nvSpPr>
        <p:spPr/>
        <p:txBody>
          <a:bodyPr/>
          <a:lstStyle/>
          <a:p>
            <a:fld id="{3D145F0F-ABEA-49D3-ADF5-B61D2DA89C31}" type="datetimeFigureOut">
              <a:rPr lang="es-CL" smtClean="0"/>
              <a:t>26-12-23</a:t>
            </a:fld>
            <a:endParaRPr lang="es-CL"/>
          </a:p>
        </p:txBody>
      </p:sp>
      <p:sp>
        <p:nvSpPr>
          <p:cNvPr id="5" name="Footer Placeholder 4"/>
          <p:cNvSpPr>
            <a:spLocks noGrp="1"/>
          </p:cNvSpPr>
          <p:nvPr>
            <p:ph type="ftr" sz="quarter" idx="11"/>
          </p:nvPr>
        </p:nvSpPr>
        <p:spPr/>
        <p:txBody>
          <a:bodyPr/>
          <a:lstStyle/>
          <a:p>
            <a:endParaRPr lang="es-CL"/>
          </a:p>
        </p:txBody>
      </p:sp>
      <p:sp>
        <p:nvSpPr>
          <p:cNvPr id="6" name="Slide Number Placeholder 5"/>
          <p:cNvSpPr>
            <a:spLocks noGrp="1"/>
          </p:cNvSpPr>
          <p:nvPr>
            <p:ph type="sldNum" sz="quarter" idx="12"/>
          </p:nvPr>
        </p:nvSpPr>
        <p:spPr/>
        <p:txBody>
          <a:bodyPr/>
          <a:lstStyle/>
          <a:p>
            <a:fld id="{9BCB0801-C394-46F1-BA09-9052FD73111B}" type="slidenum">
              <a:rPr lang="es-CL" smtClean="0"/>
              <a:t>‹Nº›</a:t>
            </a:fld>
            <a:endParaRPr lang="es-CL"/>
          </a:p>
        </p:txBody>
      </p:sp>
    </p:spTree>
    <p:extLst>
      <p:ext uri="{BB962C8B-B14F-4D97-AF65-F5344CB8AC3E}">
        <p14:creationId xmlns:p14="http://schemas.microsoft.com/office/powerpoint/2010/main" val="276895300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3D145F0F-ABEA-49D3-ADF5-B61D2DA89C31}" type="datetimeFigureOut">
              <a:rPr lang="es-CL" smtClean="0"/>
              <a:t>26-12-23</a:t>
            </a:fld>
            <a:endParaRPr lang="es-CL"/>
          </a:p>
        </p:txBody>
      </p:sp>
      <p:sp>
        <p:nvSpPr>
          <p:cNvPr id="5" name="Footer Placeholder 4"/>
          <p:cNvSpPr>
            <a:spLocks noGrp="1"/>
          </p:cNvSpPr>
          <p:nvPr>
            <p:ph type="ftr" sz="quarter" idx="11"/>
          </p:nvPr>
        </p:nvSpPr>
        <p:spPr/>
        <p:txBody>
          <a:bodyPr/>
          <a:lstStyle/>
          <a:p>
            <a:endParaRPr lang="es-CL"/>
          </a:p>
        </p:txBody>
      </p:sp>
      <p:sp>
        <p:nvSpPr>
          <p:cNvPr id="6" name="Slide Number Placeholder 5"/>
          <p:cNvSpPr>
            <a:spLocks noGrp="1"/>
          </p:cNvSpPr>
          <p:nvPr>
            <p:ph type="sldNum" sz="quarter" idx="12"/>
          </p:nvPr>
        </p:nvSpPr>
        <p:spPr/>
        <p:txBody>
          <a:bodyPr/>
          <a:lstStyle/>
          <a:p>
            <a:fld id="{9BCB0801-C394-46F1-BA09-9052FD73111B}" type="slidenum">
              <a:rPr lang="es-CL" smtClean="0"/>
              <a:t>‹Nº›</a:t>
            </a:fld>
            <a:endParaRPr lang="es-CL"/>
          </a:p>
        </p:txBody>
      </p:sp>
    </p:spTree>
    <p:extLst>
      <p:ext uri="{BB962C8B-B14F-4D97-AF65-F5344CB8AC3E}">
        <p14:creationId xmlns:p14="http://schemas.microsoft.com/office/powerpoint/2010/main" val="421656313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3D145F0F-ABEA-49D3-ADF5-B61D2DA89C31}" type="datetimeFigureOut">
              <a:rPr lang="es-CL" smtClean="0"/>
              <a:t>26-12-23</a:t>
            </a:fld>
            <a:endParaRPr lang="es-CL"/>
          </a:p>
        </p:txBody>
      </p:sp>
      <p:sp>
        <p:nvSpPr>
          <p:cNvPr id="5" name="Footer Placeholder 4"/>
          <p:cNvSpPr>
            <a:spLocks noGrp="1"/>
          </p:cNvSpPr>
          <p:nvPr>
            <p:ph type="ftr" sz="quarter" idx="11"/>
          </p:nvPr>
        </p:nvSpPr>
        <p:spPr/>
        <p:txBody>
          <a:bodyPr/>
          <a:lstStyle/>
          <a:p>
            <a:endParaRPr lang="es-CL"/>
          </a:p>
        </p:txBody>
      </p:sp>
      <p:sp>
        <p:nvSpPr>
          <p:cNvPr id="6" name="Slide Number Placeholder 5"/>
          <p:cNvSpPr>
            <a:spLocks noGrp="1"/>
          </p:cNvSpPr>
          <p:nvPr>
            <p:ph type="sldNum" sz="quarter" idx="12"/>
          </p:nvPr>
        </p:nvSpPr>
        <p:spPr/>
        <p:txBody>
          <a:bodyPr/>
          <a:lstStyle/>
          <a:p>
            <a:fld id="{9BCB0801-C394-46F1-BA09-9052FD73111B}" type="slidenum">
              <a:rPr lang="es-CL" smtClean="0"/>
              <a:t>‹Nº›</a:t>
            </a:fld>
            <a:endParaRPr lang="es-CL"/>
          </a:p>
        </p:txBody>
      </p:sp>
    </p:spTree>
    <p:extLst>
      <p:ext uri="{BB962C8B-B14F-4D97-AF65-F5344CB8AC3E}">
        <p14:creationId xmlns:p14="http://schemas.microsoft.com/office/powerpoint/2010/main" val="1978414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3D145F0F-ABEA-49D3-ADF5-B61D2DA89C31}" type="datetimeFigureOut">
              <a:rPr lang="es-CL" smtClean="0"/>
              <a:t>26-12-23</a:t>
            </a:fld>
            <a:endParaRPr lang="es-CL"/>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s-CL"/>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9BCB0801-C394-46F1-BA09-9052FD73111B}" type="slidenum">
              <a:rPr lang="es-CL" smtClean="0"/>
              <a:t>‹Nº›</a:t>
            </a:fld>
            <a:endParaRPr lang="es-CL"/>
          </a:p>
        </p:txBody>
      </p:sp>
    </p:spTree>
    <p:extLst>
      <p:ext uri="{BB962C8B-B14F-4D97-AF65-F5344CB8AC3E}">
        <p14:creationId xmlns:p14="http://schemas.microsoft.com/office/powerpoint/2010/main" val="3786987121"/>
      </p:ext>
    </p:extLst>
  </p:cSld>
  <p:clrMap bg1="lt1" tx1="dk1" bg2="lt2" tx2="dk2" accent1="accent1" accent2="accent2" accent3="accent3" accent4="accent4" accent5="accent5" accent6="accent6" hlink="hlink" folHlink="folHlink"/>
  <p:sldLayoutIdLst>
    <p:sldLayoutId id="2147483708" r:id="rId1"/>
    <p:sldLayoutId id="2147483709" r:id="rId2"/>
    <p:sldLayoutId id="2147483710" r:id="rId3"/>
    <p:sldLayoutId id="2147483711" r:id="rId4"/>
    <p:sldLayoutId id="2147483712" r:id="rId5"/>
    <p:sldLayoutId id="2147483713" r:id="rId6"/>
    <p:sldLayoutId id="2147483714" r:id="rId7"/>
    <p:sldLayoutId id="2147483715" r:id="rId8"/>
    <p:sldLayoutId id="2147483716" r:id="rId9"/>
    <p:sldLayoutId id="2147483717" r:id="rId10"/>
    <p:sldLayoutId id="2147483718" r:id="rId11"/>
    <p:sldLayoutId id="2147483719" r:id="rId12"/>
    <p:sldLayoutId id="2147483720" r:id="rId13"/>
    <p:sldLayoutId id="2147483721" r:id="rId14"/>
    <p:sldLayoutId id="2147483722" r:id="rId15"/>
    <p:sldLayoutId id="2147483723"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comments" Target="../comments/comment1.xml"/><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comments" Target="../comments/comment2.xml"/><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comments" Target="../comments/comment3.xml"/><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comments" Target="../comments/comment4.xml"/><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comments" Target="../comments/comment5.xml"/><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comments" Target="../comments/comment6.xml"/><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2.xml"/><Relationship Id="rId6" Type="http://schemas.openxmlformats.org/officeDocument/2006/relationships/comments" Target="../comments/comment7.xml"/><Relationship Id="rId5" Type="http://schemas.openxmlformats.org/officeDocument/2006/relationships/image" Target="../media/image6.jpeg"/><Relationship Id="rId4" Type="http://schemas.openxmlformats.org/officeDocument/2006/relationships/image" Target="../media/image5.jpeg"/></Relationships>
</file>

<file path=ppt/slides/_rels/slide10.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slideLayout" Target="../slideLayouts/slideLayout2.xml"/><Relationship Id="rId5" Type="http://schemas.openxmlformats.org/officeDocument/2006/relationships/image" Target="../media/image10.jpeg"/><Relationship Id="rId4" Type="http://schemas.openxmlformats.org/officeDocument/2006/relationships/image" Target="../media/image9.jpeg"/></Relationships>
</file>

<file path=ppt/slides/_rels/slide11.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jpeg"/><Relationship Id="rId1" Type="http://schemas.openxmlformats.org/officeDocument/2006/relationships/slideLayout" Target="../slideLayouts/slideLayout2.xml"/><Relationship Id="rId5" Type="http://schemas.openxmlformats.org/officeDocument/2006/relationships/comments" Target="../comments/comment8.xml"/><Relationship Id="rId4" Type="http://schemas.openxmlformats.org/officeDocument/2006/relationships/image" Target="../media/image13.jpeg"/></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comments" Target="../comments/comment9.xml"/><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hyperlink" Target="https://www.youtube.com/watch?v=rwfGLcrFxNw&amp;t=351s" TargetMode="External"/><Relationship Id="rId2" Type="http://schemas.openxmlformats.org/officeDocument/2006/relationships/image" Target="../media/image1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8" name="Imagen 7" descr="Un grupo de personas con equipaje en un aeropuerto&#10;&#10;Descripción generada automáticamente con confianza media">
            <a:extLst>
              <a:ext uri="{FF2B5EF4-FFF2-40B4-BE49-F238E27FC236}">
                <a16:creationId xmlns:a16="http://schemas.microsoft.com/office/drawing/2014/main" id="{21C2BD6D-8342-8794-7569-F66224CA38B1}"/>
              </a:ext>
            </a:extLst>
          </p:cNvPr>
          <p:cNvPicPr>
            <a:picLocks noChangeAspect="1"/>
          </p:cNvPicPr>
          <p:nvPr/>
        </p:nvPicPr>
        <p:blipFill rotWithShape="1">
          <a:blip r:embed="rId2">
            <a:extLst>
              <a:ext uri="{28A0092B-C50C-407E-A947-70E740481C1C}">
                <a14:useLocalDpi xmlns:a14="http://schemas.microsoft.com/office/drawing/2010/main" val="0"/>
              </a:ext>
            </a:extLst>
          </a:blip>
          <a:srcRect l="19192" t="9091"/>
          <a:stretch/>
        </p:blipFill>
        <p:spPr>
          <a:xfrm>
            <a:off x="1" y="10"/>
            <a:ext cx="12191999" cy="6857990"/>
          </a:xfrm>
          <a:prstGeom prst="rect">
            <a:avLst/>
          </a:prstGeom>
        </p:spPr>
      </p:pic>
      <p:sp>
        <p:nvSpPr>
          <p:cNvPr id="52" name="Isosceles Triangle 51">
            <a:extLst>
              <a:ext uri="{FF2B5EF4-FFF2-40B4-BE49-F238E27FC236}">
                <a16:creationId xmlns:a16="http://schemas.microsoft.com/office/drawing/2014/main" id="{3559A5F2-8BE0-4998-A1E4-1B145465A9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sp>
        <p:nvSpPr>
          <p:cNvPr id="54" name="Parallelogram 53">
            <a:extLst>
              <a:ext uri="{FF2B5EF4-FFF2-40B4-BE49-F238E27FC236}">
                <a16:creationId xmlns:a16="http://schemas.microsoft.com/office/drawing/2014/main" id="{3A6596D4-D53C-424F-9F16-CC8686C079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684541" y="0"/>
            <a:ext cx="7315200" cy="6858000"/>
          </a:xfrm>
          <a:prstGeom prst="parallelogram">
            <a:avLst>
              <a:gd name="adj" fmla="val 14937"/>
            </a:avLst>
          </a:prstGeom>
          <a:solidFill>
            <a:schemeClr val="tx1">
              <a:alpha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56" name="Straight Connector 55">
            <a:extLst>
              <a:ext uri="{FF2B5EF4-FFF2-40B4-BE49-F238E27FC236}">
                <a16:creationId xmlns:a16="http://schemas.microsoft.com/office/drawing/2014/main" id="{81BB890B-70D4-42FE-A599-6AEF1A42D97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58" name="Straight Connector 57">
            <a:extLst>
              <a:ext uri="{FF2B5EF4-FFF2-40B4-BE49-F238E27FC236}">
                <a16:creationId xmlns:a16="http://schemas.microsoft.com/office/drawing/2014/main" id="{3842D646-B58C-43C8-8152-01BC782B725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60" name="Rectangle 23">
            <a:extLst>
              <a:ext uri="{FF2B5EF4-FFF2-40B4-BE49-F238E27FC236}">
                <a16:creationId xmlns:a16="http://schemas.microsoft.com/office/drawing/2014/main" id="{9772CABD-4211-42AA-B349-D4002E52F1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62" name="Rectangle 25">
            <a:extLst>
              <a:ext uri="{FF2B5EF4-FFF2-40B4-BE49-F238E27FC236}">
                <a16:creationId xmlns:a16="http://schemas.microsoft.com/office/drawing/2014/main" id="{BBD91630-4DBA-4294-8016-FEB5C3B0CE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64" name="Isosceles Triangle 63">
            <a:extLst>
              <a:ext uri="{FF2B5EF4-FFF2-40B4-BE49-F238E27FC236}">
                <a16:creationId xmlns:a16="http://schemas.microsoft.com/office/drawing/2014/main" id="{E67D1587-504D-41BC-9D48-B61257BFBC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 name="Título 1">
            <a:extLst>
              <a:ext uri="{FF2B5EF4-FFF2-40B4-BE49-F238E27FC236}">
                <a16:creationId xmlns:a16="http://schemas.microsoft.com/office/drawing/2014/main" id="{2BEAD0EB-48AF-2D94-2566-EBDA8798BE5A}"/>
              </a:ext>
            </a:extLst>
          </p:cNvPr>
          <p:cNvSpPr>
            <a:spLocks noGrp="1"/>
          </p:cNvSpPr>
          <p:nvPr>
            <p:ph type="ctrTitle"/>
          </p:nvPr>
        </p:nvSpPr>
        <p:spPr>
          <a:xfrm>
            <a:off x="4704200" y="1678665"/>
            <a:ext cx="4569803" cy="1999713"/>
          </a:xfrm>
        </p:spPr>
        <p:txBody>
          <a:bodyPr vert="horz" lIns="91440" tIns="45720" rIns="91440" bIns="45720" rtlCol="0">
            <a:normAutofit/>
          </a:bodyPr>
          <a:lstStyle/>
          <a:p>
            <a:pPr algn="ctr">
              <a:lnSpc>
                <a:spcPct val="90000"/>
              </a:lnSpc>
            </a:pPr>
            <a:br>
              <a:rPr lang="en-US" sz="3800" b="0" i="0" dirty="0">
                <a:effectLst/>
              </a:rPr>
            </a:br>
            <a:r>
              <a:rPr lang="en-US" sz="3200" i="0" dirty="0">
                <a:effectLst/>
              </a:rPr>
              <a:t>CONFIANZA </a:t>
            </a:r>
            <a:r>
              <a:rPr lang="en-US" sz="3200" dirty="0"/>
              <a:t>AL </a:t>
            </a:r>
            <a:r>
              <a:rPr lang="en-US" sz="3200" i="0" dirty="0">
                <a:effectLst/>
              </a:rPr>
              <a:t>VOLANTE</a:t>
            </a:r>
            <a:br>
              <a:rPr lang="en-US" sz="3800" dirty="0"/>
            </a:br>
            <a:endParaRPr lang="en-US" sz="3800" dirty="0"/>
          </a:p>
        </p:txBody>
      </p:sp>
      <p:sp>
        <p:nvSpPr>
          <p:cNvPr id="3" name="Subtítulo 2"/>
          <p:cNvSpPr>
            <a:spLocks noGrp="1"/>
          </p:cNvSpPr>
          <p:nvPr>
            <p:ph type="subTitle" idx="1"/>
          </p:nvPr>
        </p:nvSpPr>
        <p:spPr>
          <a:xfrm>
            <a:off x="4583324" y="4050832"/>
            <a:ext cx="5016944" cy="1999712"/>
          </a:xfrm>
        </p:spPr>
        <p:txBody>
          <a:bodyPr vert="horz" lIns="91440" tIns="45720" rIns="91440" bIns="45720" rtlCol="0">
            <a:normAutofit/>
          </a:bodyPr>
          <a:lstStyle/>
          <a:p>
            <a:pPr algn="l">
              <a:lnSpc>
                <a:spcPct val="90000"/>
              </a:lnSpc>
            </a:pPr>
            <a:r>
              <a:rPr lang="en-US" sz="1600" b="1" dirty="0">
                <a:solidFill>
                  <a:schemeClr val="bg1"/>
                </a:solidFill>
              </a:rPr>
              <a:t>Integrantes</a:t>
            </a:r>
            <a:r>
              <a:rPr lang="en-US" sz="1600" dirty="0">
                <a:solidFill>
                  <a:schemeClr val="bg1"/>
                </a:solidFill>
              </a:rPr>
              <a:t>: Leonardo García Soto</a:t>
            </a:r>
            <a:br>
              <a:rPr lang="en-US" sz="1600" dirty="0">
                <a:solidFill>
                  <a:schemeClr val="bg1"/>
                </a:solidFill>
              </a:rPr>
            </a:br>
            <a:r>
              <a:rPr lang="en-US" sz="1600" dirty="0">
                <a:solidFill>
                  <a:schemeClr val="bg1"/>
                </a:solidFill>
              </a:rPr>
              <a:t>Marcelo Valenzuela Padilla</a:t>
            </a:r>
            <a:br>
              <a:rPr lang="en-US" sz="1600" dirty="0">
                <a:solidFill>
                  <a:schemeClr val="bg1"/>
                </a:solidFill>
              </a:rPr>
            </a:br>
            <a:r>
              <a:rPr lang="en-US" sz="1600" dirty="0">
                <a:solidFill>
                  <a:schemeClr val="bg1"/>
                </a:solidFill>
              </a:rPr>
              <a:t>Vicente Salazar Fonseca</a:t>
            </a:r>
            <a:br>
              <a:rPr lang="en-US" sz="1600" dirty="0">
                <a:solidFill>
                  <a:schemeClr val="bg1"/>
                </a:solidFill>
              </a:rPr>
            </a:br>
            <a:r>
              <a:rPr lang="en-US" sz="1600" dirty="0">
                <a:solidFill>
                  <a:schemeClr val="bg1"/>
                </a:solidFill>
              </a:rPr>
              <a:t>Christian Castillo Pérez  </a:t>
            </a:r>
            <a:br>
              <a:rPr lang="en-US" sz="1600" dirty="0">
                <a:solidFill>
                  <a:schemeClr val="bg1"/>
                </a:solidFill>
              </a:rPr>
            </a:br>
            <a:r>
              <a:rPr lang="en-US" sz="1600" b="1" dirty="0">
                <a:solidFill>
                  <a:schemeClr val="bg1"/>
                </a:solidFill>
              </a:rPr>
              <a:t>Docente</a:t>
            </a:r>
            <a:r>
              <a:rPr lang="en-US" sz="1600" dirty="0">
                <a:solidFill>
                  <a:schemeClr val="bg1"/>
                </a:solidFill>
              </a:rPr>
              <a:t>: Lissette Salamanca Mella</a:t>
            </a:r>
            <a:br>
              <a:rPr lang="en-US" sz="1600" dirty="0">
                <a:solidFill>
                  <a:schemeClr val="bg1"/>
                </a:solidFill>
              </a:rPr>
            </a:br>
            <a:r>
              <a:rPr lang="en-US" sz="1600" b="1" dirty="0">
                <a:solidFill>
                  <a:schemeClr val="bg1"/>
                </a:solidFill>
              </a:rPr>
              <a:t>Asignatura</a:t>
            </a:r>
            <a:r>
              <a:rPr lang="en-US" sz="1600" dirty="0">
                <a:solidFill>
                  <a:schemeClr val="bg1"/>
                </a:solidFill>
              </a:rPr>
              <a:t>: Funciones y Geometría</a:t>
            </a:r>
            <a:br>
              <a:rPr lang="en-US" sz="1600" dirty="0">
                <a:solidFill>
                  <a:schemeClr val="bg1"/>
                </a:solidFill>
              </a:rPr>
            </a:br>
            <a:r>
              <a:rPr lang="en-US" sz="1600" b="1" dirty="0">
                <a:solidFill>
                  <a:schemeClr val="bg1"/>
                </a:solidFill>
              </a:rPr>
              <a:t>Carrera</a:t>
            </a:r>
            <a:r>
              <a:rPr lang="en-US" sz="1600" dirty="0">
                <a:solidFill>
                  <a:schemeClr val="bg1"/>
                </a:solidFill>
              </a:rPr>
              <a:t>: Mecánica y Electromovilidad Automotriz</a:t>
            </a:r>
          </a:p>
        </p:txBody>
      </p:sp>
      <p:sp>
        <p:nvSpPr>
          <p:cNvPr id="66" name="Rectangle 27">
            <a:extLst>
              <a:ext uri="{FF2B5EF4-FFF2-40B4-BE49-F238E27FC236}">
                <a16:creationId xmlns:a16="http://schemas.microsoft.com/office/drawing/2014/main" id="{8765DD1A-F044-4DE7-8A9B-7C30DC85A4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47000"/>
            </a:schemeClr>
          </a:solidFill>
          <a:ln>
            <a:noFill/>
          </a:ln>
          <a:effectLst/>
        </p:spPr>
        <p:style>
          <a:lnRef idx="1">
            <a:schemeClr val="accent1"/>
          </a:lnRef>
          <a:fillRef idx="3">
            <a:schemeClr val="accent1"/>
          </a:fillRef>
          <a:effectRef idx="2">
            <a:schemeClr val="accent1"/>
          </a:effectRef>
          <a:fontRef idx="minor">
            <a:schemeClr val="lt1"/>
          </a:fontRef>
        </p:style>
      </p:sp>
      <p:sp>
        <p:nvSpPr>
          <p:cNvPr id="68" name="Rectangle 28">
            <a:extLst>
              <a:ext uri="{FF2B5EF4-FFF2-40B4-BE49-F238E27FC236}">
                <a16:creationId xmlns:a16="http://schemas.microsoft.com/office/drawing/2014/main" id="{2FE2170D-72D6-48A8-8E9A-BFF3BF03D0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70" name="Rectangle 29">
            <a:extLst>
              <a:ext uri="{FF2B5EF4-FFF2-40B4-BE49-F238E27FC236}">
                <a16:creationId xmlns:a16="http://schemas.microsoft.com/office/drawing/2014/main" id="{01D19436-094D-463D-AFEA-870FDBD037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72" name="Isosceles Triangle 71">
            <a:extLst>
              <a:ext uri="{FF2B5EF4-FFF2-40B4-BE49-F238E27FC236}">
                <a16:creationId xmlns:a16="http://schemas.microsoft.com/office/drawing/2014/main" id="{9A2DE6E0-967C-4C58-8558-EC08F1138B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9936056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Imagen 5" descr="Un grupo de personas con equipaje en un aeropuerto&#10;&#10;Descripción generada automáticamente con confianza media">
            <a:extLst>
              <a:ext uri="{FF2B5EF4-FFF2-40B4-BE49-F238E27FC236}">
                <a16:creationId xmlns:a16="http://schemas.microsoft.com/office/drawing/2014/main" id="{AD67D530-062C-5B91-903A-2B9F49A6E44E}"/>
              </a:ext>
            </a:extLst>
          </p:cNvPr>
          <p:cNvPicPr>
            <a:picLocks noChangeAspect="1"/>
          </p:cNvPicPr>
          <p:nvPr/>
        </p:nvPicPr>
        <p:blipFill rotWithShape="1">
          <a:blip r:embed="rId2">
            <a:extLst>
              <a:ext uri="{28A0092B-C50C-407E-A947-70E740481C1C}">
                <a14:useLocalDpi xmlns:a14="http://schemas.microsoft.com/office/drawing/2010/main" val="0"/>
              </a:ext>
            </a:extLst>
          </a:blip>
          <a:srcRect l="18065" r="24177"/>
          <a:stretch/>
        </p:blipFill>
        <p:spPr>
          <a:xfrm>
            <a:off x="4269854" y="-1"/>
            <a:ext cx="7922146" cy="6858001"/>
          </a:xfrm>
          <a:custGeom>
            <a:avLst/>
            <a:gdLst/>
            <a:ahLst/>
            <a:cxnLst/>
            <a:rect l="l" t="t" r="r" b="b"/>
            <a:pathLst>
              <a:path w="7922146" h="6858001">
                <a:moveTo>
                  <a:pt x="379987" y="0"/>
                </a:moveTo>
                <a:lnTo>
                  <a:pt x="5304971" y="0"/>
                </a:lnTo>
                <a:lnTo>
                  <a:pt x="7065281" y="0"/>
                </a:lnTo>
                <a:lnTo>
                  <a:pt x="7397540" y="0"/>
                </a:lnTo>
                <a:lnTo>
                  <a:pt x="7397540" y="1"/>
                </a:lnTo>
                <a:lnTo>
                  <a:pt x="7922146" y="1"/>
                </a:lnTo>
                <a:lnTo>
                  <a:pt x="7922146" y="6858001"/>
                </a:lnTo>
                <a:lnTo>
                  <a:pt x="7065281" y="6858001"/>
                </a:lnTo>
                <a:lnTo>
                  <a:pt x="7065281" y="6858000"/>
                </a:lnTo>
                <a:lnTo>
                  <a:pt x="5932989" y="6858000"/>
                </a:lnTo>
                <a:lnTo>
                  <a:pt x="5932989" y="6858001"/>
                </a:lnTo>
                <a:lnTo>
                  <a:pt x="27809" y="6858001"/>
                </a:lnTo>
                <a:lnTo>
                  <a:pt x="1803228" y="4521201"/>
                </a:lnTo>
                <a:close/>
                <a:moveTo>
                  <a:pt x="0" y="0"/>
                </a:moveTo>
                <a:lnTo>
                  <a:pt x="379987" y="0"/>
                </a:lnTo>
                <a:lnTo>
                  <a:pt x="0" y="407"/>
                </a:lnTo>
                <a:close/>
              </a:path>
            </a:pathLst>
          </a:custGeom>
        </p:spPr>
      </p:pic>
      <p:sp>
        <p:nvSpPr>
          <p:cNvPr id="2" name="Título 1">
            <a:extLst>
              <a:ext uri="{FF2B5EF4-FFF2-40B4-BE49-F238E27FC236}">
                <a16:creationId xmlns:a16="http://schemas.microsoft.com/office/drawing/2014/main" id="{C6519140-C4B6-4426-7B0B-A9112C97E292}"/>
              </a:ext>
            </a:extLst>
          </p:cNvPr>
          <p:cNvSpPr>
            <a:spLocks noGrp="1"/>
          </p:cNvSpPr>
          <p:nvPr>
            <p:ph type="title"/>
          </p:nvPr>
        </p:nvSpPr>
        <p:spPr>
          <a:xfrm>
            <a:off x="677333" y="609600"/>
            <a:ext cx="3851123" cy="1320800"/>
          </a:xfrm>
        </p:spPr>
        <p:txBody>
          <a:bodyPr>
            <a:normAutofit/>
          </a:bodyPr>
          <a:lstStyle/>
          <a:p>
            <a:r>
              <a:rPr lang="es-ES" b="1" i="0" dirty="0">
                <a:effectLst/>
                <a:latin typeface="Arial" panose="020B0604020202020204" pitchFamily="34" charset="0"/>
                <a:cs typeface="Arial" panose="020B0604020202020204" pitchFamily="34" charset="0"/>
              </a:rPr>
              <a:t>DEFINICIÓN</a:t>
            </a:r>
            <a:r>
              <a:rPr lang="es-ES" b="1" dirty="0">
                <a:latin typeface="Arial" panose="020B0604020202020204" pitchFamily="34" charset="0"/>
                <a:cs typeface="Arial" panose="020B0604020202020204" pitchFamily="34" charset="0"/>
              </a:rPr>
              <a:t> DEL PROYECTO</a:t>
            </a:r>
            <a:endParaRPr lang="es-CL" b="1" dirty="0">
              <a:latin typeface="Arial" panose="020B0604020202020204" pitchFamily="34" charset="0"/>
              <a:cs typeface="Arial" panose="020B0604020202020204" pitchFamily="34" charset="0"/>
            </a:endParaRPr>
          </a:p>
        </p:txBody>
      </p:sp>
      <p:sp>
        <p:nvSpPr>
          <p:cNvPr id="3" name="Marcador de contenido 2"/>
          <p:cNvSpPr>
            <a:spLocks noGrp="1"/>
          </p:cNvSpPr>
          <p:nvPr>
            <p:ph idx="1"/>
          </p:nvPr>
        </p:nvSpPr>
        <p:spPr>
          <a:xfrm>
            <a:off x="677333" y="2160589"/>
            <a:ext cx="4371745" cy="4279968"/>
          </a:xfrm>
        </p:spPr>
        <p:txBody>
          <a:bodyPr>
            <a:normAutofit fontScale="92500" lnSpcReduction="10000"/>
          </a:bodyPr>
          <a:lstStyle/>
          <a:p>
            <a:pPr marL="0" indent="0" algn="just">
              <a:lnSpc>
                <a:spcPct val="90000"/>
              </a:lnSpc>
              <a:buNone/>
            </a:pPr>
            <a:r>
              <a:rPr lang="es-CL" sz="1600" dirty="0">
                <a:solidFill>
                  <a:schemeClr val="tx1"/>
                </a:solidFill>
              </a:rPr>
              <a:t>Los mecánicos automotrices enfrentan un trabajo crucial hacia los vehículos, ellos son los encargados de diagnosticar, reparar y efectuar mantenimiento hacia los automóviles, por ello, las personas deben tener mucha confianza a quien les otorgue una excelente calidad de servicio hacia sus vehículos, donde el mecánico desempeña un papel crucial en el trabajo.</a:t>
            </a:r>
          </a:p>
          <a:p>
            <a:pPr marL="0" indent="0" algn="just">
              <a:lnSpc>
                <a:spcPct val="90000"/>
              </a:lnSpc>
              <a:buNone/>
            </a:pPr>
            <a:r>
              <a:rPr lang="es-CL" sz="1600" dirty="0">
                <a:solidFill>
                  <a:schemeClr val="tx1"/>
                </a:solidFill>
              </a:rPr>
              <a:t>Dentro de la comuna de Los Ángeles existen muchas personas con sus propios vehículos llevándolos a reparar o realizar sus mantenimientos, todos ellos se enfrentan a la incertidumbre y desconfianza si el servicio realizado es el correcto, si el cobro es el adecuado o si simplemente los están engañando. </a:t>
            </a:r>
          </a:p>
          <a:p>
            <a:pPr marL="0" indent="0" algn="just">
              <a:lnSpc>
                <a:spcPct val="90000"/>
              </a:lnSpc>
              <a:buNone/>
            </a:pPr>
            <a:r>
              <a:rPr lang="es-CL" sz="1600" dirty="0">
                <a:solidFill>
                  <a:schemeClr val="tx1"/>
                </a:solidFill>
              </a:rPr>
              <a:t>Como estudiantes del área mecánica de INACAP y futuros mecánicos creamos este proyecto con la finalidad de encontrar las razones por la cual existe esta desconfianza hacia los mecánicos automotriz.</a:t>
            </a:r>
          </a:p>
        </p:txBody>
      </p:sp>
      <p:cxnSp>
        <p:nvCxnSpPr>
          <p:cNvPr id="52" name="Straight Connector 51">
            <a:extLst>
              <a:ext uri="{FF2B5EF4-FFF2-40B4-BE49-F238E27FC236}">
                <a16:creationId xmlns:a16="http://schemas.microsoft.com/office/drawing/2014/main" id="{64FA5DFF-7FE6-4855-84E6-DFA78EE978B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54" name="Straight Connector 53">
            <a:extLst>
              <a:ext uri="{FF2B5EF4-FFF2-40B4-BE49-F238E27FC236}">
                <a16:creationId xmlns:a16="http://schemas.microsoft.com/office/drawing/2014/main" id="{2AFD8CBA-54A3-4363-991B-B9C631BBFA7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56" name="Rectangle 23">
            <a:extLst>
              <a:ext uri="{FF2B5EF4-FFF2-40B4-BE49-F238E27FC236}">
                <a16:creationId xmlns:a16="http://schemas.microsoft.com/office/drawing/2014/main" id="{3F088236-D655-4F88-B238-E167623580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58" name="Rectangle 25">
            <a:extLst>
              <a:ext uri="{FF2B5EF4-FFF2-40B4-BE49-F238E27FC236}">
                <a16:creationId xmlns:a16="http://schemas.microsoft.com/office/drawing/2014/main" id="{3DAC0C92-199E-475C-9390-119A9B0272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60" name="Isosceles Triangle 24">
            <a:extLst>
              <a:ext uri="{FF2B5EF4-FFF2-40B4-BE49-F238E27FC236}">
                <a16:creationId xmlns:a16="http://schemas.microsoft.com/office/drawing/2014/main" id="{C4CFB339-0ED8-4FE2-9EF1-6D1375B849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62" name="Rectangle 27">
            <a:extLst>
              <a:ext uri="{FF2B5EF4-FFF2-40B4-BE49-F238E27FC236}">
                <a16:creationId xmlns:a16="http://schemas.microsoft.com/office/drawing/2014/main" id="{31896C80-2069-4431-9C19-83B9137344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47000"/>
            </a:schemeClr>
          </a:solidFill>
          <a:ln>
            <a:noFill/>
          </a:ln>
          <a:effectLst/>
        </p:spPr>
        <p:style>
          <a:lnRef idx="1">
            <a:schemeClr val="accent1"/>
          </a:lnRef>
          <a:fillRef idx="3">
            <a:schemeClr val="accent1"/>
          </a:fillRef>
          <a:effectRef idx="2">
            <a:schemeClr val="accent1"/>
          </a:effectRef>
          <a:fontRef idx="minor">
            <a:schemeClr val="lt1"/>
          </a:fontRef>
        </p:style>
      </p:sp>
      <p:sp>
        <p:nvSpPr>
          <p:cNvPr id="64" name="Rectangle 28">
            <a:extLst>
              <a:ext uri="{FF2B5EF4-FFF2-40B4-BE49-F238E27FC236}">
                <a16:creationId xmlns:a16="http://schemas.microsoft.com/office/drawing/2014/main" id="{BF120A21-0841-4823-B0C4-28AEBCEF9B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66" name="Rectangle 29">
            <a:extLst>
              <a:ext uri="{FF2B5EF4-FFF2-40B4-BE49-F238E27FC236}">
                <a16:creationId xmlns:a16="http://schemas.microsoft.com/office/drawing/2014/main" id="{DBB05BAE-BBD3-4289-899F-A6851503C6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68" name="Isosceles Triangle 29">
            <a:extLst>
              <a:ext uri="{FF2B5EF4-FFF2-40B4-BE49-F238E27FC236}">
                <a16:creationId xmlns:a16="http://schemas.microsoft.com/office/drawing/2014/main" id="{9874D11C-36F5-4BBE-A490-019A54E953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36733440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A7B8513-76B1-3793-002B-328B06334A56}"/>
              </a:ext>
            </a:extLst>
          </p:cNvPr>
          <p:cNvSpPr>
            <a:spLocks noGrp="1"/>
          </p:cNvSpPr>
          <p:nvPr>
            <p:ph type="title"/>
          </p:nvPr>
        </p:nvSpPr>
        <p:spPr>
          <a:xfrm>
            <a:off x="5536734" y="609600"/>
            <a:ext cx="3737268" cy="1320800"/>
          </a:xfrm>
        </p:spPr>
        <p:txBody>
          <a:bodyPr>
            <a:normAutofit/>
          </a:bodyPr>
          <a:lstStyle/>
          <a:p>
            <a:pPr algn="ctr"/>
            <a:r>
              <a:rPr lang="es-ES" b="1" dirty="0">
                <a:latin typeface="Arial" panose="020B0604020202020204" pitchFamily="34" charset="0"/>
                <a:cs typeface="Arial" panose="020B0604020202020204" pitchFamily="34" charset="0"/>
              </a:rPr>
              <a:t>PROYECTO</a:t>
            </a:r>
            <a:endParaRPr lang="es-CL" b="1" dirty="0">
              <a:latin typeface="Arial" panose="020B0604020202020204" pitchFamily="34" charset="0"/>
              <a:cs typeface="Arial" panose="020B0604020202020204" pitchFamily="34" charset="0"/>
            </a:endParaRPr>
          </a:p>
        </p:txBody>
      </p:sp>
      <p:sp>
        <p:nvSpPr>
          <p:cNvPr id="5" name="Marcador de contenido 4"/>
          <p:cNvSpPr>
            <a:spLocks noGrp="1"/>
          </p:cNvSpPr>
          <p:nvPr>
            <p:ph idx="1"/>
          </p:nvPr>
        </p:nvSpPr>
        <p:spPr>
          <a:xfrm>
            <a:off x="5102087" y="1789043"/>
            <a:ext cx="4969566" cy="4943061"/>
          </a:xfrm>
        </p:spPr>
        <p:txBody>
          <a:bodyPr>
            <a:normAutofit fontScale="92500" lnSpcReduction="10000"/>
          </a:bodyPr>
          <a:lstStyle/>
          <a:p>
            <a:pPr>
              <a:lnSpc>
                <a:spcPct val="90000"/>
              </a:lnSpc>
            </a:pPr>
            <a:r>
              <a:rPr lang="es-CL" b="1" dirty="0">
                <a:solidFill>
                  <a:schemeClr val="tx1"/>
                </a:solidFill>
              </a:rPr>
              <a:t>TEMA DE INVESTIGACIÓN</a:t>
            </a:r>
          </a:p>
          <a:p>
            <a:pPr marL="0" indent="0" algn="just">
              <a:lnSpc>
                <a:spcPct val="90000"/>
              </a:lnSpc>
              <a:buNone/>
            </a:pPr>
            <a:r>
              <a:rPr lang="es-CL" sz="1700" dirty="0">
                <a:solidFill>
                  <a:schemeClr val="tx1"/>
                </a:solidFill>
              </a:rPr>
              <a:t>Como equipo de trabajo investigaremos </a:t>
            </a:r>
            <a:r>
              <a:rPr lang="es-CL" sz="1700" b="1" dirty="0">
                <a:solidFill>
                  <a:srgbClr val="FF0000"/>
                </a:solidFill>
              </a:rPr>
              <a:t>la calidad </a:t>
            </a:r>
            <a:r>
              <a:rPr lang="es-CL" sz="1700" dirty="0">
                <a:solidFill>
                  <a:schemeClr val="tx1"/>
                </a:solidFill>
              </a:rPr>
              <a:t>del servicio que brindan los mecánicos automotrices a los cliente, esto mediante una encuesta creada por nosotros y validada por expertos del área automotriz, esta encuesta será entregada a diferentes personas, con el fin de obtener sus opiniones y experiencias vividas.</a:t>
            </a:r>
          </a:p>
          <a:p>
            <a:pPr>
              <a:lnSpc>
                <a:spcPct val="90000"/>
              </a:lnSpc>
            </a:pPr>
            <a:r>
              <a:rPr lang="es-CL" b="1" dirty="0">
                <a:solidFill>
                  <a:schemeClr val="tx1"/>
                </a:solidFill>
              </a:rPr>
              <a:t>PROBLEMÁTICA A ABORDAR</a:t>
            </a:r>
          </a:p>
          <a:p>
            <a:pPr marL="0" indent="0" algn="just">
              <a:lnSpc>
                <a:spcPct val="90000"/>
              </a:lnSpc>
              <a:buNone/>
            </a:pPr>
            <a:r>
              <a:rPr lang="es-CL" sz="1600" dirty="0">
                <a:solidFill>
                  <a:schemeClr val="tx1"/>
                </a:solidFill>
              </a:rPr>
              <a:t>Cuando hablamos de un taller mecánico y su cliente, la confianza es el valor más importante a destacar, los mecánicos deben brindar confianza al entregar en perfectas condiciones el automóvil a su cliente, sin tener este ninguna duda de que será estafado, por ello, la problemática que abordaremos será, la poca credibilidad de los mecánicos automotrices hacia sus clientes.</a:t>
            </a:r>
          </a:p>
          <a:p>
            <a:pPr>
              <a:lnSpc>
                <a:spcPct val="90000"/>
              </a:lnSpc>
            </a:pPr>
            <a:r>
              <a:rPr lang="es-CL" b="1" dirty="0">
                <a:solidFill>
                  <a:schemeClr val="tx1"/>
                </a:solidFill>
              </a:rPr>
              <a:t>NOCIONES MATEMÁTICAS A UTILIZAR</a:t>
            </a:r>
          </a:p>
          <a:p>
            <a:pPr marL="0" indent="0" algn="just">
              <a:lnSpc>
                <a:spcPct val="90000"/>
              </a:lnSpc>
              <a:buNone/>
            </a:pPr>
            <a:r>
              <a:rPr lang="es-CL" sz="1600" dirty="0">
                <a:solidFill>
                  <a:schemeClr val="tx1"/>
                </a:solidFill>
              </a:rPr>
              <a:t>El crear un ABPro nos implica implementar nociones matemáticas en nuestro proyecto, por lo tanto, como equipo de trabajo utilizaremos </a:t>
            </a:r>
            <a:r>
              <a:rPr lang="es-CL" sz="1600" dirty="0">
                <a:solidFill>
                  <a:srgbClr val="FF0000"/>
                </a:solidFill>
              </a:rPr>
              <a:t>las estadísticas, los porcentajes y software estadísticos.</a:t>
            </a:r>
          </a:p>
        </p:txBody>
      </p:sp>
      <p:pic>
        <p:nvPicPr>
          <p:cNvPr id="4" name="Imagen 3" descr="Un grupo de personas con equipaje en un aeropuerto&#10;&#10;Descripción generada automáticamente con confianza media">
            <a:extLst>
              <a:ext uri="{FF2B5EF4-FFF2-40B4-BE49-F238E27FC236}">
                <a16:creationId xmlns:a16="http://schemas.microsoft.com/office/drawing/2014/main" id="{876BBAED-B8F6-0F4C-D7D7-31CD6283BFC3}"/>
              </a:ext>
            </a:extLst>
          </p:cNvPr>
          <p:cNvPicPr>
            <a:picLocks noChangeAspect="1"/>
          </p:cNvPicPr>
          <p:nvPr/>
        </p:nvPicPr>
        <p:blipFill rotWithShape="1">
          <a:blip r:embed="rId2">
            <a:extLst>
              <a:ext uri="{28A0092B-C50C-407E-A947-70E740481C1C}">
                <a14:useLocalDpi xmlns:a14="http://schemas.microsoft.com/office/drawing/2010/main" val="0"/>
              </a:ext>
            </a:extLst>
          </a:blip>
          <a:srcRect l="27278" r="33389"/>
          <a:stretch/>
        </p:blipFill>
        <p:spPr>
          <a:xfrm>
            <a:off x="20" y="-1"/>
            <a:ext cx="5394940" cy="6858001"/>
          </a:xfrm>
          <a:custGeom>
            <a:avLst/>
            <a:gdLst/>
            <a:ahLst/>
            <a:cxnLst/>
            <a:rect l="l" t="t" r="r" b="b"/>
            <a:pathLst>
              <a:path w="5394960" h="6858000">
                <a:moveTo>
                  <a:pt x="842596" y="0"/>
                </a:moveTo>
                <a:lnTo>
                  <a:pt x="5394960" y="0"/>
                </a:lnTo>
                <a:lnTo>
                  <a:pt x="5394960" y="21851"/>
                </a:lnTo>
                <a:lnTo>
                  <a:pt x="4365943" y="6858000"/>
                </a:lnTo>
                <a:lnTo>
                  <a:pt x="0" y="6858000"/>
                </a:lnTo>
                <a:lnTo>
                  <a:pt x="0" y="5666154"/>
                </a:lnTo>
                <a:close/>
              </a:path>
            </a:pathLst>
          </a:custGeom>
        </p:spPr>
      </p:pic>
      <p:sp>
        <p:nvSpPr>
          <p:cNvPr id="10" name="Isosceles Triangle 9">
            <a:extLst>
              <a:ext uri="{FF2B5EF4-FFF2-40B4-BE49-F238E27FC236}">
                <a16:creationId xmlns:a16="http://schemas.microsoft.com/office/drawing/2014/main" id="{3BCB5F6A-9EB0-40B0-9D13-3023E9A205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35271474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Imagen 4" descr="Un grupo de personas con equipaje en un aeropuerto&#10;&#10;Descripción generada automáticamente con confianza media">
            <a:extLst>
              <a:ext uri="{FF2B5EF4-FFF2-40B4-BE49-F238E27FC236}">
                <a16:creationId xmlns:a16="http://schemas.microsoft.com/office/drawing/2014/main" id="{FB057BF9-5164-E7DD-BAA1-C85ACFEB5CB7}"/>
              </a:ext>
            </a:extLst>
          </p:cNvPr>
          <p:cNvPicPr>
            <a:picLocks noChangeAspect="1"/>
          </p:cNvPicPr>
          <p:nvPr/>
        </p:nvPicPr>
        <p:blipFill rotWithShape="1">
          <a:blip r:embed="rId2">
            <a:extLst>
              <a:ext uri="{28A0092B-C50C-407E-A947-70E740481C1C}">
                <a14:useLocalDpi xmlns:a14="http://schemas.microsoft.com/office/drawing/2010/main" val="0"/>
              </a:ext>
            </a:extLst>
          </a:blip>
          <a:srcRect l="18065" r="24177"/>
          <a:stretch/>
        </p:blipFill>
        <p:spPr>
          <a:xfrm>
            <a:off x="4269854" y="-1"/>
            <a:ext cx="7922146" cy="6858001"/>
          </a:xfrm>
          <a:custGeom>
            <a:avLst/>
            <a:gdLst/>
            <a:ahLst/>
            <a:cxnLst/>
            <a:rect l="l" t="t" r="r" b="b"/>
            <a:pathLst>
              <a:path w="7922146" h="6858001">
                <a:moveTo>
                  <a:pt x="379987" y="0"/>
                </a:moveTo>
                <a:lnTo>
                  <a:pt x="5304971" y="0"/>
                </a:lnTo>
                <a:lnTo>
                  <a:pt x="7065281" y="0"/>
                </a:lnTo>
                <a:lnTo>
                  <a:pt x="7397540" y="0"/>
                </a:lnTo>
                <a:lnTo>
                  <a:pt x="7397540" y="1"/>
                </a:lnTo>
                <a:lnTo>
                  <a:pt x="7922146" y="1"/>
                </a:lnTo>
                <a:lnTo>
                  <a:pt x="7922146" y="6858001"/>
                </a:lnTo>
                <a:lnTo>
                  <a:pt x="7065281" y="6858001"/>
                </a:lnTo>
                <a:lnTo>
                  <a:pt x="7065281" y="6858000"/>
                </a:lnTo>
                <a:lnTo>
                  <a:pt x="5932989" y="6858000"/>
                </a:lnTo>
                <a:lnTo>
                  <a:pt x="5932989" y="6858001"/>
                </a:lnTo>
                <a:lnTo>
                  <a:pt x="27809" y="6858001"/>
                </a:lnTo>
                <a:lnTo>
                  <a:pt x="1803228" y="4521201"/>
                </a:lnTo>
                <a:close/>
                <a:moveTo>
                  <a:pt x="0" y="0"/>
                </a:moveTo>
                <a:lnTo>
                  <a:pt x="379987" y="0"/>
                </a:lnTo>
                <a:lnTo>
                  <a:pt x="0" y="407"/>
                </a:lnTo>
                <a:close/>
              </a:path>
            </a:pathLst>
          </a:custGeom>
        </p:spPr>
      </p:pic>
      <p:sp>
        <p:nvSpPr>
          <p:cNvPr id="2" name="Título 1">
            <a:extLst>
              <a:ext uri="{FF2B5EF4-FFF2-40B4-BE49-F238E27FC236}">
                <a16:creationId xmlns:a16="http://schemas.microsoft.com/office/drawing/2014/main" id="{80511957-82E8-115C-643E-E2F3E1D83AAC}"/>
              </a:ext>
            </a:extLst>
          </p:cNvPr>
          <p:cNvSpPr>
            <a:spLocks noGrp="1"/>
          </p:cNvSpPr>
          <p:nvPr>
            <p:ph type="title"/>
          </p:nvPr>
        </p:nvSpPr>
        <p:spPr>
          <a:xfrm>
            <a:off x="677333" y="609600"/>
            <a:ext cx="3851123" cy="1320800"/>
          </a:xfrm>
        </p:spPr>
        <p:txBody>
          <a:bodyPr>
            <a:normAutofit/>
          </a:bodyPr>
          <a:lstStyle/>
          <a:p>
            <a:r>
              <a:rPr lang="es-ES" b="0" i="0">
                <a:effectLst/>
                <a:latin typeface="Calibri" panose="020F0502020204030204" pitchFamily="34" charset="0"/>
              </a:rPr>
              <a:t> </a:t>
            </a:r>
            <a:endParaRPr lang="es-CL" dirty="0"/>
          </a:p>
        </p:txBody>
      </p:sp>
      <p:sp>
        <p:nvSpPr>
          <p:cNvPr id="3" name="Marcador de contenido 2"/>
          <p:cNvSpPr>
            <a:spLocks noGrp="1"/>
          </p:cNvSpPr>
          <p:nvPr>
            <p:ph idx="1"/>
          </p:nvPr>
        </p:nvSpPr>
        <p:spPr>
          <a:xfrm>
            <a:off x="351692" y="1060173"/>
            <a:ext cx="4656406" cy="5481303"/>
          </a:xfrm>
        </p:spPr>
        <p:txBody>
          <a:bodyPr>
            <a:normAutofit/>
          </a:bodyPr>
          <a:lstStyle/>
          <a:p>
            <a:pPr algn="just">
              <a:lnSpc>
                <a:spcPct val="90000"/>
              </a:lnSpc>
            </a:pPr>
            <a:r>
              <a:rPr lang="es-CL" b="1" dirty="0">
                <a:solidFill>
                  <a:schemeClr val="tx1"/>
                </a:solidFill>
              </a:rPr>
              <a:t>OBJETIVO DEL PROYECTO</a:t>
            </a:r>
          </a:p>
          <a:p>
            <a:pPr marL="0" indent="0" algn="just">
              <a:lnSpc>
                <a:spcPct val="90000"/>
              </a:lnSpc>
              <a:buNone/>
            </a:pPr>
            <a:r>
              <a:rPr lang="es-CL" sz="1600" dirty="0">
                <a:solidFill>
                  <a:schemeClr val="tx1"/>
                </a:solidFill>
              </a:rPr>
              <a:t>Realizar un estudio de análisis sobre la </a:t>
            </a:r>
            <a:r>
              <a:rPr lang="es-CL" sz="1600" dirty="0">
                <a:solidFill>
                  <a:srgbClr val="FF0000"/>
                </a:solidFill>
              </a:rPr>
              <a:t>poca</a:t>
            </a:r>
            <a:r>
              <a:rPr lang="es-CL" sz="1600" dirty="0">
                <a:solidFill>
                  <a:schemeClr val="tx1"/>
                </a:solidFill>
              </a:rPr>
              <a:t> de credibilidad de los mecánicos hacia los clientes.</a:t>
            </a:r>
          </a:p>
          <a:p>
            <a:pPr marL="0" indent="0" algn="just">
              <a:lnSpc>
                <a:spcPct val="90000"/>
              </a:lnSpc>
              <a:buNone/>
            </a:pPr>
            <a:endParaRPr lang="es-CL" sz="1100" dirty="0">
              <a:solidFill>
                <a:schemeClr val="tx1"/>
              </a:solidFill>
            </a:endParaRPr>
          </a:p>
          <a:p>
            <a:pPr marL="0" indent="0" algn="just">
              <a:lnSpc>
                <a:spcPct val="90000"/>
              </a:lnSpc>
              <a:buNone/>
            </a:pPr>
            <a:endParaRPr lang="es-CL" sz="1100" dirty="0">
              <a:solidFill>
                <a:schemeClr val="tx1"/>
              </a:solidFill>
            </a:endParaRPr>
          </a:p>
          <a:p>
            <a:pPr algn="just">
              <a:lnSpc>
                <a:spcPct val="90000"/>
              </a:lnSpc>
            </a:pPr>
            <a:r>
              <a:rPr lang="es-CL" b="1" dirty="0">
                <a:solidFill>
                  <a:schemeClr val="tx1"/>
                </a:solidFill>
              </a:rPr>
              <a:t>PREGUNTAS</a:t>
            </a:r>
            <a:endParaRPr lang="es-CL" sz="1100" b="1" dirty="0">
              <a:solidFill>
                <a:schemeClr val="tx1"/>
              </a:solidFill>
            </a:endParaRPr>
          </a:p>
          <a:p>
            <a:pPr marL="0" indent="0" algn="just">
              <a:lnSpc>
                <a:spcPct val="90000"/>
              </a:lnSpc>
              <a:buNone/>
            </a:pPr>
            <a:r>
              <a:rPr lang="es-CL" sz="1600" dirty="0">
                <a:solidFill>
                  <a:schemeClr val="tx1"/>
                </a:solidFill>
              </a:rPr>
              <a:t>Preguntas que nos ayudaran a la hora de avanzar con nuestro proyecto.</a:t>
            </a:r>
          </a:p>
          <a:p>
            <a:pPr algn="just">
              <a:lnSpc>
                <a:spcPct val="90000"/>
              </a:lnSpc>
              <a:buFont typeface="+mj-lt"/>
              <a:buAutoNum type="arabicPeriod"/>
            </a:pPr>
            <a:r>
              <a:rPr lang="es-CL" sz="1600" dirty="0">
                <a:solidFill>
                  <a:schemeClr val="tx1"/>
                </a:solidFill>
              </a:rPr>
              <a:t>¿Por qué causan dudas las reparaciones automotriz?</a:t>
            </a:r>
          </a:p>
          <a:p>
            <a:pPr algn="just">
              <a:lnSpc>
                <a:spcPct val="90000"/>
              </a:lnSpc>
              <a:buFont typeface="+mj-lt"/>
              <a:buAutoNum type="arabicPeriod"/>
            </a:pPr>
            <a:r>
              <a:rPr lang="es-CL" sz="1600" dirty="0">
                <a:solidFill>
                  <a:schemeClr val="tx1"/>
                </a:solidFill>
              </a:rPr>
              <a:t>¿Cuánto entiende un cliente sobre la mecánica básica?</a:t>
            </a:r>
          </a:p>
          <a:p>
            <a:pPr algn="just">
              <a:lnSpc>
                <a:spcPct val="90000"/>
              </a:lnSpc>
              <a:buFont typeface="+mj-lt"/>
              <a:buAutoNum type="arabicPeriod"/>
            </a:pPr>
            <a:r>
              <a:rPr lang="es-CL" sz="1600" dirty="0">
                <a:solidFill>
                  <a:schemeClr val="tx1"/>
                </a:solidFill>
              </a:rPr>
              <a:t>¿Se cree que los mecánicos suben los precios cuando se trata de una persona sin conocimiento?</a:t>
            </a:r>
          </a:p>
          <a:p>
            <a:pPr algn="just">
              <a:lnSpc>
                <a:spcPct val="90000"/>
              </a:lnSpc>
              <a:buFont typeface="+mj-lt"/>
              <a:buAutoNum type="arabicPeriod"/>
            </a:pPr>
            <a:r>
              <a:rPr lang="es-CL" sz="1600" dirty="0">
                <a:solidFill>
                  <a:schemeClr val="tx1"/>
                </a:solidFill>
              </a:rPr>
              <a:t>¿Son honestos los mecánicos con los clientes? </a:t>
            </a:r>
          </a:p>
          <a:p>
            <a:pPr algn="just">
              <a:lnSpc>
                <a:spcPct val="90000"/>
              </a:lnSpc>
              <a:buFont typeface="+mj-lt"/>
              <a:buAutoNum type="arabicPeriod"/>
            </a:pPr>
            <a:r>
              <a:rPr lang="es-CL" sz="1600" dirty="0">
                <a:solidFill>
                  <a:schemeClr val="tx1"/>
                </a:solidFill>
              </a:rPr>
              <a:t>¿Hacen un buen trabajo los mecánicos a la hora de reparar un automóvil?</a:t>
            </a:r>
          </a:p>
          <a:p>
            <a:pPr marL="0" indent="0">
              <a:lnSpc>
                <a:spcPct val="90000"/>
              </a:lnSpc>
              <a:buNone/>
            </a:pPr>
            <a:endParaRPr lang="es-CL" sz="1100" dirty="0"/>
          </a:p>
        </p:txBody>
      </p:sp>
      <p:cxnSp>
        <p:nvCxnSpPr>
          <p:cNvPr id="10" name="Straight Connector 9">
            <a:extLst>
              <a:ext uri="{FF2B5EF4-FFF2-40B4-BE49-F238E27FC236}">
                <a16:creationId xmlns:a16="http://schemas.microsoft.com/office/drawing/2014/main" id="{64FA5DFF-7FE6-4855-84E6-DFA78EE978B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2AFD8CBA-54A3-4363-991B-B9C631BBFA7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14" name="Rectangle 23">
            <a:extLst>
              <a:ext uri="{FF2B5EF4-FFF2-40B4-BE49-F238E27FC236}">
                <a16:creationId xmlns:a16="http://schemas.microsoft.com/office/drawing/2014/main" id="{3F088236-D655-4F88-B238-E167623580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6" name="Rectangle 25">
            <a:extLst>
              <a:ext uri="{FF2B5EF4-FFF2-40B4-BE49-F238E27FC236}">
                <a16:creationId xmlns:a16="http://schemas.microsoft.com/office/drawing/2014/main" id="{3DAC0C92-199E-475C-9390-119A9B0272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8" name="Isosceles Triangle 24">
            <a:extLst>
              <a:ext uri="{FF2B5EF4-FFF2-40B4-BE49-F238E27FC236}">
                <a16:creationId xmlns:a16="http://schemas.microsoft.com/office/drawing/2014/main" id="{C4CFB339-0ED8-4FE2-9EF1-6D1375B849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0" name="Rectangle 27">
            <a:extLst>
              <a:ext uri="{FF2B5EF4-FFF2-40B4-BE49-F238E27FC236}">
                <a16:creationId xmlns:a16="http://schemas.microsoft.com/office/drawing/2014/main" id="{31896C80-2069-4431-9C19-83B9137344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47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8">
            <a:extLst>
              <a:ext uri="{FF2B5EF4-FFF2-40B4-BE49-F238E27FC236}">
                <a16:creationId xmlns:a16="http://schemas.microsoft.com/office/drawing/2014/main" id="{BF120A21-0841-4823-B0C4-28AEBCEF9B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9">
            <a:extLst>
              <a:ext uri="{FF2B5EF4-FFF2-40B4-BE49-F238E27FC236}">
                <a16:creationId xmlns:a16="http://schemas.microsoft.com/office/drawing/2014/main" id="{DBB05BAE-BBD3-4289-899F-A6851503C6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Isosceles Triangle 29">
            <a:extLst>
              <a:ext uri="{FF2B5EF4-FFF2-40B4-BE49-F238E27FC236}">
                <a16:creationId xmlns:a16="http://schemas.microsoft.com/office/drawing/2014/main" id="{9874D11C-36F5-4BBE-A490-019A54E953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23652396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72B98CB-BD8E-1D3C-036A-D1FE2E56A9F2}"/>
              </a:ext>
            </a:extLst>
          </p:cNvPr>
          <p:cNvSpPr>
            <a:spLocks noGrp="1"/>
          </p:cNvSpPr>
          <p:nvPr>
            <p:ph type="title"/>
          </p:nvPr>
        </p:nvSpPr>
        <p:spPr>
          <a:xfrm>
            <a:off x="5536734" y="609600"/>
            <a:ext cx="3737268" cy="1320800"/>
          </a:xfrm>
        </p:spPr>
        <p:txBody>
          <a:bodyPr>
            <a:normAutofit/>
          </a:bodyPr>
          <a:lstStyle/>
          <a:p>
            <a:pPr algn="ctr">
              <a:lnSpc>
                <a:spcPct val="90000"/>
              </a:lnSpc>
            </a:pPr>
            <a:r>
              <a:rPr lang="es-ES" sz="3100" b="1" dirty="0">
                <a:latin typeface="Arial" panose="020B0604020202020204" pitchFamily="34" charset="0"/>
                <a:cs typeface="Arial" panose="020B0604020202020204" pitchFamily="34" charset="0"/>
              </a:rPr>
              <a:t>TEMAS INICIALES INVOLUCRADOS</a:t>
            </a:r>
            <a:endParaRPr lang="es-CL" sz="3100" b="1" dirty="0">
              <a:latin typeface="Arial" panose="020B0604020202020204" pitchFamily="34" charset="0"/>
              <a:cs typeface="Arial" panose="020B0604020202020204" pitchFamily="34" charset="0"/>
            </a:endParaRPr>
          </a:p>
        </p:txBody>
      </p:sp>
      <p:sp>
        <p:nvSpPr>
          <p:cNvPr id="3" name="Marcador de contenido 2"/>
          <p:cNvSpPr>
            <a:spLocks noGrp="1"/>
          </p:cNvSpPr>
          <p:nvPr>
            <p:ph idx="1"/>
          </p:nvPr>
        </p:nvSpPr>
        <p:spPr>
          <a:xfrm>
            <a:off x="5209563" y="2160589"/>
            <a:ext cx="4703063" cy="4412489"/>
          </a:xfrm>
        </p:spPr>
        <p:txBody>
          <a:bodyPr>
            <a:normAutofit/>
          </a:bodyPr>
          <a:lstStyle/>
          <a:p>
            <a:pPr algn="just">
              <a:lnSpc>
                <a:spcPct val="90000"/>
              </a:lnSpc>
            </a:pPr>
            <a:r>
              <a:rPr lang="es-CL" b="1" dirty="0">
                <a:solidFill>
                  <a:schemeClr val="tx1"/>
                </a:solidFill>
              </a:rPr>
              <a:t>La calidad del servicio que ofrece el mecánico al cliente.</a:t>
            </a:r>
          </a:p>
          <a:p>
            <a:pPr marL="0" indent="0" algn="just">
              <a:lnSpc>
                <a:spcPct val="90000"/>
              </a:lnSpc>
              <a:buNone/>
            </a:pPr>
            <a:r>
              <a:rPr lang="es-CL" sz="1600" dirty="0">
                <a:solidFill>
                  <a:schemeClr val="tx1"/>
                </a:solidFill>
              </a:rPr>
              <a:t>La calidad del servicio desempeña un papel fundamental en el éxito de cualquier negocio o empresa, ya que brindar un servicio excepcional no solo satisface las necesidades y expectativas de los clientes, sino que también fortalece su confianza y lealtad.</a:t>
            </a:r>
          </a:p>
          <a:p>
            <a:pPr algn="just">
              <a:lnSpc>
                <a:spcPct val="90000"/>
              </a:lnSpc>
            </a:pPr>
            <a:r>
              <a:rPr lang="es-CL" b="1" dirty="0">
                <a:solidFill>
                  <a:schemeClr val="tx1"/>
                </a:solidFill>
              </a:rPr>
              <a:t>La credibilidad y honestidad a la hora de completar el servicio mecánico.</a:t>
            </a:r>
          </a:p>
          <a:p>
            <a:pPr marL="0" indent="0" algn="just">
              <a:lnSpc>
                <a:spcPct val="90000"/>
              </a:lnSpc>
              <a:buNone/>
            </a:pPr>
            <a:r>
              <a:rPr lang="es-CL" sz="1600" dirty="0">
                <a:solidFill>
                  <a:schemeClr val="tx1"/>
                </a:solidFill>
              </a:rPr>
              <a:t>El cliente busca un servicio bien realizado, por lo tanto, el mecánico debe brindarle a su cliente lo mejor dentro de sus posibilidades, habilidades y capacidades para que así el vehículo no vuelva a fallar y el cliente este satisfecho en todos los aspectos por el servicio desarrollado.</a:t>
            </a:r>
          </a:p>
          <a:p>
            <a:pPr marL="0" indent="0">
              <a:lnSpc>
                <a:spcPct val="90000"/>
              </a:lnSpc>
              <a:buNone/>
            </a:pPr>
            <a:endParaRPr lang="es-CL" sz="1400" dirty="0"/>
          </a:p>
          <a:p>
            <a:pPr marL="0" indent="0">
              <a:lnSpc>
                <a:spcPct val="90000"/>
              </a:lnSpc>
              <a:buNone/>
            </a:pPr>
            <a:endParaRPr lang="es-CL" sz="1400" dirty="0"/>
          </a:p>
        </p:txBody>
      </p:sp>
      <p:pic>
        <p:nvPicPr>
          <p:cNvPr id="5" name="Imagen 4" descr="Un grupo de personas con equipaje en un aeropuerto&#10;&#10;Descripción generada automáticamente con confianza media">
            <a:extLst>
              <a:ext uri="{FF2B5EF4-FFF2-40B4-BE49-F238E27FC236}">
                <a16:creationId xmlns:a16="http://schemas.microsoft.com/office/drawing/2014/main" id="{DED8758B-0C3D-5433-A57B-66C51857626F}"/>
              </a:ext>
            </a:extLst>
          </p:cNvPr>
          <p:cNvPicPr>
            <a:picLocks noChangeAspect="1"/>
          </p:cNvPicPr>
          <p:nvPr/>
        </p:nvPicPr>
        <p:blipFill rotWithShape="1">
          <a:blip r:embed="rId2">
            <a:extLst>
              <a:ext uri="{28A0092B-C50C-407E-A947-70E740481C1C}">
                <a14:useLocalDpi xmlns:a14="http://schemas.microsoft.com/office/drawing/2010/main" val="0"/>
              </a:ext>
            </a:extLst>
          </a:blip>
          <a:srcRect l="27278" r="33389"/>
          <a:stretch/>
        </p:blipFill>
        <p:spPr>
          <a:xfrm>
            <a:off x="20" y="-1"/>
            <a:ext cx="5394940" cy="6858001"/>
          </a:xfrm>
          <a:custGeom>
            <a:avLst/>
            <a:gdLst/>
            <a:ahLst/>
            <a:cxnLst/>
            <a:rect l="l" t="t" r="r" b="b"/>
            <a:pathLst>
              <a:path w="5394960" h="6858000">
                <a:moveTo>
                  <a:pt x="842596" y="0"/>
                </a:moveTo>
                <a:lnTo>
                  <a:pt x="5394960" y="0"/>
                </a:lnTo>
                <a:lnTo>
                  <a:pt x="5394960" y="21851"/>
                </a:lnTo>
                <a:lnTo>
                  <a:pt x="4365943" y="6858000"/>
                </a:lnTo>
                <a:lnTo>
                  <a:pt x="0" y="6858000"/>
                </a:lnTo>
                <a:lnTo>
                  <a:pt x="0" y="5666154"/>
                </a:lnTo>
                <a:close/>
              </a:path>
            </a:pathLst>
          </a:custGeom>
        </p:spPr>
      </p:pic>
      <p:sp>
        <p:nvSpPr>
          <p:cNvPr id="10" name="Isosceles Triangle 9">
            <a:extLst>
              <a:ext uri="{FF2B5EF4-FFF2-40B4-BE49-F238E27FC236}">
                <a16:creationId xmlns:a16="http://schemas.microsoft.com/office/drawing/2014/main" id="{3BCB5F6A-9EB0-40B0-9D13-3023E9A205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41772080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41" name="Rectangle 40">
            <a:extLst>
              <a:ext uri="{FF2B5EF4-FFF2-40B4-BE49-F238E27FC236}">
                <a16:creationId xmlns:a16="http://schemas.microsoft.com/office/drawing/2014/main" id="{D94A7024-D948-494D-8920-BBA2DA07D1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Marcador de contenido 14" descr="Un grupo de personas con equipaje en un aeropuerto&#10;&#10;Descripción generada automáticamente con confianza media">
            <a:extLst>
              <a:ext uri="{FF2B5EF4-FFF2-40B4-BE49-F238E27FC236}">
                <a16:creationId xmlns:a16="http://schemas.microsoft.com/office/drawing/2014/main" id="{915DAA5B-D33A-739A-086A-8A5C5F9612C7}"/>
              </a:ext>
            </a:extLst>
          </p:cNvPr>
          <p:cNvPicPr>
            <a:picLocks noChangeAspect="1"/>
          </p:cNvPicPr>
          <p:nvPr/>
        </p:nvPicPr>
        <p:blipFill rotWithShape="1">
          <a:blip r:embed="rId2">
            <a:duotone>
              <a:prstClr val="black"/>
              <a:schemeClr val="tx2">
                <a:tint val="45000"/>
                <a:satMod val="400000"/>
              </a:schemeClr>
            </a:duotone>
            <a:alphaModFix amt="40000"/>
            <a:extLst>
              <a:ext uri="{28A0092B-C50C-407E-A947-70E740481C1C}">
                <a14:useLocalDpi xmlns:a14="http://schemas.microsoft.com/office/drawing/2010/main" val="0"/>
              </a:ext>
            </a:extLst>
          </a:blip>
          <a:srcRect l="2500" r="8612"/>
          <a:stretch/>
        </p:blipFill>
        <p:spPr>
          <a:xfrm>
            <a:off x="20" y="10"/>
            <a:ext cx="12191980" cy="6857990"/>
          </a:xfrm>
          <a:prstGeom prst="rect">
            <a:avLst/>
          </a:prstGeom>
        </p:spPr>
      </p:pic>
      <p:sp>
        <p:nvSpPr>
          <p:cNvPr id="2" name="Título 1">
            <a:extLst>
              <a:ext uri="{FF2B5EF4-FFF2-40B4-BE49-F238E27FC236}">
                <a16:creationId xmlns:a16="http://schemas.microsoft.com/office/drawing/2014/main" id="{8E92EFDE-4DF5-E260-683F-CAE885C4B94E}"/>
              </a:ext>
            </a:extLst>
          </p:cNvPr>
          <p:cNvSpPr>
            <a:spLocks noGrp="1"/>
          </p:cNvSpPr>
          <p:nvPr>
            <p:ph type="title"/>
          </p:nvPr>
        </p:nvSpPr>
        <p:spPr>
          <a:xfrm>
            <a:off x="1797666" y="283319"/>
            <a:ext cx="8596668" cy="708992"/>
          </a:xfrm>
        </p:spPr>
        <p:txBody>
          <a:bodyPr>
            <a:normAutofit/>
          </a:bodyPr>
          <a:lstStyle/>
          <a:p>
            <a:pPr algn="ctr"/>
            <a:r>
              <a:rPr lang="es-CL" b="1" dirty="0"/>
              <a:t>CRONOGRAMA</a:t>
            </a:r>
            <a:endParaRPr lang="es-ES" b="1" dirty="0"/>
          </a:p>
        </p:txBody>
      </p:sp>
      <p:graphicFrame>
        <p:nvGraphicFramePr>
          <p:cNvPr id="17" name="Tabla 18">
            <a:extLst>
              <a:ext uri="{FF2B5EF4-FFF2-40B4-BE49-F238E27FC236}">
                <a16:creationId xmlns:a16="http://schemas.microsoft.com/office/drawing/2014/main" id="{D8F3A9E4-67F7-2977-DC89-31B60BEC2998}"/>
              </a:ext>
            </a:extLst>
          </p:cNvPr>
          <p:cNvGraphicFramePr>
            <a:graphicFrameLocks noGrp="1"/>
          </p:cNvGraphicFramePr>
          <p:nvPr>
            <p:ph idx="1"/>
            <p:extLst>
              <p:ext uri="{D42A27DB-BD31-4B8C-83A1-F6EECF244321}">
                <p14:modId xmlns:p14="http://schemas.microsoft.com/office/powerpoint/2010/main" val="380532481"/>
              </p:ext>
            </p:extLst>
          </p:nvPr>
        </p:nvGraphicFramePr>
        <p:xfrm>
          <a:off x="1099930" y="1008974"/>
          <a:ext cx="9992139" cy="5865690"/>
        </p:xfrm>
        <a:graphic>
          <a:graphicData uri="http://schemas.openxmlformats.org/drawingml/2006/table">
            <a:tbl>
              <a:tblPr firstRow="1" bandRow="1">
                <a:tableStyleId>{BC89EF96-8CEA-46FF-86C4-4CE0E7609802}</a:tableStyleId>
              </a:tblPr>
              <a:tblGrid>
                <a:gridCol w="1603513">
                  <a:extLst>
                    <a:ext uri="{9D8B030D-6E8A-4147-A177-3AD203B41FA5}">
                      <a16:colId xmlns:a16="http://schemas.microsoft.com/office/drawing/2014/main" val="2488065512"/>
                    </a:ext>
                  </a:extLst>
                </a:gridCol>
                <a:gridCol w="2822713">
                  <a:extLst>
                    <a:ext uri="{9D8B030D-6E8A-4147-A177-3AD203B41FA5}">
                      <a16:colId xmlns:a16="http://schemas.microsoft.com/office/drawing/2014/main" val="1654057716"/>
                    </a:ext>
                  </a:extLst>
                </a:gridCol>
                <a:gridCol w="1656522">
                  <a:extLst>
                    <a:ext uri="{9D8B030D-6E8A-4147-A177-3AD203B41FA5}">
                      <a16:colId xmlns:a16="http://schemas.microsoft.com/office/drawing/2014/main" val="168583751"/>
                    </a:ext>
                  </a:extLst>
                </a:gridCol>
                <a:gridCol w="1802296">
                  <a:extLst>
                    <a:ext uri="{9D8B030D-6E8A-4147-A177-3AD203B41FA5}">
                      <a16:colId xmlns:a16="http://schemas.microsoft.com/office/drawing/2014/main" val="1178243445"/>
                    </a:ext>
                  </a:extLst>
                </a:gridCol>
                <a:gridCol w="2107095">
                  <a:extLst>
                    <a:ext uri="{9D8B030D-6E8A-4147-A177-3AD203B41FA5}">
                      <a16:colId xmlns:a16="http://schemas.microsoft.com/office/drawing/2014/main" val="3868013296"/>
                    </a:ext>
                  </a:extLst>
                </a:gridCol>
              </a:tblGrid>
              <a:tr h="424911">
                <a:tc>
                  <a:txBody>
                    <a:bodyPr/>
                    <a:lstStyle/>
                    <a:p>
                      <a:r>
                        <a:rPr lang="es-CL" dirty="0"/>
                        <a:t>TAREAS</a:t>
                      </a:r>
                      <a:endParaRPr lang="es-ES" dirty="0"/>
                    </a:p>
                  </a:txBody>
                  <a:tcPr>
                    <a:solidFill>
                      <a:schemeClr val="accent1"/>
                    </a:solidFill>
                  </a:tcPr>
                </a:tc>
                <a:tc>
                  <a:txBody>
                    <a:bodyPr/>
                    <a:lstStyle/>
                    <a:p>
                      <a:r>
                        <a:rPr lang="es-CL" dirty="0"/>
                        <a:t>RESULTADOS</a:t>
                      </a:r>
                      <a:endParaRPr lang="es-ES" dirty="0"/>
                    </a:p>
                  </a:txBody>
                  <a:tcPr>
                    <a:solidFill>
                      <a:schemeClr val="accent1"/>
                    </a:solidFill>
                  </a:tcPr>
                </a:tc>
                <a:tc>
                  <a:txBody>
                    <a:bodyPr/>
                    <a:lstStyle/>
                    <a:p>
                      <a:r>
                        <a:rPr lang="es-CL" dirty="0"/>
                        <a:t>PLAZOS</a:t>
                      </a:r>
                      <a:endParaRPr lang="es-ES" dirty="0"/>
                    </a:p>
                  </a:txBody>
                  <a:tcPr>
                    <a:solidFill>
                      <a:schemeClr val="accent1"/>
                    </a:solidFill>
                  </a:tcPr>
                </a:tc>
                <a:tc>
                  <a:txBody>
                    <a:bodyPr/>
                    <a:lstStyle/>
                    <a:p>
                      <a:r>
                        <a:rPr lang="es-CL" dirty="0"/>
                        <a:t>RESPONSABLE</a:t>
                      </a:r>
                      <a:endParaRPr lang="es-ES" dirty="0"/>
                    </a:p>
                  </a:txBody>
                  <a:tcPr>
                    <a:solidFill>
                      <a:schemeClr val="accent1"/>
                    </a:solidFill>
                  </a:tcPr>
                </a:tc>
                <a:tc>
                  <a:txBody>
                    <a:bodyPr/>
                    <a:lstStyle/>
                    <a:p>
                      <a:r>
                        <a:rPr lang="es-CL" dirty="0"/>
                        <a:t>INSUMOS</a:t>
                      </a:r>
                      <a:endParaRPr lang="es-ES" dirty="0"/>
                    </a:p>
                  </a:txBody>
                  <a:tcPr>
                    <a:solidFill>
                      <a:schemeClr val="accent1"/>
                    </a:solidFill>
                  </a:tcPr>
                </a:tc>
                <a:extLst>
                  <a:ext uri="{0D108BD9-81ED-4DB2-BD59-A6C34878D82A}">
                    <a16:rowId xmlns:a16="http://schemas.microsoft.com/office/drawing/2014/main" val="787046986"/>
                  </a:ext>
                </a:extLst>
              </a:tr>
              <a:tr h="960219">
                <a:tc>
                  <a:txBody>
                    <a:bodyPr/>
                    <a:lstStyle/>
                    <a:p>
                      <a:r>
                        <a:rPr lang="es-CL" dirty="0"/>
                        <a:t>Creación de preguntas</a:t>
                      </a:r>
                      <a:endParaRPr lang="es-ES" dirty="0"/>
                    </a:p>
                  </a:txBody>
                  <a:tcPr/>
                </a:tc>
                <a:tc>
                  <a:txBody>
                    <a:bodyPr/>
                    <a:lstStyle/>
                    <a:p>
                      <a:r>
                        <a:rPr lang="es-CL" dirty="0"/>
                        <a:t>Obtener preguntas para validarlas por expertos del área</a:t>
                      </a:r>
                      <a:endParaRPr lang="es-ES" dirty="0"/>
                    </a:p>
                  </a:txBody>
                  <a:tcPr/>
                </a:tc>
                <a:tc>
                  <a:txBody>
                    <a:bodyPr/>
                    <a:lstStyle/>
                    <a:p>
                      <a:r>
                        <a:rPr lang="es-CL" dirty="0"/>
                        <a:t>18 de noviembre</a:t>
                      </a:r>
                      <a:endParaRPr lang="es-ES" dirty="0"/>
                    </a:p>
                  </a:txBody>
                  <a:tcPr/>
                </a:tc>
                <a:tc>
                  <a:txBody>
                    <a:bodyPr/>
                    <a:lstStyle/>
                    <a:p>
                      <a:r>
                        <a:rPr lang="es-CL" dirty="0"/>
                        <a:t>Vicente Salazar</a:t>
                      </a:r>
                      <a:endParaRPr lang="es-ES" dirty="0"/>
                    </a:p>
                  </a:txBody>
                  <a:tcPr/>
                </a:tc>
                <a:tc>
                  <a:txBody>
                    <a:bodyPr/>
                    <a:lstStyle/>
                    <a:p>
                      <a:r>
                        <a:rPr lang="es-CL" dirty="0"/>
                        <a:t>Internet</a:t>
                      </a:r>
                    </a:p>
                    <a:p>
                      <a:r>
                        <a:rPr lang="es-CL" dirty="0"/>
                        <a:t>Computadora</a:t>
                      </a:r>
                      <a:endParaRPr lang="es-ES" dirty="0"/>
                    </a:p>
                  </a:txBody>
                  <a:tcPr/>
                </a:tc>
                <a:extLst>
                  <a:ext uri="{0D108BD9-81ED-4DB2-BD59-A6C34878D82A}">
                    <a16:rowId xmlns:a16="http://schemas.microsoft.com/office/drawing/2014/main" val="888397339"/>
                  </a:ext>
                </a:extLst>
              </a:tr>
              <a:tr h="848140">
                <a:tc>
                  <a:txBody>
                    <a:bodyPr/>
                    <a:lstStyle/>
                    <a:p>
                      <a:r>
                        <a:rPr lang="es-CL" dirty="0"/>
                        <a:t>Validación por expertos</a:t>
                      </a:r>
                      <a:endParaRPr lang="es-ES" dirty="0"/>
                    </a:p>
                  </a:txBody>
                  <a:tcPr/>
                </a:tc>
                <a:tc>
                  <a:txBody>
                    <a:bodyPr/>
                    <a:lstStyle/>
                    <a:p>
                      <a:r>
                        <a:rPr lang="es-CL" dirty="0"/>
                        <a:t>Expertos del área automotriz nos darán sus opiniones para mejorar nuestra preguntas</a:t>
                      </a:r>
                      <a:endParaRPr lang="es-ES" dirty="0"/>
                    </a:p>
                  </a:txBody>
                  <a:tcPr/>
                </a:tc>
                <a:tc>
                  <a:txBody>
                    <a:bodyPr/>
                    <a:lstStyle/>
                    <a:p>
                      <a:r>
                        <a:rPr lang="es-CL" dirty="0"/>
                        <a:t>25 de noviembre</a:t>
                      </a:r>
                      <a:endParaRPr lang="es-ES" dirty="0"/>
                    </a:p>
                  </a:txBody>
                  <a:tcPr/>
                </a:tc>
                <a:tc>
                  <a:txBody>
                    <a:bodyPr/>
                    <a:lstStyle/>
                    <a:p>
                      <a:r>
                        <a:rPr lang="es-CL" dirty="0"/>
                        <a:t>Marcelo Valenzuela</a:t>
                      </a:r>
                      <a:endParaRPr lang="es-ES" dirty="0"/>
                    </a:p>
                  </a:txBody>
                  <a:tcPr/>
                </a:tc>
                <a:tc>
                  <a:txBody>
                    <a:bodyPr/>
                    <a:lstStyle/>
                    <a:p>
                      <a:r>
                        <a:rPr lang="es-CL" dirty="0"/>
                        <a:t>Internet</a:t>
                      </a:r>
                    </a:p>
                    <a:p>
                      <a:r>
                        <a:rPr lang="es-CL" dirty="0"/>
                        <a:t>Computadora</a:t>
                      </a:r>
                      <a:endParaRPr lang="es-ES" dirty="0"/>
                    </a:p>
                  </a:txBody>
                  <a:tcPr/>
                </a:tc>
                <a:extLst>
                  <a:ext uri="{0D108BD9-81ED-4DB2-BD59-A6C34878D82A}">
                    <a16:rowId xmlns:a16="http://schemas.microsoft.com/office/drawing/2014/main" val="1925442045"/>
                  </a:ext>
                </a:extLst>
              </a:tr>
              <a:tr h="84814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s-CL" dirty="0"/>
                        <a:t>Realización de la encuesta</a:t>
                      </a:r>
                      <a:endParaRPr lang="es-ES"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s-CL" dirty="0"/>
                        <a:t>Obtendremos las opiniones de distintas personas junto a sus experiencias</a:t>
                      </a:r>
                      <a:endParaRPr lang="es-ES" dirty="0"/>
                    </a:p>
                  </a:txBody>
                  <a:tcPr/>
                </a:tc>
                <a:tc>
                  <a:txBody>
                    <a:bodyPr/>
                    <a:lstStyle/>
                    <a:p>
                      <a:r>
                        <a:rPr lang="es-CL" dirty="0"/>
                        <a:t>04 de diciembre</a:t>
                      </a:r>
                      <a:endParaRPr lang="es-ES" dirty="0"/>
                    </a:p>
                  </a:txBody>
                  <a:tcPr/>
                </a:tc>
                <a:tc>
                  <a:txBody>
                    <a:bodyPr/>
                    <a:lstStyle/>
                    <a:p>
                      <a:r>
                        <a:rPr lang="es-CL" dirty="0"/>
                        <a:t>Leonardo García</a:t>
                      </a:r>
                      <a:endParaRPr lang="es-ES" dirty="0"/>
                    </a:p>
                  </a:txBody>
                  <a:tcPr/>
                </a:tc>
                <a:tc>
                  <a:txBody>
                    <a:bodyPr/>
                    <a:lstStyle/>
                    <a:p>
                      <a:r>
                        <a:rPr lang="es-CL" dirty="0"/>
                        <a:t>Computadora</a:t>
                      </a:r>
                    </a:p>
                  </a:txBody>
                  <a:tcPr/>
                </a:tc>
                <a:extLst>
                  <a:ext uri="{0D108BD9-81ED-4DB2-BD59-A6C34878D82A}">
                    <a16:rowId xmlns:a16="http://schemas.microsoft.com/office/drawing/2014/main" val="2205829635"/>
                  </a:ext>
                </a:extLst>
              </a:tr>
              <a:tr h="733407">
                <a:tc>
                  <a:txBody>
                    <a:bodyPr/>
                    <a:lstStyle/>
                    <a:p>
                      <a:r>
                        <a:rPr lang="es-CL" dirty="0"/>
                        <a:t>Recopilación de los datos</a:t>
                      </a:r>
                      <a:endParaRPr lang="es-ES" dirty="0"/>
                    </a:p>
                  </a:txBody>
                  <a:tcPr/>
                </a:tc>
                <a:tc>
                  <a:txBody>
                    <a:bodyPr/>
                    <a:lstStyle/>
                    <a:p>
                      <a:r>
                        <a:rPr lang="es-CL" dirty="0"/>
                        <a:t>Obtendremos la cantidad de personas que realizaron la encuesta</a:t>
                      </a:r>
                      <a:endParaRPr lang="es-ES" dirty="0"/>
                    </a:p>
                  </a:txBody>
                  <a:tcPr/>
                </a:tc>
                <a:tc>
                  <a:txBody>
                    <a:bodyPr/>
                    <a:lstStyle/>
                    <a:p>
                      <a:r>
                        <a:rPr lang="es-CL" dirty="0"/>
                        <a:t>06 de diciembre</a:t>
                      </a:r>
                      <a:endParaRPr lang="es-ES" dirty="0"/>
                    </a:p>
                  </a:txBody>
                  <a:tcPr/>
                </a:tc>
                <a:tc>
                  <a:txBody>
                    <a:bodyPr/>
                    <a:lstStyle/>
                    <a:p>
                      <a:r>
                        <a:rPr lang="es-CL" dirty="0"/>
                        <a:t>Vicente Salazar</a:t>
                      </a:r>
                      <a:endParaRPr lang="es-ES" dirty="0"/>
                    </a:p>
                  </a:txBody>
                  <a:tcPr/>
                </a:tc>
                <a:tc>
                  <a:txBody>
                    <a:bodyPr/>
                    <a:lstStyle/>
                    <a:p>
                      <a:r>
                        <a:rPr lang="es-CL" dirty="0"/>
                        <a:t>Internet</a:t>
                      </a:r>
                    </a:p>
                    <a:p>
                      <a:r>
                        <a:rPr lang="es-CL" dirty="0"/>
                        <a:t>Computadora</a:t>
                      </a:r>
                      <a:endParaRPr lang="es-ES" dirty="0"/>
                    </a:p>
                  </a:txBody>
                  <a:tcPr/>
                </a:tc>
                <a:extLst>
                  <a:ext uri="{0D108BD9-81ED-4DB2-BD59-A6C34878D82A}">
                    <a16:rowId xmlns:a16="http://schemas.microsoft.com/office/drawing/2014/main" val="3623936076"/>
                  </a:ext>
                </a:extLst>
              </a:tr>
              <a:tr h="733407">
                <a:tc>
                  <a:txBody>
                    <a:bodyPr/>
                    <a:lstStyle/>
                    <a:p>
                      <a:r>
                        <a:rPr lang="es-CL" dirty="0"/>
                        <a:t>Análisis de los datos</a:t>
                      </a:r>
                      <a:endParaRPr lang="es-ES" dirty="0"/>
                    </a:p>
                  </a:txBody>
                  <a:tcPr/>
                </a:tc>
                <a:tc>
                  <a:txBody>
                    <a:bodyPr/>
                    <a:lstStyle/>
                    <a:p>
                      <a:r>
                        <a:rPr lang="es-CL" dirty="0"/>
                        <a:t>Porcentaje de personas que sienten desconfianza por servicios de los mecánico automotrices</a:t>
                      </a:r>
                      <a:endParaRPr lang="es-ES" dirty="0"/>
                    </a:p>
                  </a:txBody>
                  <a:tcPr/>
                </a:tc>
                <a:tc>
                  <a:txBody>
                    <a:bodyPr/>
                    <a:lstStyle/>
                    <a:p>
                      <a:r>
                        <a:rPr lang="es-CL" dirty="0"/>
                        <a:t>7 de diciembre</a:t>
                      </a:r>
                      <a:endParaRPr lang="es-ES" dirty="0"/>
                    </a:p>
                  </a:txBody>
                  <a:tcPr/>
                </a:tc>
                <a:tc>
                  <a:txBody>
                    <a:bodyPr/>
                    <a:lstStyle/>
                    <a:p>
                      <a:r>
                        <a:rPr lang="es-CL" dirty="0"/>
                        <a:t>Christian Castillo</a:t>
                      </a:r>
                      <a:endParaRPr lang="es-ES" dirty="0"/>
                    </a:p>
                  </a:txBody>
                  <a:tcPr/>
                </a:tc>
                <a:tc>
                  <a:txBody>
                    <a:bodyPr/>
                    <a:lstStyle/>
                    <a:p>
                      <a:r>
                        <a:rPr lang="es-CL" dirty="0"/>
                        <a:t>Calculadora</a:t>
                      </a:r>
                    </a:p>
                    <a:p>
                      <a:r>
                        <a:rPr lang="es-CL" dirty="0"/>
                        <a:t>Computador</a:t>
                      </a:r>
                    </a:p>
                    <a:p>
                      <a:r>
                        <a:rPr lang="es-CL" dirty="0"/>
                        <a:t>Internet</a:t>
                      </a:r>
                      <a:endParaRPr lang="es-ES" dirty="0"/>
                    </a:p>
                  </a:txBody>
                  <a:tcPr/>
                </a:tc>
                <a:extLst>
                  <a:ext uri="{0D108BD9-81ED-4DB2-BD59-A6C34878D82A}">
                    <a16:rowId xmlns:a16="http://schemas.microsoft.com/office/drawing/2014/main" val="3613098435"/>
                  </a:ext>
                </a:extLst>
              </a:tr>
            </a:tbl>
          </a:graphicData>
        </a:graphic>
      </p:graphicFrame>
    </p:spTree>
    <p:extLst>
      <p:ext uri="{BB962C8B-B14F-4D97-AF65-F5344CB8AC3E}">
        <p14:creationId xmlns:p14="http://schemas.microsoft.com/office/powerpoint/2010/main" val="1469199101"/>
      </p:ext>
    </p:extLst>
  </p:cSld>
  <p:clrMapOvr>
    <a:overrideClrMapping bg1="dk1" tx1="lt1" bg2="dk2" tx2="lt2" accent1="accent1" accent2="accent2" accent3="accent3" accent4="accent4" accent5="accent5" accent6="accent6" hlink="hlink" folHlink="folHlink"/>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8" name="Imagen 7" descr="Imagen que contiene persona, interior, tabla, computadora&#10;&#10;Descripción generada automáticamente">
            <a:extLst>
              <a:ext uri="{FF2B5EF4-FFF2-40B4-BE49-F238E27FC236}">
                <a16:creationId xmlns:a16="http://schemas.microsoft.com/office/drawing/2014/main" id="{7E5CEF60-E0B1-E3BB-30D6-635879BFA8CC}"/>
              </a:ext>
            </a:extLst>
          </p:cNvPr>
          <p:cNvPicPr>
            <a:picLocks noChangeAspect="1"/>
          </p:cNvPicPr>
          <p:nvPr/>
        </p:nvPicPr>
        <p:blipFill rotWithShape="1">
          <a:blip r:embed="rId2">
            <a:extLst>
              <a:ext uri="{28A0092B-C50C-407E-A947-70E740481C1C}">
                <a14:useLocalDpi xmlns:a14="http://schemas.microsoft.com/office/drawing/2010/main" val="0"/>
              </a:ext>
            </a:extLst>
          </a:blip>
          <a:srcRect l="32181" r="2262" b="-2"/>
          <a:stretch/>
        </p:blipFill>
        <p:spPr>
          <a:xfrm>
            <a:off x="4269854" y="-1"/>
            <a:ext cx="7922146" cy="6858001"/>
          </a:xfrm>
          <a:custGeom>
            <a:avLst/>
            <a:gdLst/>
            <a:ahLst/>
            <a:cxnLst/>
            <a:rect l="l" t="t" r="r" b="b"/>
            <a:pathLst>
              <a:path w="7922146" h="6858001">
                <a:moveTo>
                  <a:pt x="379987" y="0"/>
                </a:moveTo>
                <a:lnTo>
                  <a:pt x="5304971" y="0"/>
                </a:lnTo>
                <a:lnTo>
                  <a:pt x="7065281" y="0"/>
                </a:lnTo>
                <a:lnTo>
                  <a:pt x="7397540" y="0"/>
                </a:lnTo>
                <a:lnTo>
                  <a:pt x="7397540" y="1"/>
                </a:lnTo>
                <a:lnTo>
                  <a:pt x="7922146" y="1"/>
                </a:lnTo>
                <a:lnTo>
                  <a:pt x="7922146" y="6858001"/>
                </a:lnTo>
                <a:lnTo>
                  <a:pt x="7065281" y="6858001"/>
                </a:lnTo>
                <a:lnTo>
                  <a:pt x="7065281" y="6858000"/>
                </a:lnTo>
                <a:lnTo>
                  <a:pt x="5932989" y="6858000"/>
                </a:lnTo>
                <a:lnTo>
                  <a:pt x="5932989" y="6858001"/>
                </a:lnTo>
                <a:lnTo>
                  <a:pt x="27809" y="6858001"/>
                </a:lnTo>
                <a:lnTo>
                  <a:pt x="1803228" y="4521201"/>
                </a:lnTo>
                <a:close/>
                <a:moveTo>
                  <a:pt x="0" y="0"/>
                </a:moveTo>
                <a:lnTo>
                  <a:pt x="379987" y="0"/>
                </a:lnTo>
                <a:lnTo>
                  <a:pt x="0" y="407"/>
                </a:lnTo>
                <a:close/>
              </a:path>
            </a:pathLst>
          </a:custGeom>
        </p:spPr>
      </p:pic>
      <p:sp>
        <p:nvSpPr>
          <p:cNvPr id="2" name="Título 1">
            <a:extLst>
              <a:ext uri="{FF2B5EF4-FFF2-40B4-BE49-F238E27FC236}">
                <a16:creationId xmlns:a16="http://schemas.microsoft.com/office/drawing/2014/main" id="{99D3D51A-987F-89F9-84EF-977927BBA605}"/>
              </a:ext>
            </a:extLst>
          </p:cNvPr>
          <p:cNvSpPr>
            <a:spLocks noGrp="1"/>
          </p:cNvSpPr>
          <p:nvPr>
            <p:ph type="title"/>
          </p:nvPr>
        </p:nvSpPr>
        <p:spPr>
          <a:xfrm>
            <a:off x="677333" y="609600"/>
            <a:ext cx="3851123" cy="1320800"/>
          </a:xfrm>
        </p:spPr>
        <p:txBody>
          <a:bodyPr>
            <a:normAutofit/>
          </a:bodyPr>
          <a:lstStyle/>
          <a:p>
            <a:r>
              <a:rPr lang="es-CL" b="1" dirty="0"/>
              <a:t>HERRAMIENTAS TECNOLÓGICAS</a:t>
            </a:r>
            <a:endParaRPr lang="es-ES" b="1" dirty="0"/>
          </a:p>
        </p:txBody>
      </p:sp>
      <p:sp>
        <p:nvSpPr>
          <p:cNvPr id="3" name="Marcador de contenido 2">
            <a:extLst>
              <a:ext uri="{FF2B5EF4-FFF2-40B4-BE49-F238E27FC236}">
                <a16:creationId xmlns:a16="http://schemas.microsoft.com/office/drawing/2014/main" id="{7DAB976C-1E8E-9E39-CAF2-206596E744FA}"/>
              </a:ext>
            </a:extLst>
          </p:cNvPr>
          <p:cNvSpPr>
            <a:spLocks noGrp="1"/>
          </p:cNvSpPr>
          <p:nvPr>
            <p:ph idx="1"/>
          </p:nvPr>
        </p:nvSpPr>
        <p:spPr>
          <a:xfrm>
            <a:off x="304800" y="2160589"/>
            <a:ext cx="5136092" cy="4279968"/>
          </a:xfrm>
        </p:spPr>
        <p:txBody>
          <a:bodyPr>
            <a:normAutofit/>
          </a:bodyPr>
          <a:lstStyle/>
          <a:p>
            <a:pPr>
              <a:lnSpc>
                <a:spcPct val="90000"/>
              </a:lnSpc>
            </a:pPr>
            <a:r>
              <a:rPr lang="es-CL" sz="1600" b="1" dirty="0">
                <a:solidFill>
                  <a:schemeClr val="tx1"/>
                </a:solidFill>
              </a:rPr>
              <a:t>Buscador de Google</a:t>
            </a:r>
          </a:p>
          <a:p>
            <a:pPr marL="0" indent="0" algn="just">
              <a:lnSpc>
                <a:spcPct val="90000"/>
              </a:lnSpc>
              <a:buNone/>
            </a:pPr>
            <a:r>
              <a:rPr lang="es-CL" sz="1600" dirty="0">
                <a:solidFill>
                  <a:schemeClr val="tx1"/>
                </a:solidFill>
              </a:rPr>
              <a:t>Este buscador es una herramienta que nos permite navegar por el internet por medio de páginas web de diferentes sitios, buscando y encontrando respuestas a nuestras preguntas e información para guiar a nuestro equipo de trabajo, con el fin de completar nuestro proyecto.</a:t>
            </a:r>
          </a:p>
          <a:p>
            <a:pPr marL="0" indent="0">
              <a:lnSpc>
                <a:spcPct val="90000"/>
              </a:lnSpc>
              <a:buNone/>
            </a:pPr>
            <a:endParaRPr lang="es-CL" sz="1400" dirty="0">
              <a:solidFill>
                <a:schemeClr val="tx1"/>
              </a:solidFill>
            </a:endParaRPr>
          </a:p>
          <a:p>
            <a:pPr>
              <a:lnSpc>
                <a:spcPct val="90000"/>
              </a:lnSpc>
            </a:pPr>
            <a:r>
              <a:rPr lang="es-CL" sz="1600" b="1" dirty="0">
                <a:solidFill>
                  <a:schemeClr val="tx1"/>
                </a:solidFill>
              </a:rPr>
              <a:t>Google Drive</a:t>
            </a:r>
          </a:p>
          <a:p>
            <a:pPr marL="0" indent="0" algn="just">
              <a:lnSpc>
                <a:spcPct val="90000"/>
              </a:lnSpc>
              <a:buNone/>
            </a:pPr>
            <a:r>
              <a:rPr lang="es-CL" sz="1600" dirty="0">
                <a:solidFill>
                  <a:schemeClr val="tx1"/>
                </a:solidFill>
              </a:rPr>
              <a:t>Esta aplicación nos permite almacenar, compartir y dar acceso a diferentes archivos y documentos desde cualquier dispositivo. Esta herramienta nos brinda la posibilidad de compartir nuestros documentos facilitando editarlos en conjunto como grupo de trabajo.</a:t>
            </a:r>
          </a:p>
        </p:txBody>
      </p:sp>
      <p:cxnSp>
        <p:nvCxnSpPr>
          <p:cNvPr id="32" name="Straight Connector 31">
            <a:extLst>
              <a:ext uri="{FF2B5EF4-FFF2-40B4-BE49-F238E27FC236}">
                <a16:creationId xmlns:a16="http://schemas.microsoft.com/office/drawing/2014/main" id="{64FA5DFF-7FE6-4855-84E6-DFA78EE978B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34" name="Straight Connector 33">
            <a:extLst>
              <a:ext uri="{FF2B5EF4-FFF2-40B4-BE49-F238E27FC236}">
                <a16:creationId xmlns:a16="http://schemas.microsoft.com/office/drawing/2014/main" id="{2AFD8CBA-54A3-4363-991B-B9C631BBFA7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36" name="Rectangle 23">
            <a:extLst>
              <a:ext uri="{FF2B5EF4-FFF2-40B4-BE49-F238E27FC236}">
                <a16:creationId xmlns:a16="http://schemas.microsoft.com/office/drawing/2014/main" id="{3F088236-D655-4F88-B238-E167623580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8" name="Rectangle 25">
            <a:extLst>
              <a:ext uri="{FF2B5EF4-FFF2-40B4-BE49-F238E27FC236}">
                <a16:creationId xmlns:a16="http://schemas.microsoft.com/office/drawing/2014/main" id="{3DAC0C92-199E-475C-9390-119A9B0272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40" name="Isosceles Triangle 24">
            <a:extLst>
              <a:ext uri="{FF2B5EF4-FFF2-40B4-BE49-F238E27FC236}">
                <a16:creationId xmlns:a16="http://schemas.microsoft.com/office/drawing/2014/main" id="{C4CFB339-0ED8-4FE2-9EF1-6D1375B849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42" name="Rectangle 27">
            <a:extLst>
              <a:ext uri="{FF2B5EF4-FFF2-40B4-BE49-F238E27FC236}">
                <a16:creationId xmlns:a16="http://schemas.microsoft.com/office/drawing/2014/main" id="{31896C80-2069-4431-9C19-83B9137344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47000"/>
            </a:schemeClr>
          </a:solidFill>
          <a:ln>
            <a:noFill/>
          </a:ln>
          <a:effectLst/>
        </p:spPr>
        <p:style>
          <a:lnRef idx="1">
            <a:schemeClr val="accent1"/>
          </a:lnRef>
          <a:fillRef idx="3">
            <a:schemeClr val="accent1"/>
          </a:fillRef>
          <a:effectRef idx="2">
            <a:schemeClr val="accent1"/>
          </a:effectRef>
          <a:fontRef idx="minor">
            <a:schemeClr val="lt1"/>
          </a:fontRef>
        </p:style>
      </p:sp>
      <p:sp>
        <p:nvSpPr>
          <p:cNvPr id="44" name="Rectangle 28">
            <a:extLst>
              <a:ext uri="{FF2B5EF4-FFF2-40B4-BE49-F238E27FC236}">
                <a16:creationId xmlns:a16="http://schemas.microsoft.com/office/drawing/2014/main" id="{BF120A21-0841-4823-B0C4-28AEBCEF9B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46" name="Rectangle 29">
            <a:extLst>
              <a:ext uri="{FF2B5EF4-FFF2-40B4-BE49-F238E27FC236}">
                <a16:creationId xmlns:a16="http://schemas.microsoft.com/office/drawing/2014/main" id="{DBB05BAE-BBD3-4289-899F-A6851503C6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48" name="Isosceles Triangle 29">
            <a:extLst>
              <a:ext uri="{FF2B5EF4-FFF2-40B4-BE49-F238E27FC236}">
                <a16:creationId xmlns:a16="http://schemas.microsoft.com/office/drawing/2014/main" id="{9874D11C-36F5-4BBE-A490-019A54E953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25108148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7" name="Imagen 6" descr="Imagen que contiene persona, interior, tabla, computadora&#10;&#10;Descripción generada automáticamente">
            <a:extLst>
              <a:ext uri="{FF2B5EF4-FFF2-40B4-BE49-F238E27FC236}">
                <a16:creationId xmlns:a16="http://schemas.microsoft.com/office/drawing/2014/main" id="{9CC03A80-89E9-D279-ADC7-D504A5E5BE39}"/>
              </a:ext>
            </a:extLst>
          </p:cNvPr>
          <p:cNvPicPr>
            <a:picLocks noChangeAspect="1"/>
          </p:cNvPicPr>
          <p:nvPr/>
        </p:nvPicPr>
        <p:blipFill rotWithShape="1">
          <a:blip r:embed="rId2">
            <a:extLst>
              <a:ext uri="{28A0092B-C50C-407E-A947-70E740481C1C}">
                <a14:useLocalDpi xmlns:a14="http://schemas.microsoft.com/office/drawing/2010/main" val="0"/>
              </a:ext>
            </a:extLst>
          </a:blip>
          <a:srcRect l="32181" r="2262" b="-2"/>
          <a:stretch/>
        </p:blipFill>
        <p:spPr>
          <a:xfrm>
            <a:off x="4269854" y="-1"/>
            <a:ext cx="7922146" cy="6858001"/>
          </a:xfrm>
          <a:custGeom>
            <a:avLst/>
            <a:gdLst/>
            <a:ahLst/>
            <a:cxnLst/>
            <a:rect l="l" t="t" r="r" b="b"/>
            <a:pathLst>
              <a:path w="7922146" h="6858001">
                <a:moveTo>
                  <a:pt x="379987" y="0"/>
                </a:moveTo>
                <a:lnTo>
                  <a:pt x="5304971" y="0"/>
                </a:lnTo>
                <a:lnTo>
                  <a:pt x="7065281" y="0"/>
                </a:lnTo>
                <a:lnTo>
                  <a:pt x="7397540" y="0"/>
                </a:lnTo>
                <a:lnTo>
                  <a:pt x="7397540" y="1"/>
                </a:lnTo>
                <a:lnTo>
                  <a:pt x="7922146" y="1"/>
                </a:lnTo>
                <a:lnTo>
                  <a:pt x="7922146" y="6858001"/>
                </a:lnTo>
                <a:lnTo>
                  <a:pt x="7065281" y="6858001"/>
                </a:lnTo>
                <a:lnTo>
                  <a:pt x="7065281" y="6858000"/>
                </a:lnTo>
                <a:lnTo>
                  <a:pt x="5932989" y="6858000"/>
                </a:lnTo>
                <a:lnTo>
                  <a:pt x="5932989" y="6858001"/>
                </a:lnTo>
                <a:lnTo>
                  <a:pt x="27809" y="6858001"/>
                </a:lnTo>
                <a:lnTo>
                  <a:pt x="1803228" y="4521201"/>
                </a:lnTo>
                <a:close/>
                <a:moveTo>
                  <a:pt x="0" y="0"/>
                </a:moveTo>
                <a:lnTo>
                  <a:pt x="379987" y="0"/>
                </a:lnTo>
                <a:lnTo>
                  <a:pt x="0" y="407"/>
                </a:lnTo>
                <a:close/>
              </a:path>
            </a:pathLst>
          </a:custGeom>
        </p:spPr>
      </p:pic>
      <p:sp>
        <p:nvSpPr>
          <p:cNvPr id="3" name="Marcador de contenido 2">
            <a:extLst>
              <a:ext uri="{FF2B5EF4-FFF2-40B4-BE49-F238E27FC236}">
                <a16:creationId xmlns:a16="http://schemas.microsoft.com/office/drawing/2014/main" id="{95D03E81-FB67-0D37-0B73-74A63C640D8A}"/>
              </a:ext>
            </a:extLst>
          </p:cNvPr>
          <p:cNvSpPr>
            <a:spLocks noGrp="1"/>
          </p:cNvSpPr>
          <p:nvPr>
            <p:ph idx="1"/>
          </p:nvPr>
        </p:nvSpPr>
        <p:spPr>
          <a:xfrm>
            <a:off x="314879" y="984739"/>
            <a:ext cx="4763558" cy="5401994"/>
          </a:xfrm>
        </p:spPr>
        <p:txBody>
          <a:bodyPr>
            <a:normAutofit lnSpcReduction="10000"/>
          </a:bodyPr>
          <a:lstStyle/>
          <a:p>
            <a:pPr>
              <a:lnSpc>
                <a:spcPct val="90000"/>
              </a:lnSpc>
            </a:pPr>
            <a:r>
              <a:rPr lang="es-CL" sz="1600" b="1" dirty="0">
                <a:solidFill>
                  <a:schemeClr val="tx1"/>
                </a:solidFill>
              </a:rPr>
              <a:t>Aplicaciones Office</a:t>
            </a:r>
          </a:p>
          <a:p>
            <a:pPr marL="0" indent="0" algn="just">
              <a:lnSpc>
                <a:spcPct val="90000"/>
              </a:lnSpc>
              <a:buNone/>
            </a:pPr>
            <a:r>
              <a:rPr lang="es-CL" sz="1600" b="1" dirty="0">
                <a:solidFill>
                  <a:schemeClr val="tx1"/>
                </a:solidFill>
              </a:rPr>
              <a:t>Power Point</a:t>
            </a:r>
            <a:r>
              <a:rPr lang="es-CL" sz="1600" dirty="0">
                <a:solidFill>
                  <a:schemeClr val="tx1"/>
                </a:solidFill>
              </a:rPr>
              <a:t>: Es una aplicación sencilla de utilizar, esta nos permite crear presentaciones en diapositivas, podemos incluir en ellas, textos, imágenes, videos o gráficos. Esta herramienta tecnológica nos ayuda a guardar y ordenar la información que hemos investigado, es una herramienta muy útil para avanzar en nuestro proyecto. </a:t>
            </a:r>
          </a:p>
          <a:p>
            <a:pPr marL="0" indent="0" algn="just">
              <a:lnSpc>
                <a:spcPct val="90000"/>
              </a:lnSpc>
              <a:buNone/>
            </a:pPr>
            <a:r>
              <a:rPr lang="es-CL" sz="1600" b="1" dirty="0">
                <a:solidFill>
                  <a:schemeClr val="tx1"/>
                </a:solidFill>
              </a:rPr>
              <a:t>Word</a:t>
            </a:r>
            <a:r>
              <a:rPr lang="es-CL" sz="1600" dirty="0">
                <a:solidFill>
                  <a:schemeClr val="tx1"/>
                </a:solidFill>
              </a:rPr>
              <a:t>: Esta aplicación nos brinda la opción de crear y modificar documentos a nuestro antojo. Esta herramienta contiene diversas opciones que nos ayudaron a la hora de crear la validación de encuesta.</a:t>
            </a:r>
          </a:p>
          <a:p>
            <a:pPr>
              <a:lnSpc>
                <a:spcPct val="90000"/>
              </a:lnSpc>
            </a:pPr>
            <a:r>
              <a:rPr lang="es-CL" sz="1600" b="1" dirty="0">
                <a:solidFill>
                  <a:schemeClr val="tx1"/>
                </a:solidFill>
              </a:rPr>
              <a:t>Formulario de Google</a:t>
            </a:r>
          </a:p>
          <a:p>
            <a:pPr marL="0" indent="0" algn="just">
              <a:lnSpc>
                <a:spcPct val="90000"/>
              </a:lnSpc>
              <a:buNone/>
            </a:pPr>
            <a:r>
              <a:rPr lang="es-CL" sz="1600" dirty="0">
                <a:solidFill>
                  <a:schemeClr val="tx1"/>
                </a:solidFill>
              </a:rPr>
              <a:t>Esta herramienta tecnológica nos proporciona la posibilidad de crear encuestas o cuestionarios directamente de un computador o móvil. Con formulario de Google creamos la encuesta que va dirigida a distintas personas, con la finalidad de que la respondan y nos cuenten sus opiniones y experiencias.</a:t>
            </a:r>
          </a:p>
          <a:p>
            <a:pPr>
              <a:lnSpc>
                <a:spcPct val="90000"/>
              </a:lnSpc>
            </a:pPr>
            <a:endParaRPr lang="es-ES" sz="1100" dirty="0"/>
          </a:p>
        </p:txBody>
      </p:sp>
      <p:cxnSp>
        <p:nvCxnSpPr>
          <p:cNvPr id="12" name="Straight Connector 11">
            <a:extLst>
              <a:ext uri="{FF2B5EF4-FFF2-40B4-BE49-F238E27FC236}">
                <a16:creationId xmlns:a16="http://schemas.microsoft.com/office/drawing/2014/main" id="{64FA5DFF-7FE6-4855-84E6-DFA78EE978B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2AFD8CBA-54A3-4363-991B-B9C631BBFA7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16" name="Rectangle 23">
            <a:extLst>
              <a:ext uri="{FF2B5EF4-FFF2-40B4-BE49-F238E27FC236}">
                <a16:creationId xmlns:a16="http://schemas.microsoft.com/office/drawing/2014/main" id="{3F088236-D655-4F88-B238-E167623580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8" name="Rectangle 25">
            <a:extLst>
              <a:ext uri="{FF2B5EF4-FFF2-40B4-BE49-F238E27FC236}">
                <a16:creationId xmlns:a16="http://schemas.microsoft.com/office/drawing/2014/main" id="{3DAC0C92-199E-475C-9390-119A9B0272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0" name="Isosceles Triangle 24">
            <a:extLst>
              <a:ext uri="{FF2B5EF4-FFF2-40B4-BE49-F238E27FC236}">
                <a16:creationId xmlns:a16="http://schemas.microsoft.com/office/drawing/2014/main" id="{C4CFB339-0ED8-4FE2-9EF1-6D1375B849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7">
            <a:extLst>
              <a:ext uri="{FF2B5EF4-FFF2-40B4-BE49-F238E27FC236}">
                <a16:creationId xmlns:a16="http://schemas.microsoft.com/office/drawing/2014/main" id="{31896C80-2069-4431-9C19-83B9137344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47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8">
            <a:extLst>
              <a:ext uri="{FF2B5EF4-FFF2-40B4-BE49-F238E27FC236}">
                <a16:creationId xmlns:a16="http://schemas.microsoft.com/office/drawing/2014/main" id="{BF120A21-0841-4823-B0C4-28AEBCEF9B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a:extLst>
              <a:ext uri="{FF2B5EF4-FFF2-40B4-BE49-F238E27FC236}">
                <a16:creationId xmlns:a16="http://schemas.microsoft.com/office/drawing/2014/main" id="{DBB05BAE-BBD3-4289-899F-A6851503C6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9">
            <a:extLst>
              <a:ext uri="{FF2B5EF4-FFF2-40B4-BE49-F238E27FC236}">
                <a16:creationId xmlns:a16="http://schemas.microsoft.com/office/drawing/2014/main" id="{9874D11C-36F5-4BBE-A490-019A54E953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27548024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805A159-03E5-8957-2256-1754D63D762D}"/>
              </a:ext>
            </a:extLst>
          </p:cNvPr>
          <p:cNvSpPr>
            <a:spLocks noGrp="1"/>
          </p:cNvSpPr>
          <p:nvPr>
            <p:ph type="title"/>
          </p:nvPr>
        </p:nvSpPr>
        <p:spPr>
          <a:xfrm>
            <a:off x="295891" y="461038"/>
            <a:ext cx="9095621" cy="660400"/>
          </a:xfrm>
        </p:spPr>
        <p:txBody>
          <a:bodyPr/>
          <a:lstStyle/>
          <a:p>
            <a:r>
              <a:rPr lang="es-CL" b="1" dirty="0"/>
              <a:t>EVIDENCIA FUENTES DE INFORMACIÓN</a:t>
            </a:r>
            <a:endParaRPr lang="es-ES" b="1" dirty="0"/>
          </a:p>
        </p:txBody>
      </p:sp>
      <p:pic>
        <p:nvPicPr>
          <p:cNvPr id="5" name="Marcador de contenido 4" descr="Texto, Carta&#10;&#10;Descripción generada automáticamente">
            <a:extLst>
              <a:ext uri="{FF2B5EF4-FFF2-40B4-BE49-F238E27FC236}">
                <a16:creationId xmlns:a16="http://schemas.microsoft.com/office/drawing/2014/main" id="{8B0C2CE6-2CA2-45CE-CF2B-C297B5880814}"/>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l="11084" t="19449" r="11527" b="3731"/>
          <a:stretch/>
        </p:blipFill>
        <p:spPr>
          <a:xfrm>
            <a:off x="271905" y="2121161"/>
            <a:ext cx="2621978" cy="3470264"/>
          </a:xfrm>
          <a:ln w="12700">
            <a:solidFill>
              <a:schemeClr val="tx1"/>
            </a:solidFill>
          </a:ln>
        </p:spPr>
      </p:pic>
      <p:pic>
        <p:nvPicPr>
          <p:cNvPr id="7" name="Imagen 6" descr="Imagen que contiene texto&#10;&#10;Descripción generada automáticamente">
            <a:extLst>
              <a:ext uri="{FF2B5EF4-FFF2-40B4-BE49-F238E27FC236}">
                <a16:creationId xmlns:a16="http://schemas.microsoft.com/office/drawing/2014/main" id="{A9A36930-5886-47C2-1D93-DF4CF6C5E60F}"/>
              </a:ext>
            </a:extLst>
          </p:cNvPr>
          <p:cNvPicPr>
            <a:picLocks noChangeAspect="1"/>
          </p:cNvPicPr>
          <p:nvPr/>
        </p:nvPicPr>
        <p:blipFill rotWithShape="1">
          <a:blip r:embed="rId3">
            <a:extLst>
              <a:ext uri="{28A0092B-C50C-407E-A947-70E740481C1C}">
                <a14:useLocalDpi xmlns:a14="http://schemas.microsoft.com/office/drawing/2010/main" val="0"/>
              </a:ext>
            </a:extLst>
          </a:blip>
          <a:srcRect l="6850" t="1843" r="5278" b="13856"/>
          <a:stretch/>
        </p:blipFill>
        <p:spPr>
          <a:xfrm>
            <a:off x="3220000" y="2121161"/>
            <a:ext cx="2712941" cy="3470264"/>
          </a:xfrm>
          <a:prstGeom prst="rect">
            <a:avLst/>
          </a:prstGeom>
          <a:ln w="12700">
            <a:solidFill>
              <a:schemeClr val="tx1"/>
            </a:solidFill>
          </a:ln>
        </p:spPr>
      </p:pic>
      <p:pic>
        <p:nvPicPr>
          <p:cNvPr id="9" name="Imagen 8" descr="Texto, Carta&#10;&#10;Descripción generada automáticamente">
            <a:extLst>
              <a:ext uri="{FF2B5EF4-FFF2-40B4-BE49-F238E27FC236}">
                <a16:creationId xmlns:a16="http://schemas.microsoft.com/office/drawing/2014/main" id="{D26E08A6-BC5D-BC84-4862-1EB69A16A7AA}"/>
              </a:ext>
            </a:extLst>
          </p:cNvPr>
          <p:cNvPicPr>
            <a:picLocks noChangeAspect="1"/>
          </p:cNvPicPr>
          <p:nvPr/>
        </p:nvPicPr>
        <p:blipFill rotWithShape="1">
          <a:blip r:embed="rId4">
            <a:extLst>
              <a:ext uri="{28A0092B-C50C-407E-A947-70E740481C1C}">
                <a14:useLocalDpi xmlns:a14="http://schemas.microsoft.com/office/drawing/2010/main" val="0"/>
              </a:ext>
            </a:extLst>
          </a:blip>
          <a:srcRect l="2980" t="5118"/>
          <a:stretch/>
        </p:blipFill>
        <p:spPr>
          <a:xfrm>
            <a:off x="6259058" y="2121161"/>
            <a:ext cx="2661337" cy="3470264"/>
          </a:xfrm>
          <a:prstGeom prst="rect">
            <a:avLst/>
          </a:prstGeom>
          <a:ln w="12700">
            <a:solidFill>
              <a:schemeClr val="tx1"/>
            </a:solidFill>
          </a:ln>
        </p:spPr>
      </p:pic>
      <p:pic>
        <p:nvPicPr>
          <p:cNvPr id="11" name="Imagen 10" descr="Texto, Carta&#10;&#10;Descripción generada automáticamente">
            <a:extLst>
              <a:ext uri="{FF2B5EF4-FFF2-40B4-BE49-F238E27FC236}">
                <a16:creationId xmlns:a16="http://schemas.microsoft.com/office/drawing/2014/main" id="{591DE6C6-9CD7-5087-30E7-9443F91B7EF0}"/>
              </a:ext>
            </a:extLst>
          </p:cNvPr>
          <p:cNvPicPr>
            <a:picLocks noChangeAspect="1"/>
          </p:cNvPicPr>
          <p:nvPr/>
        </p:nvPicPr>
        <p:blipFill rotWithShape="1">
          <a:blip r:embed="rId5">
            <a:extLst>
              <a:ext uri="{28A0092B-C50C-407E-A947-70E740481C1C}">
                <a14:useLocalDpi xmlns:a14="http://schemas.microsoft.com/office/drawing/2010/main" val="0"/>
              </a:ext>
            </a:extLst>
          </a:blip>
          <a:srcRect l="8121" t="4594" r="1990" b="4851"/>
          <a:stretch/>
        </p:blipFill>
        <p:spPr>
          <a:xfrm>
            <a:off x="9246512" y="2093162"/>
            <a:ext cx="2585723" cy="3473073"/>
          </a:xfrm>
          <a:prstGeom prst="rect">
            <a:avLst/>
          </a:prstGeom>
          <a:ln w="12700">
            <a:solidFill>
              <a:schemeClr val="tx1"/>
            </a:solidFill>
          </a:ln>
        </p:spPr>
      </p:pic>
      <p:sp>
        <p:nvSpPr>
          <p:cNvPr id="12" name="CuadroTexto 11">
            <a:extLst>
              <a:ext uri="{FF2B5EF4-FFF2-40B4-BE49-F238E27FC236}">
                <a16:creationId xmlns:a16="http://schemas.microsoft.com/office/drawing/2014/main" id="{EC47AE6F-E060-0E84-F8CC-DF717357292F}"/>
              </a:ext>
            </a:extLst>
          </p:cNvPr>
          <p:cNvSpPr txBox="1"/>
          <p:nvPr/>
        </p:nvSpPr>
        <p:spPr>
          <a:xfrm>
            <a:off x="1359947" y="1590261"/>
            <a:ext cx="3216523" cy="369332"/>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s-CL" dirty="0"/>
              <a:t>Docente Alejandro Sandoval</a:t>
            </a:r>
            <a:endParaRPr lang="es-ES" dirty="0"/>
          </a:p>
        </p:txBody>
      </p:sp>
      <p:sp>
        <p:nvSpPr>
          <p:cNvPr id="13" name="CuadroTexto 12">
            <a:extLst>
              <a:ext uri="{FF2B5EF4-FFF2-40B4-BE49-F238E27FC236}">
                <a16:creationId xmlns:a16="http://schemas.microsoft.com/office/drawing/2014/main" id="{65FD0516-9388-6112-DDF7-71184F9DB6F8}"/>
              </a:ext>
            </a:extLst>
          </p:cNvPr>
          <p:cNvSpPr txBox="1"/>
          <p:nvPr/>
        </p:nvSpPr>
        <p:spPr>
          <a:xfrm>
            <a:off x="7589726" y="1590261"/>
            <a:ext cx="3216523" cy="369332"/>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s-CL" dirty="0"/>
              <a:t>Docente Claudio Morales</a:t>
            </a:r>
            <a:endParaRPr lang="es-ES" dirty="0"/>
          </a:p>
        </p:txBody>
      </p:sp>
    </p:spTree>
    <p:extLst>
      <p:ext uri="{BB962C8B-B14F-4D97-AF65-F5344CB8AC3E}">
        <p14:creationId xmlns:p14="http://schemas.microsoft.com/office/powerpoint/2010/main" val="41131067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Marcador de contenido 4" descr="Texto, Carta&#10;&#10;Descripción generada automáticamente">
            <a:extLst>
              <a:ext uri="{FF2B5EF4-FFF2-40B4-BE49-F238E27FC236}">
                <a16:creationId xmlns:a16="http://schemas.microsoft.com/office/drawing/2014/main" id="{FB287F12-5C36-2356-8301-660A1D75FF24}"/>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t="5450" r="2422"/>
          <a:stretch/>
        </p:blipFill>
        <p:spPr>
          <a:xfrm>
            <a:off x="167681" y="1594056"/>
            <a:ext cx="2776829" cy="3587544"/>
          </a:xfrm>
          <a:ln w="12700">
            <a:solidFill>
              <a:schemeClr val="tx1"/>
            </a:solidFill>
          </a:ln>
        </p:spPr>
      </p:pic>
      <p:pic>
        <p:nvPicPr>
          <p:cNvPr id="7" name="Imagen 6" descr="Texto, Carta&#10;&#10;Descripción generada automáticamente">
            <a:extLst>
              <a:ext uri="{FF2B5EF4-FFF2-40B4-BE49-F238E27FC236}">
                <a16:creationId xmlns:a16="http://schemas.microsoft.com/office/drawing/2014/main" id="{7BA13077-9C44-5ECD-7D73-6B0443E217A5}"/>
              </a:ext>
            </a:extLst>
          </p:cNvPr>
          <p:cNvPicPr>
            <a:picLocks noChangeAspect="1"/>
          </p:cNvPicPr>
          <p:nvPr/>
        </p:nvPicPr>
        <p:blipFill rotWithShape="1">
          <a:blip r:embed="rId3">
            <a:extLst>
              <a:ext uri="{28A0092B-C50C-407E-A947-70E740481C1C}">
                <a14:useLocalDpi xmlns:a14="http://schemas.microsoft.com/office/drawing/2010/main" val="0"/>
              </a:ext>
            </a:extLst>
          </a:blip>
          <a:srcRect l="7782" t="4172" r="7141" b="10829"/>
          <a:stretch/>
        </p:blipFill>
        <p:spPr>
          <a:xfrm>
            <a:off x="3172496" y="1572960"/>
            <a:ext cx="2708951" cy="3608640"/>
          </a:xfrm>
          <a:prstGeom prst="rect">
            <a:avLst/>
          </a:prstGeom>
          <a:ln w="12700">
            <a:solidFill>
              <a:schemeClr val="tx1"/>
            </a:solidFill>
          </a:ln>
        </p:spPr>
      </p:pic>
      <p:pic>
        <p:nvPicPr>
          <p:cNvPr id="9" name="Imagen 8" descr="Imagen que contiene Tabla&#10;&#10;Descripción generada automáticamente">
            <a:extLst>
              <a:ext uri="{FF2B5EF4-FFF2-40B4-BE49-F238E27FC236}">
                <a16:creationId xmlns:a16="http://schemas.microsoft.com/office/drawing/2014/main" id="{BE38F40E-8923-7F8D-B58E-CC4A6DD68798}"/>
              </a:ext>
            </a:extLst>
          </p:cNvPr>
          <p:cNvPicPr>
            <a:picLocks noChangeAspect="1"/>
          </p:cNvPicPr>
          <p:nvPr/>
        </p:nvPicPr>
        <p:blipFill rotWithShape="1">
          <a:blip r:embed="rId4">
            <a:extLst>
              <a:ext uri="{28A0092B-C50C-407E-A947-70E740481C1C}">
                <a14:useLocalDpi xmlns:a14="http://schemas.microsoft.com/office/drawing/2010/main" val="0"/>
              </a:ext>
            </a:extLst>
          </a:blip>
          <a:srcRect t="2813" r="11528" b="4305"/>
          <a:stretch/>
        </p:blipFill>
        <p:spPr>
          <a:xfrm rot="16200000">
            <a:off x="5712407" y="1977649"/>
            <a:ext cx="3608641" cy="2841455"/>
          </a:xfrm>
          <a:prstGeom prst="rect">
            <a:avLst/>
          </a:prstGeom>
          <a:ln w="12700">
            <a:solidFill>
              <a:schemeClr val="tx1"/>
            </a:solidFill>
          </a:ln>
        </p:spPr>
      </p:pic>
      <p:pic>
        <p:nvPicPr>
          <p:cNvPr id="11" name="Imagen 10" descr="Imagen que contiene Diagrama&#10;&#10;Descripción generada automáticamente">
            <a:extLst>
              <a:ext uri="{FF2B5EF4-FFF2-40B4-BE49-F238E27FC236}">
                <a16:creationId xmlns:a16="http://schemas.microsoft.com/office/drawing/2014/main" id="{8270A5E3-7A44-2125-6678-C8FA92AB7921}"/>
              </a:ext>
            </a:extLst>
          </p:cNvPr>
          <p:cNvPicPr>
            <a:picLocks noChangeAspect="1"/>
          </p:cNvPicPr>
          <p:nvPr/>
        </p:nvPicPr>
        <p:blipFill rotWithShape="1">
          <a:blip r:embed="rId5">
            <a:extLst>
              <a:ext uri="{28A0092B-C50C-407E-A947-70E740481C1C}">
                <a14:useLocalDpi xmlns:a14="http://schemas.microsoft.com/office/drawing/2010/main" val="0"/>
              </a:ext>
            </a:extLst>
          </a:blip>
          <a:srcRect l="10073" t="6064" r="5836" b="5229"/>
          <a:stretch/>
        </p:blipFill>
        <p:spPr>
          <a:xfrm rot="16200000">
            <a:off x="8775186" y="1970879"/>
            <a:ext cx="3608638" cy="2854992"/>
          </a:xfrm>
          <a:prstGeom prst="rect">
            <a:avLst/>
          </a:prstGeom>
          <a:ln w="12700">
            <a:solidFill>
              <a:schemeClr val="tx1"/>
            </a:solidFill>
          </a:ln>
        </p:spPr>
      </p:pic>
      <p:sp>
        <p:nvSpPr>
          <p:cNvPr id="12" name="CuadroTexto 11">
            <a:extLst>
              <a:ext uri="{FF2B5EF4-FFF2-40B4-BE49-F238E27FC236}">
                <a16:creationId xmlns:a16="http://schemas.microsoft.com/office/drawing/2014/main" id="{5AF9FDAC-9063-4F20-C8EC-ADE33C02A90E}"/>
              </a:ext>
            </a:extLst>
          </p:cNvPr>
          <p:cNvSpPr txBox="1"/>
          <p:nvPr/>
        </p:nvSpPr>
        <p:spPr>
          <a:xfrm>
            <a:off x="1556095" y="1033670"/>
            <a:ext cx="3216523" cy="369332"/>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s-CL" dirty="0"/>
              <a:t>Jefe de taller Juan Muñoz </a:t>
            </a:r>
            <a:endParaRPr lang="es-ES" dirty="0"/>
          </a:p>
        </p:txBody>
      </p:sp>
      <p:sp>
        <p:nvSpPr>
          <p:cNvPr id="13" name="CuadroTexto 12">
            <a:extLst>
              <a:ext uri="{FF2B5EF4-FFF2-40B4-BE49-F238E27FC236}">
                <a16:creationId xmlns:a16="http://schemas.microsoft.com/office/drawing/2014/main" id="{33F028A4-8393-2F3A-FF39-6E160A0379EC}"/>
              </a:ext>
            </a:extLst>
          </p:cNvPr>
          <p:cNvSpPr txBox="1"/>
          <p:nvPr/>
        </p:nvSpPr>
        <p:spPr>
          <a:xfrm>
            <a:off x="7419384" y="1033670"/>
            <a:ext cx="3216523" cy="369332"/>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s-CL" dirty="0"/>
              <a:t>Docente Ubaldo Moreno</a:t>
            </a:r>
            <a:endParaRPr lang="es-ES" dirty="0"/>
          </a:p>
        </p:txBody>
      </p:sp>
    </p:spTree>
    <p:extLst>
      <p:ext uri="{BB962C8B-B14F-4D97-AF65-F5344CB8AC3E}">
        <p14:creationId xmlns:p14="http://schemas.microsoft.com/office/powerpoint/2010/main" val="14033096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29FD90D9-0777-4927-90C9-E837E67730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200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Imagen 8" descr="Gráfico, Gráfico circular&#10;&#10;Descripción generada automáticamente">
            <a:extLst>
              <a:ext uri="{FF2B5EF4-FFF2-40B4-BE49-F238E27FC236}">
                <a16:creationId xmlns:a16="http://schemas.microsoft.com/office/drawing/2014/main" id="{2B661515-8BBC-B748-4B59-8F0E89FB2422}"/>
              </a:ext>
            </a:extLst>
          </p:cNvPr>
          <p:cNvPicPr>
            <a:picLocks noChangeAspect="1"/>
          </p:cNvPicPr>
          <p:nvPr/>
        </p:nvPicPr>
        <p:blipFill rotWithShape="1">
          <a:blip r:embed="rId2">
            <a:extLst>
              <a:ext uri="{28A0092B-C50C-407E-A947-70E740481C1C}">
                <a14:useLocalDpi xmlns:a14="http://schemas.microsoft.com/office/drawing/2010/main" val="0"/>
              </a:ext>
            </a:extLst>
          </a:blip>
          <a:srcRect t="1400" b="4293"/>
          <a:stretch/>
        </p:blipFill>
        <p:spPr>
          <a:xfrm>
            <a:off x="729645" y="510551"/>
            <a:ext cx="2888198" cy="3680776"/>
          </a:xfrm>
          <a:prstGeom prst="rect">
            <a:avLst/>
          </a:prstGeom>
        </p:spPr>
      </p:pic>
      <p:pic>
        <p:nvPicPr>
          <p:cNvPr id="7" name="Imagen 6" descr="Gráfico, Gráfico de barras, Histograma&#10;&#10;Descripción generada automáticamente">
            <a:extLst>
              <a:ext uri="{FF2B5EF4-FFF2-40B4-BE49-F238E27FC236}">
                <a16:creationId xmlns:a16="http://schemas.microsoft.com/office/drawing/2014/main" id="{D5BFEBAC-0B78-1991-4C4B-F05C6EFB3CFD}"/>
              </a:ext>
            </a:extLst>
          </p:cNvPr>
          <p:cNvPicPr>
            <a:picLocks noChangeAspect="1"/>
          </p:cNvPicPr>
          <p:nvPr/>
        </p:nvPicPr>
        <p:blipFill rotWithShape="1">
          <a:blip r:embed="rId3">
            <a:extLst>
              <a:ext uri="{28A0092B-C50C-407E-A947-70E740481C1C}">
                <a14:useLocalDpi xmlns:a14="http://schemas.microsoft.com/office/drawing/2010/main" val="0"/>
              </a:ext>
            </a:extLst>
          </a:blip>
          <a:srcRect t="2596" b="3010"/>
          <a:stretch/>
        </p:blipFill>
        <p:spPr>
          <a:xfrm>
            <a:off x="4097260" y="498757"/>
            <a:ext cx="3696283" cy="3624983"/>
          </a:xfrm>
          <a:prstGeom prst="rect">
            <a:avLst/>
          </a:prstGeom>
        </p:spPr>
      </p:pic>
      <p:pic>
        <p:nvPicPr>
          <p:cNvPr id="5" name="Imagen 4" descr="Gráfico, Gráfico circular&#10;&#10;Descripción generada automáticamente">
            <a:extLst>
              <a:ext uri="{FF2B5EF4-FFF2-40B4-BE49-F238E27FC236}">
                <a16:creationId xmlns:a16="http://schemas.microsoft.com/office/drawing/2014/main" id="{34A6696D-EF37-C29D-9F86-9DE04ED07D1F}"/>
              </a:ext>
            </a:extLst>
          </p:cNvPr>
          <p:cNvPicPr>
            <a:picLocks noChangeAspect="1"/>
          </p:cNvPicPr>
          <p:nvPr/>
        </p:nvPicPr>
        <p:blipFill rotWithShape="1">
          <a:blip r:embed="rId4">
            <a:extLst>
              <a:ext uri="{28A0092B-C50C-407E-A947-70E740481C1C}">
                <a14:useLocalDpi xmlns:a14="http://schemas.microsoft.com/office/drawing/2010/main" val="0"/>
              </a:ext>
            </a:extLst>
          </a:blip>
          <a:srcRect t="5116" b="8394"/>
          <a:stretch/>
        </p:blipFill>
        <p:spPr>
          <a:xfrm>
            <a:off x="8272960" y="498757"/>
            <a:ext cx="3275234" cy="3574487"/>
          </a:xfrm>
          <a:prstGeom prst="rect">
            <a:avLst/>
          </a:prstGeom>
        </p:spPr>
      </p:pic>
      <p:sp>
        <p:nvSpPr>
          <p:cNvPr id="16" name="Parallelogram 15">
            <a:extLst>
              <a:ext uri="{FF2B5EF4-FFF2-40B4-BE49-F238E27FC236}">
                <a16:creationId xmlns:a16="http://schemas.microsoft.com/office/drawing/2014/main" id="{F92D073F-0FE7-41B7-ADCD-5CE16DEEE0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36062" y="4181364"/>
            <a:ext cx="11519876" cy="2177879"/>
          </a:xfrm>
          <a:prstGeom prst="parallelogram">
            <a:avLst>
              <a:gd name="adj" fmla="val 29000"/>
            </a:avLst>
          </a:prstGeom>
          <a:solidFill>
            <a:schemeClr val="tx1">
              <a:alpha val="98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21610667-9CD9-42BE-C5EC-DE10F816395C}"/>
              </a:ext>
            </a:extLst>
          </p:cNvPr>
          <p:cNvSpPr>
            <a:spLocks noGrp="1"/>
          </p:cNvSpPr>
          <p:nvPr>
            <p:ph type="title"/>
          </p:nvPr>
        </p:nvSpPr>
        <p:spPr>
          <a:xfrm>
            <a:off x="1086338" y="4441621"/>
            <a:ext cx="4010991" cy="1562517"/>
          </a:xfrm>
        </p:spPr>
        <p:txBody>
          <a:bodyPr anchor="ctr">
            <a:normAutofit/>
          </a:bodyPr>
          <a:lstStyle/>
          <a:p>
            <a:r>
              <a:rPr lang="es-CL" sz="3200" dirty="0"/>
              <a:t>Porcentajes de la Encuesta</a:t>
            </a:r>
            <a:endParaRPr lang="es-ES" sz="3200" dirty="0"/>
          </a:p>
        </p:txBody>
      </p:sp>
      <p:sp>
        <p:nvSpPr>
          <p:cNvPr id="3" name="Marcador de contenido 2">
            <a:extLst>
              <a:ext uri="{FF2B5EF4-FFF2-40B4-BE49-F238E27FC236}">
                <a16:creationId xmlns:a16="http://schemas.microsoft.com/office/drawing/2014/main" id="{BCF69CA7-AA03-A269-A6FA-D8F81DA21BC3}"/>
              </a:ext>
            </a:extLst>
          </p:cNvPr>
          <p:cNvSpPr>
            <a:spLocks noGrp="1"/>
          </p:cNvSpPr>
          <p:nvPr>
            <p:ph idx="1"/>
          </p:nvPr>
        </p:nvSpPr>
        <p:spPr>
          <a:xfrm>
            <a:off x="5433391" y="4441621"/>
            <a:ext cx="5594117" cy="1599741"/>
          </a:xfrm>
        </p:spPr>
        <p:txBody>
          <a:bodyPr anchor="ctr">
            <a:normAutofit lnSpcReduction="10000"/>
          </a:bodyPr>
          <a:lstStyle/>
          <a:p>
            <a:pPr algn="just">
              <a:lnSpc>
                <a:spcPct val="90000"/>
              </a:lnSpc>
            </a:pPr>
            <a:r>
              <a:rPr lang="es-CL" sz="1600" dirty="0">
                <a:solidFill>
                  <a:schemeClr val="bg1"/>
                </a:solidFill>
              </a:rPr>
              <a:t>Al realizar nuestra encuesta a diferentes personas, con un total de 16 encuestados que nos compartieron sus opiniones como sus puntos de vista de acuerdo a distintas experiencias vividas en talleres mecánicos, logramos recabar gráficos, como también diferentes porcentajes con relación a las respuestas entregadas por estas personas encuestadas.</a:t>
            </a:r>
          </a:p>
          <a:p>
            <a:pPr marL="0" indent="0">
              <a:lnSpc>
                <a:spcPct val="90000"/>
              </a:lnSpc>
              <a:buNone/>
            </a:pPr>
            <a:endParaRPr lang="es-ES" sz="1400" dirty="0">
              <a:solidFill>
                <a:schemeClr val="bg1"/>
              </a:solidFill>
            </a:endParaRPr>
          </a:p>
        </p:txBody>
      </p:sp>
    </p:spTree>
    <p:extLst>
      <p:ext uri="{BB962C8B-B14F-4D97-AF65-F5344CB8AC3E}">
        <p14:creationId xmlns:p14="http://schemas.microsoft.com/office/powerpoint/2010/main" val="343153769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Imagen 4" descr="Un grupo de personas con equipaje en un aeropuerto&#10;&#10;Descripción generada automáticamente con confianza media">
            <a:extLst>
              <a:ext uri="{FF2B5EF4-FFF2-40B4-BE49-F238E27FC236}">
                <a16:creationId xmlns:a16="http://schemas.microsoft.com/office/drawing/2014/main" id="{6E4B0983-F368-0EBD-5085-D5B56B248F36}"/>
              </a:ext>
            </a:extLst>
          </p:cNvPr>
          <p:cNvPicPr>
            <a:picLocks noChangeAspect="1"/>
          </p:cNvPicPr>
          <p:nvPr/>
        </p:nvPicPr>
        <p:blipFill rotWithShape="1">
          <a:blip r:embed="rId2">
            <a:extLst>
              <a:ext uri="{28A0092B-C50C-407E-A947-70E740481C1C}">
                <a14:useLocalDpi xmlns:a14="http://schemas.microsoft.com/office/drawing/2010/main" val="0"/>
              </a:ext>
            </a:extLst>
          </a:blip>
          <a:srcRect l="18065" r="24177"/>
          <a:stretch/>
        </p:blipFill>
        <p:spPr>
          <a:xfrm>
            <a:off x="4269854" y="-1"/>
            <a:ext cx="7922146" cy="6858001"/>
          </a:xfrm>
          <a:custGeom>
            <a:avLst/>
            <a:gdLst/>
            <a:ahLst/>
            <a:cxnLst/>
            <a:rect l="l" t="t" r="r" b="b"/>
            <a:pathLst>
              <a:path w="7922146" h="6858001">
                <a:moveTo>
                  <a:pt x="379987" y="0"/>
                </a:moveTo>
                <a:lnTo>
                  <a:pt x="5304971" y="0"/>
                </a:lnTo>
                <a:lnTo>
                  <a:pt x="7065281" y="0"/>
                </a:lnTo>
                <a:lnTo>
                  <a:pt x="7397540" y="0"/>
                </a:lnTo>
                <a:lnTo>
                  <a:pt x="7397540" y="1"/>
                </a:lnTo>
                <a:lnTo>
                  <a:pt x="7922146" y="1"/>
                </a:lnTo>
                <a:lnTo>
                  <a:pt x="7922146" y="6858001"/>
                </a:lnTo>
                <a:lnTo>
                  <a:pt x="7065281" y="6858001"/>
                </a:lnTo>
                <a:lnTo>
                  <a:pt x="7065281" y="6858000"/>
                </a:lnTo>
                <a:lnTo>
                  <a:pt x="5932989" y="6858000"/>
                </a:lnTo>
                <a:lnTo>
                  <a:pt x="5932989" y="6858001"/>
                </a:lnTo>
                <a:lnTo>
                  <a:pt x="27809" y="6858001"/>
                </a:lnTo>
                <a:lnTo>
                  <a:pt x="1803228" y="4521201"/>
                </a:lnTo>
                <a:close/>
                <a:moveTo>
                  <a:pt x="0" y="0"/>
                </a:moveTo>
                <a:lnTo>
                  <a:pt x="379987" y="0"/>
                </a:lnTo>
                <a:lnTo>
                  <a:pt x="0" y="407"/>
                </a:lnTo>
                <a:close/>
              </a:path>
            </a:pathLst>
          </a:custGeom>
        </p:spPr>
      </p:pic>
      <p:sp>
        <p:nvSpPr>
          <p:cNvPr id="2" name="Título 1">
            <a:extLst>
              <a:ext uri="{FF2B5EF4-FFF2-40B4-BE49-F238E27FC236}">
                <a16:creationId xmlns:a16="http://schemas.microsoft.com/office/drawing/2014/main" id="{D0C56055-2C1F-0802-5531-9F5EBB287F3B}"/>
              </a:ext>
            </a:extLst>
          </p:cNvPr>
          <p:cNvSpPr>
            <a:spLocks noGrp="1"/>
          </p:cNvSpPr>
          <p:nvPr>
            <p:ph type="title"/>
          </p:nvPr>
        </p:nvSpPr>
        <p:spPr>
          <a:xfrm>
            <a:off x="677334" y="609600"/>
            <a:ext cx="4451258" cy="734351"/>
          </a:xfrm>
        </p:spPr>
        <p:txBody>
          <a:bodyPr>
            <a:normAutofit/>
          </a:bodyPr>
          <a:lstStyle/>
          <a:p>
            <a:r>
              <a:rPr lang="es-CL" b="1" dirty="0"/>
              <a:t>Propuesta Solución</a:t>
            </a:r>
            <a:endParaRPr lang="es-ES" b="1" dirty="0"/>
          </a:p>
        </p:txBody>
      </p:sp>
      <p:sp>
        <p:nvSpPr>
          <p:cNvPr id="3" name="Marcador de contenido 2">
            <a:extLst>
              <a:ext uri="{FF2B5EF4-FFF2-40B4-BE49-F238E27FC236}">
                <a16:creationId xmlns:a16="http://schemas.microsoft.com/office/drawing/2014/main" id="{E3304314-02B5-FCCD-5D61-2B12929CB9AF}"/>
              </a:ext>
            </a:extLst>
          </p:cNvPr>
          <p:cNvSpPr>
            <a:spLocks noGrp="1"/>
          </p:cNvSpPr>
          <p:nvPr>
            <p:ph idx="1"/>
          </p:nvPr>
        </p:nvSpPr>
        <p:spPr>
          <a:xfrm>
            <a:off x="291549" y="1470991"/>
            <a:ext cx="4982816" cy="5128592"/>
          </a:xfrm>
        </p:spPr>
        <p:txBody>
          <a:bodyPr>
            <a:normAutofit lnSpcReduction="10000"/>
          </a:bodyPr>
          <a:lstStyle/>
          <a:p>
            <a:pPr algn="just">
              <a:lnSpc>
                <a:spcPct val="90000"/>
              </a:lnSpc>
            </a:pPr>
            <a:r>
              <a:rPr lang="es-CL" b="1" dirty="0">
                <a:solidFill>
                  <a:schemeClr val="tx1"/>
                </a:solidFill>
              </a:rPr>
              <a:t>Grabación del Servicio Mecánico</a:t>
            </a:r>
          </a:p>
          <a:p>
            <a:pPr marL="0" indent="0" algn="just">
              <a:lnSpc>
                <a:spcPct val="90000"/>
              </a:lnSpc>
              <a:buNone/>
            </a:pPr>
            <a:r>
              <a:rPr lang="es-CL" sz="1600" dirty="0">
                <a:solidFill>
                  <a:schemeClr val="tx1"/>
                </a:solidFill>
              </a:rPr>
              <a:t>Normalizar el uso de cámaras para grabar la reparación al cliente, es decir, el mecánico realizará una grabación del servicio mecánico registrando todo el proceso de reparación con una go-pro, cámara o su celular, estas estarán posicionadas junto a un arnés en el torso del mecánico o sujeta por un soporte para facilitar la grabación. Esto tendrá como objetivo que el cliente visualice todo el proceso de reparación hacia su vehículo, para que así, el cliente logre comprender las reparaciones y los tiempos de reparación como la llegada de los repuestos.</a:t>
            </a:r>
          </a:p>
          <a:p>
            <a:pPr marL="0" indent="0" algn="just">
              <a:lnSpc>
                <a:spcPct val="90000"/>
              </a:lnSpc>
              <a:buNone/>
            </a:pPr>
            <a:r>
              <a:rPr lang="es-CL" sz="1600" dirty="0">
                <a:solidFill>
                  <a:schemeClr val="tx1"/>
                </a:solidFill>
              </a:rPr>
              <a:t>Por otra parte, se realizará la entrega de una lista con los problemas y reparaciones del vehículo que podrá ser corroborado por la grabación del servicio, con el fin de generar confianza hacia el cliente viendo por él mismo que todo este perfecto.</a:t>
            </a:r>
          </a:p>
          <a:p>
            <a:pPr marL="0" indent="0" algn="just">
              <a:lnSpc>
                <a:spcPct val="90000"/>
              </a:lnSpc>
              <a:buNone/>
            </a:pPr>
            <a:r>
              <a:rPr lang="es-CL" sz="1600" dirty="0">
                <a:solidFill>
                  <a:schemeClr val="tx1"/>
                </a:solidFill>
              </a:rPr>
              <a:t>Esta propuestas nos presenta una solución viable, es decir, se logra realizar sin problemas, por otro lado, es una solución de bajo costo y por último es sencillo de llevar a cabo.</a:t>
            </a:r>
            <a:endParaRPr lang="es-ES" sz="1600" dirty="0">
              <a:solidFill>
                <a:schemeClr val="tx1"/>
              </a:solidFill>
            </a:endParaRPr>
          </a:p>
        </p:txBody>
      </p:sp>
      <p:cxnSp>
        <p:nvCxnSpPr>
          <p:cNvPr id="10" name="Straight Connector 9">
            <a:extLst>
              <a:ext uri="{FF2B5EF4-FFF2-40B4-BE49-F238E27FC236}">
                <a16:creationId xmlns:a16="http://schemas.microsoft.com/office/drawing/2014/main" id="{64FA5DFF-7FE6-4855-84E6-DFA78EE978B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2AFD8CBA-54A3-4363-991B-B9C631BBFA7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14" name="Rectangle 23">
            <a:extLst>
              <a:ext uri="{FF2B5EF4-FFF2-40B4-BE49-F238E27FC236}">
                <a16:creationId xmlns:a16="http://schemas.microsoft.com/office/drawing/2014/main" id="{3F088236-D655-4F88-B238-E167623580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6" name="Rectangle 25">
            <a:extLst>
              <a:ext uri="{FF2B5EF4-FFF2-40B4-BE49-F238E27FC236}">
                <a16:creationId xmlns:a16="http://schemas.microsoft.com/office/drawing/2014/main" id="{3DAC0C92-199E-475C-9390-119A9B0272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8" name="Isosceles Triangle 24">
            <a:extLst>
              <a:ext uri="{FF2B5EF4-FFF2-40B4-BE49-F238E27FC236}">
                <a16:creationId xmlns:a16="http://schemas.microsoft.com/office/drawing/2014/main" id="{C4CFB339-0ED8-4FE2-9EF1-6D1375B849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0" name="Rectangle 27">
            <a:extLst>
              <a:ext uri="{FF2B5EF4-FFF2-40B4-BE49-F238E27FC236}">
                <a16:creationId xmlns:a16="http://schemas.microsoft.com/office/drawing/2014/main" id="{31896C80-2069-4431-9C19-83B9137344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47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8">
            <a:extLst>
              <a:ext uri="{FF2B5EF4-FFF2-40B4-BE49-F238E27FC236}">
                <a16:creationId xmlns:a16="http://schemas.microsoft.com/office/drawing/2014/main" id="{BF120A21-0841-4823-B0C4-28AEBCEF9B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9">
            <a:extLst>
              <a:ext uri="{FF2B5EF4-FFF2-40B4-BE49-F238E27FC236}">
                <a16:creationId xmlns:a16="http://schemas.microsoft.com/office/drawing/2014/main" id="{DBB05BAE-BBD3-4289-899F-A6851503C6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Isosceles Triangle 29">
            <a:extLst>
              <a:ext uri="{FF2B5EF4-FFF2-40B4-BE49-F238E27FC236}">
                <a16:creationId xmlns:a16="http://schemas.microsoft.com/office/drawing/2014/main" id="{9874D11C-36F5-4BBE-A490-019A54E953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37802722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451B012-98B5-C85C-8389-7B3198206E82}"/>
              </a:ext>
            </a:extLst>
          </p:cNvPr>
          <p:cNvSpPr>
            <a:spLocks noGrp="1"/>
          </p:cNvSpPr>
          <p:nvPr>
            <p:ph type="title"/>
          </p:nvPr>
        </p:nvSpPr>
        <p:spPr>
          <a:xfrm>
            <a:off x="5830956" y="609600"/>
            <a:ext cx="3443045" cy="1320800"/>
          </a:xfrm>
        </p:spPr>
        <p:txBody>
          <a:bodyPr>
            <a:normAutofit/>
          </a:bodyPr>
          <a:lstStyle/>
          <a:p>
            <a:r>
              <a:rPr lang="es-CL" b="1" dirty="0"/>
              <a:t>Prototipo</a:t>
            </a:r>
            <a:endParaRPr lang="es-ES" b="1" dirty="0"/>
          </a:p>
        </p:txBody>
      </p:sp>
      <p:sp>
        <p:nvSpPr>
          <p:cNvPr id="3" name="Marcador de contenido 2">
            <a:extLst>
              <a:ext uri="{FF2B5EF4-FFF2-40B4-BE49-F238E27FC236}">
                <a16:creationId xmlns:a16="http://schemas.microsoft.com/office/drawing/2014/main" id="{047D7FB4-EE3B-745F-ED37-91E65E524017}"/>
              </a:ext>
            </a:extLst>
          </p:cNvPr>
          <p:cNvSpPr>
            <a:spLocks noGrp="1"/>
          </p:cNvSpPr>
          <p:nvPr>
            <p:ph idx="1"/>
          </p:nvPr>
        </p:nvSpPr>
        <p:spPr>
          <a:xfrm>
            <a:off x="5209563" y="2160589"/>
            <a:ext cx="4064439" cy="3880773"/>
          </a:xfrm>
        </p:spPr>
        <p:txBody>
          <a:bodyPr>
            <a:normAutofit/>
          </a:bodyPr>
          <a:lstStyle/>
          <a:p>
            <a:r>
              <a:rPr lang="es-CL" sz="2000" b="1" dirty="0"/>
              <a:t>Simulación de Nuestra Propuesta Solución</a:t>
            </a:r>
          </a:p>
          <a:p>
            <a:endParaRPr lang="es-CL" dirty="0"/>
          </a:p>
          <a:p>
            <a:r>
              <a:rPr lang="es-CL" dirty="0"/>
              <a:t>LINK:</a:t>
            </a:r>
          </a:p>
          <a:p>
            <a:pPr marL="0" indent="0">
              <a:buNone/>
            </a:pPr>
            <a:r>
              <a:rPr lang="es-ES" dirty="0"/>
              <a:t>https://www.youtube.com/watch?v=7fgqCtkGJUY</a:t>
            </a:r>
          </a:p>
        </p:txBody>
      </p:sp>
      <p:pic>
        <p:nvPicPr>
          <p:cNvPr id="7" name="Imagen 6" descr="Una persona con un cuchillo en una mesa&#10;&#10;Descripción generada automáticamente con confianza media">
            <a:extLst>
              <a:ext uri="{FF2B5EF4-FFF2-40B4-BE49-F238E27FC236}">
                <a16:creationId xmlns:a16="http://schemas.microsoft.com/office/drawing/2014/main" id="{BBC73924-2282-F45B-0FCE-283CF4D203EF}"/>
              </a:ext>
            </a:extLst>
          </p:cNvPr>
          <p:cNvPicPr>
            <a:picLocks noChangeAspect="1"/>
          </p:cNvPicPr>
          <p:nvPr/>
        </p:nvPicPr>
        <p:blipFill rotWithShape="1">
          <a:blip r:embed="rId2">
            <a:extLst>
              <a:ext uri="{28A0092B-C50C-407E-A947-70E740481C1C}">
                <a14:useLocalDpi xmlns:a14="http://schemas.microsoft.com/office/drawing/2010/main" val="0"/>
              </a:ext>
            </a:extLst>
          </a:blip>
          <a:srcRect l="36926" r="21183" b="-1"/>
          <a:stretch/>
        </p:blipFill>
        <p:spPr>
          <a:xfrm>
            <a:off x="20" y="-1"/>
            <a:ext cx="5394940" cy="6858001"/>
          </a:xfrm>
          <a:custGeom>
            <a:avLst/>
            <a:gdLst/>
            <a:ahLst/>
            <a:cxnLst/>
            <a:rect l="l" t="t" r="r" b="b"/>
            <a:pathLst>
              <a:path w="5394960" h="6858000">
                <a:moveTo>
                  <a:pt x="842596" y="0"/>
                </a:moveTo>
                <a:lnTo>
                  <a:pt x="5394960" y="0"/>
                </a:lnTo>
                <a:lnTo>
                  <a:pt x="5394960" y="21851"/>
                </a:lnTo>
                <a:lnTo>
                  <a:pt x="4365943" y="6858000"/>
                </a:lnTo>
                <a:lnTo>
                  <a:pt x="0" y="6858000"/>
                </a:lnTo>
                <a:lnTo>
                  <a:pt x="0" y="5666154"/>
                </a:lnTo>
                <a:close/>
              </a:path>
            </a:pathLst>
          </a:custGeom>
        </p:spPr>
      </p:pic>
      <p:sp>
        <p:nvSpPr>
          <p:cNvPr id="12" name="Isosceles Triangle 11">
            <a:extLst>
              <a:ext uri="{FF2B5EF4-FFF2-40B4-BE49-F238E27FC236}">
                <a16:creationId xmlns:a16="http://schemas.microsoft.com/office/drawing/2014/main" id="{3BCB5F6A-9EB0-40B0-9D13-3023E9A205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405865167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E5076C6-F561-ACDD-163D-67AAE9BDDA31}"/>
              </a:ext>
            </a:extLst>
          </p:cNvPr>
          <p:cNvSpPr>
            <a:spLocks noGrp="1"/>
          </p:cNvSpPr>
          <p:nvPr>
            <p:ph type="title"/>
          </p:nvPr>
        </p:nvSpPr>
        <p:spPr>
          <a:xfrm>
            <a:off x="5550801" y="816637"/>
            <a:ext cx="4064439" cy="734351"/>
          </a:xfrm>
        </p:spPr>
        <p:txBody>
          <a:bodyPr>
            <a:normAutofit/>
          </a:bodyPr>
          <a:lstStyle/>
          <a:p>
            <a:r>
              <a:rPr lang="es-CL" b="1" dirty="0"/>
              <a:t>Conclusión</a:t>
            </a:r>
            <a:endParaRPr lang="es-ES" b="1" dirty="0"/>
          </a:p>
        </p:txBody>
      </p:sp>
      <p:sp>
        <p:nvSpPr>
          <p:cNvPr id="3" name="Marcador de contenido 2">
            <a:extLst>
              <a:ext uri="{FF2B5EF4-FFF2-40B4-BE49-F238E27FC236}">
                <a16:creationId xmlns:a16="http://schemas.microsoft.com/office/drawing/2014/main" id="{35BEE18E-E85C-C072-C61F-1DEAA8BD0D0D}"/>
              </a:ext>
            </a:extLst>
          </p:cNvPr>
          <p:cNvSpPr>
            <a:spLocks noGrp="1"/>
          </p:cNvSpPr>
          <p:nvPr>
            <p:ph idx="1"/>
          </p:nvPr>
        </p:nvSpPr>
        <p:spPr>
          <a:xfrm>
            <a:off x="5064369" y="1955408"/>
            <a:ext cx="4702483" cy="4432139"/>
          </a:xfrm>
        </p:spPr>
        <p:txBody>
          <a:bodyPr>
            <a:normAutofit lnSpcReduction="10000"/>
          </a:bodyPr>
          <a:lstStyle/>
          <a:p>
            <a:pPr marL="0" indent="0" algn="just">
              <a:lnSpc>
                <a:spcPct val="90000"/>
              </a:lnSpc>
              <a:buNone/>
            </a:pPr>
            <a:r>
              <a:rPr lang="es-CL" sz="1600" dirty="0">
                <a:solidFill>
                  <a:schemeClr val="tx1"/>
                </a:solidFill>
              </a:rPr>
              <a:t>La confianza es una valor fundamental a la hora de brindar un cualquier servicio, por ello, entre el mecánico y sus clientes debe existir este gran valor, por lo que, al crear este proyecto y como equipo de trabajo nos enfocamos en solucionar la poca credibilidad de los mecánicos automotrices hacia sus clientes, y durante todo este proceso conseguimos llegar a una propuesta solución que logrará proporcionar ese valor de confianza que es muy difícil de ganar.</a:t>
            </a:r>
          </a:p>
          <a:p>
            <a:pPr marL="0" indent="0" algn="just">
              <a:lnSpc>
                <a:spcPct val="90000"/>
              </a:lnSpc>
              <a:buNone/>
            </a:pPr>
            <a:r>
              <a:rPr lang="es-CL" sz="1600" dirty="0">
                <a:solidFill>
                  <a:schemeClr val="tx1"/>
                </a:solidFill>
              </a:rPr>
              <a:t>Nuestra propuesta a solucionar esta problemática es la grabación del servicio que le entregará el mecánico a su cliente, junto a una lista con los diferentes problemas presentados en su vehículo. El cliente, junto a estas dos herramientas proporcionadas por el mecánico logrará verificar que todo este correcto, ganando el cliente un excelente servicio de calidad y ganando igualmente el mecánico un valor tan importante como lo es la confianza de sus clientes.</a:t>
            </a:r>
          </a:p>
        </p:txBody>
      </p:sp>
      <p:pic>
        <p:nvPicPr>
          <p:cNvPr id="5" name="Imagen 4" descr="Un grupo de personas con equipaje en un aeropuerto&#10;&#10;Descripción generada automáticamente con confianza media">
            <a:extLst>
              <a:ext uri="{FF2B5EF4-FFF2-40B4-BE49-F238E27FC236}">
                <a16:creationId xmlns:a16="http://schemas.microsoft.com/office/drawing/2014/main" id="{2AF4659A-3756-E52C-ABBF-34D908167E5E}"/>
              </a:ext>
            </a:extLst>
          </p:cNvPr>
          <p:cNvPicPr>
            <a:picLocks noChangeAspect="1"/>
          </p:cNvPicPr>
          <p:nvPr/>
        </p:nvPicPr>
        <p:blipFill rotWithShape="1">
          <a:blip r:embed="rId2">
            <a:extLst>
              <a:ext uri="{28A0092B-C50C-407E-A947-70E740481C1C}">
                <a14:useLocalDpi xmlns:a14="http://schemas.microsoft.com/office/drawing/2010/main" val="0"/>
              </a:ext>
            </a:extLst>
          </a:blip>
          <a:srcRect l="27278" r="33389"/>
          <a:stretch/>
        </p:blipFill>
        <p:spPr>
          <a:xfrm>
            <a:off x="20" y="-1"/>
            <a:ext cx="5394940" cy="6858001"/>
          </a:xfrm>
          <a:custGeom>
            <a:avLst/>
            <a:gdLst/>
            <a:ahLst/>
            <a:cxnLst/>
            <a:rect l="l" t="t" r="r" b="b"/>
            <a:pathLst>
              <a:path w="5394960" h="6858000">
                <a:moveTo>
                  <a:pt x="842596" y="0"/>
                </a:moveTo>
                <a:lnTo>
                  <a:pt x="5394960" y="0"/>
                </a:lnTo>
                <a:lnTo>
                  <a:pt x="5394960" y="21851"/>
                </a:lnTo>
                <a:lnTo>
                  <a:pt x="4365943" y="6858000"/>
                </a:lnTo>
                <a:lnTo>
                  <a:pt x="0" y="6858000"/>
                </a:lnTo>
                <a:lnTo>
                  <a:pt x="0" y="5666154"/>
                </a:lnTo>
                <a:close/>
              </a:path>
            </a:pathLst>
          </a:custGeom>
        </p:spPr>
      </p:pic>
      <p:sp>
        <p:nvSpPr>
          <p:cNvPr id="10" name="Isosceles Triangle 9">
            <a:extLst>
              <a:ext uri="{FF2B5EF4-FFF2-40B4-BE49-F238E27FC236}">
                <a16:creationId xmlns:a16="http://schemas.microsoft.com/office/drawing/2014/main" id="{3BCB5F6A-9EB0-40B0-9D13-3023E9A205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145883947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D94A7024-D948-494D-8920-BBA2DA07D1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Marcador de contenido 4" descr="Un grupo de personas con equipaje en un aeropuerto&#10;&#10;Descripción generada automáticamente con confianza media">
            <a:extLst>
              <a:ext uri="{FF2B5EF4-FFF2-40B4-BE49-F238E27FC236}">
                <a16:creationId xmlns:a16="http://schemas.microsoft.com/office/drawing/2014/main" id="{C3E5968B-2CA3-BB5E-092C-D8FE7820AEB8}"/>
              </a:ext>
            </a:extLst>
          </p:cNvPr>
          <p:cNvPicPr>
            <a:picLocks noChangeAspect="1"/>
          </p:cNvPicPr>
          <p:nvPr/>
        </p:nvPicPr>
        <p:blipFill rotWithShape="1">
          <a:blip r:embed="rId2">
            <a:duotone>
              <a:prstClr val="black"/>
              <a:schemeClr val="tx2">
                <a:tint val="45000"/>
                <a:satMod val="400000"/>
              </a:schemeClr>
            </a:duotone>
            <a:alphaModFix amt="40000"/>
            <a:extLst>
              <a:ext uri="{28A0092B-C50C-407E-A947-70E740481C1C}">
                <a14:useLocalDpi xmlns:a14="http://schemas.microsoft.com/office/drawing/2010/main" val="0"/>
              </a:ext>
            </a:extLst>
          </a:blip>
          <a:srcRect l="2500" r="8612"/>
          <a:stretch/>
        </p:blipFill>
        <p:spPr>
          <a:xfrm>
            <a:off x="20" y="10"/>
            <a:ext cx="12191980" cy="6857990"/>
          </a:xfrm>
          <a:prstGeom prst="rect">
            <a:avLst/>
          </a:prstGeom>
        </p:spPr>
      </p:pic>
      <p:sp>
        <p:nvSpPr>
          <p:cNvPr id="2" name="Título 1">
            <a:extLst>
              <a:ext uri="{FF2B5EF4-FFF2-40B4-BE49-F238E27FC236}">
                <a16:creationId xmlns:a16="http://schemas.microsoft.com/office/drawing/2014/main" id="{2FD46DC6-EA19-78F8-827A-E48C0F657F40}"/>
              </a:ext>
            </a:extLst>
          </p:cNvPr>
          <p:cNvSpPr>
            <a:spLocks noGrp="1"/>
          </p:cNvSpPr>
          <p:nvPr>
            <p:ph type="title"/>
          </p:nvPr>
        </p:nvSpPr>
        <p:spPr>
          <a:xfrm>
            <a:off x="1797665" y="651943"/>
            <a:ext cx="8596668" cy="927652"/>
          </a:xfrm>
        </p:spPr>
        <p:txBody>
          <a:bodyPr>
            <a:normAutofit/>
          </a:bodyPr>
          <a:lstStyle/>
          <a:p>
            <a:pPr algn="ctr"/>
            <a:r>
              <a:rPr lang="es-CL" b="1" dirty="0"/>
              <a:t>BITÁCORA</a:t>
            </a:r>
            <a:endParaRPr lang="es-ES" b="1" dirty="0"/>
          </a:p>
        </p:txBody>
      </p:sp>
      <p:graphicFrame>
        <p:nvGraphicFramePr>
          <p:cNvPr id="11" name="Tabla 12">
            <a:extLst>
              <a:ext uri="{FF2B5EF4-FFF2-40B4-BE49-F238E27FC236}">
                <a16:creationId xmlns:a16="http://schemas.microsoft.com/office/drawing/2014/main" id="{49EB8A20-7B37-4980-C478-AEDD4EF28A08}"/>
              </a:ext>
            </a:extLst>
          </p:cNvPr>
          <p:cNvGraphicFramePr>
            <a:graphicFrameLocks noGrp="1"/>
          </p:cNvGraphicFramePr>
          <p:nvPr>
            <p:ph idx="1"/>
            <p:extLst>
              <p:ext uri="{D42A27DB-BD31-4B8C-83A1-F6EECF244321}">
                <p14:modId xmlns:p14="http://schemas.microsoft.com/office/powerpoint/2010/main" val="1195031148"/>
              </p:ext>
            </p:extLst>
          </p:nvPr>
        </p:nvGraphicFramePr>
        <p:xfrm>
          <a:off x="1034037" y="1881798"/>
          <a:ext cx="10123924" cy="4324259"/>
        </p:xfrm>
        <a:graphic>
          <a:graphicData uri="http://schemas.openxmlformats.org/drawingml/2006/table">
            <a:tbl>
              <a:tblPr firstRow="1" bandRow="1">
                <a:tableStyleId>{3B4B98B0-60AC-42C2-AFA5-B58CD77FA1E5}</a:tableStyleId>
              </a:tblPr>
              <a:tblGrid>
                <a:gridCol w="1238972">
                  <a:extLst>
                    <a:ext uri="{9D8B030D-6E8A-4147-A177-3AD203B41FA5}">
                      <a16:colId xmlns:a16="http://schemas.microsoft.com/office/drawing/2014/main" val="1933932305"/>
                    </a:ext>
                  </a:extLst>
                </a:gridCol>
                <a:gridCol w="2190073">
                  <a:extLst>
                    <a:ext uri="{9D8B030D-6E8A-4147-A177-3AD203B41FA5}">
                      <a16:colId xmlns:a16="http://schemas.microsoft.com/office/drawing/2014/main" val="259512539"/>
                    </a:ext>
                  </a:extLst>
                </a:gridCol>
                <a:gridCol w="4892584">
                  <a:extLst>
                    <a:ext uri="{9D8B030D-6E8A-4147-A177-3AD203B41FA5}">
                      <a16:colId xmlns:a16="http://schemas.microsoft.com/office/drawing/2014/main" val="552301207"/>
                    </a:ext>
                  </a:extLst>
                </a:gridCol>
                <a:gridCol w="1802295">
                  <a:extLst>
                    <a:ext uri="{9D8B030D-6E8A-4147-A177-3AD203B41FA5}">
                      <a16:colId xmlns:a16="http://schemas.microsoft.com/office/drawing/2014/main" val="3689293648"/>
                    </a:ext>
                  </a:extLst>
                </a:gridCol>
              </a:tblGrid>
              <a:tr h="409100">
                <a:tc>
                  <a:txBody>
                    <a:bodyPr/>
                    <a:lstStyle/>
                    <a:p>
                      <a:r>
                        <a:rPr lang="es-CL" dirty="0"/>
                        <a:t>FECHA</a:t>
                      </a:r>
                      <a:endParaRPr lang="es-ES" dirty="0"/>
                    </a:p>
                  </a:txBody>
                  <a:tcPr>
                    <a:solidFill>
                      <a:schemeClr val="accent1"/>
                    </a:solidFill>
                  </a:tcPr>
                </a:tc>
                <a:tc>
                  <a:txBody>
                    <a:bodyPr/>
                    <a:lstStyle/>
                    <a:p>
                      <a:r>
                        <a:rPr lang="es-CL" dirty="0"/>
                        <a:t>TAREA</a:t>
                      </a:r>
                      <a:endParaRPr lang="es-ES" dirty="0"/>
                    </a:p>
                  </a:txBody>
                  <a:tcPr>
                    <a:solidFill>
                      <a:schemeClr val="accent1"/>
                    </a:solidFill>
                  </a:tcPr>
                </a:tc>
                <a:tc>
                  <a:txBody>
                    <a:bodyPr/>
                    <a:lstStyle/>
                    <a:p>
                      <a:r>
                        <a:rPr lang="es-CL" dirty="0"/>
                        <a:t>DETALLE</a:t>
                      </a:r>
                      <a:endParaRPr lang="es-ES" dirty="0"/>
                    </a:p>
                  </a:txBody>
                  <a:tcPr>
                    <a:solidFill>
                      <a:schemeClr val="accent1"/>
                    </a:solidFill>
                  </a:tcPr>
                </a:tc>
                <a:tc>
                  <a:txBody>
                    <a:bodyPr/>
                    <a:lstStyle/>
                    <a:p>
                      <a:r>
                        <a:rPr lang="es-CL" dirty="0"/>
                        <a:t>RESPONSABLE</a:t>
                      </a:r>
                      <a:endParaRPr lang="es-ES" dirty="0"/>
                    </a:p>
                  </a:txBody>
                  <a:tcPr>
                    <a:solidFill>
                      <a:schemeClr val="accent1"/>
                    </a:solidFill>
                  </a:tcPr>
                </a:tc>
                <a:extLst>
                  <a:ext uri="{0D108BD9-81ED-4DB2-BD59-A6C34878D82A}">
                    <a16:rowId xmlns:a16="http://schemas.microsoft.com/office/drawing/2014/main" val="652500053"/>
                  </a:ext>
                </a:extLst>
              </a:tr>
              <a:tr h="855624">
                <a:tc>
                  <a:txBody>
                    <a:bodyPr/>
                    <a:lstStyle/>
                    <a:p>
                      <a:r>
                        <a:rPr lang="es-CL" dirty="0"/>
                        <a:t>15/11/23</a:t>
                      </a:r>
                      <a:endParaRPr lang="es-ES" dirty="0"/>
                    </a:p>
                  </a:txBody>
                  <a:tcPr/>
                </a:tc>
                <a:tc>
                  <a:txBody>
                    <a:bodyPr/>
                    <a:lstStyle/>
                    <a:p>
                      <a:r>
                        <a:rPr lang="es-CL" dirty="0"/>
                        <a:t>Búsqueda de información</a:t>
                      </a:r>
                      <a:endParaRPr lang="es-ES" dirty="0"/>
                    </a:p>
                  </a:txBody>
                  <a:tcPr/>
                </a:tc>
                <a:tc>
                  <a:txBody>
                    <a:bodyPr/>
                    <a:lstStyle/>
                    <a:p>
                      <a:r>
                        <a:rPr lang="es-CL" dirty="0"/>
                        <a:t>Esta información será utilizada para guiarnos en el proyecto</a:t>
                      </a:r>
                      <a:endParaRPr lang="es-ES" dirty="0"/>
                    </a:p>
                  </a:txBody>
                  <a:tcPr/>
                </a:tc>
                <a:tc>
                  <a:txBody>
                    <a:bodyPr/>
                    <a:lstStyle/>
                    <a:p>
                      <a:r>
                        <a:rPr lang="es-CL" dirty="0"/>
                        <a:t>Christian Castillo</a:t>
                      </a:r>
                      <a:endParaRPr lang="es-ES" dirty="0"/>
                    </a:p>
                  </a:txBody>
                  <a:tcPr/>
                </a:tc>
                <a:extLst>
                  <a:ext uri="{0D108BD9-81ED-4DB2-BD59-A6C34878D82A}">
                    <a16:rowId xmlns:a16="http://schemas.microsoft.com/office/drawing/2014/main" val="1949075352"/>
                  </a:ext>
                </a:extLst>
              </a:tr>
              <a:tr h="785462">
                <a:tc>
                  <a:txBody>
                    <a:bodyPr/>
                    <a:lstStyle/>
                    <a:p>
                      <a:r>
                        <a:rPr lang="es-CL" dirty="0"/>
                        <a:t>18/11/23</a:t>
                      </a:r>
                      <a:endParaRPr lang="es-ES" dirty="0"/>
                    </a:p>
                  </a:txBody>
                  <a:tcPr/>
                </a:tc>
                <a:tc>
                  <a:txBody>
                    <a:bodyPr/>
                    <a:lstStyle/>
                    <a:p>
                      <a:r>
                        <a:rPr lang="es-CL" dirty="0"/>
                        <a:t>Preguntas para la encuesta</a:t>
                      </a:r>
                      <a:endParaRPr lang="es-ES" dirty="0"/>
                    </a:p>
                  </a:txBody>
                  <a:tcPr/>
                </a:tc>
                <a:tc>
                  <a:txBody>
                    <a:bodyPr/>
                    <a:lstStyle/>
                    <a:p>
                      <a:r>
                        <a:rPr lang="es-CL" dirty="0"/>
                        <a:t>Crear las preguntas para la realización de la encuesta</a:t>
                      </a:r>
                      <a:endParaRPr lang="es-ES" dirty="0"/>
                    </a:p>
                  </a:txBody>
                  <a:tcPr/>
                </a:tc>
                <a:tc>
                  <a:txBody>
                    <a:bodyPr/>
                    <a:lstStyle/>
                    <a:p>
                      <a:r>
                        <a:rPr lang="es-CL" dirty="0"/>
                        <a:t>Vicente Salazar</a:t>
                      </a:r>
                      <a:endParaRPr lang="es-ES" dirty="0"/>
                    </a:p>
                  </a:txBody>
                  <a:tcPr/>
                </a:tc>
                <a:extLst>
                  <a:ext uri="{0D108BD9-81ED-4DB2-BD59-A6C34878D82A}">
                    <a16:rowId xmlns:a16="http://schemas.microsoft.com/office/drawing/2014/main" val="671024570"/>
                  </a:ext>
                </a:extLst>
              </a:tr>
              <a:tr h="871059">
                <a:tc>
                  <a:txBody>
                    <a:bodyPr/>
                    <a:lstStyle/>
                    <a:p>
                      <a:r>
                        <a:rPr lang="es-CL" dirty="0"/>
                        <a:t>22/11/23</a:t>
                      </a:r>
                      <a:endParaRPr lang="es-ES" dirty="0"/>
                    </a:p>
                  </a:txBody>
                  <a:tcPr/>
                </a:tc>
                <a:tc>
                  <a:txBody>
                    <a:bodyPr/>
                    <a:lstStyle/>
                    <a:p>
                      <a:r>
                        <a:rPr lang="es-CL" dirty="0"/>
                        <a:t>Búsqueda de información</a:t>
                      </a:r>
                      <a:endParaRPr lang="es-ES" dirty="0"/>
                    </a:p>
                  </a:txBody>
                  <a:tcPr/>
                </a:tc>
                <a:tc>
                  <a:txBody>
                    <a:bodyPr/>
                    <a:lstStyle/>
                    <a:p>
                      <a:r>
                        <a:rPr lang="es-CL" dirty="0"/>
                        <a:t>Encontrar información para la creación del documento para la validación de la encuesta</a:t>
                      </a:r>
                      <a:endParaRPr lang="es-ES" dirty="0"/>
                    </a:p>
                  </a:txBody>
                  <a:tcPr/>
                </a:tc>
                <a:tc>
                  <a:txBody>
                    <a:bodyPr/>
                    <a:lstStyle/>
                    <a:p>
                      <a:r>
                        <a:rPr lang="es-CL" dirty="0"/>
                        <a:t>Leonardo García</a:t>
                      </a:r>
                      <a:endParaRPr lang="es-ES" dirty="0"/>
                    </a:p>
                  </a:txBody>
                  <a:tcPr/>
                </a:tc>
                <a:extLst>
                  <a:ext uri="{0D108BD9-81ED-4DB2-BD59-A6C34878D82A}">
                    <a16:rowId xmlns:a16="http://schemas.microsoft.com/office/drawing/2014/main" val="2922009363"/>
                  </a:ext>
                </a:extLst>
              </a:tr>
              <a:tr h="762934">
                <a:tc>
                  <a:txBody>
                    <a:bodyPr/>
                    <a:lstStyle/>
                    <a:p>
                      <a:r>
                        <a:rPr lang="es-CL" dirty="0"/>
                        <a:t>25/11/23</a:t>
                      </a:r>
                      <a:endParaRPr lang="es-ES" dirty="0"/>
                    </a:p>
                  </a:txBody>
                  <a:tcPr/>
                </a:tc>
                <a:tc>
                  <a:txBody>
                    <a:bodyPr/>
                    <a:lstStyle/>
                    <a:p>
                      <a:r>
                        <a:rPr lang="es-CL" dirty="0"/>
                        <a:t>Validación de expertos</a:t>
                      </a:r>
                      <a:endParaRPr lang="es-ES" dirty="0"/>
                    </a:p>
                  </a:txBody>
                  <a:tcPr/>
                </a:tc>
                <a:tc>
                  <a:txBody>
                    <a:bodyPr/>
                    <a:lstStyle/>
                    <a:p>
                      <a:r>
                        <a:rPr lang="es-CL" dirty="0"/>
                        <a:t>Crear el documento para validar nuestra encuesta con expertos del área</a:t>
                      </a:r>
                      <a:endParaRPr lang="es-ES" dirty="0"/>
                    </a:p>
                  </a:txBody>
                  <a:tcPr/>
                </a:tc>
                <a:tc>
                  <a:txBody>
                    <a:bodyPr/>
                    <a:lstStyle/>
                    <a:p>
                      <a:r>
                        <a:rPr lang="es-CL" dirty="0"/>
                        <a:t>Marcelo Valenzuela</a:t>
                      </a:r>
                      <a:endParaRPr lang="es-ES" dirty="0"/>
                    </a:p>
                  </a:txBody>
                  <a:tcPr/>
                </a:tc>
                <a:extLst>
                  <a:ext uri="{0D108BD9-81ED-4DB2-BD59-A6C34878D82A}">
                    <a16:rowId xmlns:a16="http://schemas.microsoft.com/office/drawing/2014/main" val="4051970889"/>
                  </a:ext>
                </a:extLst>
              </a:tr>
              <a:tr h="409100">
                <a:tc>
                  <a:txBody>
                    <a:bodyPr/>
                    <a:lstStyle/>
                    <a:p>
                      <a:r>
                        <a:rPr lang="es-CL" dirty="0"/>
                        <a:t>30/11/23</a:t>
                      </a:r>
                      <a:endParaRPr lang="es-ES" dirty="0"/>
                    </a:p>
                  </a:txBody>
                  <a:tcPr/>
                </a:tc>
                <a:tc>
                  <a:txBody>
                    <a:bodyPr/>
                    <a:lstStyle/>
                    <a:p>
                      <a:r>
                        <a:rPr lang="es-CL" dirty="0"/>
                        <a:t>Entrega del documento</a:t>
                      </a:r>
                      <a:endParaRPr lang="es-ES" dirty="0"/>
                    </a:p>
                  </a:txBody>
                  <a:tcPr/>
                </a:tc>
                <a:tc>
                  <a:txBody>
                    <a:bodyPr/>
                    <a:lstStyle/>
                    <a:p>
                      <a:r>
                        <a:rPr lang="es-CL" dirty="0"/>
                        <a:t>Realizar la entrega del documento a distintos expertos del área para lograr validarla</a:t>
                      </a:r>
                      <a:endParaRPr lang="es-ES" dirty="0"/>
                    </a:p>
                  </a:txBody>
                  <a:tcPr/>
                </a:tc>
                <a:tc>
                  <a:txBody>
                    <a:bodyPr/>
                    <a:lstStyle/>
                    <a:p>
                      <a:r>
                        <a:rPr lang="es-CL" dirty="0"/>
                        <a:t>Vicente Salazar</a:t>
                      </a:r>
                      <a:endParaRPr lang="es-ES" dirty="0"/>
                    </a:p>
                  </a:txBody>
                  <a:tcPr/>
                </a:tc>
                <a:extLst>
                  <a:ext uri="{0D108BD9-81ED-4DB2-BD59-A6C34878D82A}">
                    <a16:rowId xmlns:a16="http://schemas.microsoft.com/office/drawing/2014/main" val="1923336495"/>
                  </a:ext>
                </a:extLst>
              </a:tr>
            </a:tbl>
          </a:graphicData>
        </a:graphic>
      </p:graphicFrame>
    </p:spTree>
    <p:extLst>
      <p:ext uri="{BB962C8B-B14F-4D97-AF65-F5344CB8AC3E}">
        <p14:creationId xmlns:p14="http://schemas.microsoft.com/office/powerpoint/2010/main" val="2936711809"/>
      </p:ext>
    </p:extLst>
  </p:cSld>
  <p:clrMapOvr>
    <a:overrideClrMapping bg1="dk1" tx1="lt1" bg2="dk2" tx2="lt2" accent1="accent1" accent2="accent2" accent3="accent3" accent4="accent4" accent5="accent5" accent6="accent6" hlink="hlink" folHlink="folHlink"/>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D94A7024-D948-494D-8920-BBA2DA07D1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Marcador de contenido 4" descr="Un grupo de personas con equipaje en un aeropuerto&#10;&#10;Descripción generada automáticamente con confianza media">
            <a:extLst>
              <a:ext uri="{FF2B5EF4-FFF2-40B4-BE49-F238E27FC236}">
                <a16:creationId xmlns:a16="http://schemas.microsoft.com/office/drawing/2014/main" id="{9862E87D-9FB1-39AD-CAA2-3F6D122D72DE}"/>
              </a:ext>
            </a:extLst>
          </p:cNvPr>
          <p:cNvPicPr>
            <a:picLocks noChangeAspect="1"/>
          </p:cNvPicPr>
          <p:nvPr/>
        </p:nvPicPr>
        <p:blipFill rotWithShape="1">
          <a:blip r:embed="rId2">
            <a:duotone>
              <a:prstClr val="black"/>
              <a:schemeClr val="tx2">
                <a:tint val="45000"/>
                <a:satMod val="400000"/>
              </a:schemeClr>
            </a:duotone>
            <a:alphaModFix amt="40000"/>
            <a:extLst>
              <a:ext uri="{28A0092B-C50C-407E-A947-70E740481C1C}">
                <a14:useLocalDpi xmlns:a14="http://schemas.microsoft.com/office/drawing/2010/main" val="0"/>
              </a:ext>
            </a:extLst>
          </a:blip>
          <a:srcRect l="2500" r="8612"/>
          <a:stretch/>
        </p:blipFill>
        <p:spPr>
          <a:xfrm>
            <a:off x="20" y="10"/>
            <a:ext cx="12191980" cy="6857990"/>
          </a:xfrm>
          <a:prstGeom prst="rect">
            <a:avLst/>
          </a:prstGeom>
        </p:spPr>
      </p:pic>
      <p:graphicFrame>
        <p:nvGraphicFramePr>
          <p:cNvPr id="6" name="Tabla 6">
            <a:extLst>
              <a:ext uri="{FF2B5EF4-FFF2-40B4-BE49-F238E27FC236}">
                <a16:creationId xmlns:a16="http://schemas.microsoft.com/office/drawing/2014/main" id="{DF20AA5F-5BA8-A532-A0B4-CC875CF07DFF}"/>
              </a:ext>
            </a:extLst>
          </p:cNvPr>
          <p:cNvGraphicFramePr>
            <a:graphicFrameLocks noGrp="1"/>
          </p:cNvGraphicFramePr>
          <p:nvPr>
            <p:ph idx="1"/>
            <p:extLst>
              <p:ext uri="{D42A27DB-BD31-4B8C-83A1-F6EECF244321}">
                <p14:modId xmlns:p14="http://schemas.microsoft.com/office/powerpoint/2010/main" val="1224110971"/>
              </p:ext>
            </p:extLst>
          </p:nvPr>
        </p:nvGraphicFramePr>
        <p:xfrm>
          <a:off x="1020418" y="424554"/>
          <a:ext cx="10151164" cy="5943600"/>
        </p:xfrm>
        <a:graphic>
          <a:graphicData uri="http://schemas.openxmlformats.org/drawingml/2006/table">
            <a:tbl>
              <a:tblPr firstRow="1" bandRow="1">
                <a:tableStyleId>{3B4B98B0-60AC-42C2-AFA5-B58CD77FA1E5}</a:tableStyleId>
              </a:tblPr>
              <a:tblGrid>
                <a:gridCol w="1325217">
                  <a:extLst>
                    <a:ext uri="{9D8B030D-6E8A-4147-A177-3AD203B41FA5}">
                      <a16:colId xmlns:a16="http://schemas.microsoft.com/office/drawing/2014/main" val="1931365655"/>
                    </a:ext>
                  </a:extLst>
                </a:gridCol>
                <a:gridCol w="2133600">
                  <a:extLst>
                    <a:ext uri="{9D8B030D-6E8A-4147-A177-3AD203B41FA5}">
                      <a16:colId xmlns:a16="http://schemas.microsoft.com/office/drawing/2014/main" val="85472062"/>
                    </a:ext>
                  </a:extLst>
                </a:gridCol>
                <a:gridCol w="4452730">
                  <a:extLst>
                    <a:ext uri="{9D8B030D-6E8A-4147-A177-3AD203B41FA5}">
                      <a16:colId xmlns:a16="http://schemas.microsoft.com/office/drawing/2014/main" val="609300474"/>
                    </a:ext>
                  </a:extLst>
                </a:gridCol>
                <a:gridCol w="2239617">
                  <a:extLst>
                    <a:ext uri="{9D8B030D-6E8A-4147-A177-3AD203B41FA5}">
                      <a16:colId xmlns:a16="http://schemas.microsoft.com/office/drawing/2014/main" val="768386230"/>
                    </a:ext>
                  </a:extLst>
                </a:gridCol>
              </a:tblGrid>
              <a:tr h="868054">
                <a:tc>
                  <a:txBody>
                    <a:bodyPr/>
                    <a:lstStyle/>
                    <a:p>
                      <a:r>
                        <a:rPr lang="es-CL" b="0" dirty="0">
                          <a:solidFill>
                            <a:schemeClr val="tx1"/>
                          </a:solidFill>
                        </a:rPr>
                        <a:t>01/12/23</a:t>
                      </a:r>
                      <a:endParaRPr lang="es-ES" b="0" dirty="0">
                        <a:solidFill>
                          <a:schemeClr val="tx1"/>
                        </a:solidFill>
                      </a:endParaRPr>
                    </a:p>
                  </a:txBody>
                  <a:tcPr/>
                </a:tc>
                <a:tc>
                  <a:txBody>
                    <a:bodyPr/>
                    <a:lstStyle/>
                    <a:p>
                      <a:r>
                        <a:rPr lang="es-CL" b="0" dirty="0">
                          <a:solidFill>
                            <a:schemeClr val="tx1"/>
                          </a:solidFill>
                        </a:rPr>
                        <a:t>Búsqueda de la validación de expertos</a:t>
                      </a:r>
                      <a:endParaRPr lang="es-ES" b="0" dirty="0">
                        <a:solidFill>
                          <a:schemeClr val="tx1"/>
                        </a:solidFill>
                      </a:endParaRPr>
                    </a:p>
                  </a:txBody>
                  <a:tcPr/>
                </a:tc>
                <a:tc>
                  <a:txBody>
                    <a:bodyPr/>
                    <a:lstStyle/>
                    <a:p>
                      <a:r>
                        <a:rPr lang="es-CL" b="0" dirty="0">
                          <a:solidFill>
                            <a:schemeClr val="tx1"/>
                          </a:solidFill>
                        </a:rPr>
                        <a:t>Pedir el documento a los expertos del área para dar comienzo a la encuesta</a:t>
                      </a:r>
                      <a:endParaRPr lang="es-ES" b="0" dirty="0">
                        <a:solidFill>
                          <a:schemeClr val="tx1"/>
                        </a:solidFill>
                      </a:endParaRPr>
                    </a:p>
                  </a:txBody>
                  <a:tcPr/>
                </a:tc>
                <a:tc>
                  <a:txBody>
                    <a:bodyPr/>
                    <a:lstStyle/>
                    <a:p>
                      <a:r>
                        <a:rPr lang="es-CL" dirty="0">
                          <a:solidFill>
                            <a:schemeClr val="tx1"/>
                          </a:solidFill>
                        </a:rPr>
                        <a:t>Christian Castillo</a:t>
                      </a:r>
                      <a:endParaRPr lang="es-ES" dirty="0">
                        <a:solidFill>
                          <a:schemeClr val="tx1"/>
                        </a:solidFill>
                      </a:endParaRPr>
                    </a:p>
                  </a:txBody>
                  <a:tcPr/>
                </a:tc>
                <a:extLst>
                  <a:ext uri="{0D108BD9-81ED-4DB2-BD59-A6C34878D82A}">
                    <a16:rowId xmlns:a16="http://schemas.microsoft.com/office/drawing/2014/main" val="1304604936"/>
                  </a:ext>
                </a:extLst>
              </a:tr>
              <a:tr h="868054">
                <a:tc>
                  <a:txBody>
                    <a:bodyPr/>
                    <a:lstStyle/>
                    <a:p>
                      <a:r>
                        <a:rPr lang="es-CL" dirty="0"/>
                        <a:t>04/12/23</a:t>
                      </a:r>
                      <a:endParaRPr lang="es-ES" dirty="0"/>
                    </a:p>
                  </a:txBody>
                  <a:tcPr/>
                </a:tc>
                <a:tc>
                  <a:txBody>
                    <a:bodyPr/>
                    <a:lstStyle/>
                    <a:p>
                      <a:r>
                        <a:rPr lang="es-CL" dirty="0"/>
                        <a:t>Creación de la encuesta</a:t>
                      </a:r>
                      <a:endParaRPr lang="es-ES" dirty="0"/>
                    </a:p>
                  </a:txBody>
                  <a:tcPr/>
                </a:tc>
                <a:tc>
                  <a:txBody>
                    <a:bodyPr/>
                    <a:lstStyle/>
                    <a:p>
                      <a:r>
                        <a:rPr lang="es-CL" dirty="0"/>
                        <a:t>Crear la encuesta luego de la validación por expertos del área, junto a sus opiniones</a:t>
                      </a:r>
                      <a:endParaRPr lang="es-ES" dirty="0"/>
                    </a:p>
                  </a:txBody>
                  <a:tcPr/>
                </a:tc>
                <a:tc>
                  <a:txBody>
                    <a:bodyPr/>
                    <a:lstStyle/>
                    <a:p>
                      <a:r>
                        <a:rPr lang="es-CL" dirty="0"/>
                        <a:t>Leonardo García</a:t>
                      </a:r>
                      <a:endParaRPr lang="es-ES" dirty="0"/>
                    </a:p>
                  </a:txBody>
                  <a:tcPr/>
                </a:tc>
                <a:extLst>
                  <a:ext uri="{0D108BD9-81ED-4DB2-BD59-A6C34878D82A}">
                    <a16:rowId xmlns:a16="http://schemas.microsoft.com/office/drawing/2014/main" val="295502181"/>
                  </a:ext>
                </a:extLst>
              </a:tr>
              <a:tr h="1128470">
                <a:tc>
                  <a:txBody>
                    <a:bodyPr/>
                    <a:lstStyle/>
                    <a:p>
                      <a:r>
                        <a:rPr lang="es-CL" dirty="0"/>
                        <a:t>05/12/23</a:t>
                      </a:r>
                      <a:endParaRPr lang="es-ES" dirty="0"/>
                    </a:p>
                  </a:txBody>
                  <a:tcPr/>
                </a:tc>
                <a:tc>
                  <a:txBody>
                    <a:bodyPr/>
                    <a:lstStyle/>
                    <a:p>
                      <a:r>
                        <a:rPr lang="es-CL" dirty="0"/>
                        <a:t>Entrega de la encuesta</a:t>
                      </a:r>
                      <a:endParaRPr lang="es-ES" dirty="0"/>
                    </a:p>
                  </a:txBody>
                  <a:tcPr/>
                </a:tc>
                <a:tc>
                  <a:txBody>
                    <a:bodyPr/>
                    <a:lstStyle/>
                    <a:p>
                      <a:r>
                        <a:rPr lang="es-CL" dirty="0"/>
                        <a:t>Proporcionamos la encuesta a diferentes personas para que nos den sus opiniones y experiencias vividas</a:t>
                      </a:r>
                      <a:endParaRPr lang="es-ES" dirty="0"/>
                    </a:p>
                  </a:txBody>
                  <a:tcPr/>
                </a:tc>
                <a:tc>
                  <a:txBody>
                    <a:bodyPr/>
                    <a:lstStyle/>
                    <a:p>
                      <a:r>
                        <a:rPr lang="es-CL" dirty="0"/>
                        <a:t>Vicente Salazar</a:t>
                      </a:r>
                    </a:p>
                    <a:p>
                      <a:r>
                        <a:rPr lang="es-CL" dirty="0"/>
                        <a:t>Leonardo García</a:t>
                      </a:r>
                    </a:p>
                    <a:p>
                      <a:r>
                        <a:rPr lang="es-CL" dirty="0"/>
                        <a:t>Christian Castillo</a:t>
                      </a:r>
                    </a:p>
                    <a:p>
                      <a:r>
                        <a:rPr lang="es-CL" dirty="0"/>
                        <a:t>Marcelo Valenzuela</a:t>
                      </a:r>
                      <a:endParaRPr lang="es-ES" dirty="0"/>
                    </a:p>
                  </a:txBody>
                  <a:tcPr/>
                </a:tc>
                <a:extLst>
                  <a:ext uri="{0D108BD9-81ED-4DB2-BD59-A6C34878D82A}">
                    <a16:rowId xmlns:a16="http://schemas.microsoft.com/office/drawing/2014/main" val="3801552719"/>
                  </a:ext>
                </a:extLst>
              </a:tr>
              <a:tr h="1388886">
                <a:tc>
                  <a:txBody>
                    <a:bodyPr/>
                    <a:lstStyle/>
                    <a:p>
                      <a:r>
                        <a:rPr lang="es-CL" dirty="0"/>
                        <a:t>13/12/23</a:t>
                      </a:r>
                      <a:endParaRPr lang="es-ES" dirty="0"/>
                    </a:p>
                  </a:txBody>
                  <a:tcPr/>
                </a:tc>
                <a:tc>
                  <a:txBody>
                    <a:bodyPr/>
                    <a:lstStyle/>
                    <a:p>
                      <a:r>
                        <a:rPr lang="es-CL" dirty="0"/>
                        <a:t>Creación del prototipo</a:t>
                      </a:r>
                      <a:endParaRPr lang="es-ES" dirty="0"/>
                    </a:p>
                  </a:txBody>
                  <a:tcPr/>
                </a:tc>
                <a:tc>
                  <a:txBody>
                    <a:bodyPr/>
                    <a:lstStyle/>
                    <a:p>
                      <a:r>
                        <a:rPr lang="es-CL" dirty="0"/>
                        <a:t>Llevamos a cabo una simulación de un procedimiento mecánico implementando nuestra propuesta solución</a:t>
                      </a:r>
                      <a:endParaRPr lang="es-ES" dirty="0"/>
                    </a:p>
                  </a:txBody>
                  <a:tcPr/>
                </a:tc>
                <a:tc>
                  <a:txBody>
                    <a:bodyPr/>
                    <a:lstStyle/>
                    <a:p>
                      <a:r>
                        <a:rPr lang="es-CL" dirty="0"/>
                        <a:t>Vicente Salazar</a:t>
                      </a:r>
                    </a:p>
                    <a:p>
                      <a:r>
                        <a:rPr lang="es-CL" dirty="0"/>
                        <a:t>Leonardo García</a:t>
                      </a:r>
                    </a:p>
                    <a:p>
                      <a:r>
                        <a:rPr lang="es-CL" dirty="0"/>
                        <a:t>Christian Castillo</a:t>
                      </a:r>
                    </a:p>
                    <a:p>
                      <a:r>
                        <a:rPr lang="es-CL" dirty="0"/>
                        <a:t>Marcelo Valenzuela</a:t>
                      </a:r>
                      <a:endParaRPr lang="es-ES" dirty="0"/>
                    </a:p>
                    <a:p>
                      <a:endParaRPr lang="es-ES" dirty="0"/>
                    </a:p>
                  </a:txBody>
                  <a:tcPr/>
                </a:tc>
                <a:extLst>
                  <a:ext uri="{0D108BD9-81ED-4DB2-BD59-A6C34878D82A}">
                    <a16:rowId xmlns:a16="http://schemas.microsoft.com/office/drawing/2014/main" val="729809282"/>
                  </a:ext>
                </a:extLst>
              </a:tr>
              <a:tr h="1388886">
                <a:tc>
                  <a:txBody>
                    <a:bodyPr/>
                    <a:lstStyle/>
                    <a:p>
                      <a:r>
                        <a:rPr lang="es-CL" dirty="0"/>
                        <a:t>14/12/23</a:t>
                      </a:r>
                      <a:endParaRPr lang="es-ES" dirty="0"/>
                    </a:p>
                  </a:txBody>
                  <a:tcPr/>
                </a:tc>
                <a:tc>
                  <a:txBody>
                    <a:bodyPr/>
                    <a:lstStyle/>
                    <a:p>
                      <a:r>
                        <a:rPr lang="es-CL" dirty="0"/>
                        <a:t>Solucionar Detalles y presentación del PPT</a:t>
                      </a:r>
                      <a:endParaRPr lang="es-ES" dirty="0"/>
                    </a:p>
                  </a:txBody>
                  <a:tcPr/>
                </a:tc>
                <a:tc>
                  <a:txBody>
                    <a:bodyPr/>
                    <a:lstStyle/>
                    <a:p>
                      <a:r>
                        <a:rPr lang="es-CL" dirty="0"/>
                        <a:t>Arreglamos detalles del PPT y creamos el video de presentación para la entrega final</a:t>
                      </a:r>
                      <a:endParaRPr lang="es-ES" dirty="0"/>
                    </a:p>
                  </a:txBody>
                  <a:tcPr/>
                </a:tc>
                <a:tc>
                  <a:txBody>
                    <a:bodyPr/>
                    <a:lstStyle/>
                    <a:p>
                      <a:r>
                        <a:rPr lang="es-ES" dirty="0"/>
                        <a:t>Vicente Salazar</a:t>
                      </a:r>
                    </a:p>
                    <a:p>
                      <a:r>
                        <a:rPr lang="es-ES" dirty="0"/>
                        <a:t>Leonardo García</a:t>
                      </a:r>
                    </a:p>
                    <a:p>
                      <a:r>
                        <a:rPr lang="es-ES" dirty="0"/>
                        <a:t>Christian Castillo</a:t>
                      </a:r>
                    </a:p>
                    <a:p>
                      <a:r>
                        <a:rPr lang="es-ES" dirty="0"/>
                        <a:t>Marcelo Valenzuela</a:t>
                      </a:r>
                    </a:p>
                    <a:p>
                      <a:endParaRPr lang="es-ES" dirty="0"/>
                    </a:p>
                  </a:txBody>
                  <a:tcPr/>
                </a:tc>
                <a:extLst>
                  <a:ext uri="{0D108BD9-81ED-4DB2-BD59-A6C34878D82A}">
                    <a16:rowId xmlns:a16="http://schemas.microsoft.com/office/drawing/2014/main" val="3373395484"/>
                  </a:ext>
                </a:extLst>
              </a:tr>
            </a:tbl>
          </a:graphicData>
        </a:graphic>
      </p:graphicFrame>
    </p:spTree>
    <p:extLst>
      <p:ext uri="{BB962C8B-B14F-4D97-AF65-F5344CB8AC3E}">
        <p14:creationId xmlns:p14="http://schemas.microsoft.com/office/powerpoint/2010/main" val="3224839071"/>
      </p:ext>
    </p:extLst>
  </p:cSld>
  <p:clrMapOvr>
    <a:overrideClrMapping bg1="dk1" tx1="lt1" bg2="dk2" tx2="lt2" accent1="accent1" accent2="accent2" accent3="accent3" accent4="accent4" accent5="accent5" accent6="accent6" hlink="hlink" folHlink="folHlink"/>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Imagen 4" descr="Una persona con un cuchillo en una mesa&#10;&#10;Descripción generada automáticamente con confianza media">
            <a:extLst>
              <a:ext uri="{FF2B5EF4-FFF2-40B4-BE49-F238E27FC236}">
                <a16:creationId xmlns:a16="http://schemas.microsoft.com/office/drawing/2014/main" id="{0D17103F-530B-017F-FE95-6E88EF3B639B}"/>
              </a:ext>
            </a:extLst>
          </p:cNvPr>
          <p:cNvPicPr>
            <a:picLocks noChangeAspect="1"/>
          </p:cNvPicPr>
          <p:nvPr/>
        </p:nvPicPr>
        <p:blipFill rotWithShape="1">
          <a:blip r:embed="rId2">
            <a:extLst>
              <a:ext uri="{28A0092B-C50C-407E-A947-70E740481C1C}">
                <a14:useLocalDpi xmlns:a14="http://schemas.microsoft.com/office/drawing/2010/main" val="0"/>
              </a:ext>
            </a:extLst>
          </a:blip>
          <a:srcRect l="27115" r="11372" b="-1"/>
          <a:stretch/>
        </p:blipFill>
        <p:spPr>
          <a:xfrm>
            <a:off x="4269854" y="-1"/>
            <a:ext cx="7922146" cy="6858001"/>
          </a:xfrm>
          <a:custGeom>
            <a:avLst/>
            <a:gdLst/>
            <a:ahLst/>
            <a:cxnLst/>
            <a:rect l="l" t="t" r="r" b="b"/>
            <a:pathLst>
              <a:path w="7922146" h="6858001">
                <a:moveTo>
                  <a:pt x="379987" y="0"/>
                </a:moveTo>
                <a:lnTo>
                  <a:pt x="5304971" y="0"/>
                </a:lnTo>
                <a:lnTo>
                  <a:pt x="7065281" y="0"/>
                </a:lnTo>
                <a:lnTo>
                  <a:pt x="7397540" y="0"/>
                </a:lnTo>
                <a:lnTo>
                  <a:pt x="7397540" y="1"/>
                </a:lnTo>
                <a:lnTo>
                  <a:pt x="7922146" y="1"/>
                </a:lnTo>
                <a:lnTo>
                  <a:pt x="7922146" y="6858001"/>
                </a:lnTo>
                <a:lnTo>
                  <a:pt x="7065281" y="6858001"/>
                </a:lnTo>
                <a:lnTo>
                  <a:pt x="7065281" y="6858000"/>
                </a:lnTo>
                <a:lnTo>
                  <a:pt x="5932989" y="6858000"/>
                </a:lnTo>
                <a:lnTo>
                  <a:pt x="5932989" y="6858001"/>
                </a:lnTo>
                <a:lnTo>
                  <a:pt x="27809" y="6858001"/>
                </a:lnTo>
                <a:lnTo>
                  <a:pt x="1803228" y="4521201"/>
                </a:lnTo>
                <a:close/>
                <a:moveTo>
                  <a:pt x="0" y="0"/>
                </a:moveTo>
                <a:lnTo>
                  <a:pt x="379987" y="0"/>
                </a:lnTo>
                <a:lnTo>
                  <a:pt x="0" y="407"/>
                </a:lnTo>
                <a:close/>
              </a:path>
            </a:pathLst>
          </a:custGeom>
        </p:spPr>
      </p:pic>
      <p:sp>
        <p:nvSpPr>
          <p:cNvPr id="2" name="Título 1">
            <a:extLst>
              <a:ext uri="{FF2B5EF4-FFF2-40B4-BE49-F238E27FC236}">
                <a16:creationId xmlns:a16="http://schemas.microsoft.com/office/drawing/2014/main" id="{D30B0382-93C9-C981-DE18-27EF1EEC89AF}"/>
              </a:ext>
            </a:extLst>
          </p:cNvPr>
          <p:cNvSpPr>
            <a:spLocks noGrp="1"/>
          </p:cNvSpPr>
          <p:nvPr>
            <p:ph type="title"/>
          </p:nvPr>
        </p:nvSpPr>
        <p:spPr>
          <a:xfrm>
            <a:off x="677333" y="609600"/>
            <a:ext cx="3851123" cy="1320800"/>
          </a:xfrm>
        </p:spPr>
        <p:txBody>
          <a:bodyPr>
            <a:normAutofit/>
          </a:bodyPr>
          <a:lstStyle/>
          <a:p>
            <a:r>
              <a:rPr lang="es-CL" dirty="0"/>
              <a:t>Link video de la presentación</a:t>
            </a:r>
            <a:endParaRPr lang="es-ES" dirty="0"/>
          </a:p>
        </p:txBody>
      </p:sp>
      <p:sp>
        <p:nvSpPr>
          <p:cNvPr id="3" name="Marcador de contenido 2">
            <a:extLst>
              <a:ext uri="{FF2B5EF4-FFF2-40B4-BE49-F238E27FC236}">
                <a16:creationId xmlns:a16="http://schemas.microsoft.com/office/drawing/2014/main" id="{2789D051-6447-326C-9467-F22894371DE1}"/>
              </a:ext>
            </a:extLst>
          </p:cNvPr>
          <p:cNvSpPr>
            <a:spLocks noGrp="1"/>
          </p:cNvSpPr>
          <p:nvPr>
            <p:ph idx="1"/>
          </p:nvPr>
        </p:nvSpPr>
        <p:spPr>
          <a:xfrm>
            <a:off x="677334" y="2160589"/>
            <a:ext cx="4968092" cy="3880773"/>
          </a:xfrm>
        </p:spPr>
        <p:txBody>
          <a:bodyPr>
            <a:normAutofit/>
          </a:bodyPr>
          <a:lstStyle/>
          <a:p>
            <a:endParaRPr lang="es-CL" dirty="0"/>
          </a:p>
          <a:p>
            <a:endParaRPr lang="es-ES" dirty="0"/>
          </a:p>
          <a:p>
            <a:r>
              <a:rPr lang="es-ES" dirty="0">
                <a:hlinkClick r:id="rId3"/>
              </a:rPr>
              <a:t>https://www.youtube.com/watch?v=rwfGLcrFxNw&amp;t=351s</a:t>
            </a:r>
            <a:endParaRPr lang="es-ES" dirty="0"/>
          </a:p>
          <a:p>
            <a:endParaRPr lang="es-ES" dirty="0"/>
          </a:p>
        </p:txBody>
      </p:sp>
      <p:cxnSp>
        <p:nvCxnSpPr>
          <p:cNvPr id="31" name="Straight Connector 30">
            <a:extLst>
              <a:ext uri="{FF2B5EF4-FFF2-40B4-BE49-F238E27FC236}">
                <a16:creationId xmlns:a16="http://schemas.microsoft.com/office/drawing/2014/main" id="{64FA5DFF-7FE6-4855-84E6-DFA78EE978B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33" name="Straight Connector 32">
            <a:extLst>
              <a:ext uri="{FF2B5EF4-FFF2-40B4-BE49-F238E27FC236}">
                <a16:creationId xmlns:a16="http://schemas.microsoft.com/office/drawing/2014/main" id="{2AFD8CBA-54A3-4363-991B-B9C631BBFA7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35" name="Rectangle 23">
            <a:extLst>
              <a:ext uri="{FF2B5EF4-FFF2-40B4-BE49-F238E27FC236}">
                <a16:creationId xmlns:a16="http://schemas.microsoft.com/office/drawing/2014/main" id="{3F088236-D655-4F88-B238-E167623580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7" name="Rectangle 25">
            <a:extLst>
              <a:ext uri="{FF2B5EF4-FFF2-40B4-BE49-F238E27FC236}">
                <a16:creationId xmlns:a16="http://schemas.microsoft.com/office/drawing/2014/main" id="{3DAC0C92-199E-475C-9390-119A9B0272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9" name="Isosceles Triangle 24">
            <a:extLst>
              <a:ext uri="{FF2B5EF4-FFF2-40B4-BE49-F238E27FC236}">
                <a16:creationId xmlns:a16="http://schemas.microsoft.com/office/drawing/2014/main" id="{C4CFB339-0ED8-4FE2-9EF1-6D1375B849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41" name="Rectangle 27">
            <a:extLst>
              <a:ext uri="{FF2B5EF4-FFF2-40B4-BE49-F238E27FC236}">
                <a16:creationId xmlns:a16="http://schemas.microsoft.com/office/drawing/2014/main" id="{31896C80-2069-4431-9C19-83B9137344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47000"/>
            </a:schemeClr>
          </a:solidFill>
          <a:ln>
            <a:noFill/>
          </a:ln>
          <a:effectLst/>
        </p:spPr>
        <p:style>
          <a:lnRef idx="1">
            <a:schemeClr val="accent1"/>
          </a:lnRef>
          <a:fillRef idx="3">
            <a:schemeClr val="accent1"/>
          </a:fillRef>
          <a:effectRef idx="2">
            <a:schemeClr val="accent1"/>
          </a:effectRef>
          <a:fontRef idx="minor">
            <a:schemeClr val="lt1"/>
          </a:fontRef>
        </p:style>
      </p:sp>
      <p:sp>
        <p:nvSpPr>
          <p:cNvPr id="43" name="Rectangle 28">
            <a:extLst>
              <a:ext uri="{FF2B5EF4-FFF2-40B4-BE49-F238E27FC236}">
                <a16:creationId xmlns:a16="http://schemas.microsoft.com/office/drawing/2014/main" id="{BF120A21-0841-4823-B0C4-28AEBCEF9B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45" name="Rectangle 29">
            <a:extLst>
              <a:ext uri="{FF2B5EF4-FFF2-40B4-BE49-F238E27FC236}">
                <a16:creationId xmlns:a16="http://schemas.microsoft.com/office/drawing/2014/main" id="{DBB05BAE-BBD3-4289-899F-A6851503C6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47" name="Isosceles Triangle 29">
            <a:extLst>
              <a:ext uri="{FF2B5EF4-FFF2-40B4-BE49-F238E27FC236}">
                <a16:creationId xmlns:a16="http://schemas.microsoft.com/office/drawing/2014/main" id="{9874D11C-36F5-4BBE-A490-019A54E953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2537464840"/>
      </p:ext>
    </p:extLst>
  </p:cSld>
  <p:clrMapOvr>
    <a:masterClrMapping/>
  </p:clrMapOvr>
</p:sld>
</file>

<file path=ppt/theme/theme1.xml><?xml version="1.0" encoding="utf-8"?>
<a:theme xmlns:a="http://schemas.openxmlformats.org/drawingml/2006/main" name="Faceta">
  <a:themeElements>
    <a:clrScheme name="Faceta">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a">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a">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e18e1d99-ad59-48f1-b4b7-e09c670c4281"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3A2A84260D04624A8B717A5811981AC4" ma:contentTypeVersion="16" ma:contentTypeDescription="Create a new document." ma:contentTypeScope="" ma:versionID="78ec2117f7e2a26e85b2e503ca3368cf">
  <xsd:schema xmlns:xsd="http://www.w3.org/2001/XMLSchema" xmlns:xs="http://www.w3.org/2001/XMLSchema" xmlns:p="http://schemas.microsoft.com/office/2006/metadata/properties" xmlns:ns3="044690ba-3bcd-4bf0-9bed-6c935b699a1b" xmlns:ns4="e18e1d99-ad59-48f1-b4b7-e09c670c4281" targetNamespace="http://schemas.microsoft.com/office/2006/metadata/properties" ma:root="true" ma:fieldsID="bd91240d1f551a398bc54852b2baaade" ns3:_="" ns4:_="">
    <xsd:import namespace="044690ba-3bcd-4bf0-9bed-6c935b699a1b"/>
    <xsd:import namespace="e18e1d99-ad59-48f1-b4b7-e09c670c4281"/>
    <xsd:element name="properties">
      <xsd:complexType>
        <xsd:sequence>
          <xsd:element name="documentManagement">
            <xsd:complexType>
              <xsd:all>
                <xsd:element ref="ns3:SharedWithUsers" minOccurs="0"/>
                <xsd:element ref="ns3:SharedWithDetails" minOccurs="0"/>
                <xsd:element ref="ns3:SharingHintHash" minOccurs="0"/>
                <xsd:element ref="ns4:MediaServiceMetadata" minOccurs="0"/>
                <xsd:element ref="ns4:MediaServiceFastMetadata" minOccurs="0"/>
                <xsd:element ref="ns4:MediaServiceDateTaken" minOccurs="0"/>
                <xsd:element ref="ns4:MediaLengthInSeconds" minOccurs="0"/>
                <xsd:element ref="ns4:MediaServiceAutoTags" minOccurs="0"/>
                <xsd:element ref="ns4:MediaServiceAutoKeyPoints" minOccurs="0"/>
                <xsd:element ref="ns4:MediaServiceKeyPoints" minOccurs="0"/>
                <xsd:element ref="ns4:MediaServiceLocation" minOccurs="0"/>
                <xsd:element ref="ns4:MediaServiceGenerationTime" minOccurs="0"/>
                <xsd:element ref="ns4:MediaServiceEventHashCode" minOccurs="0"/>
                <xsd:element ref="ns4:_activity" minOccurs="0"/>
                <xsd:element ref="ns4:MediaServiceOCR" minOccurs="0"/>
                <xsd:element ref="ns4: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44690ba-3bcd-4bf0-9bed-6c935b699a1b"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SharingHintHash" ma:index="10" nillable="true" ma:displayName="Sharing Hint Hash"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e18e1d99-ad59-48f1-b4b7-e09c670c4281"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DateTaken" ma:index="13" nillable="true" ma:displayName="MediaServiceDateTaken" ma:hidden="true" ma:internalName="MediaServiceDateTaken" ma:readOnly="true">
      <xsd:simpleType>
        <xsd:restriction base="dms:Text"/>
      </xsd:simpleType>
    </xsd:element>
    <xsd:element name="MediaLengthInSeconds" ma:index="14" nillable="true" ma:displayName="Length (seconds)" ma:internalName="MediaLengthInSeconds" ma:readOnly="true">
      <xsd:simpleType>
        <xsd:restriction base="dms:Unknown"/>
      </xsd:simpleType>
    </xsd:element>
    <xsd:element name="MediaServiceAutoTags" ma:index="15" nillable="true" ma:displayName="Tags" ma:internalName="MediaServiceAutoTags"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true">
      <xsd:simpleType>
        <xsd:restriction base="dms:Note">
          <xsd:maxLength value="255"/>
        </xsd:restriction>
      </xsd:simpleType>
    </xsd:element>
    <xsd:element name="MediaServiceLocation" ma:index="18" nillable="true" ma:displayName="Location" ma:indexed="true" ma:internalName="MediaServiceLocation" ma:readOnly="true">
      <xsd:simpleType>
        <xsd:restriction base="dms:Text"/>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element name="_activity" ma:index="21" nillable="true" ma:displayName="_activity" ma:hidden="true" ma:internalName="_activity">
      <xsd:simpleType>
        <xsd:restriction base="dms:Note"/>
      </xsd:simpleType>
    </xsd:element>
    <xsd:element name="MediaServiceOCR" ma:index="22" nillable="true" ma:displayName="Extracted Text" ma:internalName="MediaServiceOCR" ma:readOnly="true">
      <xsd:simpleType>
        <xsd:restriction base="dms:Note">
          <xsd:maxLength value="255"/>
        </xsd:restriction>
      </xsd:simple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1E3AC9BC-3A48-41FB-89C8-97DFFCFF99CC}">
  <ds:schemaRefs>
    <ds:schemaRef ds:uri="http://schemas.microsoft.com/office/infopath/2007/PartnerControls"/>
    <ds:schemaRef ds:uri="044690ba-3bcd-4bf0-9bed-6c935b699a1b"/>
    <ds:schemaRef ds:uri="http://purl.org/dc/dcmitype/"/>
    <ds:schemaRef ds:uri="http://schemas.openxmlformats.org/package/2006/metadata/core-properties"/>
    <ds:schemaRef ds:uri="http://schemas.microsoft.com/office/2006/metadata/properties"/>
    <ds:schemaRef ds:uri="http://purl.org/dc/terms/"/>
    <ds:schemaRef ds:uri="http://schemas.microsoft.com/office/2006/documentManagement/types"/>
    <ds:schemaRef ds:uri="e18e1d99-ad59-48f1-b4b7-e09c670c4281"/>
    <ds:schemaRef ds:uri="http://www.w3.org/XML/1998/namespace"/>
    <ds:schemaRef ds:uri="http://purl.org/dc/elements/1.1/"/>
  </ds:schemaRefs>
</ds:datastoreItem>
</file>

<file path=customXml/itemProps2.xml><?xml version="1.0" encoding="utf-8"?>
<ds:datastoreItem xmlns:ds="http://schemas.openxmlformats.org/officeDocument/2006/customXml" ds:itemID="{CAA8A3B3-4AE0-4A4B-B7C7-6305818128C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44690ba-3bcd-4bf0-9bed-6c935b699a1b"/>
    <ds:schemaRef ds:uri="e18e1d99-ad59-48f1-b4b7-e09c670c428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6CD2E0C6-02D9-4725-AA2D-08585DAEFECD}">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Facet</Template>
  <TotalTime>896</TotalTime>
  <Words>1597</Words>
  <Application>Microsoft Macintosh PowerPoint</Application>
  <PresentationFormat>Panorámica</PresentationFormat>
  <Paragraphs>155</Paragraphs>
  <Slides>17</Slides>
  <Notes>0</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17</vt:i4>
      </vt:variant>
    </vt:vector>
  </HeadingPairs>
  <TitlesOfParts>
    <vt:vector size="22" baseType="lpstr">
      <vt:lpstr>Arial</vt:lpstr>
      <vt:lpstr>Calibri</vt:lpstr>
      <vt:lpstr>Trebuchet MS</vt:lpstr>
      <vt:lpstr>Wingdings 3</vt:lpstr>
      <vt:lpstr>Faceta</vt:lpstr>
      <vt:lpstr> CONFIANZA AL VOLANTE </vt:lpstr>
      <vt:lpstr>DEFINICIÓN DEL PROYECTO</vt:lpstr>
      <vt:lpstr>PROYECTO</vt:lpstr>
      <vt:lpstr> </vt:lpstr>
      <vt:lpstr>TEMAS INICIALES INVOLUCRADOS</vt:lpstr>
      <vt:lpstr>CRONOGRAMA</vt:lpstr>
      <vt:lpstr>HERRAMIENTAS TECNOLÓGICAS</vt:lpstr>
      <vt:lpstr>Presentación de PowerPoint</vt:lpstr>
      <vt:lpstr>EVIDENCIA FUENTES DE INFORMACIÓN</vt:lpstr>
      <vt:lpstr>Presentación de PowerPoint</vt:lpstr>
      <vt:lpstr>Porcentajes de la Encuesta</vt:lpstr>
      <vt:lpstr>Propuesta Solución</vt:lpstr>
      <vt:lpstr>Prototipo</vt:lpstr>
      <vt:lpstr>Conclusión</vt:lpstr>
      <vt:lpstr>BITÁCORA</vt:lpstr>
      <vt:lpstr>Presentación de PowerPoint</vt:lpstr>
      <vt:lpstr>Link video de la presentación</vt:lpstr>
    </vt:vector>
  </TitlesOfParts>
  <Company/>
  <LinksUpToDate>false</LinksUpToDate>
  <SharedDoc>false</SharedDoc>
  <HyperlinksChanged>false</HyperlinksChanged>
  <AppVersion>16.0016</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Diapositiva 1: Nombre del proyecto, integrantes, profesor, asignatura y carrera</dc:title>
  <dc:creator>GISELLE ANGELICA MORA OCARES</dc:creator>
  <cp:lastModifiedBy>Microsoft Office User</cp:lastModifiedBy>
  <cp:revision>35</cp:revision>
  <dcterms:created xsi:type="dcterms:W3CDTF">2023-08-31T16:26:40Z</dcterms:created>
  <dcterms:modified xsi:type="dcterms:W3CDTF">2023-12-26T22:22:49Z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0x0101003A2A84260D04624A8B717A5811981AC4</vt:lpwstr>
  </property>
</Properties>
</file>