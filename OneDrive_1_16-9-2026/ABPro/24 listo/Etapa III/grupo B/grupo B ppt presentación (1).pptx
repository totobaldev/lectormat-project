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3" r:id="rId4"/>
  </p:sldMasterIdLst>
  <p:notesMasterIdLst>
    <p:notesMasterId r:id="rId20"/>
  </p:notesMasterIdLst>
  <p:sldIdLst>
    <p:sldId id="256" r:id="rId5"/>
    <p:sldId id="257" r:id="rId6"/>
    <p:sldId id="258" r:id="rId7"/>
    <p:sldId id="259" r:id="rId8"/>
    <p:sldId id="260" r:id="rId9"/>
    <p:sldId id="262" r:id="rId10"/>
    <p:sldId id="263" r:id="rId11"/>
    <p:sldId id="264" r:id="rId12"/>
    <p:sldId id="265" r:id="rId13"/>
    <p:sldId id="268" r:id="rId14"/>
    <p:sldId id="267" r:id="rId15"/>
    <p:sldId id="271" r:id="rId16"/>
    <p:sldId id="270" r:id="rId17"/>
    <p:sldId id="269"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10"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4" autoAdjust="0"/>
    <p:restoredTop sz="87147" autoAdjust="0"/>
  </p:normalViewPr>
  <p:slideViewPr>
    <p:cSldViewPr snapToGrid="0">
      <p:cViewPr varScale="1">
        <p:scale>
          <a:sx n="87" d="100"/>
          <a:sy n="87" d="100"/>
        </p:scale>
        <p:origin x="208"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9T16:09:24.481" idx="1">
    <p:pos x="10" y="10"/>
    <p:text>debe redactar en tercera persona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9T16:11:02.449" idx="2">
    <p:pos x="10" y="10"/>
    <p:text>¿cómo las utilizarán durante el proceso de búsqueda de solución?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9T16:11:56.968" idx="3">
    <p:pos x="2406" y="2796"/>
    <p:text>??</p:text>
    <p:extLst>
      <p:ext uri="{C676402C-5697-4E1C-873F-D02D1690AC5C}">
        <p15:threadingInfo xmlns:p15="http://schemas.microsoft.com/office/powerpoint/2012/main" timeZoneBias="180"/>
      </p:ext>
    </p:extLst>
  </p:cm>
  <p:cm authorId="1" dt="2023-12-19T16:12:20.145" idx="4">
    <p:pos x="4882" y="3635"/>
    <p:text>¿Que justificación, desde la física, puede observar?</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9T16:12:56.104" idx="5">
    <p:pos x="10" y="10"/>
    <p:text>falta pie de imagen y referencia según APA</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9T16:13:53.668" idx="6">
    <p:pos x="10" y="10"/>
    <p:text>bien la incorporación de evidencia, pero falta APA</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9T16:16:00.873" idx="7">
    <p:pos x="10" y="10"/>
    <p:text>buena descripción del procedimiento</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9T16:16:24.622" idx="8">
    <p:pos x="6540" y="1514"/>
    <p:text>partes internas de que?</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19T16:16:39.429" idx="9">
    <p:pos x="10" y="10"/>
    <p:text>falta mayor investigación en el proceso... es decir, incorporación de referencias bibliográficas,</p:text>
    <p:extLst>
      <p:ext uri="{C676402C-5697-4E1C-873F-D02D1690AC5C}">
        <p15:threadingInfo xmlns:p15="http://schemas.microsoft.com/office/powerpoint/2012/main" timeZoneBias="180"/>
      </p:ext>
    </p:extLst>
  </p:cm>
  <p:cm authorId="1" dt="2023-12-19T16:17:10.374" idx="10">
    <p:pos x="146" y="146"/>
    <p:text>no se observó cálculos asociados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450BC-2863-4A0C-95FC-AE2B63AD30B3}" type="datetimeFigureOut">
              <a:rPr lang="es-CL" smtClean="0"/>
              <a:t>19-12-23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E5C00-F51C-4767-9528-B506319B6F93}" type="slidenum">
              <a:rPr lang="es-CL" smtClean="0"/>
              <a:t>‹Nº›</a:t>
            </a:fld>
            <a:endParaRPr lang="es-CL"/>
          </a:p>
        </p:txBody>
      </p:sp>
    </p:spTree>
    <p:extLst>
      <p:ext uri="{BB962C8B-B14F-4D97-AF65-F5344CB8AC3E}">
        <p14:creationId xmlns:p14="http://schemas.microsoft.com/office/powerpoint/2010/main" val="1459902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C10E5C00-F51C-4767-9528-B506319B6F93}" type="slidenum">
              <a:rPr lang="es-CL" smtClean="0"/>
              <a:t>1</a:t>
            </a:fld>
            <a:endParaRPr lang="es-CL"/>
          </a:p>
        </p:txBody>
      </p:sp>
    </p:spTree>
    <p:extLst>
      <p:ext uri="{BB962C8B-B14F-4D97-AF65-F5344CB8AC3E}">
        <p14:creationId xmlns:p14="http://schemas.microsoft.com/office/powerpoint/2010/main" val="1328366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3D145F0F-ABEA-49D3-ADF5-B61D2DA89C31}" type="datetimeFigureOut">
              <a:rPr lang="es-CL" smtClean="0"/>
              <a:t>19-12-23</a:t>
            </a:fld>
            <a:endParaRPr lang="es-CL"/>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s-CL"/>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9BCB0801-C394-46F1-BA09-9052FD73111B}" type="slidenum">
              <a:rPr lang="es-CL" smtClean="0"/>
              <a:t>‹Nº›</a:t>
            </a:fld>
            <a:endParaRPr lang="es-CL"/>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04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19-12-23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76209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19-12-23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033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19-12-23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721839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19-12-23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51405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19-12-23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224178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19-12-23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856179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19-12-23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629501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19-12-23</a:t>
            </a:fld>
            <a:endParaRPr lang="es-CL"/>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231989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19-12-23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62441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19-12-23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30649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3D145F0F-ABEA-49D3-ADF5-B61D2DA89C31}" type="datetimeFigureOut">
              <a:rPr lang="es-CL" smtClean="0"/>
              <a:t>19-12-23</a:t>
            </a:fld>
            <a:endParaRPr lang="es-CL"/>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s-CL"/>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1688288407"/>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3"/>
          <a:stretch>
            <a:fillRect/>
          </a:stretch>
        </p:blipFill>
        <p:spPr>
          <a:xfrm>
            <a:off x="7160376" y="387235"/>
            <a:ext cx="4770331" cy="6221384"/>
          </a:xfrm>
          <a:prstGeom prst="rect">
            <a:avLst/>
          </a:prstGeom>
        </p:spPr>
      </p:pic>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p:txBody>
          <a:bodyPr/>
          <a:lstStyle/>
          <a:p>
            <a:r>
              <a:rPr lang="es-ES" sz="1800" dirty="0">
                <a:solidFill>
                  <a:schemeClr val="tx1"/>
                </a:solidFill>
                <a:effectLst/>
                <a:latin typeface="Arial" panose="020B0604020202020204" pitchFamily="34" charset="0"/>
                <a:cs typeface="Arial" panose="020B0604020202020204" pitchFamily="34" charset="0"/>
              </a:rPr>
              <a:t>El tecle y la geometría</a:t>
            </a:r>
            <a:endParaRPr lang="es-CL" dirty="0">
              <a:solidFill>
                <a:schemeClr val="tx1"/>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551411" y="4438996"/>
            <a:ext cx="7935884" cy="1770612"/>
          </a:xfrm>
        </p:spPr>
        <p:txBody>
          <a:bodyPr>
            <a:normAutofit/>
          </a:bodyPr>
          <a:lstStyle/>
          <a:p>
            <a:pPr algn="l"/>
            <a:r>
              <a:rPr lang="es-CL" sz="2000" dirty="0">
                <a:solidFill>
                  <a:schemeClr val="tx1"/>
                </a:solidFill>
              </a:rPr>
              <a:t>Nombres: Diego Quezada, Cristóbal Valenzuela y David Peña</a:t>
            </a:r>
          </a:p>
          <a:p>
            <a:pPr algn="l"/>
            <a:r>
              <a:rPr lang="es-CL" sz="2000" dirty="0">
                <a:solidFill>
                  <a:schemeClr val="tx1"/>
                </a:solidFill>
              </a:rPr>
              <a:t>Carrera: Ingeniería en Mecánica y Electromovilidad Automotriz</a:t>
            </a:r>
          </a:p>
          <a:p>
            <a:pPr algn="l"/>
            <a:r>
              <a:rPr lang="es-CL" sz="2000" dirty="0">
                <a:solidFill>
                  <a:schemeClr val="tx1"/>
                </a:solidFill>
              </a:rPr>
              <a:t>Asignatura: Funciones y Geometría 	</a:t>
            </a:r>
          </a:p>
          <a:p>
            <a:pPr algn="l"/>
            <a:r>
              <a:rPr lang="es-CL" sz="2000" dirty="0">
                <a:solidFill>
                  <a:schemeClr val="tx1"/>
                </a:solidFill>
              </a:rPr>
              <a:t>Docente: Lissette Salamanca</a:t>
            </a:r>
          </a:p>
          <a:p>
            <a:pPr algn="l"/>
            <a:endParaRPr lang="es-CL" dirty="0"/>
          </a:p>
        </p:txBody>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p:txBody>
          <a:bodyPr/>
          <a:lstStyle/>
          <a:p>
            <a:pPr algn="ctr"/>
            <a:r>
              <a:rPr lang="es-ES" sz="1800" dirty="0">
                <a:solidFill>
                  <a:srgbClr val="000000"/>
                </a:solidFill>
                <a:latin typeface="Calibri" panose="020F0502020204030204" pitchFamily="34" charset="0"/>
              </a:rPr>
              <a:t>Definición del proyecto</a:t>
            </a:r>
            <a:endParaRPr lang="es-CL" dirty="0"/>
          </a:p>
        </p:txBody>
      </p:sp>
      <p:sp>
        <p:nvSpPr>
          <p:cNvPr id="3" name="Marcador de contenido 2"/>
          <p:cNvSpPr>
            <a:spLocks noGrp="1"/>
          </p:cNvSpPr>
          <p:nvPr>
            <p:ph idx="1"/>
          </p:nvPr>
        </p:nvSpPr>
        <p:spPr/>
        <p:txBody>
          <a:bodyPr>
            <a:normAutofit/>
          </a:bodyPr>
          <a:lstStyle/>
          <a:p>
            <a:r>
              <a:rPr lang="es-CL" sz="1800" dirty="0">
                <a:solidFill>
                  <a:schemeClr val="tx1"/>
                </a:solidFill>
                <a:latin typeface="Arial" panose="020B0604020202020204" pitchFamily="34" charset="0"/>
                <a:cs typeface="Arial" panose="020B0604020202020204" pitchFamily="34" charset="0"/>
              </a:rPr>
              <a:t>En este proyecto </a:t>
            </a:r>
            <a:r>
              <a:rPr lang="es-CL" sz="1800" dirty="0">
                <a:solidFill>
                  <a:srgbClr val="0070C0"/>
                </a:solidFill>
                <a:latin typeface="Arial" panose="020B0604020202020204" pitchFamily="34" charset="0"/>
                <a:cs typeface="Arial" panose="020B0604020202020204" pitchFamily="34" charset="0"/>
              </a:rPr>
              <a:t>investigaremos</a:t>
            </a:r>
            <a:r>
              <a:rPr lang="es-CL" sz="1800" dirty="0">
                <a:solidFill>
                  <a:schemeClr val="tx1"/>
                </a:solidFill>
                <a:latin typeface="Arial" panose="020B0604020202020204" pitchFamily="34" charset="0"/>
                <a:cs typeface="Arial" panose="020B0604020202020204" pitchFamily="34" charset="0"/>
              </a:rPr>
              <a:t> acerca del tecle, sus partes y funciones, también responderemos a preguntas que nos hacemos desde nuestro punto de vista inexperto a través de la investigación en donde pondremos a prueba el tecle levantando el motor de un camión.</a:t>
            </a: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p:txBody>
          <a:bodyPr>
            <a:normAutofit/>
          </a:bodyPr>
          <a:lstStyle/>
          <a:p>
            <a:pPr algn="ctr"/>
            <a:r>
              <a:rPr lang="es-ES" sz="2400" dirty="0">
                <a:solidFill>
                  <a:srgbClr val="000000"/>
                </a:solidFill>
                <a:latin typeface="Calibri" panose="020F0502020204030204" pitchFamily="34" charset="0"/>
              </a:rPr>
              <a:t>Tema de investigación, nociones matemáticas y problemática a abordar</a:t>
            </a:r>
            <a:r>
              <a:rPr lang="es-ES" sz="2400" b="0" i="0" dirty="0">
                <a:solidFill>
                  <a:srgbClr val="000000"/>
                </a:solidFill>
                <a:effectLst/>
                <a:latin typeface="Calibri" panose="020F0502020204030204" pitchFamily="34" charset="0"/>
              </a:rPr>
              <a:t> </a:t>
            </a:r>
            <a:endParaRPr lang="es-CL" sz="5400" dirty="0"/>
          </a:p>
        </p:txBody>
      </p:sp>
      <p:sp>
        <p:nvSpPr>
          <p:cNvPr id="3" name="Marcador de contenido 2"/>
          <p:cNvSpPr>
            <a:spLocks noGrp="1"/>
          </p:cNvSpPr>
          <p:nvPr>
            <p:ph idx="1"/>
          </p:nvPr>
        </p:nvSpPr>
        <p:spPr/>
        <p:txBody>
          <a:bodyPr/>
          <a:lstStyle/>
          <a:p>
            <a:r>
              <a:rPr lang="es-CL" dirty="0">
                <a:solidFill>
                  <a:schemeClr val="tx1"/>
                </a:solidFill>
              </a:rPr>
              <a:t>Nuestro tema de investigación será ver la capacidad del tecle y su principio de funcionamiento.</a:t>
            </a:r>
          </a:p>
          <a:p>
            <a:r>
              <a:rPr lang="es-CL" dirty="0">
                <a:solidFill>
                  <a:schemeClr val="tx1"/>
                </a:solidFill>
              </a:rPr>
              <a:t>En este proyecto ocuparemos las siguientes nociones matemáticas las cuales son: Fuerza,  Torque e hidráulica ya que son las que aplica un tecle.</a:t>
            </a:r>
          </a:p>
          <a:p>
            <a:r>
              <a:rPr lang="es-CL" dirty="0">
                <a:solidFill>
                  <a:schemeClr val="tx1"/>
                </a:solidFill>
              </a:rPr>
              <a:t>Nuestra problemática será poder levantar un motor de 2850 kilos; Verificar si se puede o buscar alguna solución en caso de que esto no sea posible.</a:t>
            </a:r>
          </a:p>
          <a:p>
            <a:endParaRPr lang="es-CL" dirty="0">
              <a:solidFill>
                <a:schemeClr val="tx1"/>
              </a:solidFill>
            </a:endParaRPr>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p:txBody>
          <a:bodyPr/>
          <a:lstStyle/>
          <a:p>
            <a:pPr algn="ctr"/>
            <a:r>
              <a:rPr lang="es-ES" sz="1800" b="0" i="0" dirty="0">
                <a:solidFill>
                  <a:srgbClr val="000000"/>
                </a:solidFill>
                <a:effectLst/>
                <a:latin typeface="Arial" panose="020B0604020202020204" pitchFamily="34" charset="0"/>
                <a:cs typeface="Arial" panose="020B0604020202020204" pitchFamily="34" charset="0"/>
              </a:rPr>
              <a:t>Objetivos y preguntas de investigación  </a:t>
            </a:r>
            <a:endParaRPr lang="es-CL"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p:txBody>
          <a:bodyPr/>
          <a:lstStyle/>
          <a:p>
            <a:pPr marL="45720" indent="0">
              <a:buNone/>
            </a:pPr>
            <a:endParaRPr lang="es-CL" dirty="0">
              <a:solidFill>
                <a:schemeClr val="tx1"/>
              </a:solidFill>
              <a:latin typeface="Arial" panose="020B0604020202020204" pitchFamily="34" charset="0"/>
              <a:cs typeface="Arial" panose="020B0604020202020204" pitchFamily="34" charset="0"/>
            </a:endParaRPr>
          </a:p>
          <a:p>
            <a:pPr marL="45720" indent="0">
              <a:buNone/>
            </a:pPr>
            <a:r>
              <a:rPr lang="es-CL" dirty="0">
                <a:solidFill>
                  <a:schemeClr val="tx1"/>
                </a:solidFill>
                <a:latin typeface="Arial" panose="020B0604020202020204" pitchFamily="34" charset="0"/>
                <a:cs typeface="Arial" panose="020B0604020202020204" pitchFamily="34" charset="0"/>
              </a:rPr>
              <a:t>Nuestro objetivo será investigar sobre el principio de funcionamiento del tecle</a:t>
            </a:r>
          </a:p>
          <a:p>
            <a:pPr marL="45720" indent="0">
              <a:buNone/>
            </a:pPr>
            <a:r>
              <a:rPr lang="es-CL" dirty="0">
                <a:solidFill>
                  <a:schemeClr val="tx1"/>
                </a:solidFill>
                <a:latin typeface="Arial" panose="020B0604020202020204" pitchFamily="34" charset="0"/>
                <a:cs typeface="Arial" panose="020B0604020202020204" pitchFamily="34" charset="0"/>
              </a:rPr>
              <a:t> </a:t>
            </a:r>
          </a:p>
          <a:p>
            <a:r>
              <a:rPr lang="es-CL" sz="2000" dirty="0">
                <a:solidFill>
                  <a:schemeClr val="tx1"/>
                </a:solidFill>
                <a:latin typeface="Arial" panose="020B0604020202020204" pitchFamily="34" charset="0"/>
                <a:cs typeface="Arial" panose="020B0604020202020204" pitchFamily="34" charset="0"/>
              </a:rPr>
              <a:t>¿Qué pasaría si con el tecle de 2 toneladas intentamos levantar un motor de más de 2000 kg de peso?</a:t>
            </a:r>
          </a:p>
          <a:p>
            <a:r>
              <a:rPr lang="es-CL" sz="2000" dirty="0">
                <a:solidFill>
                  <a:schemeClr val="tx1"/>
                </a:solidFill>
                <a:latin typeface="Arial" panose="020B0604020202020204" pitchFamily="34" charset="0"/>
                <a:cs typeface="Arial" panose="020B0604020202020204" pitchFamily="34" charset="0"/>
              </a:rPr>
              <a:t>¿Cómo podríamos ayudar al tecle para que soporte más peso?</a:t>
            </a:r>
          </a:p>
          <a:p>
            <a:r>
              <a:rPr lang="es-CL" sz="2000" dirty="0">
                <a:solidFill>
                  <a:schemeClr val="tx1"/>
                </a:solidFill>
                <a:latin typeface="Arial" panose="020B0604020202020204" pitchFamily="34" charset="0"/>
                <a:cs typeface="Arial" panose="020B0604020202020204" pitchFamily="34" charset="0"/>
              </a:rPr>
              <a:t>¿Qué parte del tecle es la que genera una mayor fuerza?</a:t>
            </a:r>
          </a:p>
          <a:p>
            <a:r>
              <a:rPr lang="es-CL" sz="2000" dirty="0">
                <a:solidFill>
                  <a:schemeClr val="tx1"/>
                </a:solidFill>
                <a:latin typeface="Arial" panose="020B0604020202020204" pitchFamily="34" charset="0"/>
                <a:cs typeface="Arial" panose="020B0604020202020204" pitchFamily="34" charset="0"/>
              </a:rPr>
              <a:t>¿Por qué la estructura del tecle es así?</a:t>
            </a:r>
          </a:p>
          <a:p>
            <a:r>
              <a:rPr lang="es-CL" sz="2000" dirty="0">
                <a:solidFill>
                  <a:schemeClr val="tx1"/>
                </a:solidFill>
                <a:latin typeface="Arial" panose="020B0604020202020204" pitchFamily="34" charset="0"/>
                <a:cs typeface="Arial" panose="020B0604020202020204" pitchFamily="34" charset="0"/>
              </a:rPr>
              <a:t>¿Cuáles son las partes del tecle y para que funcionan cada una de ellas?</a:t>
            </a:r>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normAutofit/>
          </a:bodyPr>
          <a:lstStyle/>
          <a:p>
            <a:pPr algn="ctr"/>
            <a:r>
              <a:rPr lang="es-ES" sz="2400" b="0" i="0" dirty="0">
                <a:solidFill>
                  <a:srgbClr val="000000"/>
                </a:solidFill>
                <a:effectLst/>
                <a:latin typeface="Calibri" panose="020F0502020204030204" pitchFamily="34" charset="0"/>
              </a:rPr>
              <a:t>Temas iniciales involucrados</a:t>
            </a:r>
            <a:endParaRPr lang="es-CL" sz="5400" dirty="0"/>
          </a:p>
        </p:txBody>
      </p:sp>
      <p:sp>
        <p:nvSpPr>
          <p:cNvPr id="3" name="Marcador de contenido 2">
            <a:extLst>
              <a:ext uri="{FF2B5EF4-FFF2-40B4-BE49-F238E27FC236}">
                <a16:creationId xmlns:a16="http://schemas.microsoft.com/office/drawing/2014/main" id="{6EB57D22-D888-BB45-9101-C7E0D5BDE184}"/>
              </a:ext>
            </a:extLst>
          </p:cNvPr>
          <p:cNvSpPr>
            <a:spLocks noGrp="1"/>
          </p:cNvSpPr>
          <p:nvPr>
            <p:ph idx="1"/>
          </p:nvPr>
        </p:nvSpPr>
        <p:spPr/>
        <p:txBody>
          <a:bodyPr/>
          <a:lstStyle/>
          <a:p>
            <a:r>
              <a:rPr lang="es-ES" dirty="0">
                <a:solidFill>
                  <a:schemeClr val="tx1"/>
                </a:solidFill>
              </a:rPr>
              <a:t>resistencia del tecle </a:t>
            </a:r>
          </a:p>
          <a:p>
            <a:r>
              <a:rPr lang="es-CL" dirty="0">
                <a:solidFill>
                  <a:schemeClr val="tx1"/>
                </a:solidFill>
              </a:rPr>
              <a:t>Funcionamiento </a:t>
            </a:r>
          </a:p>
          <a:p>
            <a:r>
              <a:rPr lang="es-CL" dirty="0">
                <a:solidFill>
                  <a:schemeClr val="tx1"/>
                </a:solidFill>
              </a:rPr>
              <a:t>Componentes </a:t>
            </a:r>
          </a:p>
          <a:p>
            <a:r>
              <a:rPr lang="es-CL" dirty="0">
                <a:solidFill>
                  <a:schemeClr val="tx1"/>
                </a:solidFill>
              </a:rPr>
              <a:t>Fuerzas </a:t>
            </a:r>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p:txBody>
          <a:bodyPr/>
          <a:lstStyle/>
          <a:p>
            <a:pPr algn="ctr"/>
            <a:r>
              <a:rPr lang="es-ES" sz="1800" b="0" i="0" dirty="0">
                <a:solidFill>
                  <a:srgbClr val="000000"/>
                </a:solidFill>
                <a:effectLst/>
                <a:latin typeface="Calibri" panose="020F0502020204030204" pitchFamily="34" charset="0"/>
              </a:rPr>
              <a:t>Cronograma y materiales a utilizar</a:t>
            </a:r>
            <a:endParaRPr lang="es-CL"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007259573"/>
              </p:ext>
            </p:extLst>
          </p:nvPr>
        </p:nvGraphicFramePr>
        <p:xfrm>
          <a:off x="1037012" y="1891145"/>
          <a:ext cx="10087495" cy="4268586"/>
        </p:xfrm>
        <a:graphic>
          <a:graphicData uri="http://schemas.openxmlformats.org/drawingml/2006/table">
            <a:tbl>
              <a:tblPr firstRow="1" bandRow="1">
                <a:tableStyleId>{5C22544A-7EE6-4342-B048-85BDC9FD1C3A}</a:tableStyleId>
              </a:tblPr>
              <a:tblGrid>
                <a:gridCol w="2017499">
                  <a:extLst>
                    <a:ext uri="{9D8B030D-6E8A-4147-A177-3AD203B41FA5}">
                      <a16:colId xmlns:a16="http://schemas.microsoft.com/office/drawing/2014/main" val="4002509082"/>
                    </a:ext>
                  </a:extLst>
                </a:gridCol>
                <a:gridCol w="2017499">
                  <a:extLst>
                    <a:ext uri="{9D8B030D-6E8A-4147-A177-3AD203B41FA5}">
                      <a16:colId xmlns:a16="http://schemas.microsoft.com/office/drawing/2014/main" val="1185256053"/>
                    </a:ext>
                  </a:extLst>
                </a:gridCol>
                <a:gridCol w="2017499">
                  <a:extLst>
                    <a:ext uri="{9D8B030D-6E8A-4147-A177-3AD203B41FA5}">
                      <a16:colId xmlns:a16="http://schemas.microsoft.com/office/drawing/2014/main" val="1582996103"/>
                    </a:ext>
                  </a:extLst>
                </a:gridCol>
                <a:gridCol w="2017499">
                  <a:extLst>
                    <a:ext uri="{9D8B030D-6E8A-4147-A177-3AD203B41FA5}">
                      <a16:colId xmlns:a16="http://schemas.microsoft.com/office/drawing/2014/main" val="2632791747"/>
                    </a:ext>
                  </a:extLst>
                </a:gridCol>
                <a:gridCol w="2017499">
                  <a:extLst>
                    <a:ext uri="{9D8B030D-6E8A-4147-A177-3AD203B41FA5}">
                      <a16:colId xmlns:a16="http://schemas.microsoft.com/office/drawing/2014/main" val="755159674"/>
                    </a:ext>
                  </a:extLst>
                </a:gridCol>
              </a:tblGrid>
              <a:tr h="474865">
                <a:tc>
                  <a:txBody>
                    <a:bodyPr/>
                    <a:lstStyle/>
                    <a:p>
                      <a:r>
                        <a:rPr lang="es-CL" dirty="0"/>
                        <a:t>Tareas</a:t>
                      </a:r>
                    </a:p>
                    <a:p>
                      <a:r>
                        <a:rPr lang="es-CL" dirty="0"/>
                        <a:t>¿Qué</a:t>
                      </a:r>
                      <a:r>
                        <a:rPr lang="es-CL" baseline="0" dirty="0"/>
                        <a:t> haremos?</a:t>
                      </a:r>
                      <a:endParaRPr lang="es-CL" dirty="0"/>
                    </a:p>
                  </a:txBody>
                  <a:tcPr/>
                </a:tc>
                <a:tc>
                  <a:txBody>
                    <a:bodyPr/>
                    <a:lstStyle/>
                    <a:p>
                      <a:r>
                        <a:rPr lang="es-CL" dirty="0"/>
                        <a:t>Productos</a:t>
                      </a:r>
                    </a:p>
                    <a:p>
                      <a:r>
                        <a:rPr lang="es-CL" dirty="0"/>
                        <a:t>¿Qué</a:t>
                      </a:r>
                      <a:r>
                        <a:rPr lang="es-CL" baseline="0" dirty="0"/>
                        <a:t> resultados obtendremos?</a:t>
                      </a:r>
                      <a:endParaRPr lang="es-CL" dirty="0"/>
                    </a:p>
                  </a:txBody>
                  <a:tcPr/>
                </a:tc>
                <a:tc>
                  <a:txBody>
                    <a:bodyPr/>
                    <a:lstStyle/>
                    <a:p>
                      <a:r>
                        <a:rPr lang="es-CL" dirty="0"/>
                        <a:t>Plazos</a:t>
                      </a:r>
                    </a:p>
                    <a:p>
                      <a:r>
                        <a:rPr lang="es-CL" dirty="0"/>
                        <a:t>¿Para</a:t>
                      </a:r>
                      <a:r>
                        <a:rPr lang="es-CL" baseline="0" dirty="0"/>
                        <a:t> cuándo estará hecho?</a:t>
                      </a:r>
                      <a:endParaRPr lang="es-CL" dirty="0"/>
                    </a:p>
                  </a:txBody>
                  <a:tcPr/>
                </a:tc>
                <a:tc>
                  <a:txBody>
                    <a:bodyPr/>
                    <a:lstStyle/>
                    <a:p>
                      <a:r>
                        <a:rPr lang="es-CL" dirty="0"/>
                        <a:t>Responsables</a:t>
                      </a:r>
                    </a:p>
                    <a:p>
                      <a:r>
                        <a:rPr lang="es-CL" dirty="0"/>
                        <a:t>¿Quién</a:t>
                      </a:r>
                      <a:r>
                        <a:rPr lang="es-CL" baseline="0" dirty="0"/>
                        <a:t> o quiénes lo harán?</a:t>
                      </a:r>
                      <a:endParaRPr lang="es-CL" dirty="0"/>
                    </a:p>
                  </a:txBody>
                  <a:tcPr/>
                </a:tc>
                <a:tc>
                  <a:txBody>
                    <a:bodyPr/>
                    <a:lstStyle/>
                    <a:p>
                      <a:r>
                        <a:rPr lang="es-CL" dirty="0"/>
                        <a:t>Insumos</a:t>
                      </a:r>
                    </a:p>
                    <a:p>
                      <a:r>
                        <a:rPr lang="es-CL" dirty="0"/>
                        <a:t>¿Qué</a:t>
                      </a:r>
                      <a:r>
                        <a:rPr lang="es-CL" baseline="0" dirty="0"/>
                        <a:t> necesitamos para hacerlo?</a:t>
                      </a:r>
                      <a:endParaRPr lang="es-CL" dirty="0"/>
                    </a:p>
                  </a:txBody>
                  <a:tcPr/>
                </a:tc>
                <a:extLst>
                  <a:ext uri="{0D108BD9-81ED-4DB2-BD59-A6C34878D82A}">
                    <a16:rowId xmlns:a16="http://schemas.microsoft.com/office/drawing/2014/main" val="4229275331"/>
                  </a:ext>
                </a:extLst>
              </a:tr>
              <a:tr h="976746">
                <a:tc>
                  <a:txBody>
                    <a:bodyPr/>
                    <a:lstStyle/>
                    <a:p>
                      <a:r>
                        <a:rPr lang="es-CL" sz="1600" dirty="0"/>
                        <a:t>Verificar</a:t>
                      </a:r>
                      <a:r>
                        <a:rPr lang="es-CL" sz="1600" baseline="0" dirty="0"/>
                        <a:t> si el tecle se encuentra en óptimas condiciones </a:t>
                      </a:r>
                      <a:endParaRPr lang="es-CL" sz="1600" dirty="0"/>
                    </a:p>
                  </a:txBody>
                  <a:tcPr/>
                </a:tc>
                <a:tc>
                  <a:txBody>
                    <a:bodyPr/>
                    <a:lstStyle/>
                    <a:p>
                      <a:r>
                        <a:rPr lang="es-CL" dirty="0"/>
                        <a:t>Ponerlo a prueba</a:t>
                      </a:r>
                    </a:p>
                  </a:txBody>
                  <a:tcPr/>
                </a:tc>
                <a:tc>
                  <a:txBody>
                    <a:bodyPr/>
                    <a:lstStyle/>
                    <a:p>
                      <a:r>
                        <a:rPr lang="es-CL" dirty="0"/>
                        <a:t>Entre</a:t>
                      </a:r>
                      <a:r>
                        <a:rPr lang="es-CL" baseline="0" dirty="0"/>
                        <a:t> 20 a 30 min</a:t>
                      </a:r>
                      <a:endParaRPr lang="es-CL" dirty="0"/>
                    </a:p>
                  </a:txBody>
                  <a:tcPr/>
                </a:tc>
                <a:tc>
                  <a:txBody>
                    <a:bodyPr/>
                    <a:lstStyle/>
                    <a:p>
                      <a:r>
                        <a:rPr lang="es-CL" dirty="0"/>
                        <a:t>Jefe</a:t>
                      </a:r>
                      <a:r>
                        <a:rPr lang="es-CL" baseline="0" dirty="0"/>
                        <a:t> de taller</a:t>
                      </a:r>
                      <a:endParaRPr lang="es-CL" dirty="0"/>
                    </a:p>
                  </a:txBody>
                  <a:tcPr/>
                </a:tc>
                <a:tc>
                  <a:txBody>
                    <a:bodyPr/>
                    <a:lstStyle/>
                    <a:p>
                      <a:r>
                        <a:rPr lang="es-CL" dirty="0"/>
                        <a:t>Herramientas para soltar</a:t>
                      </a:r>
                      <a:r>
                        <a:rPr lang="es-CL" baseline="0" dirty="0"/>
                        <a:t> los soportes </a:t>
                      </a:r>
                      <a:r>
                        <a:rPr lang="es-CL" baseline="0"/>
                        <a:t>del motor</a:t>
                      </a:r>
                      <a:endParaRPr lang="es-CL" dirty="0"/>
                    </a:p>
                  </a:txBody>
                  <a:tcPr/>
                </a:tc>
                <a:extLst>
                  <a:ext uri="{0D108BD9-81ED-4DB2-BD59-A6C34878D82A}">
                    <a16:rowId xmlns:a16="http://schemas.microsoft.com/office/drawing/2014/main" val="1223422399"/>
                  </a:ext>
                </a:extLst>
              </a:tr>
              <a:tr h="573578">
                <a:tc>
                  <a:txBody>
                    <a:bodyPr/>
                    <a:lstStyle/>
                    <a:p>
                      <a:r>
                        <a:rPr lang="es-CL" sz="1600" dirty="0"/>
                        <a:t>Levantar</a:t>
                      </a:r>
                      <a:r>
                        <a:rPr lang="es-CL" sz="1600" baseline="0" dirty="0"/>
                        <a:t> el motor de un camión</a:t>
                      </a:r>
                      <a:endParaRPr lang="es-CL" sz="1600" dirty="0"/>
                    </a:p>
                  </a:txBody>
                  <a:tcPr/>
                </a:tc>
                <a:tc>
                  <a:txBody>
                    <a:bodyPr/>
                    <a:lstStyle/>
                    <a:p>
                      <a:r>
                        <a:rPr lang="es-CL" sz="1600" dirty="0"/>
                        <a:t>Poder revisar</a:t>
                      </a:r>
                      <a:r>
                        <a:rPr lang="es-CL" sz="1600" baseline="0" dirty="0"/>
                        <a:t> el motor</a:t>
                      </a:r>
                      <a:endParaRPr lang="es-CL" sz="1600" dirty="0"/>
                    </a:p>
                  </a:txBody>
                  <a:tcPr/>
                </a:tc>
                <a:tc>
                  <a:txBody>
                    <a:bodyPr/>
                    <a:lstStyle/>
                    <a:p>
                      <a:r>
                        <a:rPr lang="es-ES" dirty="0"/>
                        <a:t>Entre una 1 hora  30 minutos hasta 3 horas </a:t>
                      </a:r>
                      <a:endParaRPr lang="es-CL" dirty="0"/>
                    </a:p>
                  </a:txBody>
                  <a:tcPr/>
                </a:tc>
                <a:tc>
                  <a:txBody>
                    <a:bodyPr/>
                    <a:lstStyle/>
                    <a:p>
                      <a:r>
                        <a:rPr lang="es-CL" dirty="0"/>
                        <a:t>Mecánicos</a:t>
                      </a:r>
                    </a:p>
                  </a:txBody>
                  <a:tcPr/>
                </a:tc>
                <a:tc>
                  <a:txBody>
                    <a:bodyPr/>
                    <a:lstStyle/>
                    <a:p>
                      <a:r>
                        <a:rPr lang="es-CL" dirty="0"/>
                        <a:t>Un tecle </a:t>
                      </a:r>
                    </a:p>
                  </a:txBody>
                  <a:tcPr/>
                </a:tc>
                <a:extLst>
                  <a:ext uri="{0D108BD9-81ED-4DB2-BD59-A6C34878D82A}">
                    <a16:rowId xmlns:a16="http://schemas.microsoft.com/office/drawing/2014/main" val="2966423843"/>
                  </a:ext>
                </a:extLst>
              </a:tr>
              <a:tr h="474865">
                <a:tc>
                  <a:txBody>
                    <a:bodyPr/>
                    <a:lstStyle/>
                    <a:p>
                      <a:r>
                        <a:rPr lang="es-CL" dirty="0"/>
                        <a:t>Buscar una solución en caso de no ser posible levantar el motor de </a:t>
                      </a:r>
                      <a:r>
                        <a:rPr lang="es-CL" baseline="0" dirty="0"/>
                        <a:t> un camión </a:t>
                      </a:r>
                      <a:endParaRPr lang="es-CL" dirty="0"/>
                    </a:p>
                  </a:txBody>
                  <a:tcPr/>
                </a:tc>
                <a:tc>
                  <a:txBody>
                    <a:bodyPr/>
                    <a:lstStyle/>
                    <a:p>
                      <a:r>
                        <a:rPr lang="es-CL" dirty="0"/>
                        <a:t>Evitar</a:t>
                      </a:r>
                      <a:r>
                        <a:rPr lang="es-CL" baseline="0" dirty="0"/>
                        <a:t> en caso de que este no sea capaz, tendremos que buscar otra solución</a:t>
                      </a:r>
                      <a:endParaRPr lang="es-CL" dirty="0"/>
                    </a:p>
                  </a:txBody>
                  <a:tcPr/>
                </a:tc>
                <a:tc>
                  <a:txBody>
                    <a:bodyPr/>
                    <a:lstStyle/>
                    <a:p>
                      <a:r>
                        <a:rPr lang="es-CL" dirty="0"/>
                        <a:t>Dentro del día</a:t>
                      </a:r>
                    </a:p>
                  </a:txBody>
                  <a:tcPr/>
                </a:tc>
                <a:tc>
                  <a:txBody>
                    <a:bodyPr/>
                    <a:lstStyle/>
                    <a:p>
                      <a:r>
                        <a:rPr lang="es-CL" dirty="0"/>
                        <a:t>Estudiantes</a:t>
                      </a:r>
                      <a:r>
                        <a:rPr lang="es-CL" baseline="0" dirty="0"/>
                        <a:t> </a:t>
                      </a:r>
                      <a:endParaRPr lang="es-CL" dirty="0"/>
                    </a:p>
                  </a:txBody>
                  <a:tcPr/>
                </a:tc>
                <a:tc>
                  <a:txBody>
                    <a:bodyPr/>
                    <a:lstStyle/>
                    <a:p>
                      <a:r>
                        <a:rPr lang="es-CL" dirty="0"/>
                        <a:t>Tener más</a:t>
                      </a:r>
                      <a:r>
                        <a:rPr lang="es-CL" baseline="0" dirty="0"/>
                        <a:t> de un tecle</a:t>
                      </a:r>
                      <a:endParaRPr lang="es-CL" dirty="0"/>
                    </a:p>
                  </a:txBody>
                  <a:tcPr/>
                </a:tc>
                <a:extLst>
                  <a:ext uri="{0D108BD9-81ED-4DB2-BD59-A6C34878D82A}">
                    <a16:rowId xmlns:a16="http://schemas.microsoft.com/office/drawing/2014/main" val="1013251520"/>
                  </a:ext>
                </a:extLst>
              </a:tr>
            </a:tbl>
          </a:graphicData>
        </a:graphic>
      </p:graphicFrame>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913DD-4AA5-2725-7904-0680824DE0B8}"/>
              </a:ext>
            </a:extLst>
          </p:cNvPr>
          <p:cNvSpPr>
            <a:spLocks noGrp="1"/>
          </p:cNvSpPr>
          <p:nvPr>
            <p:ph type="title"/>
          </p:nvPr>
        </p:nvSpPr>
        <p:spPr/>
        <p:txBody>
          <a:bodyPr/>
          <a:lstStyle/>
          <a:p>
            <a:pPr algn="ctr"/>
            <a:r>
              <a:rPr lang="es-ES" dirty="0">
                <a:solidFill>
                  <a:schemeClr val="tx1"/>
                </a:solidFill>
              </a:rPr>
              <a:t>Herramientas tecnológicas </a:t>
            </a:r>
            <a:endParaRPr lang="es-CL" dirty="0">
              <a:solidFill>
                <a:schemeClr val="tx1"/>
              </a:solidFill>
            </a:endParaRPr>
          </a:p>
        </p:txBody>
      </p:sp>
      <p:sp>
        <p:nvSpPr>
          <p:cNvPr id="3" name="Marcador de contenido 2">
            <a:extLst>
              <a:ext uri="{FF2B5EF4-FFF2-40B4-BE49-F238E27FC236}">
                <a16:creationId xmlns:a16="http://schemas.microsoft.com/office/drawing/2014/main" id="{4F5262E6-2E60-E329-2D7B-36008B02B31E}"/>
              </a:ext>
            </a:extLst>
          </p:cNvPr>
          <p:cNvSpPr>
            <a:spLocks noGrp="1"/>
          </p:cNvSpPr>
          <p:nvPr>
            <p:ph idx="1"/>
          </p:nvPr>
        </p:nvSpPr>
        <p:spPr/>
        <p:txBody>
          <a:bodyPr/>
          <a:lstStyle/>
          <a:p>
            <a:r>
              <a:rPr lang="es-CL" dirty="0">
                <a:solidFill>
                  <a:schemeClr val="tx1"/>
                </a:solidFill>
              </a:rPr>
              <a:t>PowerPoint</a:t>
            </a:r>
          </a:p>
          <a:p>
            <a:r>
              <a:rPr lang="es-CL" dirty="0">
                <a:solidFill>
                  <a:schemeClr val="tx1"/>
                </a:solidFill>
              </a:rPr>
              <a:t>Excel</a:t>
            </a:r>
          </a:p>
        </p:txBody>
      </p:sp>
    </p:spTree>
    <p:extLst>
      <p:ext uri="{BB962C8B-B14F-4D97-AF65-F5344CB8AC3E}">
        <p14:creationId xmlns:p14="http://schemas.microsoft.com/office/powerpoint/2010/main" val="881861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34369-5B74-EB96-A419-3DC5C78B1312}"/>
              </a:ext>
            </a:extLst>
          </p:cNvPr>
          <p:cNvSpPr>
            <a:spLocks noGrp="1"/>
          </p:cNvSpPr>
          <p:nvPr>
            <p:ph type="title"/>
          </p:nvPr>
        </p:nvSpPr>
        <p:spPr/>
        <p:txBody>
          <a:bodyPr/>
          <a:lstStyle/>
          <a:p>
            <a:pPr algn="ctr"/>
            <a:r>
              <a:rPr lang="es-CL" dirty="0">
                <a:solidFill>
                  <a:schemeClr val="tx1"/>
                </a:solidFill>
              </a:rPr>
              <a:t>Respuestas de investigación </a:t>
            </a:r>
          </a:p>
        </p:txBody>
      </p:sp>
      <p:sp>
        <p:nvSpPr>
          <p:cNvPr id="3" name="Marcador de contenido 2">
            <a:extLst>
              <a:ext uri="{FF2B5EF4-FFF2-40B4-BE49-F238E27FC236}">
                <a16:creationId xmlns:a16="http://schemas.microsoft.com/office/drawing/2014/main" id="{A09336C3-4945-5CE2-366C-6CCB22AEA1C5}"/>
              </a:ext>
            </a:extLst>
          </p:cNvPr>
          <p:cNvSpPr>
            <a:spLocks noGrp="1"/>
          </p:cNvSpPr>
          <p:nvPr>
            <p:ph idx="1"/>
          </p:nvPr>
        </p:nvSpPr>
        <p:spPr/>
        <p:txBody>
          <a:bodyPr>
            <a:normAutofit fontScale="85000" lnSpcReduction="20000"/>
          </a:bodyPr>
          <a:lstStyle/>
          <a:p>
            <a:r>
              <a:rPr lang="es-ES" b="1" dirty="0">
                <a:solidFill>
                  <a:schemeClr val="tx1"/>
                </a:solidFill>
              </a:rPr>
              <a:t>¿Qué pasaría si con el tecle de 2 toneladas intentamos levantar un motor de más de 2000 kg de peso?</a:t>
            </a:r>
          </a:p>
          <a:p>
            <a:pPr marL="45720" indent="0">
              <a:buNone/>
            </a:pPr>
            <a:r>
              <a:rPr lang="es-ES" dirty="0">
                <a:solidFill>
                  <a:schemeClr val="tx1"/>
                </a:solidFill>
              </a:rPr>
              <a:t> Sobrecargar un tecle puede poner en peligro la seguridad del operador, dañar el equipo y provocar accidentes graves. (climatizacion.cl, 2021)</a:t>
            </a:r>
          </a:p>
          <a:p>
            <a:r>
              <a:rPr lang="es-ES" b="1" dirty="0">
                <a:solidFill>
                  <a:schemeClr val="tx1"/>
                </a:solidFill>
              </a:rPr>
              <a:t>¿Cómo podríamos ayudar al tecle para que soporte más peso?</a:t>
            </a:r>
          </a:p>
          <a:p>
            <a:pPr marL="45720" indent="0">
              <a:buNone/>
            </a:pPr>
            <a:r>
              <a:rPr lang="es-ES" dirty="0">
                <a:solidFill>
                  <a:schemeClr val="tx1"/>
                </a:solidFill>
              </a:rPr>
              <a:t>Según el mecánico (Cancino, 2023) esto se puede realizar con dos tecles que estén bien equilibrados y sobre una superficie plana.</a:t>
            </a:r>
          </a:p>
          <a:p>
            <a:r>
              <a:rPr lang="es-ES" b="1" dirty="0">
                <a:solidFill>
                  <a:schemeClr val="tx1"/>
                </a:solidFill>
              </a:rPr>
              <a:t>¿Qué parte del tecle es la que genera una mayor fuerza?</a:t>
            </a:r>
          </a:p>
          <a:p>
            <a:pPr marL="45720" indent="0">
              <a:buNone/>
            </a:pPr>
            <a:r>
              <a:rPr lang="es-ES" dirty="0">
                <a:solidFill>
                  <a:schemeClr val="tx1"/>
                </a:solidFill>
              </a:rPr>
              <a:t>La cadena y el hidráulico.</a:t>
            </a:r>
          </a:p>
          <a:p>
            <a:r>
              <a:rPr lang="es-ES" b="1" dirty="0">
                <a:solidFill>
                  <a:schemeClr val="tx1"/>
                </a:solidFill>
              </a:rPr>
              <a:t>¿Por qué la estructura del tecle es así? </a:t>
            </a:r>
          </a:p>
          <a:p>
            <a:pPr marL="45720" indent="0">
              <a:buNone/>
            </a:pPr>
            <a:r>
              <a:rPr lang="es-ES" dirty="0">
                <a:solidFill>
                  <a:schemeClr val="tx1"/>
                </a:solidFill>
              </a:rPr>
              <a:t>Debid0 a su capacidad de fuerza debe tener esta forma en la cual debe tener dos patas alargadas que puedan dar firmeza justo en dirección hacia donde es ejercida la fuerza y justo arriba va una barra metálica gruesa y resistente que es la que soporta el motor.</a:t>
            </a:r>
          </a:p>
          <a:p>
            <a:pPr marL="45720" indent="0">
              <a:buNone/>
            </a:pPr>
            <a:endParaRPr lang="es-ES" dirty="0">
              <a:solidFill>
                <a:schemeClr val="tx1"/>
              </a:solidFill>
            </a:endParaRPr>
          </a:p>
          <a:p>
            <a:endParaRPr lang="es-ES" dirty="0"/>
          </a:p>
          <a:p>
            <a:endParaRPr lang="es-CL" dirty="0"/>
          </a:p>
        </p:txBody>
      </p:sp>
    </p:spTree>
    <p:extLst>
      <p:ext uri="{BB962C8B-B14F-4D97-AF65-F5344CB8AC3E}">
        <p14:creationId xmlns:p14="http://schemas.microsoft.com/office/powerpoint/2010/main" val="1176581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34C052-1BC1-D1B7-8860-A14CD7E06FFB}"/>
              </a:ext>
            </a:extLst>
          </p:cNvPr>
          <p:cNvSpPr>
            <a:spLocks noGrp="1"/>
          </p:cNvSpPr>
          <p:nvPr>
            <p:ph type="title"/>
          </p:nvPr>
        </p:nvSpPr>
        <p:spPr/>
        <p:txBody>
          <a:bodyPr>
            <a:normAutofit/>
          </a:bodyPr>
          <a:lstStyle/>
          <a:p>
            <a:pPr algn="ctr"/>
            <a:r>
              <a:rPr lang="es-ES" dirty="0">
                <a:solidFill>
                  <a:schemeClr val="tx1"/>
                </a:solidFill>
              </a:rPr>
              <a:t>Estructura y partes del tecle pluma</a:t>
            </a:r>
            <a:br>
              <a:rPr lang="es-ES" dirty="0"/>
            </a:br>
            <a:endParaRPr lang="es-CL" dirty="0"/>
          </a:p>
        </p:txBody>
      </p:sp>
      <p:pic>
        <p:nvPicPr>
          <p:cNvPr id="7" name="Marcador de contenido 6" descr="Diagrama&#10;&#10;Descripción generada automáticamente">
            <a:extLst>
              <a:ext uri="{FF2B5EF4-FFF2-40B4-BE49-F238E27FC236}">
                <a16:creationId xmlns:a16="http://schemas.microsoft.com/office/drawing/2014/main" id="{EC4F3F2C-6D7D-B741-5369-787DCE136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8821" y="1439403"/>
            <a:ext cx="6978316" cy="5028719"/>
          </a:xfrm>
        </p:spPr>
      </p:pic>
    </p:spTree>
    <p:extLst>
      <p:ext uri="{BB962C8B-B14F-4D97-AF65-F5344CB8AC3E}">
        <p14:creationId xmlns:p14="http://schemas.microsoft.com/office/powerpoint/2010/main" val="1172237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0F044-96E7-C3C4-C84F-E0CB2D2C3699}"/>
              </a:ext>
            </a:extLst>
          </p:cNvPr>
          <p:cNvSpPr>
            <a:spLocks noGrp="1"/>
          </p:cNvSpPr>
          <p:nvPr>
            <p:ph type="title"/>
          </p:nvPr>
        </p:nvSpPr>
        <p:spPr/>
        <p:txBody>
          <a:bodyPr/>
          <a:lstStyle/>
          <a:p>
            <a:r>
              <a:rPr lang="es-CL" dirty="0">
                <a:solidFill>
                  <a:schemeClr val="tx1"/>
                </a:solidFill>
              </a:rPr>
              <a:t>Evidencia </a:t>
            </a:r>
          </a:p>
        </p:txBody>
      </p:sp>
      <p:pic>
        <p:nvPicPr>
          <p:cNvPr id="6" name="Marcador de contenido 5" descr="Imagen que contiene exterior, camioneta, transporte, estacionado&#10;&#10;Descripción generada automáticamente">
            <a:extLst>
              <a:ext uri="{FF2B5EF4-FFF2-40B4-BE49-F238E27FC236}">
                <a16:creationId xmlns:a16="http://schemas.microsoft.com/office/drawing/2014/main" id="{221600BF-F7A9-6C9E-6554-B8CCB9E66F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09172" y="1096963"/>
            <a:ext cx="3498056" cy="4664075"/>
          </a:xfrm>
        </p:spPr>
      </p:pic>
      <p:sp>
        <p:nvSpPr>
          <p:cNvPr id="4" name="Marcador de texto 3">
            <a:extLst>
              <a:ext uri="{FF2B5EF4-FFF2-40B4-BE49-F238E27FC236}">
                <a16:creationId xmlns:a16="http://schemas.microsoft.com/office/drawing/2014/main" id="{384C93D5-8AED-B66F-25C8-EE0E6F1DADD6}"/>
              </a:ext>
            </a:extLst>
          </p:cNvPr>
          <p:cNvSpPr>
            <a:spLocks noGrp="1"/>
          </p:cNvSpPr>
          <p:nvPr>
            <p:ph type="body" sz="half" idx="2"/>
          </p:nvPr>
        </p:nvSpPr>
        <p:spPr/>
        <p:txBody>
          <a:bodyPr>
            <a:normAutofit/>
          </a:bodyPr>
          <a:lstStyle/>
          <a:p>
            <a:r>
              <a:rPr lang="es-CL" sz="2000" dirty="0">
                <a:solidFill>
                  <a:schemeClr val="tx1"/>
                </a:solidFill>
              </a:rPr>
              <a:t>Levantar la cabina del camión para de esta manera tener accesibilidad al motor en el cual trabajaremos soltando los soportes de motor .</a:t>
            </a:r>
          </a:p>
        </p:txBody>
      </p:sp>
    </p:spTree>
    <p:extLst>
      <p:ext uri="{BB962C8B-B14F-4D97-AF65-F5344CB8AC3E}">
        <p14:creationId xmlns:p14="http://schemas.microsoft.com/office/powerpoint/2010/main" val="2515108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4837B5-4573-D055-BB50-FADB5AACC972}"/>
              </a:ext>
            </a:extLst>
          </p:cNvPr>
          <p:cNvSpPr>
            <a:spLocks noGrp="1"/>
          </p:cNvSpPr>
          <p:nvPr>
            <p:ph type="title"/>
          </p:nvPr>
        </p:nvSpPr>
        <p:spPr/>
        <p:txBody>
          <a:bodyPr/>
          <a:lstStyle/>
          <a:p>
            <a:pPr algn="ctr"/>
            <a:r>
              <a:rPr lang="es-CL" dirty="0">
                <a:solidFill>
                  <a:schemeClr val="tx1"/>
                </a:solidFill>
              </a:rPr>
              <a:t>Evidencia</a:t>
            </a:r>
            <a:br>
              <a:rPr lang="es-CL" dirty="0"/>
            </a:br>
            <a:endParaRPr lang="es-CL" dirty="0"/>
          </a:p>
        </p:txBody>
      </p:sp>
      <p:pic>
        <p:nvPicPr>
          <p:cNvPr id="5" name="Marcador de contenido 4" descr="Imagen que contiene interior, equipaje, maleta, coche&#10;&#10;Descripción generada automáticamente">
            <a:extLst>
              <a:ext uri="{FF2B5EF4-FFF2-40B4-BE49-F238E27FC236}">
                <a16:creationId xmlns:a16="http://schemas.microsoft.com/office/drawing/2014/main" id="{86E8E0B0-903E-3CAE-6C90-FBC5E89E34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09172" y="1096963"/>
            <a:ext cx="3498056" cy="4664075"/>
          </a:xfrm>
        </p:spPr>
      </p:pic>
      <p:sp>
        <p:nvSpPr>
          <p:cNvPr id="4" name="Marcador de texto 3">
            <a:extLst>
              <a:ext uri="{FF2B5EF4-FFF2-40B4-BE49-F238E27FC236}">
                <a16:creationId xmlns:a16="http://schemas.microsoft.com/office/drawing/2014/main" id="{46FD956A-4CD8-EB01-F57C-23F746BD0BC7}"/>
              </a:ext>
            </a:extLst>
          </p:cNvPr>
          <p:cNvSpPr>
            <a:spLocks noGrp="1"/>
          </p:cNvSpPr>
          <p:nvPr>
            <p:ph type="body" sz="half" idx="2"/>
          </p:nvPr>
        </p:nvSpPr>
        <p:spPr/>
        <p:txBody>
          <a:bodyPr>
            <a:normAutofit/>
          </a:bodyPr>
          <a:lstStyle/>
          <a:p>
            <a:r>
              <a:rPr lang="es-CL" sz="2400" dirty="0">
                <a:solidFill>
                  <a:schemeClr val="tx1"/>
                </a:solidFill>
              </a:rPr>
              <a:t>Motor ya descubierto.</a:t>
            </a:r>
          </a:p>
        </p:txBody>
      </p:sp>
    </p:spTree>
    <p:extLst>
      <p:ext uri="{BB962C8B-B14F-4D97-AF65-F5344CB8AC3E}">
        <p14:creationId xmlns:p14="http://schemas.microsoft.com/office/powerpoint/2010/main" val="275522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87C647CE-8232-0C71-FCE9-33493F87E12D}"/>
              </a:ext>
            </a:extLst>
          </p:cNvPr>
          <p:cNvSpPr>
            <a:spLocks noGrp="1"/>
          </p:cNvSpPr>
          <p:nvPr>
            <p:ph type="title"/>
          </p:nvPr>
        </p:nvSpPr>
        <p:spPr/>
        <p:txBody>
          <a:bodyPr/>
          <a:lstStyle/>
          <a:p>
            <a:pPr algn="ctr"/>
            <a:r>
              <a:rPr lang="es-ES" dirty="0">
                <a:solidFill>
                  <a:schemeClr val="tx1"/>
                </a:solidFill>
              </a:rPr>
              <a:t>Desarrollo, revisión de ideas y producto</a:t>
            </a:r>
            <a:endParaRPr lang="es-CL" dirty="0">
              <a:solidFill>
                <a:schemeClr val="tx1"/>
              </a:solidFill>
            </a:endParaRPr>
          </a:p>
        </p:txBody>
      </p:sp>
      <p:sp>
        <p:nvSpPr>
          <p:cNvPr id="6" name="Marcador de contenido 5">
            <a:extLst>
              <a:ext uri="{FF2B5EF4-FFF2-40B4-BE49-F238E27FC236}">
                <a16:creationId xmlns:a16="http://schemas.microsoft.com/office/drawing/2014/main" id="{2F612F80-8B07-8EC7-F4B7-A36A96C5B7DA}"/>
              </a:ext>
            </a:extLst>
          </p:cNvPr>
          <p:cNvSpPr>
            <a:spLocks noGrp="1"/>
          </p:cNvSpPr>
          <p:nvPr>
            <p:ph idx="1"/>
          </p:nvPr>
        </p:nvSpPr>
        <p:spPr/>
        <p:txBody>
          <a:bodyPr/>
          <a:lstStyle/>
          <a:p>
            <a:r>
              <a:rPr lang="es-ES" dirty="0">
                <a:solidFill>
                  <a:schemeClr val="tx1"/>
                </a:solidFill>
              </a:rPr>
              <a:t>Para llevar a cabo este proyecto lo primero que hicimos fue conseguirnos un taller donde reparen camiones, luego de esto hablamos con el dueño al cual le solicitamos un camión para poder realizar la investigación sobre el tecle.</a:t>
            </a:r>
          </a:p>
          <a:p>
            <a:r>
              <a:rPr lang="es-ES" dirty="0">
                <a:solidFill>
                  <a:schemeClr val="tx1"/>
                </a:solidFill>
              </a:rPr>
              <a:t>Una vez con el motor descubierto, soltamos los soportes de motor e intentamos levantar el motor con un tecle de 2 toneladas (aproximadamente de 2000 kg), pero en lo cual nos fijamos que el tecle no podía levantarlo, ya que el motor era más pesado de lo que soportaba el tecle.</a:t>
            </a:r>
          </a:p>
          <a:p>
            <a:r>
              <a:rPr lang="es-ES" dirty="0">
                <a:solidFill>
                  <a:schemeClr val="tx1"/>
                </a:solidFill>
              </a:rPr>
              <a:t>Por lo que nos dieron la opción de ocupar 2 tecles que estén bien contrapesados.</a:t>
            </a:r>
            <a:endParaRPr lang="es-CL" dirty="0">
              <a:solidFill>
                <a:schemeClr val="tx1"/>
              </a:solidFill>
            </a:endParaRPr>
          </a:p>
        </p:txBody>
      </p:sp>
    </p:spTree>
    <p:extLst>
      <p:ext uri="{BB962C8B-B14F-4D97-AF65-F5344CB8AC3E}">
        <p14:creationId xmlns:p14="http://schemas.microsoft.com/office/powerpoint/2010/main" val="1604594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A80DF-40ED-0D8B-50CC-2B254F22743C}"/>
              </a:ext>
            </a:extLst>
          </p:cNvPr>
          <p:cNvSpPr>
            <a:spLocks noGrp="1"/>
          </p:cNvSpPr>
          <p:nvPr>
            <p:ph type="title"/>
          </p:nvPr>
        </p:nvSpPr>
        <p:spPr/>
        <p:txBody>
          <a:bodyPr/>
          <a:lstStyle/>
          <a:p>
            <a:pPr algn="ctr"/>
            <a:r>
              <a:rPr lang="es-ES" dirty="0">
                <a:solidFill>
                  <a:schemeClr val="tx1"/>
                </a:solidFill>
              </a:rPr>
              <a:t>Resultados y conclusiones</a:t>
            </a:r>
            <a:endParaRPr lang="es-CL" dirty="0">
              <a:solidFill>
                <a:schemeClr val="tx1"/>
              </a:solidFill>
            </a:endParaRPr>
          </a:p>
        </p:txBody>
      </p:sp>
      <p:sp>
        <p:nvSpPr>
          <p:cNvPr id="3" name="Marcador de contenido 2">
            <a:extLst>
              <a:ext uri="{FF2B5EF4-FFF2-40B4-BE49-F238E27FC236}">
                <a16:creationId xmlns:a16="http://schemas.microsoft.com/office/drawing/2014/main" id="{4A1D270C-0EA8-9211-1523-E935C65054D9}"/>
              </a:ext>
            </a:extLst>
          </p:cNvPr>
          <p:cNvSpPr>
            <a:spLocks noGrp="1"/>
          </p:cNvSpPr>
          <p:nvPr>
            <p:ph idx="1"/>
          </p:nvPr>
        </p:nvSpPr>
        <p:spPr/>
        <p:txBody>
          <a:bodyPr/>
          <a:lstStyle/>
          <a:p>
            <a:r>
              <a:rPr lang="es-ES" dirty="0">
                <a:solidFill>
                  <a:schemeClr val="tx1"/>
                </a:solidFill>
              </a:rPr>
              <a:t>Gracias a este proceso del proyecto llegamos a la conclusión de que no podemos forzar el tecle, ya que si lo hacemos dañaremos su estructura y partes internas</a:t>
            </a:r>
          </a:p>
        </p:txBody>
      </p:sp>
    </p:spTree>
    <p:extLst>
      <p:ext uri="{BB962C8B-B14F-4D97-AF65-F5344CB8AC3E}">
        <p14:creationId xmlns:p14="http://schemas.microsoft.com/office/powerpoint/2010/main" val="380895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4A9EE2-3252-E553-C299-30F3090896D3}"/>
              </a:ext>
            </a:extLst>
          </p:cNvPr>
          <p:cNvSpPr>
            <a:spLocks noGrp="1"/>
          </p:cNvSpPr>
          <p:nvPr>
            <p:ph type="title"/>
          </p:nvPr>
        </p:nvSpPr>
        <p:spPr/>
        <p:txBody>
          <a:bodyPr/>
          <a:lstStyle/>
          <a:p>
            <a:pPr algn="ctr"/>
            <a:r>
              <a:rPr lang="es-ES" dirty="0">
                <a:solidFill>
                  <a:schemeClr val="tx1"/>
                </a:solidFill>
              </a:rPr>
              <a:t>Bibliografía</a:t>
            </a:r>
            <a:endParaRPr lang="es-CL" dirty="0">
              <a:solidFill>
                <a:schemeClr val="tx1"/>
              </a:solidFill>
            </a:endParaRPr>
          </a:p>
        </p:txBody>
      </p:sp>
      <p:sp>
        <p:nvSpPr>
          <p:cNvPr id="4" name="Rectangle 1">
            <a:extLst>
              <a:ext uri="{FF2B5EF4-FFF2-40B4-BE49-F238E27FC236}">
                <a16:creationId xmlns:a16="http://schemas.microsoft.com/office/drawing/2014/main" id="{2D466CD9-99CC-E1FA-B373-E76AED49C5B3}"/>
              </a:ext>
            </a:extLst>
          </p:cNvPr>
          <p:cNvSpPr>
            <a:spLocks noGrp="1" noChangeArrowheads="1"/>
          </p:cNvSpPr>
          <p:nvPr>
            <p:ph idx="1"/>
          </p:nvPr>
        </p:nvSpPr>
        <p:spPr bwMode="auto">
          <a:xfrm>
            <a:off x="868279" y="1843999"/>
            <a:ext cx="10455442" cy="1585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2352"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Cancino, A. (04 de 12 de 2023). El tecle y la geometría. (D. Quezada, Entrevistador)</a:t>
            </a:r>
            <a:endParaRPr kumimoji="0" lang="es-CL" altLang="es-CL"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Climatización.cl. (27 de junio de 2022). </a:t>
            </a:r>
            <a:r>
              <a:rPr kumimoji="0" lang="es-ES" altLang="es-CL"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Climatización.cl</a:t>
            </a:r>
            <a:r>
              <a:rPr kumimoji="0" lang="es-ES" altLang="es-CL"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Obtenido de https://www.climatizacion.cl/tienda/categoria.asp?cat=278</a:t>
            </a:r>
            <a:endParaRPr kumimoji="0" lang="es-CL" altLang="es-CL"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1694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F5C623-F88A-5D3A-8EAA-EF59919D9868}"/>
              </a:ext>
            </a:extLst>
          </p:cNvPr>
          <p:cNvSpPr>
            <a:spLocks noGrp="1"/>
          </p:cNvSpPr>
          <p:nvPr>
            <p:ph type="title"/>
          </p:nvPr>
        </p:nvSpPr>
        <p:spPr/>
        <p:txBody>
          <a:bodyPr/>
          <a:lstStyle/>
          <a:p>
            <a:r>
              <a:rPr lang="es-CL" dirty="0"/>
              <a:t>Link Video	</a:t>
            </a:r>
          </a:p>
        </p:txBody>
      </p:sp>
      <p:sp>
        <p:nvSpPr>
          <p:cNvPr id="3" name="Marcador de contenido 2">
            <a:extLst>
              <a:ext uri="{FF2B5EF4-FFF2-40B4-BE49-F238E27FC236}">
                <a16:creationId xmlns:a16="http://schemas.microsoft.com/office/drawing/2014/main" id="{2167CF47-EF41-724A-3ACC-2DEB8C89724A}"/>
              </a:ext>
            </a:extLst>
          </p:cNvPr>
          <p:cNvSpPr>
            <a:spLocks noGrp="1"/>
          </p:cNvSpPr>
          <p:nvPr>
            <p:ph idx="1"/>
          </p:nvPr>
        </p:nvSpPr>
        <p:spPr/>
        <p:txBody>
          <a:bodyPr>
            <a:normAutofit/>
          </a:bodyPr>
          <a:lstStyle/>
          <a:p>
            <a:r>
              <a:rPr lang="es-CL" sz="3200" dirty="0"/>
              <a:t>https://youtu.be/vOdbKSlp874</a:t>
            </a:r>
          </a:p>
        </p:txBody>
      </p:sp>
    </p:spTree>
    <p:extLst>
      <p:ext uri="{BB962C8B-B14F-4D97-AF65-F5344CB8AC3E}">
        <p14:creationId xmlns:p14="http://schemas.microsoft.com/office/powerpoint/2010/main" val="4289846098"/>
      </p:ext>
    </p:extLst>
  </p:cSld>
  <p:clrMapOvr>
    <a:masterClrMapping/>
  </p:clrMapOvr>
</p:sld>
</file>

<file path=ppt/theme/theme1.xml><?xml version="1.0" encoding="utf-8"?>
<a:theme xmlns:a="http://schemas.openxmlformats.org/drawingml/2006/main" name="Base">
  <a:themeElements>
    <a:clrScheme name="Rojo">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Base">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e">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customXml/itemProps3.xml><?xml version="1.0" encoding="utf-8"?>
<ds:datastoreItem xmlns:ds="http://schemas.openxmlformats.org/officeDocument/2006/customXml" ds:itemID="{6CD2E0C6-02D9-4725-AA2D-08585DAEFE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TM03457444[[fn=Base]]</Template>
  <TotalTime>715</TotalTime>
  <Words>819</Words>
  <Application>Microsoft Macintosh PowerPoint</Application>
  <PresentationFormat>Panorámica</PresentationFormat>
  <Paragraphs>81</Paragraphs>
  <Slides>15</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Corbel</vt:lpstr>
      <vt:lpstr>Times New Roman</vt:lpstr>
      <vt:lpstr>Base</vt:lpstr>
      <vt:lpstr>El tecle y la geometría</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lpstr>Herramientas tecnológicas </vt:lpstr>
      <vt:lpstr>Respuestas de investigación </vt:lpstr>
      <vt:lpstr>Estructura y partes del tecle pluma </vt:lpstr>
      <vt:lpstr>Evidencia </vt:lpstr>
      <vt:lpstr>Evidencia </vt:lpstr>
      <vt:lpstr>Desarrollo, revisión de ideas y producto</vt:lpstr>
      <vt:lpstr>Resultados y conclusiones</vt:lpstr>
      <vt:lpstr>Bibliografía</vt:lpstr>
      <vt:lpstr>Link Video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25</cp:revision>
  <dcterms:created xsi:type="dcterms:W3CDTF">2023-08-31T16:26:40Z</dcterms:created>
  <dcterms:modified xsi:type="dcterms:W3CDTF">2023-12-19T19:17:42Z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