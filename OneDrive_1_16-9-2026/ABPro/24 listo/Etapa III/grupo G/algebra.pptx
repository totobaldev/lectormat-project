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 id="269" r:id="rId17"/>
    <p:sldId id="270" r:id="rId1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9152A5D-A7C0-4C9C-A550-E040D62F12AE}">
          <p14:sldIdLst>
            <p14:sldId id="256"/>
            <p14:sldId id="257"/>
            <p14:sldId id="258"/>
            <p14:sldId id="259"/>
            <p14:sldId id="260"/>
          </p14:sldIdLst>
        </p14:section>
        <p14:section name="Sección sin título" id="{E68AD72A-6197-4244-A506-0C2E65425789}">
          <p14:sldIdLst>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 Luna" initials="SL" lastIdx="1" clrIdx="0">
    <p:extLst>
      <p:ext uri="{19B8F6BF-5375-455C-9EA6-DF929625EA0E}">
        <p15:presenceInfo xmlns:p15="http://schemas.microsoft.com/office/powerpoint/2012/main" userId="a4fdfd455bbb87b3" providerId="Windows Live"/>
      </p:ext>
    </p:extLst>
  </p:cmAuthor>
  <p:cmAuthor id="2" name="LISSETTE ANDREA SALAMANCA MELLA" initials="LASM" lastIdx="7" clrIdx="1">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98" autoAdjust="0"/>
    <p:restoredTop sz="94660"/>
  </p:normalViewPr>
  <p:slideViewPr>
    <p:cSldViewPr snapToGrid="0">
      <p:cViewPr varScale="1">
        <p:scale>
          <a:sx n="85" d="100"/>
          <a:sy n="85" d="100"/>
        </p:scale>
        <p:origin x="200"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12-20T08:58:59.898" idx="1">
    <p:pos x="1312" y="1815"/>
    <p:text>se piden 4 preg</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3-12-20T08:59:23.920" idx="2">
    <p:pos x="4422" y="1180"/>
    <p:text>si utilizan geogebra deben mostrar el programa (imagen usándolo) y una breve descripción </p:text>
    <p:extLst>
      <p:ext uri="{C676402C-5697-4E1C-873F-D02D1690AC5C}">
        <p15:threadingInfo xmlns:p15="http://schemas.microsoft.com/office/powerpoint/2012/main" timeZoneBias="180"/>
      </p:ext>
    </p:extLst>
  </p:cm>
  <p:cm authorId="2" dt="2023-12-20T09:03:53.639" idx="7">
    <p:pos x="10" y="10"/>
    <p:text>falta explicación de los cálculos agregados</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3-12-20T09:00:17.939" idx="3">
    <p:pos x="10" y="10"/>
    <p:text>falta pie de imagen según APA</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3-12-20T09:00:49.758" idx="4">
    <p:pos x="10" y="10"/>
    <p:text>faltan referencias bibliográficas que verifiquen lo que ustedes afirman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3-12-20T09:01:34.079" idx="5">
    <p:pos x="10" y="10"/>
    <p:text>¿cual será la "fuerza de palanca"?</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3-12-20T09:02:48.832" idx="6">
    <p:pos x="10" y="10"/>
    <p:text>muy bien con el uso de imágenes de respaldo y evidencia del trabajo realizado</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3F68F1-5789-0ECF-2228-762F7929BA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9F625571-00D0-6AC1-8B42-562316DFF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1C57596A-E593-E81F-7195-70DDDE8EE626}"/>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5" name="Marcador de pie de página 4">
            <a:extLst>
              <a:ext uri="{FF2B5EF4-FFF2-40B4-BE49-F238E27FC236}">
                <a16:creationId xmlns:a16="http://schemas.microsoft.com/office/drawing/2014/main" id="{C31BCEAF-C0C8-75F5-5521-CD5B08A701B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E11205-EF09-9AD3-3E15-9B757A4FF21A}"/>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4092451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5E5B8F-2D58-D34C-1091-4E1CBEDAF83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66D7AA4-981F-F582-F378-D743516D781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7000C03-39D4-A2C1-BD93-3A1E279120D2}"/>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5" name="Marcador de pie de página 4">
            <a:extLst>
              <a:ext uri="{FF2B5EF4-FFF2-40B4-BE49-F238E27FC236}">
                <a16:creationId xmlns:a16="http://schemas.microsoft.com/office/drawing/2014/main" id="{964F9671-21B7-17F0-FC23-ADE509DFEEF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1E0935F-FF89-36CD-131D-D440D6627B31}"/>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8315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DE1DD6-BE00-7CBF-BF08-3B35D9718D7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5AA5CA-A763-4F15-2202-869EE8AF8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522A214-9166-73BE-D0F3-12B89A590405}"/>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5" name="Marcador de pie de página 4">
            <a:extLst>
              <a:ext uri="{FF2B5EF4-FFF2-40B4-BE49-F238E27FC236}">
                <a16:creationId xmlns:a16="http://schemas.microsoft.com/office/drawing/2014/main" id="{9F03B563-AB34-43A9-6B4F-C80C1B07E37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64DE63D-CB13-3A81-666E-506109513187}"/>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26397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552209-42A8-0B53-6776-20E94A50CC4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5C78AD3-DCAB-EB3E-F89F-57C90D8EBD2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8FC2F3B6-7EEC-1791-4E70-52ABC93311C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2485B31-E532-A354-1481-02642F6BE3AB}"/>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6" name="Marcador de pie de página 5">
            <a:extLst>
              <a:ext uri="{FF2B5EF4-FFF2-40B4-BE49-F238E27FC236}">
                <a16:creationId xmlns:a16="http://schemas.microsoft.com/office/drawing/2014/main" id="{596FACBB-DF25-3A13-89FA-D4B28EA8910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D7FE31F-4630-7E0F-F0F4-F8D62D4DB632}"/>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831628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EE4A17-6BC9-21D5-4100-F35DA86A28A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902C5A0-B809-047E-E80C-6540A4561C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71B3F56-FA2A-3804-3945-6564EF6555D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0D7DD76B-B222-8C35-F2D3-3598BE5023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B7AC7C8-7FAB-1DF4-2BDD-DB189D5A7AC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E0B53DE-1FD9-CD30-73B4-ED733AADD4DF}"/>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8" name="Marcador de pie de página 7">
            <a:extLst>
              <a:ext uri="{FF2B5EF4-FFF2-40B4-BE49-F238E27FC236}">
                <a16:creationId xmlns:a16="http://schemas.microsoft.com/office/drawing/2014/main" id="{17628CF2-3C91-D86A-97A6-71DB9A6B7A2C}"/>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290BF47-41B1-3F57-5D29-7B14A2BFF2C6}"/>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314354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0B2DFF-8AB9-3D2A-B86C-B07CE3D8C93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15DBD443-EF8B-2872-27C0-A4A53C4DA0B1}"/>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4" name="Marcador de pie de página 3">
            <a:extLst>
              <a:ext uri="{FF2B5EF4-FFF2-40B4-BE49-F238E27FC236}">
                <a16:creationId xmlns:a16="http://schemas.microsoft.com/office/drawing/2014/main" id="{822C971A-F9C3-0475-0D02-A53DB33A467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C0F71505-B71F-5D1C-A462-A9ED830B5F37}"/>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0874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DDECF7D-5C9A-1F87-43B6-CC8A69D44555}"/>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3" name="Marcador de pie de página 2">
            <a:extLst>
              <a:ext uri="{FF2B5EF4-FFF2-40B4-BE49-F238E27FC236}">
                <a16:creationId xmlns:a16="http://schemas.microsoft.com/office/drawing/2014/main" id="{1C02B959-2254-6745-686F-08D980EABE96}"/>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A438B17-E594-68E4-1FBD-C36F620AC100}"/>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459529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7E49D-0DBB-70A2-BE67-D9CE6C3CCE6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3A2C5A-E110-435B-1A98-20A2ED31F2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2B725694-CEEB-A23A-95D8-E19D72CBA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7120E6-2E5E-858B-C359-158AAFFBF47A}"/>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6" name="Marcador de pie de página 5">
            <a:extLst>
              <a:ext uri="{FF2B5EF4-FFF2-40B4-BE49-F238E27FC236}">
                <a16:creationId xmlns:a16="http://schemas.microsoft.com/office/drawing/2014/main" id="{81671A01-81BF-3C26-01AB-369D4EFC44C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DBA82E97-1C69-51B3-879C-8B620BEE3C8D}"/>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215932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4B903-2C78-65C7-2AE8-10C5391EC28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BEBD0C8-5C0C-1C85-B778-F5BC3ADB20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671D4576-194D-0BED-0EC1-31533D6EE3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CBA171F-808F-D97D-17F9-4C2F4306B575}"/>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6" name="Marcador de pie de página 5">
            <a:extLst>
              <a:ext uri="{FF2B5EF4-FFF2-40B4-BE49-F238E27FC236}">
                <a16:creationId xmlns:a16="http://schemas.microsoft.com/office/drawing/2014/main" id="{1DF2261B-D210-DBFB-1E96-6734DD91963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BA1D5CC-89EE-FB70-E5E3-2AB6C7FAD9BC}"/>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190419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1C3954-E08D-C0C4-34A4-3B9FB1C96BE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61C27CB-8597-B94D-6127-97F60CB2AEC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75BEC8A-5FFB-60D1-2431-B9EEF685C3B6}"/>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5" name="Marcador de pie de página 4">
            <a:extLst>
              <a:ext uri="{FF2B5EF4-FFF2-40B4-BE49-F238E27FC236}">
                <a16:creationId xmlns:a16="http://schemas.microsoft.com/office/drawing/2014/main" id="{6CB54D46-FFC7-5C20-9572-D1D683C28F7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2333834-539C-DA82-D7F0-49058031E796}"/>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812590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F80F9AD-9429-4C8A-D0A5-AC697D8BA06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16E03D4-5500-A84F-94E1-6881B6D17ED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A9E2D71-B8F9-90F9-30EB-9A37D7CAC7D8}"/>
              </a:ext>
            </a:extLst>
          </p:cNvPr>
          <p:cNvSpPr>
            <a:spLocks noGrp="1"/>
          </p:cNvSpPr>
          <p:nvPr>
            <p:ph type="dt" sz="half" idx="10"/>
          </p:nvPr>
        </p:nvSpPr>
        <p:spPr/>
        <p:txBody>
          <a:bodyPr/>
          <a:lstStyle/>
          <a:p>
            <a:fld id="{3D145F0F-ABEA-49D3-ADF5-B61D2DA89C31}" type="datetimeFigureOut">
              <a:rPr lang="es-CL" smtClean="0"/>
              <a:t>20-12-23</a:t>
            </a:fld>
            <a:endParaRPr lang="es-CL"/>
          </a:p>
        </p:txBody>
      </p:sp>
      <p:sp>
        <p:nvSpPr>
          <p:cNvPr id="5" name="Marcador de pie de página 4">
            <a:extLst>
              <a:ext uri="{FF2B5EF4-FFF2-40B4-BE49-F238E27FC236}">
                <a16:creationId xmlns:a16="http://schemas.microsoft.com/office/drawing/2014/main" id="{245DE177-6D04-D67C-70D7-66FF81A5977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81985F8-DDAB-EDD0-AD88-2B10286F98EB}"/>
              </a:ext>
            </a:extLst>
          </p:cNvPr>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334307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4E38C7D-9C94-A11F-4198-9C0EFADA73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871C6842-A6F1-C6D5-A521-2F55AA14BC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F70EAE8-94DE-9698-372C-A87C57F8E6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145F0F-ABEA-49D3-ADF5-B61D2DA89C31}" type="datetimeFigureOut">
              <a:rPr lang="es-CL" smtClean="0"/>
              <a:t>20-12-23</a:t>
            </a:fld>
            <a:endParaRPr lang="es-CL"/>
          </a:p>
        </p:txBody>
      </p:sp>
      <p:sp>
        <p:nvSpPr>
          <p:cNvPr id="5" name="Marcador de pie de página 4">
            <a:extLst>
              <a:ext uri="{FF2B5EF4-FFF2-40B4-BE49-F238E27FC236}">
                <a16:creationId xmlns:a16="http://schemas.microsoft.com/office/drawing/2014/main" id="{00F8A5A3-2011-9F99-5AE3-485EAEEC41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CBF4D51C-BFB7-3D36-8F5D-510A333BF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823636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comments" Target="../comments/comment6.xml"/><Relationship Id="rId5" Type="http://schemas.openxmlformats.org/officeDocument/2006/relationships/image" Target="../media/image12.jpeg"/><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AD0EB-48AF-2D94-2566-EBDA8798BE5A}"/>
              </a:ext>
            </a:extLst>
          </p:cNvPr>
          <p:cNvSpPr>
            <a:spLocks noGrp="1"/>
          </p:cNvSpPr>
          <p:nvPr>
            <p:ph type="ctrTitle"/>
          </p:nvPr>
        </p:nvSpPr>
        <p:spPr>
          <a:xfrm>
            <a:off x="1248697" y="316118"/>
            <a:ext cx="9144000" cy="2387600"/>
          </a:xfrm>
        </p:spPr>
        <p:txBody>
          <a:bodyPr/>
          <a:lstStyle/>
          <a:p>
            <a:r>
              <a:rPr lang="es-CL" dirty="0"/>
              <a:t>Monometals </a:t>
            </a:r>
          </a:p>
        </p:txBody>
      </p:sp>
      <p:sp>
        <p:nvSpPr>
          <p:cNvPr id="4" name="CuadroTexto 3">
            <a:extLst>
              <a:ext uri="{FF2B5EF4-FFF2-40B4-BE49-F238E27FC236}">
                <a16:creationId xmlns:a16="http://schemas.microsoft.com/office/drawing/2014/main" id="{A4E780D3-1DAA-53DB-01F7-75E7F3276EDA}"/>
              </a:ext>
            </a:extLst>
          </p:cNvPr>
          <p:cNvSpPr txBox="1"/>
          <p:nvPr/>
        </p:nvSpPr>
        <p:spPr>
          <a:xfrm>
            <a:off x="1248697" y="4254909"/>
            <a:ext cx="5407742" cy="2308324"/>
          </a:xfrm>
          <a:prstGeom prst="rect">
            <a:avLst/>
          </a:prstGeom>
          <a:noFill/>
        </p:spPr>
        <p:txBody>
          <a:bodyPr wrap="square" rtlCol="0">
            <a:spAutoFit/>
          </a:bodyPr>
          <a:lstStyle/>
          <a:p>
            <a:r>
              <a:rPr lang="es-CL" dirty="0"/>
              <a:t>Nombres: Fredy Ruiz, Hans Gutiérrez, Yeremy Luna, Rodrigo Poblete.</a:t>
            </a:r>
          </a:p>
          <a:p>
            <a:r>
              <a:rPr lang="es-CL" dirty="0"/>
              <a:t>Profesor: Lissette Salamanca. </a:t>
            </a:r>
          </a:p>
          <a:p>
            <a:r>
              <a:rPr lang="es-CL" dirty="0"/>
              <a:t>Asignatura: Funciones y Geometría. </a:t>
            </a:r>
          </a:p>
          <a:p>
            <a:r>
              <a:rPr lang="es-CL" dirty="0"/>
              <a:t>Carrera: Ing. Mecánica. </a:t>
            </a:r>
          </a:p>
          <a:p>
            <a:r>
              <a:rPr lang="es-CL" dirty="0"/>
              <a:t>Fecha: 17/11/2023.</a:t>
            </a:r>
          </a:p>
          <a:p>
            <a:endParaRPr lang="es-CL" dirty="0"/>
          </a:p>
          <a:p>
            <a:r>
              <a:rPr lang="es-CL" dirty="0"/>
              <a:t> </a:t>
            </a:r>
          </a:p>
        </p:txBody>
      </p:sp>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p:txBody>
          <a:bodyPr/>
          <a:lstStyle/>
          <a:p>
            <a:r>
              <a:rPr lang="es-ES" sz="1800" b="1" i="0" u="sng" dirty="0">
                <a:solidFill>
                  <a:srgbClr val="000000"/>
                </a:solidFill>
                <a:effectLst/>
                <a:latin typeface="Calibri" panose="020F0502020204030204" pitchFamily="34" charset="0"/>
              </a:rPr>
              <a:t> </a:t>
            </a:r>
            <a:r>
              <a:rPr lang="es-ES" sz="1800" b="1" u="sng" dirty="0">
                <a:solidFill>
                  <a:srgbClr val="000000"/>
                </a:solidFill>
                <a:latin typeface="Calibri" panose="020F0502020204030204" pitchFamily="34" charset="0"/>
              </a:rPr>
              <a:t>Definición del proyecto</a:t>
            </a:r>
            <a:br>
              <a:rPr lang="es-ES" sz="1800" b="1" u="sng" dirty="0">
                <a:solidFill>
                  <a:srgbClr val="000000"/>
                </a:solidFill>
                <a:latin typeface="Calibri" panose="020F0502020204030204" pitchFamily="34" charset="0"/>
              </a:rPr>
            </a:br>
            <a:endParaRPr lang="es-CL" b="1" u="sng" dirty="0"/>
          </a:p>
        </p:txBody>
      </p:sp>
      <p:sp>
        <p:nvSpPr>
          <p:cNvPr id="6" name="CuadroTexto 5">
            <a:extLst>
              <a:ext uri="{FF2B5EF4-FFF2-40B4-BE49-F238E27FC236}">
                <a16:creationId xmlns:a16="http://schemas.microsoft.com/office/drawing/2014/main" id="{E2552536-5F4C-927D-987A-5E3372D7F45B}"/>
              </a:ext>
            </a:extLst>
          </p:cNvPr>
          <p:cNvSpPr txBox="1"/>
          <p:nvPr/>
        </p:nvSpPr>
        <p:spPr>
          <a:xfrm>
            <a:off x="838200" y="1238865"/>
            <a:ext cx="9035845" cy="1477328"/>
          </a:xfrm>
          <a:prstGeom prst="rect">
            <a:avLst/>
          </a:prstGeom>
          <a:noFill/>
        </p:spPr>
        <p:txBody>
          <a:bodyPr wrap="square" rtlCol="0">
            <a:spAutoFit/>
          </a:bodyPr>
          <a:lstStyle/>
          <a:p>
            <a:pPr algn="just"/>
            <a:r>
              <a:rPr lang="es-CL" dirty="0"/>
              <a:t>Nuestro tema de investigación es sobre los camiones con carga, la problemática que es cambiar una rueda en ruta ya que se hace muy difícil al poder cambiar una rueda cuando no ahí una vulcanización cerca, se necesitan varias herramientas, entonces necesita estar en una vulcanización para cambiar la rueda, entonces es toda una problemática la noción matemática que ocuparemos es el ángulo .</a:t>
            </a:r>
          </a:p>
        </p:txBody>
      </p:sp>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p:txBody>
          <a:bodyPr/>
          <a:lstStyle/>
          <a:p>
            <a:r>
              <a:rPr lang="es-ES" sz="1800" b="1" i="0" u="sng" dirty="0">
                <a:solidFill>
                  <a:srgbClr val="000000"/>
                </a:solidFill>
                <a:effectLst/>
                <a:latin typeface="Calibri" panose="020F0502020204030204" pitchFamily="34" charset="0"/>
              </a:rPr>
              <a:t> </a:t>
            </a:r>
            <a:r>
              <a:rPr lang="es-ES" sz="1800" b="1" u="sng" dirty="0">
                <a:solidFill>
                  <a:srgbClr val="000000"/>
                </a:solidFill>
                <a:latin typeface="Calibri" panose="020F0502020204030204" pitchFamily="34" charset="0"/>
              </a:rPr>
              <a:t>Tema de investigación, nociones matemáticas y problemática a abordar</a:t>
            </a:r>
            <a:br>
              <a:rPr lang="es-ES" sz="1800" b="1" u="sng" dirty="0">
                <a:solidFill>
                  <a:srgbClr val="000000"/>
                </a:solidFill>
                <a:latin typeface="Calibri" panose="020F0502020204030204" pitchFamily="34" charset="0"/>
              </a:rPr>
            </a:br>
            <a:endParaRPr lang="es-CL" b="1" u="sng" dirty="0"/>
          </a:p>
        </p:txBody>
      </p:sp>
      <p:sp>
        <p:nvSpPr>
          <p:cNvPr id="4" name="CuadroTexto 3">
            <a:extLst>
              <a:ext uri="{FF2B5EF4-FFF2-40B4-BE49-F238E27FC236}">
                <a16:creationId xmlns:a16="http://schemas.microsoft.com/office/drawing/2014/main" id="{CB298EAD-DDDE-6B9F-A5E6-AB9D6930A824}"/>
              </a:ext>
            </a:extLst>
          </p:cNvPr>
          <p:cNvSpPr txBox="1"/>
          <p:nvPr/>
        </p:nvSpPr>
        <p:spPr>
          <a:xfrm>
            <a:off x="838200" y="1376056"/>
            <a:ext cx="9684773" cy="1754326"/>
          </a:xfrm>
          <a:prstGeom prst="rect">
            <a:avLst/>
          </a:prstGeom>
          <a:noFill/>
        </p:spPr>
        <p:txBody>
          <a:bodyPr wrap="square" rtlCol="0">
            <a:spAutoFit/>
          </a:bodyPr>
          <a:lstStyle/>
          <a:p>
            <a:pPr algn="just"/>
            <a:r>
              <a:rPr lang="es-CL" dirty="0"/>
              <a:t>En este proyecto haremos una herramienta para facilitar al conductor de camiones cuando no se encuentre cerca de una vulcanización,  ya que esto se hace muy difícil el cambiar la rueda de un camión solo, por lo tanto crearemos un instrumento que pueda facilitar al conductor y pueda cambiar la rueda por sí solo para así ahorrarle tiempo y para así economizar.</a:t>
            </a:r>
          </a:p>
          <a:p>
            <a:endParaRPr lang="es-CL" dirty="0"/>
          </a:p>
          <a:p>
            <a:endParaRPr lang="es-CL" dirty="0"/>
          </a:p>
        </p:txBody>
      </p:sp>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838200" y="365126"/>
            <a:ext cx="10515600" cy="952398"/>
          </a:xfrm>
        </p:spPr>
        <p:txBody>
          <a:bodyPr>
            <a:normAutofit fontScale="90000"/>
          </a:bodyPr>
          <a:lstStyle/>
          <a:p>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2000" b="1" i="0" u="sng" dirty="0">
                <a:solidFill>
                  <a:srgbClr val="000000"/>
                </a:solidFill>
                <a:latin typeface="Calibri" panose="020F0502020204030204" pitchFamily="34" charset="0"/>
              </a:rPr>
            </a:br>
            <a:r>
              <a:rPr lang="es-ES" sz="2000" b="1" i="0" u="sng" dirty="0">
                <a:solidFill>
                  <a:srgbClr val="000000"/>
                </a:solidFill>
                <a:latin typeface="Calibri" panose="020F0502020204030204" pitchFamily="34" charset="0"/>
              </a:rPr>
              <a:t>Objetivo del proyecto </a:t>
            </a: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br>
              <a:rPr lang="es-ES" sz="1800" b="1" i="0" u="sng" dirty="0">
                <a:solidFill>
                  <a:srgbClr val="000000"/>
                </a:solidFill>
                <a:latin typeface="Calibri" panose="020F0502020204030204" pitchFamily="34" charset="0"/>
              </a:rPr>
            </a:br>
            <a:r>
              <a:rPr lang="es-ES" sz="1800" b="0" i="0" dirty="0">
                <a:solidFill>
                  <a:srgbClr val="000000"/>
                </a:solidFill>
                <a:effectLst/>
                <a:latin typeface="Calibri" panose="020F0502020204030204" pitchFamily="34" charset="0"/>
              </a:rPr>
              <a:t> </a:t>
            </a:r>
            <a:endParaRPr lang="es-CL" dirty="0"/>
          </a:p>
        </p:txBody>
      </p:sp>
      <p:sp>
        <p:nvSpPr>
          <p:cNvPr id="4" name="CuadroTexto 3">
            <a:extLst>
              <a:ext uri="{FF2B5EF4-FFF2-40B4-BE49-F238E27FC236}">
                <a16:creationId xmlns:a16="http://schemas.microsoft.com/office/drawing/2014/main" id="{CB3A795B-7661-9706-035D-715E45D50BBC}"/>
              </a:ext>
            </a:extLst>
          </p:cNvPr>
          <p:cNvSpPr txBox="1"/>
          <p:nvPr/>
        </p:nvSpPr>
        <p:spPr>
          <a:xfrm>
            <a:off x="678426" y="1288028"/>
            <a:ext cx="8839200" cy="646331"/>
          </a:xfrm>
          <a:prstGeom prst="rect">
            <a:avLst/>
          </a:prstGeom>
          <a:noFill/>
        </p:spPr>
        <p:txBody>
          <a:bodyPr wrap="square" rtlCol="0">
            <a:spAutoFit/>
          </a:bodyPr>
          <a:lstStyle/>
          <a:p>
            <a:pPr algn="just"/>
            <a:r>
              <a:rPr lang="es-CL" dirty="0"/>
              <a:t>Crear un instrumento que facilite sacar las tuercas de las ruedas del camión o rampla. En este caso lo vamos hacer guiándonos de un camión Mercedes Actos con rampla.  </a:t>
            </a:r>
          </a:p>
        </p:txBody>
      </p:sp>
      <p:sp>
        <p:nvSpPr>
          <p:cNvPr id="5" name="CuadroTexto 4">
            <a:extLst>
              <a:ext uri="{FF2B5EF4-FFF2-40B4-BE49-F238E27FC236}">
                <a16:creationId xmlns:a16="http://schemas.microsoft.com/office/drawing/2014/main" id="{6EAED58D-1756-71A2-3AD1-5107B44980A7}"/>
              </a:ext>
            </a:extLst>
          </p:cNvPr>
          <p:cNvSpPr txBox="1"/>
          <p:nvPr/>
        </p:nvSpPr>
        <p:spPr>
          <a:xfrm>
            <a:off x="678426" y="2477729"/>
            <a:ext cx="9330813" cy="2585323"/>
          </a:xfrm>
          <a:prstGeom prst="rect">
            <a:avLst/>
          </a:prstGeom>
          <a:noFill/>
        </p:spPr>
        <p:txBody>
          <a:bodyPr wrap="square" rtlCol="0">
            <a:spAutoFit/>
          </a:bodyPr>
          <a:lstStyle/>
          <a:p>
            <a:pPr algn="just"/>
            <a:r>
              <a:rPr lang="es-CL" b="1" u="sng" dirty="0"/>
              <a:t>Problemática abordar:  </a:t>
            </a:r>
          </a:p>
          <a:p>
            <a:pPr algn="just"/>
            <a:endParaRPr lang="es-CL" b="1" u="sng" dirty="0"/>
          </a:p>
          <a:p>
            <a:pPr algn="just"/>
            <a:r>
              <a:rPr lang="es-CL" dirty="0"/>
              <a:t>Las principales problemáticas que tiene un chofer es que cuando se encuentran en ruta sufren un pinchazo o que un neumático se revienta, al momento de no tener una vulcanización cerca es muy difícil sacar los pernos de las ruedas, ya que suelen estar con un alto torque de apriete, además a veces con el gato hidráulico no es capas de levantar el kilaje que llevan de carga que aproximadamente son 30 mil kilos. Entonces ese es uno de los problemas que sufre los conductores, de camiones, entonces en este proyecto ofreceremos una solución para que los camioneros no pierdan tiempo con esos problemas de ruta.  </a:t>
            </a:r>
            <a:endParaRPr lang="es-CL" b="1" u="sng" dirty="0"/>
          </a:p>
        </p:txBody>
      </p:sp>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p:txBody>
          <a:bodyPr/>
          <a:lstStyle/>
          <a:p>
            <a:r>
              <a:rPr lang="es-ES" sz="1800" b="1" u="sng" dirty="0">
                <a:solidFill>
                  <a:srgbClr val="000000"/>
                </a:solidFill>
                <a:latin typeface="Calibri" panose="020F0502020204030204" pitchFamily="34" charset="0"/>
              </a:rPr>
              <a:t>Tema iniciales que se abordaran  </a:t>
            </a:r>
            <a:endParaRPr lang="es-CL" b="1" u="sng" dirty="0"/>
          </a:p>
        </p:txBody>
      </p:sp>
      <p:sp>
        <p:nvSpPr>
          <p:cNvPr id="3" name="CuadroTexto 2">
            <a:extLst>
              <a:ext uri="{FF2B5EF4-FFF2-40B4-BE49-F238E27FC236}">
                <a16:creationId xmlns:a16="http://schemas.microsoft.com/office/drawing/2014/main" id="{6157A05D-9A49-CDA4-A869-2828A4E0674F}"/>
              </a:ext>
            </a:extLst>
          </p:cNvPr>
          <p:cNvSpPr txBox="1"/>
          <p:nvPr/>
        </p:nvSpPr>
        <p:spPr>
          <a:xfrm>
            <a:off x="838200" y="1592826"/>
            <a:ext cx="9802762" cy="646331"/>
          </a:xfrm>
          <a:prstGeom prst="rect">
            <a:avLst/>
          </a:prstGeom>
          <a:noFill/>
        </p:spPr>
        <p:txBody>
          <a:bodyPr wrap="square" rtlCol="0">
            <a:spAutoFit/>
          </a:bodyPr>
          <a:lstStyle/>
          <a:p>
            <a:r>
              <a:rPr lang="es-CL" dirty="0"/>
              <a:t>Que el instrumento que se cree facilite el cambio de ruedas en cualquier lugar de la carretera esto  ayudara al conductor en caso que no encuentre algún vulcanización.</a:t>
            </a:r>
          </a:p>
        </p:txBody>
      </p:sp>
      <p:sp>
        <p:nvSpPr>
          <p:cNvPr id="4" name="CuadroTexto 3">
            <a:extLst>
              <a:ext uri="{FF2B5EF4-FFF2-40B4-BE49-F238E27FC236}">
                <a16:creationId xmlns:a16="http://schemas.microsoft.com/office/drawing/2014/main" id="{70545615-903B-BBD9-0F82-C9BCA94911D4}"/>
              </a:ext>
            </a:extLst>
          </p:cNvPr>
          <p:cNvSpPr txBox="1"/>
          <p:nvPr/>
        </p:nvSpPr>
        <p:spPr>
          <a:xfrm>
            <a:off x="838200" y="2844942"/>
            <a:ext cx="9144000" cy="1569660"/>
          </a:xfrm>
          <a:prstGeom prst="rect">
            <a:avLst/>
          </a:prstGeom>
          <a:noFill/>
        </p:spPr>
        <p:txBody>
          <a:bodyPr wrap="square" rtlCol="0">
            <a:spAutoFit/>
          </a:bodyPr>
          <a:lstStyle/>
          <a:p>
            <a:r>
              <a:rPr lang="es-CL" b="1" u="sng" dirty="0"/>
              <a:t> Preguntas: </a:t>
            </a:r>
          </a:p>
          <a:p>
            <a:endParaRPr lang="es-CL" b="1" u="sng" dirty="0"/>
          </a:p>
          <a:p>
            <a:r>
              <a:rPr lang="es-CL" dirty="0"/>
              <a:t>1). </a:t>
            </a:r>
            <a:r>
              <a:rPr lang="es-CL" sz="2000" dirty="0"/>
              <a:t>¿Cómo pretendemos cambiar esto?</a:t>
            </a:r>
          </a:p>
          <a:p>
            <a:r>
              <a:rPr lang="es-CL" sz="2000" dirty="0"/>
              <a:t>2).¿Que pasa con la entrega de la carga?</a:t>
            </a:r>
          </a:p>
          <a:p>
            <a:r>
              <a:rPr lang="es-CL" sz="2000" dirty="0"/>
              <a:t>3).¿Que pasa si no se cambia el neumático</a:t>
            </a:r>
            <a:r>
              <a:rPr lang="es-CL" dirty="0"/>
              <a:t>?</a:t>
            </a:r>
            <a:endParaRPr lang="es-CL" sz="2000" dirty="0"/>
          </a:p>
        </p:txBody>
      </p:sp>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p:txBody>
          <a:bodyPr/>
          <a:lstStyle/>
          <a:p>
            <a:r>
              <a:rPr lang="es-ES" sz="1800" b="1" u="sng" dirty="0">
                <a:solidFill>
                  <a:srgbClr val="000000"/>
                </a:solidFill>
                <a:latin typeface="Calibri" panose="020F0502020204030204" pitchFamily="34" charset="0"/>
              </a:rPr>
              <a:t>5 Materiales o insumos necesarios para la ejecución del proyecto </a:t>
            </a:r>
            <a:endParaRPr lang="es-CL" b="1" u="sng" dirty="0"/>
          </a:p>
        </p:txBody>
      </p:sp>
      <p:sp>
        <p:nvSpPr>
          <p:cNvPr id="3" name="CuadroTexto 2">
            <a:extLst>
              <a:ext uri="{FF2B5EF4-FFF2-40B4-BE49-F238E27FC236}">
                <a16:creationId xmlns:a16="http://schemas.microsoft.com/office/drawing/2014/main" id="{C1444CB2-B4D6-48CE-B23C-987A736A79A0}"/>
              </a:ext>
            </a:extLst>
          </p:cNvPr>
          <p:cNvSpPr txBox="1"/>
          <p:nvPr/>
        </p:nvSpPr>
        <p:spPr>
          <a:xfrm>
            <a:off x="838200" y="1592826"/>
            <a:ext cx="9871587" cy="4247317"/>
          </a:xfrm>
          <a:prstGeom prst="rect">
            <a:avLst/>
          </a:prstGeom>
          <a:noFill/>
        </p:spPr>
        <p:txBody>
          <a:bodyPr wrap="square" rtlCol="0">
            <a:spAutoFit/>
          </a:bodyPr>
          <a:lstStyle/>
          <a:p>
            <a:r>
              <a:rPr lang="es-CL" b="1" dirty="0"/>
              <a:t>Fierros:</a:t>
            </a:r>
            <a:r>
              <a:rPr lang="es-CL" dirty="0"/>
              <a:t> con una medida cada uno y un fierro tiene que ser mas delgado que otro para que pase por dentro del otro.</a:t>
            </a:r>
          </a:p>
          <a:p>
            <a:endParaRPr lang="es-CL" dirty="0"/>
          </a:p>
          <a:p>
            <a:r>
              <a:rPr lang="es-CL" b="1" dirty="0"/>
              <a:t>Taladro y broca: </a:t>
            </a:r>
            <a:r>
              <a:rPr lang="es-CL" dirty="0"/>
              <a:t>Para hacer dos hoyos en los fierros y poner unos pernos para que el fierro no se salga al momento de hacer la palanca.</a:t>
            </a:r>
          </a:p>
          <a:p>
            <a:endParaRPr lang="es-CL" dirty="0"/>
          </a:p>
          <a:p>
            <a:r>
              <a:rPr lang="es-CL" b="1" dirty="0"/>
              <a:t>Dado de impacto: </a:t>
            </a:r>
            <a:r>
              <a:rPr lang="es-CL" dirty="0"/>
              <a:t>Un dado depende el numero de los pernos de la rueda. </a:t>
            </a:r>
          </a:p>
          <a:p>
            <a:endParaRPr lang="es-CL" dirty="0"/>
          </a:p>
          <a:p>
            <a:r>
              <a:rPr lang="es-CL" b="1" dirty="0"/>
              <a:t>Barrote:</a:t>
            </a:r>
            <a:r>
              <a:rPr lang="es-CL" dirty="0"/>
              <a:t> Un barrote de fuerza para colocar el dado y hacer la palanca junto con el fierro.</a:t>
            </a:r>
          </a:p>
          <a:p>
            <a:endParaRPr lang="es-CL" dirty="0"/>
          </a:p>
          <a:p>
            <a:r>
              <a:rPr lang="es-CL" b="1" dirty="0"/>
              <a:t>Maquina de soldar y electrodo: </a:t>
            </a:r>
            <a:r>
              <a:rPr lang="es-CL" dirty="0"/>
              <a:t>Para poder soldar el barrote con el fierro para que así no se suelten y estén siempre juntos y no perder ninguna de las dos piezas.</a:t>
            </a:r>
          </a:p>
          <a:p>
            <a:endParaRPr lang="es-CL" dirty="0"/>
          </a:p>
          <a:p>
            <a:r>
              <a:rPr lang="es-CL" b="1" dirty="0"/>
              <a:t>Galletero y discos :</a:t>
            </a:r>
            <a:r>
              <a:rPr lang="es-CL" dirty="0"/>
              <a:t>Para poder lijar la soldadura o algún corte del fierro para evitar algunas heridas y no quede con filo.</a:t>
            </a:r>
            <a:endParaRPr lang="es-CL" b="1" dirty="0"/>
          </a:p>
        </p:txBody>
      </p:sp>
    </p:spTree>
    <p:extLst>
      <p:ext uri="{BB962C8B-B14F-4D97-AF65-F5344CB8AC3E}">
        <p14:creationId xmlns:p14="http://schemas.microsoft.com/office/powerpoint/2010/main" val="1950024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C70750-A208-7D6F-6DD5-12FED31CDEE4}"/>
              </a:ext>
            </a:extLst>
          </p:cNvPr>
          <p:cNvSpPr>
            <a:spLocks noGrp="1"/>
          </p:cNvSpPr>
          <p:nvPr>
            <p:ph type="title"/>
          </p:nvPr>
        </p:nvSpPr>
        <p:spPr/>
        <p:txBody>
          <a:bodyPr/>
          <a:lstStyle/>
          <a:p>
            <a:r>
              <a:rPr lang="es-CL" dirty="0"/>
              <a:t> Matemáticas en el proyecto </a:t>
            </a:r>
          </a:p>
        </p:txBody>
      </p:sp>
      <p:sp>
        <p:nvSpPr>
          <p:cNvPr id="3" name="Marcador de contenido 2">
            <a:extLst>
              <a:ext uri="{FF2B5EF4-FFF2-40B4-BE49-F238E27FC236}">
                <a16:creationId xmlns:a16="http://schemas.microsoft.com/office/drawing/2014/main" id="{FF0D337F-0731-55AC-76F8-600529E4EE5A}"/>
              </a:ext>
            </a:extLst>
          </p:cNvPr>
          <p:cNvSpPr>
            <a:spLocks noGrp="1"/>
          </p:cNvSpPr>
          <p:nvPr>
            <p:ph idx="1"/>
          </p:nvPr>
        </p:nvSpPr>
        <p:spPr/>
        <p:txBody>
          <a:bodyPr/>
          <a:lstStyle/>
          <a:p>
            <a:r>
              <a:rPr lang="es-CL" dirty="0"/>
              <a:t>en este proyecto utilizaremos GeoGebra ya que podemos medir el ángulo de la fuerza de palanca que realizaremos para poder aflojar las tuercas correspondientes del camión.</a:t>
            </a:r>
          </a:p>
          <a:p>
            <a:endParaRPr lang="es-CL" dirty="0"/>
          </a:p>
        </p:txBody>
      </p:sp>
      <p:pic>
        <p:nvPicPr>
          <p:cNvPr id="4" name="Imagen 3">
            <a:extLst>
              <a:ext uri="{FF2B5EF4-FFF2-40B4-BE49-F238E27FC236}">
                <a16:creationId xmlns:a16="http://schemas.microsoft.com/office/drawing/2014/main" id="{5F0B7822-70D6-FD8E-F090-DF59673451DC}"/>
              </a:ext>
            </a:extLst>
          </p:cNvPr>
          <p:cNvPicPr>
            <a:picLocks noChangeAspect="1"/>
          </p:cNvPicPr>
          <p:nvPr/>
        </p:nvPicPr>
        <p:blipFill>
          <a:blip r:embed="rId2"/>
          <a:stretch>
            <a:fillRect/>
          </a:stretch>
        </p:blipFill>
        <p:spPr>
          <a:xfrm rot="16200000">
            <a:off x="7128389" y="2633023"/>
            <a:ext cx="2046799" cy="3638754"/>
          </a:xfrm>
          <a:prstGeom prst="rect">
            <a:avLst/>
          </a:prstGeom>
        </p:spPr>
      </p:pic>
      <p:pic>
        <p:nvPicPr>
          <p:cNvPr id="5" name="Imagen 4">
            <a:extLst>
              <a:ext uri="{FF2B5EF4-FFF2-40B4-BE49-F238E27FC236}">
                <a16:creationId xmlns:a16="http://schemas.microsoft.com/office/drawing/2014/main" id="{2B1CA8F3-3956-5B05-8F58-709114440E5A}"/>
              </a:ext>
            </a:extLst>
          </p:cNvPr>
          <p:cNvPicPr>
            <a:picLocks noChangeAspect="1"/>
          </p:cNvPicPr>
          <p:nvPr/>
        </p:nvPicPr>
        <p:blipFill>
          <a:blip r:embed="rId3"/>
          <a:stretch>
            <a:fillRect/>
          </a:stretch>
        </p:blipFill>
        <p:spPr>
          <a:xfrm rot="16200000">
            <a:off x="2249895" y="2633022"/>
            <a:ext cx="2046800" cy="3638756"/>
          </a:xfrm>
          <a:prstGeom prst="rect">
            <a:avLst/>
          </a:prstGeom>
        </p:spPr>
      </p:pic>
    </p:spTree>
    <p:extLst>
      <p:ext uri="{BB962C8B-B14F-4D97-AF65-F5344CB8AC3E}">
        <p14:creationId xmlns:p14="http://schemas.microsoft.com/office/powerpoint/2010/main" val="1442791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AD920D-68B7-27C6-DEEC-DE4A622CE4F0}"/>
              </a:ext>
            </a:extLst>
          </p:cNvPr>
          <p:cNvSpPr>
            <a:spLocks noGrp="1"/>
          </p:cNvSpPr>
          <p:nvPr>
            <p:ph type="title"/>
          </p:nvPr>
        </p:nvSpPr>
        <p:spPr/>
        <p:txBody>
          <a:bodyPr/>
          <a:lstStyle/>
          <a:p>
            <a:r>
              <a:rPr lang="es-MX" dirty="0"/>
              <a:t>Preguntas </a:t>
            </a:r>
            <a:endParaRPr lang="es-CL" dirty="0"/>
          </a:p>
        </p:txBody>
      </p:sp>
      <p:sp>
        <p:nvSpPr>
          <p:cNvPr id="3" name="Marcador de contenido 2">
            <a:extLst>
              <a:ext uri="{FF2B5EF4-FFF2-40B4-BE49-F238E27FC236}">
                <a16:creationId xmlns:a16="http://schemas.microsoft.com/office/drawing/2014/main" id="{AE9D0F89-3CDF-1D9B-AE8F-34927CCFF190}"/>
              </a:ext>
            </a:extLst>
          </p:cNvPr>
          <p:cNvSpPr>
            <a:spLocks noGrp="1"/>
          </p:cNvSpPr>
          <p:nvPr>
            <p:ph idx="1"/>
          </p:nvPr>
        </p:nvSpPr>
        <p:spPr/>
        <p:txBody>
          <a:bodyPr>
            <a:normAutofit/>
          </a:bodyPr>
          <a:lstStyle/>
          <a:p>
            <a:r>
              <a:rPr lang="es-CL" dirty="0"/>
              <a:t>1). </a:t>
            </a:r>
            <a:r>
              <a:rPr lang="es-CL" sz="2800" dirty="0"/>
              <a:t>¿Cómo pretendemos cambiar esto?</a:t>
            </a:r>
          </a:p>
          <a:p>
            <a:r>
              <a:rPr lang="es-CL" dirty="0"/>
              <a:t>Con la herramienta que creamos ayudaremos al camionero que se encuentra en ruta a cambiar la rueda del camión más fácil ahorrándole tiempo.</a:t>
            </a:r>
          </a:p>
          <a:p>
            <a:endParaRPr lang="es-CL" dirty="0"/>
          </a:p>
        </p:txBody>
      </p:sp>
      <p:pic>
        <p:nvPicPr>
          <p:cNvPr id="7" name="Imagen 6">
            <a:extLst>
              <a:ext uri="{FF2B5EF4-FFF2-40B4-BE49-F238E27FC236}">
                <a16:creationId xmlns:a16="http://schemas.microsoft.com/office/drawing/2014/main" id="{5DA03C8A-71F9-E3B8-B16F-C3FF33A2AA03}"/>
              </a:ext>
            </a:extLst>
          </p:cNvPr>
          <p:cNvPicPr>
            <a:picLocks noChangeAspect="1"/>
          </p:cNvPicPr>
          <p:nvPr/>
        </p:nvPicPr>
        <p:blipFill>
          <a:blip r:embed="rId2"/>
          <a:stretch>
            <a:fillRect/>
          </a:stretch>
        </p:blipFill>
        <p:spPr>
          <a:xfrm>
            <a:off x="838200" y="3710609"/>
            <a:ext cx="4967928" cy="2290687"/>
          </a:xfrm>
          <a:prstGeom prst="rect">
            <a:avLst/>
          </a:prstGeom>
        </p:spPr>
      </p:pic>
      <p:sp>
        <p:nvSpPr>
          <p:cNvPr id="9" name="CuadroTexto 8">
            <a:extLst>
              <a:ext uri="{FF2B5EF4-FFF2-40B4-BE49-F238E27FC236}">
                <a16:creationId xmlns:a16="http://schemas.microsoft.com/office/drawing/2014/main" id="{124A2433-56A1-3061-5943-B712F1E12099}"/>
              </a:ext>
            </a:extLst>
          </p:cNvPr>
          <p:cNvSpPr txBox="1"/>
          <p:nvPr/>
        </p:nvSpPr>
        <p:spPr>
          <a:xfrm>
            <a:off x="6096000" y="3889513"/>
            <a:ext cx="4280452" cy="1477328"/>
          </a:xfrm>
          <a:prstGeom prst="rect">
            <a:avLst/>
          </a:prstGeom>
          <a:noFill/>
        </p:spPr>
        <p:txBody>
          <a:bodyPr wrap="square" rtlCol="0">
            <a:spAutoFit/>
          </a:bodyPr>
          <a:lstStyle/>
          <a:p>
            <a:r>
              <a:rPr lang="es-MX" dirty="0"/>
              <a:t>Con la herramienta ya seria mas fácil y así no tener problema con el comprador o empresa, con esto seria mas rápido  llegar a destino y descargar sin ningún problema como se ve en la imagen .</a:t>
            </a:r>
            <a:endParaRPr lang="es-CL" dirty="0"/>
          </a:p>
        </p:txBody>
      </p:sp>
    </p:spTree>
    <p:extLst>
      <p:ext uri="{BB962C8B-B14F-4D97-AF65-F5344CB8AC3E}">
        <p14:creationId xmlns:p14="http://schemas.microsoft.com/office/powerpoint/2010/main" val="3696666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4C4A75-58E5-6A10-BDAC-B889ED9CEBD7}"/>
              </a:ext>
            </a:extLst>
          </p:cNvPr>
          <p:cNvSpPr>
            <a:spLocks noGrp="1"/>
          </p:cNvSpPr>
          <p:nvPr>
            <p:ph type="title"/>
          </p:nvPr>
        </p:nvSpPr>
        <p:spPr/>
        <p:txBody>
          <a:bodyPr/>
          <a:lstStyle/>
          <a:p>
            <a:r>
              <a:rPr lang="es-MX" dirty="0"/>
              <a:t>Preguntas </a:t>
            </a:r>
            <a:endParaRPr lang="es-CL" dirty="0"/>
          </a:p>
        </p:txBody>
      </p:sp>
      <p:sp>
        <p:nvSpPr>
          <p:cNvPr id="3" name="Marcador de contenido 2">
            <a:extLst>
              <a:ext uri="{FF2B5EF4-FFF2-40B4-BE49-F238E27FC236}">
                <a16:creationId xmlns:a16="http://schemas.microsoft.com/office/drawing/2014/main" id="{24CB7D8F-15F3-8309-7858-7C71A9EA3BBA}"/>
              </a:ext>
            </a:extLst>
          </p:cNvPr>
          <p:cNvSpPr>
            <a:spLocks noGrp="1"/>
          </p:cNvSpPr>
          <p:nvPr>
            <p:ph idx="1"/>
          </p:nvPr>
        </p:nvSpPr>
        <p:spPr/>
        <p:txBody>
          <a:bodyPr/>
          <a:lstStyle/>
          <a:p>
            <a:r>
              <a:rPr lang="es-MX" dirty="0"/>
              <a:t>2).¿Que pasa con la entrega de la carga?</a:t>
            </a:r>
          </a:p>
          <a:p>
            <a:r>
              <a:rPr lang="es-MX" dirty="0"/>
              <a:t>Mientras que la rueda del camión se encuentre pinchada se informará que la carga se entregará durante el día y solo se retardará aproximadamente 30 minutos en volver en ruta con la herramienta que creamos.</a:t>
            </a:r>
          </a:p>
          <a:p>
            <a:r>
              <a:rPr lang="es-CL" dirty="0"/>
              <a:t>                                                                          </a:t>
            </a:r>
          </a:p>
        </p:txBody>
      </p:sp>
      <p:pic>
        <p:nvPicPr>
          <p:cNvPr id="4" name="Imagen 3">
            <a:extLst>
              <a:ext uri="{FF2B5EF4-FFF2-40B4-BE49-F238E27FC236}">
                <a16:creationId xmlns:a16="http://schemas.microsoft.com/office/drawing/2014/main" id="{16866A86-3D01-EF5F-5131-CC32A9890704}"/>
              </a:ext>
            </a:extLst>
          </p:cNvPr>
          <p:cNvPicPr>
            <a:picLocks noChangeAspect="1"/>
          </p:cNvPicPr>
          <p:nvPr/>
        </p:nvPicPr>
        <p:blipFill>
          <a:blip r:embed="rId2"/>
          <a:stretch>
            <a:fillRect/>
          </a:stretch>
        </p:blipFill>
        <p:spPr>
          <a:xfrm>
            <a:off x="3285193" y="3512780"/>
            <a:ext cx="3554276" cy="2664183"/>
          </a:xfrm>
          <a:prstGeom prst="rect">
            <a:avLst/>
          </a:prstGeom>
        </p:spPr>
      </p:pic>
      <p:sp>
        <p:nvSpPr>
          <p:cNvPr id="5" name="CuadroTexto 4">
            <a:extLst>
              <a:ext uri="{FF2B5EF4-FFF2-40B4-BE49-F238E27FC236}">
                <a16:creationId xmlns:a16="http://schemas.microsoft.com/office/drawing/2014/main" id="{BDDD600A-1EA7-0983-09DC-328E283B3845}"/>
              </a:ext>
            </a:extLst>
          </p:cNvPr>
          <p:cNvSpPr txBox="1"/>
          <p:nvPr/>
        </p:nvSpPr>
        <p:spPr>
          <a:xfrm>
            <a:off x="5638800" y="2975113"/>
            <a:ext cx="914400" cy="914400"/>
          </a:xfrm>
          <a:prstGeom prst="rect">
            <a:avLst/>
          </a:prstGeom>
          <a:noFill/>
        </p:spPr>
        <p:txBody>
          <a:bodyPr wrap="square" rtlCol="0">
            <a:spAutoFit/>
          </a:bodyPr>
          <a:lstStyle/>
          <a:p>
            <a:endParaRPr lang="es-CL" dirty="0"/>
          </a:p>
        </p:txBody>
      </p:sp>
      <p:sp>
        <p:nvSpPr>
          <p:cNvPr id="7" name="CuadroTexto 6">
            <a:extLst>
              <a:ext uri="{FF2B5EF4-FFF2-40B4-BE49-F238E27FC236}">
                <a16:creationId xmlns:a16="http://schemas.microsoft.com/office/drawing/2014/main" id="{B73CCB5F-181F-3540-13A6-7166EC3FFCF7}"/>
              </a:ext>
            </a:extLst>
          </p:cNvPr>
          <p:cNvSpPr txBox="1"/>
          <p:nvPr/>
        </p:nvSpPr>
        <p:spPr>
          <a:xfrm>
            <a:off x="6839468" y="3644348"/>
            <a:ext cx="4265853" cy="1200329"/>
          </a:xfrm>
          <a:prstGeom prst="rect">
            <a:avLst/>
          </a:prstGeom>
          <a:noFill/>
        </p:spPr>
        <p:txBody>
          <a:bodyPr wrap="square" rtlCol="0">
            <a:spAutoFit/>
          </a:bodyPr>
          <a:lstStyle/>
          <a:p>
            <a:r>
              <a:rPr lang="es-MX" dirty="0"/>
              <a:t>Como se ve en la imagen esta carga lleva este tipo de camión por eso es la importancia de no demorarse mucho al momento de estar parado por alguna falla </a:t>
            </a:r>
            <a:endParaRPr lang="es-CL" dirty="0"/>
          </a:p>
        </p:txBody>
      </p:sp>
    </p:spTree>
    <p:extLst>
      <p:ext uri="{BB962C8B-B14F-4D97-AF65-F5344CB8AC3E}">
        <p14:creationId xmlns:p14="http://schemas.microsoft.com/office/powerpoint/2010/main" val="2386085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0936C0-410C-B933-7EC5-C92342C632AD}"/>
              </a:ext>
            </a:extLst>
          </p:cNvPr>
          <p:cNvSpPr>
            <a:spLocks noGrp="1"/>
          </p:cNvSpPr>
          <p:nvPr>
            <p:ph type="title"/>
          </p:nvPr>
        </p:nvSpPr>
        <p:spPr/>
        <p:txBody>
          <a:bodyPr/>
          <a:lstStyle/>
          <a:p>
            <a:r>
              <a:rPr lang="es-MX" dirty="0"/>
              <a:t>Preguntas </a:t>
            </a:r>
            <a:endParaRPr lang="es-CL" dirty="0"/>
          </a:p>
        </p:txBody>
      </p:sp>
      <p:sp>
        <p:nvSpPr>
          <p:cNvPr id="3" name="Marcador de contenido 2">
            <a:extLst>
              <a:ext uri="{FF2B5EF4-FFF2-40B4-BE49-F238E27FC236}">
                <a16:creationId xmlns:a16="http://schemas.microsoft.com/office/drawing/2014/main" id="{AA8D167B-9364-18B2-3850-7E43D41DA3C0}"/>
              </a:ext>
            </a:extLst>
          </p:cNvPr>
          <p:cNvSpPr>
            <a:spLocks noGrp="1"/>
          </p:cNvSpPr>
          <p:nvPr>
            <p:ph idx="1"/>
          </p:nvPr>
        </p:nvSpPr>
        <p:spPr/>
        <p:txBody>
          <a:bodyPr/>
          <a:lstStyle/>
          <a:p>
            <a:r>
              <a:rPr lang="es-MX" dirty="0"/>
              <a:t>3).¿Que pasa si no se cambia el neumático?</a:t>
            </a:r>
          </a:p>
          <a:p>
            <a:r>
              <a:rPr lang="es-MX" dirty="0"/>
              <a:t>Disminución de la sujeción y adherencia al suelo debido al desgaste de la banda de rodadura. Reventones en el neumático que podrían dejarte varado u ocasionar un choque. Dificultad para frenar con efectividad.</a:t>
            </a:r>
          </a:p>
          <a:p>
            <a:endParaRPr lang="es-CL" dirty="0"/>
          </a:p>
        </p:txBody>
      </p:sp>
      <p:pic>
        <p:nvPicPr>
          <p:cNvPr id="4" name="Imagen 3">
            <a:extLst>
              <a:ext uri="{FF2B5EF4-FFF2-40B4-BE49-F238E27FC236}">
                <a16:creationId xmlns:a16="http://schemas.microsoft.com/office/drawing/2014/main" id="{2CAA360D-3CB5-CA22-CABA-AF6C737B183F}"/>
              </a:ext>
            </a:extLst>
          </p:cNvPr>
          <p:cNvPicPr>
            <a:picLocks noChangeAspect="1"/>
          </p:cNvPicPr>
          <p:nvPr/>
        </p:nvPicPr>
        <p:blipFill>
          <a:blip r:embed="rId2"/>
          <a:stretch>
            <a:fillRect/>
          </a:stretch>
        </p:blipFill>
        <p:spPr>
          <a:xfrm>
            <a:off x="2911438" y="3565622"/>
            <a:ext cx="3184562" cy="2611341"/>
          </a:xfrm>
          <a:prstGeom prst="rect">
            <a:avLst/>
          </a:prstGeom>
        </p:spPr>
      </p:pic>
      <p:sp>
        <p:nvSpPr>
          <p:cNvPr id="5" name="CuadroTexto 4">
            <a:extLst>
              <a:ext uri="{FF2B5EF4-FFF2-40B4-BE49-F238E27FC236}">
                <a16:creationId xmlns:a16="http://schemas.microsoft.com/office/drawing/2014/main" id="{12D55588-AFBA-0B6E-17CA-D61A4A21803F}"/>
              </a:ext>
            </a:extLst>
          </p:cNvPr>
          <p:cNvSpPr txBox="1"/>
          <p:nvPr/>
        </p:nvSpPr>
        <p:spPr>
          <a:xfrm>
            <a:off x="6215270" y="3790122"/>
            <a:ext cx="3988904" cy="923330"/>
          </a:xfrm>
          <a:prstGeom prst="rect">
            <a:avLst/>
          </a:prstGeom>
          <a:noFill/>
        </p:spPr>
        <p:txBody>
          <a:bodyPr wrap="square" rtlCol="0">
            <a:spAutoFit/>
          </a:bodyPr>
          <a:lstStyle/>
          <a:p>
            <a:r>
              <a:rPr lang="es-MX" dirty="0"/>
              <a:t>Como se puede ver así puede quedar un neumático al momento de no cambiarlo y seguir andando pinchado. </a:t>
            </a:r>
            <a:endParaRPr lang="es-CL" dirty="0"/>
          </a:p>
        </p:txBody>
      </p:sp>
    </p:spTree>
    <p:extLst>
      <p:ext uri="{BB962C8B-B14F-4D97-AF65-F5344CB8AC3E}">
        <p14:creationId xmlns:p14="http://schemas.microsoft.com/office/powerpoint/2010/main" val="1187537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143C577-8EBE-45EE-A30F-4172E0A43083}"/>
              </a:ext>
            </a:extLst>
          </p:cNvPr>
          <p:cNvSpPr txBox="1"/>
          <p:nvPr/>
        </p:nvSpPr>
        <p:spPr>
          <a:xfrm>
            <a:off x="821635" y="622852"/>
            <a:ext cx="10813774" cy="400110"/>
          </a:xfrm>
          <a:prstGeom prst="rect">
            <a:avLst/>
          </a:prstGeom>
          <a:noFill/>
        </p:spPr>
        <p:txBody>
          <a:bodyPr wrap="square" rtlCol="0">
            <a:spAutoFit/>
          </a:bodyPr>
          <a:lstStyle/>
          <a:p>
            <a:r>
              <a:rPr lang="es-MX" sz="2000" dirty="0"/>
              <a:t>Desarrollo, revisión de idea y producto</a:t>
            </a:r>
            <a:r>
              <a:rPr lang="es-MX" dirty="0"/>
              <a:t>.</a:t>
            </a:r>
            <a:endParaRPr lang="es-CL" dirty="0"/>
          </a:p>
        </p:txBody>
      </p:sp>
      <p:sp>
        <p:nvSpPr>
          <p:cNvPr id="5" name="CuadroTexto 4">
            <a:extLst>
              <a:ext uri="{FF2B5EF4-FFF2-40B4-BE49-F238E27FC236}">
                <a16:creationId xmlns:a16="http://schemas.microsoft.com/office/drawing/2014/main" id="{54042BEA-3B58-48D1-9628-720E88D9DA2F}"/>
              </a:ext>
            </a:extLst>
          </p:cNvPr>
          <p:cNvSpPr txBox="1"/>
          <p:nvPr/>
        </p:nvSpPr>
        <p:spPr>
          <a:xfrm>
            <a:off x="940905" y="1444488"/>
            <a:ext cx="5791200" cy="1754326"/>
          </a:xfrm>
          <a:prstGeom prst="rect">
            <a:avLst/>
          </a:prstGeom>
          <a:noFill/>
        </p:spPr>
        <p:txBody>
          <a:bodyPr wrap="square" rtlCol="0">
            <a:spAutoFit/>
          </a:bodyPr>
          <a:lstStyle/>
          <a:p>
            <a:pPr algn="just"/>
            <a:r>
              <a:rPr lang="es-MX" dirty="0"/>
              <a:t>Nosotros tomamos de referencia este prototipo para crear una herramienta de fácil acceso económico, de calidad y de buena utilidad.</a:t>
            </a:r>
            <a:endParaRPr lang="es-CL" dirty="0"/>
          </a:p>
          <a:p>
            <a:pPr algn="just"/>
            <a:r>
              <a:rPr lang="es-CL" dirty="0"/>
              <a:t>En base a estos dos prototipos llegamos a la conclusión que la fuerza de palanca es la indicada para este, mas fácil y ligera de trabajar.</a:t>
            </a:r>
            <a:endParaRPr lang="es-MX" dirty="0"/>
          </a:p>
        </p:txBody>
      </p:sp>
      <p:pic>
        <p:nvPicPr>
          <p:cNvPr id="7" name="Imagen 6">
            <a:extLst>
              <a:ext uri="{FF2B5EF4-FFF2-40B4-BE49-F238E27FC236}">
                <a16:creationId xmlns:a16="http://schemas.microsoft.com/office/drawing/2014/main" id="{3CF08168-6166-42EC-96AB-043A5EB2D5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2710" y="-9388"/>
            <a:ext cx="2769290" cy="4923183"/>
          </a:xfrm>
          <a:prstGeom prst="rect">
            <a:avLst/>
          </a:prstGeom>
        </p:spPr>
      </p:pic>
      <p:pic>
        <p:nvPicPr>
          <p:cNvPr id="9" name="Imagen 8">
            <a:extLst>
              <a:ext uri="{FF2B5EF4-FFF2-40B4-BE49-F238E27FC236}">
                <a16:creationId xmlns:a16="http://schemas.microsoft.com/office/drawing/2014/main" id="{9F2564D9-647F-400D-A395-F3F3CA2264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0572" y="2921816"/>
            <a:ext cx="2952138" cy="3936184"/>
          </a:xfrm>
          <a:prstGeom prst="rect">
            <a:avLst/>
          </a:prstGeom>
        </p:spPr>
      </p:pic>
    </p:spTree>
    <p:extLst>
      <p:ext uri="{BB962C8B-B14F-4D97-AF65-F5344CB8AC3E}">
        <p14:creationId xmlns:p14="http://schemas.microsoft.com/office/powerpoint/2010/main" val="3117929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8AB9A20-51CB-4775-9033-160F571C739F}"/>
              </a:ext>
            </a:extLst>
          </p:cNvPr>
          <p:cNvSpPr txBox="1"/>
          <p:nvPr/>
        </p:nvSpPr>
        <p:spPr>
          <a:xfrm>
            <a:off x="821635" y="1773501"/>
            <a:ext cx="5460516" cy="1477328"/>
          </a:xfrm>
          <a:prstGeom prst="rect">
            <a:avLst/>
          </a:prstGeom>
          <a:noFill/>
        </p:spPr>
        <p:txBody>
          <a:bodyPr wrap="square">
            <a:spAutoFit/>
          </a:bodyPr>
          <a:lstStyle/>
          <a:p>
            <a:pPr algn="just"/>
            <a:r>
              <a:rPr lang="es-MX" dirty="0"/>
              <a:t>Nuestro prototipo mediante un movimiento permite sacar la rueda del camión con más facilidad, realizando la fuerza de palanca con una herramienta que se forma por dos fierros llegando a medir 2.5 metros generando una fuerza de palanca superior a cualquier herramienta.</a:t>
            </a:r>
            <a:endParaRPr lang="es-CL" dirty="0"/>
          </a:p>
        </p:txBody>
      </p:sp>
      <p:pic>
        <p:nvPicPr>
          <p:cNvPr id="7" name="Imagen 6">
            <a:extLst>
              <a:ext uri="{FF2B5EF4-FFF2-40B4-BE49-F238E27FC236}">
                <a16:creationId xmlns:a16="http://schemas.microsoft.com/office/drawing/2014/main" id="{8534BB41-5A7C-43B3-B77C-A94655E6EE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6980" y="755476"/>
            <a:ext cx="3187770" cy="5667147"/>
          </a:xfrm>
          <a:prstGeom prst="rect">
            <a:avLst/>
          </a:prstGeom>
        </p:spPr>
      </p:pic>
      <p:sp>
        <p:nvSpPr>
          <p:cNvPr id="8" name="CuadroTexto 7">
            <a:extLst>
              <a:ext uri="{FF2B5EF4-FFF2-40B4-BE49-F238E27FC236}">
                <a16:creationId xmlns:a16="http://schemas.microsoft.com/office/drawing/2014/main" id="{B11A35C8-83BA-4EEA-9DA2-70A39CA63772}"/>
              </a:ext>
            </a:extLst>
          </p:cNvPr>
          <p:cNvSpPr txBox="1"/>
          <p:nvPr/>
        </p:nvSpPr>
        <p:spPr>
          <a:xfrm>
            <a:off x="821635" y="556591"/>
            <a:ext cx="6294782" cy="523220"/>
          </a:xfrm>
          <a:prstGeom prst="rect">
            <a:avLst/>
          </a:prstGeom>
          <a:noFill/>
        </p:spPr>
        <p:txBody>
          <a:bodyPr wrap="square" rtlCol="0">
            <a:spAutoFit/>
          </a:bodyPr>
          <a:lstStyle/>
          <a:p>
            <a:r>
              <a:rPr lang="es-MX" sz="2800" dirty="0"/>
              <a:t>Presentación de producto o prototipo</a:t>
            </a:r>
            <a:r>
              <a:rPr lang="es-MX" dirty="0"/>
              <a:t>.</a:t>
            </a:r>
            <a:endParaRPr lang="es-CL" dirty="0"/>
          </a:p>
        </p:txBody>
      </p:sp>
    </p:spTree>
    <p:extLst>
      <p:ext uri="{BB962C8B-B14F-4D97-AF65-F5344CB8AC3E}">
        <p14:creationId xmlns:p14="http://schemas.microsoft.com/office/powerpoint/2010/main" val="1802031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7B5C154-F126-474C-9577-23902270C96D}"/>
              </a:ext>
            </a:extLst>
          </p:cNvPr>
          <p:cNvPicPr>
            <a:picLocks noChangeAspect="1"/>
          </p:cNvPicPr>
          <p:nvPr/>
        </p:nvPicPr>
        <p:blipFill rotWithShape="1">
          <a:blip r:embed="rId2">
            <a:extLst>
              <a:ext uri="{28A0092B-C50C-407E-A947-70E740481C1C}">
                <a14:useLocalDpi xmlns:a14="http://schemas.microsoft.com/office/drawing/2010/main" val="0"/>
              </a:ext>
            </a:extLst>
          </a:blip>
          <a:srcRect r="17455"/>
          <a:stretch/>
        </p:blipFill>
        <p:spPr>
          <a:xfrm>
            <a:off x="-1" y="3625482"/>
            <a:ext cx="4768693" cy="3249584"/>
          </a:xfrm>
          <a:prstGeom prst="rect">
            <a:avLst/>
          </a:prstGeom>
        </p:spPr>
      </p:pic>
      <p:pic>
        <p:nvPicPr>
          <p:cNvPr id="7" name="Imagen 6">
            <a:extLst>
              <a:ext uri="{FF2B5EF4-FFF2-40B4-BE49-F238E27FC236}">
                <a16:creationId xmlns:a16="http://schemas.microsoft.com/office/drawing/2014/main" id="{AF25A840-346C-483F-BB61-7286D7240B65}"/>
              </a:ext>
            </a:extLst>
          </p:cNvPr>
          <p:cNvPicPr>
            <a:picLocks noChangeAspect="1"/>
          </p:cNvPicPr>
          <p:nvPr/>
        </p:nvPicPr>
        <p:blipFill rotWithShape="1">
          <a:blip r:embed="rId3">
            <a:extLst>
              <a:ext uri="{28A0092B-C50C-407E-A947-70E740481C1C}">
                <a14:useLocalDpi xmlns:a14="http://schemas.microsoft.com/office/drawing/2010/main" val="0"/>
              </a:ext>
            </a:extLst>
          </a:blip>
          <a:srcRect t="9082" b="26570"/>
          <a:stretch/>
        </p:blipFill>
        <p:spPr>
          <a:xfrm>
            <a:off x="6995518" y="0"/>
            <a:ext cx="2593549" cy="3608416"/>
          </a:xfrm>
          <a:prstGeom prst="rect">
            <a:avLst/>
          </a:prstGeom>
        </p:spPr>
      </p:pic>
      <p:pic>
        <p:nvPicPr>
          <p:cNvPr id="9" name="Imagen 8">
            <a:extLst>
              <a:ext uri="{FF2B5EF4-FFF2-40B4-BE49-F238E27FC236}">
                <a16:creationId xmlns:a16="http://schemas.microsoft.com/office/drawing/2014/main" id="{9AF174F2-4401-46F3-90E6-690CE04E253A}"/>
              </a:ext>
            </a:extLst>
          </p:cNvPr>
          <p:cNvPicPr>
            <a:picLocks noChangeAspect="1"/>
          </p:cNvPicPr>
          <p:nvPr/>
        </p:nvPicPr>
        <p:blipFill rotWithShape="1">
          <a:blip r:embed="rId4">
            <a:extLst>
              <a:ext uri="{28A0092B-C50C-407E-A947-70E740481C1C}">
                <a14:useLocalDpi xmlns:a14="http://schemas.microsoft.com/office/drawing/2010/main" val="0"/>
              </a:ext>
            </a:extLst>
          </a:blip>
          <a:srcRect t="15266" b="16522"/>
          <a:stretch/>
        </p:blipFill>
        <p:spPr>
          <a:xfrm>
            <a:off x="4768692" y="3249584"/>
            <a:ext cx="2446606" cy="3608416"/>
          </a:xfrm>
          <a:prstGeom prst="rect">
            <a:avLst/>
          </a:prstGeom>
        </p:spPr>
      </p:pic>
      <p:pic>
        <p:nvPicPr>
          <p:cNvPr id="11" name="Imagen 10">
            <a:extLst>
              <a:ext uri="{FF2B5EF4-FFF2-40B4-BE49-F238E27FC236}">
                <a16:creationId xmlns:a16="http://schemas.microsoft.com/office/drawing/2014/main" id="{7B18C7DA-E226-4A99-8C03-DC92EB9D53FA}"/>
              </a:ext>
            </a:extLst>
          </p:cNvPr>
          <p:cNvPicPr>
            <a:picLocks noChangeAspect="1"/>
          </p:cNvPicPr>
          <p:nvPr/>
        </p:nvPicPr>
        <p:blipFill rotWithShape="1">
          <a:blip r:embed="rId5">
            <a:extLst>
              <a:ext uri="{28A0092B-C50C-407E-A947-70E740481C1C}">
                <a14:useLocalDpi xmlns:a14="http://schemas.microsoft.com/office/drawing/2010/main" val="0"/>
              </a:ext>
            </a:extLst>
          </a:blip>
          <a:srcRect t="19035" b="12754"/>
          <a:stretch/>
        </p:blipFill>
        <p:spPr>
          <a:xfrm>
            <a:off x="9369287" y="3181566"/>
            <a:ext cx="2822713" cy="3744452"/>
          </a:xfrm>
          <a:prstGeom prst="rect">
            <a:avLst/>
          </a:prstGeom>
        </p:spPr>
      </p:pic>
      <p:sp>
        <p:nvSpPr>
          <p:cNvPr id="13" name="CuadroTexto 12">
            <a:extLst>
              <a:ext uri="{FF2B5EF4-FFF2-40B4-BE49-F238E27FC236}">
                <a16:creationId xmlns:a16="http://schemas.microsoft.com/office/drawing/2014/main" id="{52F1803B-1A2B-4A1E-A624-166163EB7529}"/>
              </a:ext>
            </a:extLst>
          </p:cNvPr>
          <p:cNvSpPr txBox="1"/>
          <p:nvPr/>
        </p:nvSpPr>
        <p:spPr>
          <a:xfrm>
            <a:off x="0" y="843677"/>
            <a:ext cx="6096000" cy="2585323"/>
          </a:xfrm>
          <a:prstGeom prst="rect">
            <a:avLst/>
          </a:prstGeom>
          <a:noFill/>
        </p:spPr>
        <p:txBody>
          <a:bodyPr wrap="square">
            <a:spAutoFit/>
          </a:bodyPr>
          <a:lstStyle/>
          <a:p>
            <a:pPr algn="just"/>
            <a:r>
              <a:rPr lang="es-MX" dirty="0"/>
              <a:t>Gracias a este proyecto pudimos profundizar más nuestros métodos matemáticos en nuestra área ya qué más adelante nos ayudara en distintas formas en el área laboral y con esto que acabamos de hacer les puede ayudar a muchos camioneros u grúas etc., ya que ellos andan generalmente todos los días en la carretera también con esto nos dimos cuenta que también puede servir para los autos pero ya tendría que ser otro modeló con distintas medidas y que quede en un lugar que no moleste y seguro.</a:t>
            </a:r>
            <a:endParaRPr lang="es-CL" dirty="0"/>
          </a:p>
        </p:txBody>
      </p:sp>
      <p:sp>
        <p:nvSpPr>
          <p:cNvPr id="14" name="CuadroTexto 13">
            <a:extLst>
              <a:ext uri="{FF2B5EF4-FFF2-40B4-BE49-F238E27FC236}">
                <a16:creationId xmlns:a16="http://schemas.microsoft.com/office/drawing/2014/main" id="{A7BFC069-EDDD-4066-A3AA-BA9131DD2EA2}"/>
              </a:ext>
            </a:extLst>
          </p:cNvPr>
          <p:cNvSpPr txBox="1"/>
          <p:nvPr/>
        </p:nvSpPr>
        <p:spPr>
          <a:xfrm>
            <a:off x="0" y="185530"/>
            <a:ext cx="6096000" cy="461665"/>
          </a:xfrm>
          <a:prstGeom prst="rect">
            <a:avLst/>
          </a:prstGeom>
          <a:noFill/>
        </p:spPr>
        <p:txBody>
          <a:bodyPr wrap="square" rtlCol="0">
            <a:spAutoFit/>
          </a:bodyPr>
          <a:lstStyle/>
          <a:p>
            <a:r>
              <a:rPr lang="es-MX" sz="2400" dirty="0"/>
              <a:t>Resultados y conclusión</a:t>
            </a:r>
            <a:endParaRPr lang="es-CL" sz="2400" dirty="0"/>
          </a:p>
        </p:txBody>
      </p:sp>
    </p:spTree>
    <p:extLst>
      <p:ext uri="{BB962C8B-B14F-4D97-AF65-F5344CB8AC3E}">
        <p14:creationId xmlns:p14="http://schemas.microsoft.com/office/powerpoint/2010/main" val="2081593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C301630-24BE-4257-A74D-25D472200124}"/>
              </a:ext>
            </a:extLst>
          </p:cNvPr>
          <p:cNvSpPr txBox="1"/>
          <p:nvPr/>
        </p:nvSpPr>
        <p:spPr>
          <a:xfrm>
            <a:off x="1099930" y="2465769"/>
            <a:ext cx="6096000" cy="369332"/>
          </a:xfrm>
          <a:prstGeom prst="rect">
            <a:avLst/>
          </a:prstGeom>
          <a:noFill/>
        </p:spPr>
        <p:txBody>
          <a:bodyPr wrap="square">
            <a:spAutoFit/>
          </a:bodyPr>
          <a:lstStyle/>
          <a:p>
            <a:r>
              <a:rPr lang="es-CL" dirty="0"/>
              <a:t>https://www.youtube.com/watch?v=DAx6n8odcyM</a:t>
            </a:r>
          </a:p>
        </p:txBody>
      </p:sp>
      <p:sp>
        <p:nvSpPr>
          <p:cNvPr id="6" name="CuadroTexto 5">
            <a:extLst>
              <a:ext uri="{FF2B5EF4-FFF2-40B4-BE49-F238E27FC236}">
                <a16:creationId xmlns:a16="http://schemas.microsoft.com/office/drawing/2014/main" id="{5F0650F1-CCB1-4668-8DEB-9196C29CF63B}"/>
              </a:ext>
            </a:extLst>
          </p:cNvPr>
          <p:cNvSpPr txBox="1"/>
          <p:nvPr/>
        </p:nvSpPr>
        <p:spPr>
          <a:xfrm>
            <a:off x="1113183" y="609600"/>
            <a:ext cx="6785113" cy="646331"/>
          </a:xfrm>
          <a:prstGeom prst="rect">
            <a:avLst/>
          </a:prstGeom>
          <a:noFill/>
        </p:spPr>
        <p:txBody>
          <a:bodyPr wrap="square" rtlCol="0">
            <a:spAutoFit/>
          </a:bodyPr>
          <a:lstStyle/>
          <a:p>
            <a:r>
              <a:rPr lang="es-MX" dirty="0"/>
              <a:t>Link del video.</a:t>
            </a:r>
          </a:p>
          <a:p>
            <a:endParaRPr lang="es-CL" dirty="0"/>
          </a:p>
        </p:txBody>
      </p:sp>
    </p:spTree>
    <p:extLst>
      <p:ext uri="{BB962C8B-B14F-4D97-AF65-F5344CB8AC3E}">
        <p14:creationId xmlns:p14="http://schemas.microsoft.com/office/powerpoint/2010/main" val="122553168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Props1.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3.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1668</TotalTime>
  <Words>1037</Words>
  <Application>Microsoft Macintosh PowerPoint</Application>
  <PresentationFormat>Panorámica</PresentationFormat>
  <Paragraphs>60</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Tema de Office</vt:lpstr>
      <vt:lpstr>Monometals </vt:lpstr>
      <vt:lpstr> Definición del proyecto </vt:lpstr>
      <vt:lpstr> Tema de investigación, nociones matemáticas y problemática a abordar </vt:lpstr>
      <vt:lpstr>     Objetivo del proyecto       </vt:lpstr>
      <vt:lpstr>Tema iniciales que se abordaran  </vt:lpstr>
      <vt:lpstr>5 Materiales o insumos necesarios para la ejecución del proyecto </vt:lpstr>
      <vt:lpstr> Matemáticas en el proyecto </vt:lpstr>
      <vt:lpstr>Preguntas </vt:lpstr>
      <vt:lpstr>Preguntas </vt:lpstr>
      <vt:lpstr>Preguntas </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LISSETTE ANDREA SALAMANCA MELLA</cp:lastModifiedBy>
  <cp:revision>33</cp:revision>
  <dcterms:created xsi:type="dcterms:W3CDTF">2023-08-31T16:26:40Z</dcterms:created>
  <dcterms:modified xsi:type="dcterms:W3CDTF">2023-12-20T12:04:05Z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