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4"/>
  </p:sldMasterIdLst>
  <p:sldIdLst>
    <p:sldId id="256" r:id="rId5"/>
    <p:sldId id="257" r:id="rId6"/>
    <p:sldId id="258" r:id="rId7"/>
    <p:sldId id="259" r:id="rId8"/>
    <p:sldId id="260" r:id="rId9"/>
    <p:sldId id="262" r:id="rId10"/>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9" d="100"/>
          <a:sy n="69" d="100"/>
        </p:scale>
        <p:origin x="780" y="4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16-11-2023</a:t>
            </a:fld>
            <a:endParaRPr lang="es-CL"/>
          </a:p>
        </p:txBody>
      </p:sp>
      <p:sp>
        <p:nvSpPr>
          <p:cNvPr id="5" name="Footer Placeholder 4"/>
          <p:cNvSpPr>
            <a:spLocks noGrp="1"/>
          </p:cNvSpPr>
          <p:nvPr>
            <p:ph type="ftr" sz="quarter" idx="11"/>
          </p:nvPr>
        </p:nvSpPr>
        <p:spPr/>
        <p:txBody>
          <a:bodyPr/>
          <a:lstStyle/>
          <a:p>
            <a:endParaRPr lang="es-CL"/>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662578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16-11-2023</a:t>
            </a:fld>
            <a:endParaRPr lang="es-CL"/>
          </a:p>
        </p:txBody>
      </p:sp>
      <p:sp>
        <p:nvSpPr>
          <p:cNvPr id="5" name="Footer Placeholder 4"/>
          <p:cNvSpPr>
            <a:spLocks noGrp="1"/>
          </p:cNvSpPr>
          <p:nvPr>
            <p:ph type="ftr" sz="quarter" idx="11"/>
          </p:nvPr>
        </p:nvSpPr>
        <p:spPr/>
        <p:txBody>
          <a:bodyPr/>
          <a:lstStyle/>
          <a:p>
            <a:endParaRPr lang="es-CL"/>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193147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16-11-2023</a:t>
            </a:fld>
            <a:endParaRPr lang="es-CL"/>
          </a:p>
        </p:txBody>
      </p:sp>
      <p:sp>
        <p:nvSpPr>
          <p:cNvPr id="5" name="Footer Placeholder 4"/>
          <p:cNvSpPr>
            <a:spLocks noGrp="1"/>
          </p:cNvSpPr>
          <p:nvPr>
            <p:ph type="ftr" sz="quarter" idx="11"/>
          </p:nvPr>
        </p:nvSpPr>
        <p:spPr/>
        <p:txBody>
          <a:bodyPr/>
          <a:lstStyle/>
          <a:p>
            <a:endParaRPr lang="es-CL"/>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295126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3D145F0F-ABEA-49D3-ADF5-B61D2DA89C31}" type="datetimeFigureOut">
              <a:rPr lang="es-CL" smtClean="0"/>
              <a:t>16-11-2023</a:t>
            </a:fld>
            <a:endParaRPr lang="es-CL"/>
          </a:p>
        </p:txBody>
      </p:sp>
      <p:sp>
        <p:nvSpPr>
          <p:cNvPr id="6" name="Footer Placeholder 5"/>
          <p:cNvSpPr>
            <a:spLocks noGrp="1"/>
          </p:cNvSpPr>
          <p:nvPr>
            <p:ph type="ftr" sz="quarter" idx="11"/>
          </p:nvPr>
        </p:nvSpPr>
        <p:spPr/>
        <p:txBody>
          <a:bodyPr/>
          <a:lstStyle/>
          <a:p>
            <a:endParaRPr lang="es-CL"/>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60335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3D145F0F-ABEA-49D3-ADF5-B61D2DA89C31}" type="datetimeFigureOut">
              <a:rPr lang="es-CL" smtClean="0"/>
              <a:t>16-11-2023</a:t>
            </a:fld>
            <a:endParaRPr lang="es-CL"/>
          </a:p>
        </p:txBody>
      </p:sp>
      <p:sp>
        <p:nvSpPr>
          <p:cNvPr id="8" name="Footer Placeholder 7"/>
          <p:cNvSpPr>
            <a:spLocks noGrp="1"/>
          </p:cNvSpPr>
          <p:nvPr>
            <p:ph type="ftr" sz="quarter" idx="11"/>
          </p:nvPr>
        </p:nvSpPr>
        <p:spPr/>
        <p:txBody>
          <a:bodyPr/>
          <a:lstStyle/>
          <a:p>
            <a:endParaRPr lang="es-CL"/>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459651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3D145F0F-ABEA-49D3-ADF5-B61D2DA89C31}" type="datetimeFigureOut">
              <a:rPr lang="es-CL" smtClean="0"/>
              <a:t>16-11-2023</a:t>
            </a:fld>
            <a:endParaRPr lang="es-CL"/>
          </a:p>
        </p:txBody>
      </p:sp>
      <p:sp>
        <p:nvSpPr>
          <p:cNvPr id="4" name="Footer Placeholder 3"/>
          <p:cNvSpPr>
            <a:spLocks noGrp="1"/>
          </p:cNvSpPr>
          <p:nvPr>
            <p:ph type="ftr" sz="quarter" idx="11"/>
          </p:nvPr>
        </p:nvSpPr>
        <p:spPr/>
        <p:txBody>
          <a:bodyPr/>
          <a:lstStyle/>
          <a:p>
            <a:endParaRPr lang="es-CL"/>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493173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145F0F-ABEA-49D3-ADF5-B61D2DA89C31}" type="datetimeFigureOut">
              <a:rPr lang="es-CL" smtClean="0"/>
              <a:t>16-11-2023</a:t>
            </a:fld>
            <a:endParaRPr lang="es-CL"/>
          </a:p>
        </p:txBody>
      </p:sp>
      <p:sp>
        <p:nvSpPr>
          <p:cNvPr id="3" name="Footer Placeholder 2"/>
          <p:cNvSpPr>
            <a:spLocks noGrp="1"/>
          </p:cNvSpPr>
          <p:nvPr>
            <p:ph type="ftr" sz="quarter" idx="11"/>
          </p:nvPr>
        </p:nvSpPr>
        <p:spPr/>
        <p:txBody>
          <a:bodyPr/>
          <a:lstStyle/>
          <a:p>
            <a:endParaRPr lang="es-CL"/>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944390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16-11-2023</a:t>
            </a:fld>
            <a:endParaRPr lang="es-CL"/>
          </a:p>
        </p:txBody>
      </p:sp>
      <p:sp>
        <p:nvSpPr>
          <p:cNvPr id="6" name="Footer Placeholder 5"/>
          <p:cNvSpPr>
            <a:spLocks noGrp="1"/>
          </p:cNvSpPr>
          <p:nvPr>
            <p:ph type="ftr" sz="quarter" idx="11"/>
          </p:nvPr>
        </p:nvSpPr>
        <p:spPr/>
        <p:txBody>
          <a:bodyPr/>
          <a:lstStyle/>
          <a:p>
            <a:endParaRPr lang="es-CL"/>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494353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16-11-2023</a:t>
            </a:fld>
            <a:endParaRPr lang="es-CL"/>
          </a:p>
        </p:txBody>
      </p:sp>
      <p:sp>
        <p:nvSpPr>
          <p:cNvPr id="6" name="Footer Placeholder 5"/>
          <p:cNvSpPr>
            <a:spLocks noGrp="1"/>
          </p:cNvSpPr>
          <p:nvPr>
            <p:ph type="ftr" sz="quarter" idx="11"/>
          </p:nvPr>
        </p:nvSpPr>
        <p:spPr/>
        <p:txBody>
          <a:bodyPr/>
          <a:lstStyle/>
          <a:p>
            <a:endParaRPr lang="es-CL"/>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518331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16-11-2023</a:t>
            </a:fld>
            <a:endParaRPr lang="es-CL"/>
          </a:p>
        </p:txBody>
      </p:sp>
      <p:sp>
        <p:nvSpPr>
          <p:cNvPr id="5" name="Footer Placeholder 4"/>
          <p:cNvSpPr>
            <a:spLocks noGrp="1"/>
          </p:cNvSpPr>
          <p:nvPr>
            <p:ph type="ftr" sz="quarter" idx="11"/>
          </p:nvPr>
        </p:nvSpPr>
        <p:spPr/>
        <p:txBody>
          <a:bodyPr/>
          <a:lstStyle/>
          <a:p>
            <a:endParaRPr lang="es-CL"/>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908292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16-11-2023</a:t>
            </a:fld>
            <a:endParaRPr lang="es-CL"/>
          </a:p>
        </p:txBody>
      </p:sp>
      <p:sp>
        <p:nvSpPr>
          <p:cNvPr id="5" name="Footer Placeholder 4"/>
          <p:cNvSpPr>
            <a:spLocks noGrp="1"/>
          </p:cNvSpPr>
          <p:nvPr>
            <p:ph type="ftr" sz="quarter" idx="11"/>
          </p:nvPr>
        </p:nvSpPr>
        <p:spPr/>
        <p:txBody>
          <a:bodyPr/>
          <a:lstStyle/>
          <a:p>
            <a:endParaRPr lang="es-CL"/>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BCB0801-C394-46F1-BA09-9052FD73111B}" type="slidenum">
              <a:rPr lang="es-CL" smtClean="0"/>
              <a:t>‹Nº›</a:t>
            </a:fld>
            <a:endParaRPr lang="es-CL"/>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88703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16-11-2023</a:t>
            </a:fld>
            <a:endParaRPr lang="es-CL"/>
          </a:p>
        </p:txBody>
      </p:sp>
      <p:sp>
        <p:nvSpPr>
          <p:cNvPr id="6" name="Footer Placeholder 5"/>
          <p:cNvSpPr>
            <a:spLocks noGrp="1"/>
          </p:cNvSpPr>
          <p:nvPr>
            <p:ph type="ftr" sz="quarter" idx="11"/>
          </p:nvPr>
        </p:nvSpPr>
        <p:spPr/>
        <p:txBody>
          <a:bodyPr/>
          <a:lstStyle/>
          <a:p>
            <a:endParaRPr lang="es-CL"/>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8564812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16-11-2023</a:t>
            </a:fld>
            <a:endParaRPr lang="es-CL"/>
          </a:p>
        </p:txBody>
      </p:sp>
      <p:sp>
        <p:nvSpPr>
          <p:cNvPr id="6" name="Footer Placeholder 5"/>
          <p:cNvSpPr>
            <a:spLocks noGrp="1"/>
          </p:cNvSpPr>
          <p:nvPr>
            <p:ph type="ftr" sz="quarter" idx="11"/>
          </p:nvPr>
        </p:nvSpPr>
        <p:spPr/>
        <p:txBody>
          <a:bodyPr/>
          <a:lstStyle/>
          <a:p>
            <a:endParaRPr lang="es-CL"/>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BCB0801-C394-46F1-BA09-9052FD73111B}" type="slidenum">
              <a:rPr lang="es-CL" smtClean="0"/>
              <a:t>‹Nº›</a:t>
            </a:fld>
            <a:endParaRPr lang="es-CL"/>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286542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16-11-2023</a:t>
            </a:fld>
            <a:endParaRPr lang="es-CL"/>
          </a:p>
        </p:txBody>
      </p:sp>
      <p:sp>
        <p:nvSpPr>
          <p:cNvPr id="6" name="Footer Placeholder 5"/>
          <p:cNvSpPr>
            <a:spLocks noGrp="1"/>
          </p:cNvSpPr>
          <p:nvPr>
            <p:ph type="ftr" sz="quarter" idx="11"/>
          </p:nvPr>
        </p:nvSpPr>
        <p:spPr/>
        <p:txBody>
          <a:bodyPr/>
          <a:lstStyle/>
          <a:p>
            <a:endParaRPr lang="es-CL"/>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918960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16-11-2023</a:t>
            </a:fld>
            <a:endParaRPr lang="es-CL"/>
          </a:p>
        </p:txBody>
      </p:sp>
      <p:sp>
        <p:nvSpPr>
          <p:cNvPr id="5" name="Footer Placeholder 4"/>
          <p:cNvSpPr>
            <a:spLocks noGrp="1"/>
          </p:cNvSpPr>
          <p:nvPr>
            <p:ph type="ftr" sz="quarter" idx="11"/>
          </p:nvPr>
        </p:nvSpPr>
        <p:spPr/>
        <p:txBody>
          <a:bodyPr/>
          <a:lstStyle/>
          <a:p>
            <a:endParaRPr lang="es-CL"/>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0072429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16-11-2023</a:t>
            </a:fld>
            <a:endParaRPr lang="es-CL"/>
          </a:p>
        </p:txBody>
      </p:sp>
      <p:sp>
        <p:nvSpPr>
          <p:cNvPr id="5" name="Footer Placeholder 4"/>
          <p:cNvSpPr>
            <a:spLocks noGrp="1"/>
          </p:cNvSpPr>
          <p:nvPr>
            <p:ph type="ftr" sz="quarter" idx="11"/>
          </p:nvPr>
        </p:nvSpPr>
        <p:spPr/>
        <p:txBody>
          <a:bodyPr/>
          <a:lstStyle/>
          <a:p>
            <a:endParaRPr lang="es-CL"/>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743254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a:solidFill>
            <a:schemeClr val="accent1">
              <a:lumMod val="75000"/>
              <a:alpha val="40000"/>
            </a:schemeClr>
          </a:solidFill>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10" name="Group 9"/>
          <p:cNvGrpSpPr/>
          <p:nvPr/>
        </p:nvGrpSpPr>
        <p:grpSpPr>
          <a:xfrm>
            <a:off x="27221" y="-30"/>
            <a:ext cx="2356674" cy="6853283"/>
            <a:chOff x="6627813" y="195452"/>
            <a:chExt cx="1952625" cy="5678299"/>
          </a:xfrm>
          <a:solidFill>
            <a:schemeClr val="accent1"/>
          </a:solidFill>
        </p:grpSpPr>
        <p:sp>
          <p:nvSpPr>
            <p:cNvPr id="11" name="Freeform 27"/>
            <p:cNvSpPr/>
            <p:nvPr/>
          </p:nvSpPr>
          <p:spPr bwMode="auto">
            <a:xfrm>
              <a:off x="6627813" y="19545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 name="Rectangle 6"/>
          <p:cNvSpPr/>
          <p:nvPr/>
        </p:nvSpPr>
        <p:spPr>
          <a:xfrm>
            <a:off x="0" y="0"/>
            <a:ext cx="18288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D145F0F-ABEA-49D3-ADF5-B61D2DA89C31}" type="datetimeFigureOut">
              <a:rPr lang="es-CL" smtClean="0"/>
              <a:t>16-11-2023</a:t>
            </a:fld>
            <a:endParaRPr lang="es-CL"/>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CL"/>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BCB0801-C394-46F1-BA09-9052FD73111B}" type="slidenum">
              <a:rPr lang="es-CL" smtClean="0"/>
              <a:t>‹Nº›</a:t>
            </a:fld>
            <a:endParaRPr lang="es-CL"/>
          </a:p>
        </p:txBody>
      </p:sp>
    </p:spTree>
    <p:extLst>
      <p:ext uri="{BB962C8B-B14F-4D97-AF65-F5344CB8AC3E}">
        <p14:creationId xmlns:p14="http://schemas.microsoft.com/office/powerpoint/2010/main" val="1274451231"/>
      </p:ext>
    </p:extLst>
  </p:cSld>
  <p:clrMap bg1="dk1" tx1="lt1" bg2="dk2" tx2="lt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a:off x="2831665" y="374073"/>
            <a:ext cx="6629399" cy="31305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ítulo 2"/>
          <p:cNvSpPr>
            <a:spLocks noGrp="1"/>
          </p:cNvSpPr>
          <p:nvPr>
            <p:ph type="ctrTitle"/>
          </p:nvPr>
        </p:nvSpPr>
        <p:spPr>
          <a:xfrm>
            <a:off x="1688666" y="547254"/>
            <a:ext cx="8915399" cy="2262781"/>
          </a:xfrm>
        </p:spPr>
        <p:txBody>
          <a:bodyPr/>
          <a:lstStyle/>
          <a:p>
            <a:pPr algn="ctr"/>
            <a:r>
              <a:rPr lang="es-CL" u="sng" dirty="0" smtClean="0">
                <a:latin typeface="Arial" panose="020B0604020202020204" pitchFamily="34" charset="0"/>
                <a:cs typeface="Arial" panose="020B0604020202020204" pitchFamily="34" charset="0"/>
              </a:rPr>
              <a:t>Plan mantenimiento automotriz</a:t>
            </a:r>
            <a:endParaRPr lang="es-CL" u="sng" dirty="0">
              <a:latin typeface="Arial" panose="020B0604020202020204" pitchFamily="34" charset="0"/>
              <a:cs typeface="Arial" panose="020B0604020202020204" pitchFamily="34" charset="0"/>
            </a:endParaRPr>
          </a:p>
        </p:txBody>
      </p:sp>
      <p:sp>
        <p:nvSpPr>
          <p:cNvPr id="4" name="CuadroTexto 3"/>
          <p:cNvSpPr txBox="1"/>
          <p:nvPr/>
        </p:nvSpPr>
        <p:spPr>
          <a:xfrm>
            <a:off x="2170111" y="3851563"/>
            <a:ext cx="8617526" cy="2308324"/>
          </a:xfrm>
          <a:prstGeom prst="rect">
            <a:avLst/>
          </a:prstGeom>
          <a:noFill/>
        </p:spPr>
        <p:txBody>
          <a:bodyPr wrap="square" rtlCol="0">
            <a:spAutoFit/>
          </a:bodyPr>
          <a:lstStyle/>
          <a:p>
            <a:r>
              <a:rPr lang="es-CL" dirty="0" smtClean="0">
                <a:latin typeface="Arial" panose="020B0604020202020204" pitchFamily="34" charset="0"/>
                <a:cs typeface="Arial" panose="020B0604020202020204" pitchFamily="34" charset="0"/>
              </a:rPr>
              <a:t>Integrantes: 	Héctor Castillo.</a:t>
            </a:r>
          </a:p>
          <a:p>
            <a:r>
              <a:rPr lang="es-CL" dirty="0">
                <a:latin typeface="Arial" panose="020B0604020202020204" pitchFamily="34" charset="0"/>
                <a:cs typeface="Arial" panose="020B0604020202020204" pitchFamily="34" charset="0"/>
              </a:rPr>
              <a:t> </a:t>
            </a:r>
            <a:r>
              <a:rPr lang="es-CL" dirty="0" smtClean="0">
                <a:latin typeface="Arial" panose="020B0604020202020204" pitchFamily="34" charset="0"/>
                <a:cs typeface="Arial" panose="020B0604020202020204" pitchFamily="34" charset="0"/>
              </a:rPr>
              <a:t> 		Cesar Pérez.</a:t>
            </a:r>
          </a:p>
          <a:p>
            <a:r>
              <a:rPr lang="es-CL" dirty="0" smtClean="0">
                <a:latin typeface="Arial" panose="020B0604020202020204" pitchFamily="34" charset="0"/>
                <a:cs typeface="Arial" panose="020B0604020202020204" pitchFamily="34" charset="0"/>
              </a:rPr>
              <a:t>		Bryan Pérez.</a:t>
            </a:r>
          </a:p>
          <a:p>
            <a:r>
              <a:rPr lang="es-CL" dirty="0" smtClean="0">
                <a:latin typeface="Arial" panose="020B0604020202020204" pitchFamily="34" charset="0"/>
                <a:cs typeface="Arial" panose="020B0604020202020204" pitchFamily="34" charset="0"/>
              </a:rPr>
              <a:t>		Denis Erices.</a:t>
            </a:r>
          </a:p>
          <a:p>
            <a:r>
              <a:rPr lang="es-CL" dirty="0" smtClean="0">
                <a:latin typeface="Arial" panose="020B0604020202020204" pitchFamily="34" charset="0"/>
                <a:cs typeface="Arial" panose="020B0604020202020204" pitchFamily="34" charset="0"/>
              </a:rPr>
              <a:t>Docente: 	Lissette Salamanca.</a:t>
            </a:r>
          </a:p>
          <a:p>
            <a:r>
              <a:rPr lang="es-CL" dirty="0" smtClean="0">
                <a:latin typeface="Arial" panose="020B0604020202020204" pitchFamily="34" charset="0"/>
                <a:cs typeface="Arial" panose="020B0604020202020204" pitchFamily="34" charset="0"/>
              </a:rPr>
              <a:t>Asignatura: 	Funciones y geometría.</a:t>
            </a:r>
          </a:p>
          <a:p>
            <a:r>
              <a:rPr lang="es-CL" dirty="0" smtClean="0">
                <a:latin typeface="Arial" panose="020B0604020202020204" pitchFamily="34" charset="0"/>
                <a:cs typeface="Arial" panose="020B0604020202020204" pitchFamily="34" charset="0"/>
              </a:rPr>
              <a:t>Carrera: 		Ingeniería en mecánica automotriz y electromovilidad.</a:t>
            </a:r>
          </a:p>
          <a:p>
            <a:r>
              <a:rPr lang="es-CL" dirty="0" smtClean="0">
                <a:latin typeface="Arial" panose="020B0604020202020204" pitchFamily="34" charset="0"/>
                <a:cs typeface="Arial" panose="020B0604020202020204" pitchFamily="34" charset="0"/>
              </a:rPr>
              <a:t>Fecha: 		17-11-2023.</a:t>
            </a:r>
            <a:endParaRPr lang="es-CL"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36056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C6519140-C4B6-4426-7B0B-A9112C97E292}"/>
              </a:ext>
            </a:extLst>
          </p:cNvPr>
          <p:cNvSpPr>
            <a:spLocks noGrp="1"/>
          </p:cNvSpPr>
          <p:nvPr>
            <p:ph type="title"/>
          </p:nvPr>
        </p:nvSpPr>
        <p:spPr>
          <a:xfrm>
            <a:off x="1609251" y="651818"/>
            <a:ext cx="8911687" cy="511963"/>
          </a:xfrm>
        </p:spPr>
        <p:txBody>
          <a:bodyPr>
            <a:noAutofit/>
          </a:bodyPr>
          <a:lstStyle/>
          <a:p>
            <a:r>
              <a:rPr lang="es-ES" sz="2800" u="sng" dirty="0" smtClean="0">
                <a:solidFill>
                  <a:schemeClr val="tx1"/>
                </a:solidFill>
                <a:latin typeface="Arial" panose="020B0604020202020204" pitchFamily="34" charset="0"/>
                <a:cs typeface="Arial" panose="020B0604020202020204" pitchFamily="34" charset="0"/>
              </a:rPr>
              <a:t>Definición proyecto:</a:t>
            </a:r>
            <a:endParaRPr lang="es-CL" sz="4800" u="sng" dirty="0">
              <a:solidFill>
                <a:schemeClr val="tx1"/>
              </a:solidFill>
              <a:latin typeface="Arial" panose="020B0604020202020204" pitchFamily="34" charset="0"/>
              <a:cs typeface="Arial" panose="020B0604020202020204" pitchFamily="34" charset="0"/>
            </a:endParaRPr>
          </a:p>
        </p:txBody>
      </p:sp>
      <p:sp>
        <p:nvSpPr>
          <p:cNvPr id="3" name="CuadroTexto 2"/>
          <p:cNvSpPr txBox="1"/>
          <p:nvPr/>
        </p:nvSpPr>
        <p:spPr>
          <a:xfrm>
            <a:off x="1609251" y="1551709"/>
            <a:ext cx="9903875" cy="3816429"/>
          </a:xfrm>
          <a:prstGeom prst="rect">
            <a:avLst/>
          </a:prstGeom>
          <a:noFill/>
        </p:spPr>
        <p:txBody>
          <a:bodyPr wrap="square" rtlCol="0">
            <a:spAutoFit/>
          </a:bodyPr>
          <a:lstStyle/>
          <a:p>
            <a:pPr algn="just"/>
            <a:r>
              <a:rPr lang="es-CL" sz="2200" dirty="0" smtClean="0">
                <a:latin typeface="Arial" panose="020B0604020202020204" pitchFamily="34" charset="0"/>
                <a:cs typeface="Arial" panose="020B0604020202020204" pitchFamily="34" charset="0"/>
              </a:rPr>
              <a:t>Primero que todo debemos enfocarnos en el objetivo que queremos abordar, que seria la disminución de los costos de mantención, repuestos y mano de abra para la empresa. </a:t>
            </a:r>
          </a:p>
          <a:p>
            <a:pPr algn="just"/>
            <a:r>
              <a:rPr lang="es-CL" sz="2200" dirty="0" smtClean="0">
                <a:latin typeface="Arial" panose="020B0604020202020204" pitchFamily="34" charset="0"/>
                <a:cs typeface="Arial" panose="020B0604020202020204" pitchFamily="34" charset="0"/>
              </a:rPr>
              <a:t>Indagaremos y solucionaremos la problemática que se presenta en la empresa, ya que esta presentando elevados costos de mantención al no realizar a tiempo estas mantenciones a los vehículos, además de un estancamiento de producción al no poder continuar con sus labores, todo esto por no realizar una sencilla mantención preventiva cada cierto kilometraje, así la empresa gastaría menos dinero en esas mantenciones. Que al no realizar estas mantenciones periódicamente, saldrá mas elevado el costo en base a diagnostico, repuestos, reparación y mano de abra.</a:t>
            </a:r>
            <a:endParaRPr lang="es-CL"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33440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DA7B8513-76B1-3793-002B-328B06334A56}"/>
              </a:ext>
            </a:extLst>
          </p:cNvPr>
          <p:cNvSpPr>
            <a:spLocks noGrp="1"/>
          </p:cNvSpPr>
          <p:nvPr>
            <p:ph type="title"/>
          </p:nvPr>
        </p:nvSpPr>
        <p:spPr>
          <a:xfrm>
            <a:off x="1670535" y="485565"/>
            <a:ext cx="8911687" cy="1280890"/>
          </a:xfrm>
        </p:spPr>
        <p:txBody>
          <a:bodyPr>
            <a:normAutofit/>
          </a:bodyPr>
          <a:lstStyle/>
          <a:p>
            <a:r>
              <a:rPr lang="es-ES" sz="2800" u="sng" dirty="0" smtClean="0">
                <a:solidFill>
                  <a:schemeClr val="tx1"/>
                </a:solidFill>
                <a:latin typeface="Arial" panose="020B0604020202020204" pitchFamily="34" charset="0"/>
                <a:cs typeface="Arial" panose="020B0604020202020204" pitchFamily="34" charset="0"/>
              </a:rPr>
              <a:t>Tema </a:t>
            </a:r>
            <a:r>
              <a:rPr lang="es-ES" sz="2800" u="sng" dirty="0">
                <a:solidFill>
                  <a:schemeClr val="tx1"/>
                </a:solidFill>
                <a:latin typeface="Arial" panose="020B0604020202020204" pitchFamily="34" charset="0"/>
                <a:cs typeface="Arial" panose="020B0604020202020204" pitchFamily="34" charset="0"/>
              </a:rPr>
              <a:t>de investigación, nociones matemáticas y problemática a </a:t>
            </a:r>
            <a:r>
              <a:rPr lang="es-ES" sz="2800" u="sng" dirty="0" smtClean="0">
                <a:solidFill>
                  <a:schemeClr val="tx1"/>
                </a:solidFill>
                <a:latin typeface="Arial" panose="020B0604020202020204" pitchFamily="34" charset="0"/>
                <a:cs typeface="Arial" panose="020B0604020202020204" pitchFamily="34" charset="0"/>
              </a:rPr>
              <a:t>abordar:</a:t>
            </a:r>
            <a:r>
              <a:rPr lang="es-ES" sz="2800" b="0" i="0" dirty="0">
                <a:solidFill>
                  <a:schemeClr val="tx1"/>
                </a:solidFill>
                <a:effectLst/>
                <a:latin typeface="Arial" panose="020B0604020202020204" pitchFamily="34" charset="0"/>
                <a:cs typeface="Arial" panose="020B0604020202020204" pitchFamily="34" charset="0"/>
              </a:rPr>
              <a:t> </a:t>
            </a:r>
            <a:endParaRPr lang="es-CL" sz="4800" dirty="0">
              <a:solidFill>
                <a:schemeClr val="tx1"/>
              </a:solidFill>
              <a:latin typeface="Arial" panose="020B0604020202020204" pitchFamily="34" charset="0"/>
              <a:cs typeface="Arial" panose="020B0604020202020204" pitchFamily="34" charset="0"/>
            </a:endParaRPr>
          </a:p>
        </p:txBody>
      </p:sp>
      <p:sp>
        <p:nvSpPr>
          <p:cNvPr id="4" name="CuadroTexto 3"/>
          <p:cNvSpPr txBox="1"/>
          <p:nvPr/>
        </p:nvSpPr>
        <p:spPr>
          <a:xfrm>
            <a:off x="1468581" y="1766455"/>
            <a:ext cx="9315593" cy="3816429"/>
          </a:xfrm>
          <a:prstGeom prst="rect">
            <a:avLst/>
          </a:prstGeom>
          <a:noFill/>
        </p:spPr>
        <p:txBody>
          <a:bodyPr wrap="square" rtlCol="0">
            <a:spAutoFit/>
          </a:bodyPr>
          <a:lstStyle/>
          <a:p>
            <a:pPr algn="just"/>
            <a:r>
              <a:rPr lang="es-CL" sz="2200" dirty="0" smtClean="0">
                <a:latin typeface="Arial" panose="020B0604020202020204" pitchFamily="34" charset="0"/>
                <a:cs typeface="Arial" panose="020B0604020202020204" pitchFamily="34" charset="0"/>
              </a:rPr>
              <a:t>Investigaremos respecto a una empresa en especifico, para que realicen mantenciones a tiempo a sus vehículos, para reducir costos de reparación y mano de obra. Analizaremos los gastos que tienen periódicamente, además comparándolo con mantenimientos preventivos que se pueden hacer cada cierto tiempo, comparando valores de pago (cual conviene mas).</a:t>
            </a:r>
          </a:p>
          <a:p>
            <a:pPr algn="just"/>
            <a:r>
              <a:rPr lang="es-CL" sz="2200" dirty="0" smtClean="0">
                <a:latin typeface="Arial" panose="020B0604020202020204" pitchFamily="34" charset="0"/>
                <a:cs typeface="Arial" panose="020B0604020202020204" pitchFamily="34" charset="0"/>
              </a:rPr>
              <a:t>En los términos de la noción matemática que utilizaremos nos referiremos a porcentajes, cálculos matemáticos, estadísticas y gráficos.</a:t>
            </a:r>
          </a:p>
          <a:p>
            <a:pPr algn="just"/>
            <a:r>
              <a:rPr lang="es-CL" sz="2200" dirty="0" smtClean="0">
                <a:latin typeface="Arial" panose="020B0604020202020204" pitchFamily="34" charset="0"/>
                <a:cs typeface="Arial" panose="020B0604020202020204" pitchFamily="34" charset="0"/>
              </a:rPr>
              <a:t>La problemática a abordar serian los elevados </a:t>
            </a:r>
            <a:r>
              <a:rPr lang="es-CL" sz="2200" dirty="0">
                <a:latin typeface="Arial" panose="020B0604020202020204" pitchFamily="34" charset="0"/>
                <a:cs typeface="Arial" panose="020B0604020202020204" pitchFamily="34" charset="0"/>
              </a:rPr>
              <a:t>costos de mantención al </a:t>
            </a:r>
            <a:r>
              <a:rPr lang="es-CL" sz="2200" dirty="0" smtClean="0">
                <a:latin typeface="Arial" panose="020B0604020202020204" pitchFamily="34" charset="0"/>
                <a:cs typeface="Arial" panose="020B0604020202020204" pitchFamily="34" charset="0"/>
              </a:rPr>
              <a:t>no efectuar a </a:t>
            </a:r>
            <a:r>
              <a:rPr lang="es-CL" sz="2200" dirty="0">
                <a:latin typeface="Arial" panose="020B0604020202020204" pitchFamily="34" charset="0"/>
                <a:cs typeface="Arial" panose="020B0604020202020204" pitchFamily="34" charset="0"/>
              </a:rPr>
              <a:t>tiempo </a:t>
            </a:r>
            <a:r>
              <a:rPr lang="es-CL" sz="2200" dirty="0" smtClean="0">
                <a:latin typeface="Arial" panose="020B0604020202020204" pitchFamily="34" charset="0"/>
                <a:cs typeface="Arial" panose="020B0604020202020204" pitchFamily="34" charset="0"/>
              </a:rPr>
              <a:t>mantenciones </a:t>
            </a:r>
            <a:r>
              <a:rPr lang="es-CL" sz="2200" dirty="0">
                <a:latin typeface="Arial" panose="020B0604020202020204" pitchFamily="34" charset="0"/>
                <a:cs typeface="Arial" panose="020B0604020202020204" pitchFamily="34" charset="0"/>
              </a:rPr>
              <a:t>a </a:t>
            </a:r>
            <a:r>
              <a:rPr lang="es-CL" sz="2200" dirty="0" smtClean="0">
                <a:latin typeface="Arial" panose="020B0604020202020204" pitchFamily="34" charset="0"/>
                <a:cs typeface="Arial" panose="020B0604020202020204" pitchFamily="34" charset="0"/>
              </a:rPr>
              <a:t>sus vehículos</a:t>
            </a:r>
            <a:r>
              <a:rPr lang="es-CL" sz="2200" dirty="0">
                <a:latin typeface="Arial" panose="020B0604020202020204" pitchFamily="34" charset="0"/>
                <a:cs typeface="Arial" panose="020B0604020202020204" pitchFamily="34" charset="0"/>
              </a:rPr>
              <a:t>, además de un estancamiento de producción al no poder </a:t>
            </a:r>
            <a:r>
              <a:rPr lang="es-CL" sz="2200" dirty="0" smtClean="0">
                <a:latin typeface="Arial" panose="020B0604020202020204" pitchFamily="34" charset="0"/>
                <a:cs typeface="Arial" panose="020B0604020202020204" pitchFamily="34" charset="0"/>
              </a:rPr>
              <a:t>continuar con sus tareas.</a:t>
            </a:r>
            <a:endParaRPr lang="es-CL"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71474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0511957-82E8-115C-643E-E2F3E1D83AAC}"/>
              </a:ext>
            </a:extLst>
          </p:cNvPr>
          <p:cNvSpPr>
            <a:spLocks noGrp="1"/>
          </p:cNvSpPr>
          <p:nvPr>
            <p:ph type="title"/>
          </p:nvPr>
        </p:nvSpPr>
        <p:spPr>
          <a:xfrm>
            <a:off x="1733944" y="610255"/>
            <a:ext cx="8911687" cy="1280890"/>
          </a:xfrm>
        </p:spPr>
        <p:txBody>
          <a:bodyPr>
            <a:normAutofit/>
          </a:bodyPr>
          <a:lstStyle/>
          <a:p>
            <a:r>
              <a:rPr lang="es-ES" sz="2800" b="0" i="0" u="sng" dirty="0" smtClean="0">
                <a:solidFill>
                  <a:schemeClr val="tx1"/>
                </a:solidFill>
                <a:effectLst/>
                <a:latin typeface="Arial" panose="020B0604020202020204" pitchFamily="34" charset="0"/>
                <a:cs typeface="Arial" panose="020B0604020202020204" pitchFamily="34" charset="0"/>
              </a:rPr>
              <a:t>Objetivos </a:t>
            </a:r>
            <a:r>
              <a:rPr lang="es-ES" sz="2800" b="0" i="0" u="sng" dirty="0">
                <a:solidFill>
                  <a:schemeClr val="tx1"/>
                </a:solidFill>
                <a:effectLst/>
                <a:latin typeface="Arial" panose="020B0604020202020204" pitchFamily="34" charset="0"/>
                <a:cs typeface="Arial" panose="020B0604020202020204" pitchFamily="34" charset="0"/>
              </a:rPr>
              <a:t>y preguntas de </a:t>
            </a:r>
            <a:r>
              <a:rPr lang="es-ES" sz="2800" b="0" i="0" u="sng" dirty="0" smtClean="0">
                <a:solidFill>
                  <a:schemeClr val="tx1"/>
                </a:solidFill>
                <a:effectLst/>
                <a:latin typeface="Arial" panose="020B0604020202020204" pitchFamily="34" charset="0"/>
                <a:cs typeface="Arial" panose="020B0604020202020204" pitchFamily="34" charset="0"/>
              </a:rPr>
              <a:t>investigación:</a:t>
            </a:r>
            <a:r>
              <a:rPr lang="es-ES" sz="2400" b="0" i="0" u="sng" dirty="0">
                <a:solidFill>
                  <a:srgbClr val="000000"/>
                </a:solidFill>
                <a:effectLst/>
                <a:latin typeface="Arial" panose="020B0604020202020204" pitchFamily="34" charset="0"/>
                <a:cs typeface="Arial" panose="020B0604020202020204" pitchFamily="34" charset="0"/>
              </a:rPr>
              <a:t> </a:t>
            </a:r>
            <a:r>
              <a:rPr lang="es-ES" sz="2400" b="0" i="0" dirty="0">
                <a:solidFill>
                  <a:srgbClr val="000000"/>
                </a:solidFill>
                <a:effectLst/>
                <a:latin typeface="Arial" panose="020B0604020202020204" pitchFamily="34" charset="0"/>
                <a:cs typeface="Arial" panose="020B0604020202020204" pitchFamily="34" charset="0"/>
              </a:rPr>
              <a:t> </a:t>
            </a:r>
            <a:endParaRPr lang="es-CL" sz="4400" dirty="0">
              <a:latin typeface="Arial" panose="020B0604020202020204" pitchFamily="34" charset="0"/>
              <a:cs typeface="Arial" panose="020B0604020202020204" pitchFamily="34" charset="0"/>
            </a:endParaRPr>
          </a:p>
        </p:txBody>
      </p:sp>
      <p:sp>
        <p:nvSpPr>
          <p:cNvPr id="5" name="CuadroTexto 4"/>
          <p:cNvSpPr txBox="1"/>
          <p:nvPr/>
        </p:nvSpPr>
        <p:spPr>
          <a:xfrm>
            <a:off x="1567690" y="1697181"/>
            <a:ext cx="8587692" cy="4493538"/>
          </a:xfrm>
          <a:prstGeom prst="rect">
            <a:avLst/>
          </a:prstGeom>
          <a:noFill/>
        </p:spPr>
        <p:txBody>
          <a:bodyPr wrap="square" rtlCol="0">
            <a:spAutoFit/>
          </a:bodyPr>
          <a:lstStyle/>
          <a:p>
            <a:pPr algn="just"/>
            <a:r>
              <a:rPr lang="es-CL" sz="2200" dirty="0" smtClean="0">
                <a:latin typeface="Arial" panose="020B0604020202020204" pitchFamily="34" charset="0"/>
                <a:cs typeface="Arial" panose="020B0604020202020204" pitchFamily="34" charset="0"/>
              </a:rPr>
              <a:t>El objetivo a lograr es la importancia que tiene la </a:t>
            </a:r>
            <a:r>
              <a:rPr lang="es-CL" sz="2200" dirty="0">
                <a:latin typeface="Arial" panose="020B0604020202020204" pitchFamily="34" charset="0"/>
                <a:cs typeface="Arial" panose="020B0604020202020204" pitchFamily="34" charset="0"/>
              </a:rPr>
              <a:t>finalidad del mantenimiento </a:t>
            </a:r>
            <a:r>
              <a:rPr lang="es-CL" sz="2200" dirty="0" smtClean="0">
                <a:latin typeface="Arial" panose="020B0604020202020204" pitchFamily="34" charset="0"/>
                <a:cs typeface="Arial" panose="020B0604020202020204" pitchFamily="34" charset="0"/>
              </a:rPr>
              <a:t>preventivo, que es “encontrar </a:t>
            </a:r>
            <a:r>
              <a:rPr lang="es-CL" sz="2200" dirty="0">
                <a:latin typeface="Arial" panose="020B0604020202020204" pitchFamily="34" charset="0"/>
                <a:cs typeface="Arial" panose="020B0604020202020204" pitchFamily="34" charset="0"/>
              </a:rPr>
              <a:t>y </a:t>
            </a:r>
            <a:r>
              <a:rPr lang="es-CL" sz="2200" dirty="0" smtClean="0">
                <a:latin typeface="Arial" panose="020B0604020202020204" pitchFamily="34" charset="0"/>
                <a:cs typeface="Arial" panose="020B0604020202020204" pitchFamily="34" charset="0"/>
              </a:rPr>
              <a:t>corregir” </a:t>
            </a:r>
            <a:r>
              <a:rPr lang="es-CL" sz="2200" dirty="0">
                <a:latin typeface="Arial" panose="020B0604020202020204" pitchFamily="34" charset="0"/>
                <a:cs typeface="Arial" panose="020B0604020202020204" pitchFamily="34" charset="0"/>
              </a:rPr>
              <a:t>los problemas menores antes de que estos provoquen </a:t>
            </a:r>
            <a:r>
              <a:rPr lang="es-CL" sz="2200" dirty="0" smtClean="0">
                <a:latin typeface="Arial" panose="020B0604020202020204" pitchFamily="34" charset="0"/>
                <a:cs typeface="Arial" panose="020B0604020202020204" pitchFamily="34" charset="0"/>
              </a:rPr>
              <a:t>fallas a gran escala. </a:t>
            </a:r>
            <a:r>
              <a:rPr lang="es-CL" sz="2200" dirty="0">
                <a:latin typeface="Arial" panose="020B0604020202020204" pitchFamily="34" charset="0"/>
                <a:cs typeface="Arial" panose="020B0604020202020204" pitchFamily="34" charset="0"/>
              </a:rPr>
              <a:t>El mantenimiento preventivo comprende una lista completa de actividades, todas ellas realizadas </a:t>
            </a:r>
            <a:r>
              <a:rPr lang="es-CL" sz="2200" dirty="0" smtClean="0">
                <a:latin typeface="Arial" panose="020B0604020202020204" pitchFamily="34" charset="0"/>
                <a:cs typeface="Arial" panose="020B0604020202020204" pitchFamily="34" charset="0"/>
              </a:rPr>
              <a:t>por </a:t>
            </a:r>
            <a:r>
              <a:rPr lang="es-CL" sz="2200" dirty="0">
                <a:latin typeface="Arial" panose="020B0604020202020204" pitchFamily="34" charset="0"/>
                <a:cs typeface="Arial" panose="020B0604020202020204" pitchFamily="34" charset="0"/>
              </a:rPr>
              <a:t>usuarios, operadores, y personal </a:t>
            </a:r>
            <a:r>
              <a:rPr lang="es-CL" sz="2200" dirty="0" smtClean="0">
                <a:latin typeface="Arial" panose="020B0604020202020204" pitchFamily="34" charset="0"/>
                <a:cs typeface="Arial" panose="020B0604020202020204" pitchFamily="34" charset="0"/>
              </a:rPr>
              <a:t>mecánico.</a:t>
            </a:r>
          </a:p>
          <a:p>
            <a:pPr algn="just"/>
            <a:r>
              <a:rPr lang="es-CL" sz="2200" dirty="0" smtClean="0">
                <a:latin typeface="Arial" panose="020B0604020202020204" pitchFamily="34" charset="0"/>
                <a:cs typeface="Arial" panose="020B0604020202020204" pitchFamily="34" charset="0"/>
              </a:rPr>
              <a:t>Preguntas de indagación:</a:t>
            </a:r>
          </a:p>
          <a:p>
            <a:pPr algn="just"/>
            <a:r>
              <a:rPr lang="es-CL" sz="2200" dirty="0" smtClean="0">
                <a:latin typeface="Arial" panose="020B0604020202020204" pitchFamily="34" charset="0"/>
                <a:cs typeface="Arial" panose="020B0604020202020204" pitchFamily="34" charset="0"/>
              </a:rPr>
              <a:t>¿Cuáles serian los costos de no hacer un mantenimiento a tiempo?</a:t>
            </a:r>
          </a:p>
          <a:p>
            <a:pPr algn="just"/>
            <a:r>
              <a:rPr lang="es-CL" sz="2200" dirty="0" smtClean="0">
                <a:latin typeface="Arial" panose="020B0604020202020204" pitchFamily="34" charset="0"/>
                <a:cs typeface="Arial" panose="020B0604020202020204" pitchFamily="34" charset="0"/>
              </a:rPr>
              <a:t>¿Cuánto dinero se ahorraría en hacer la mantención preventiva a tiempo?</a:t>
            </a:r>
          </a:p>
          <a:p>
            <a:pPr algn="just"/>
            <a:r>
              <a:rPr lang="es-CL" sz="2200" dirty="0" smtClean="0">
                <a:latin typeface="Arial" panose="020B0604020202020204" pitchFamily="34" charset="0"/>
                <a:cs typeface="Arial" panose="020B0604020202020204" pitchFamily="34" charset="0"/>
              </a:rPr>
              <a:t>¿Cuánto aumentaría la utilidad de la empresa?</a:t>
            </a:r>
          </a:p>
          <a:p>
            <a:pPr algn="just"/>
            <a:r>
              <a:rPr lang="es-CL" sz="2200" dirty="0" smtClean="0">
                <a:latin typeface="Arial" panose="020B0604020202020204" pitchFamily="34" charset="0"/>
                <a:cs typeface="Arial" panose="020B0604020202020204" pitchFamily="34" charset="0"/>
              </a:rPr>
              <a:t>¿Cuánta perdida de dinero hay en mantenciones correctivas que se pueden haber realizado antes de la falla? </a:t>
            </a:r>
            <a:endParaRPr lang="es-CL"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52396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72B98CB-BD8E-1D3C-036A-D1FE2E56A9F2}"/>
              </a:ext>
            </a:extLst>
          </p:cNvPr>
          <p:cNvSpPr>
            <a:spLocks noGrp="1"/>
          </p:cNvSpPr>
          <p:nvPr>
            <p:ph type="title"/>
          </p:nvPr>
        </p:nvSpPr>
        <p:spPr>
          <a:xfrm>
            <a:off x="1609253" y="525177"/>
            <a:ext cx="8911687" cy="1280890"/>
          </a:xfrm>
        </p:spPr>
        <p:txBody>
          <a:bodyPr>
            <a:normAutofit/>
          </a:bodyPr>
          <a:lstStyle/>
          <a:p>
            <a:r>
              <a:rPr lang="es-ES" sz="2800" b="0" i="0" u="sng" dirty="0" smtClean="0">
                <a:solidFill>
                  <a:schemeClr val="tx1"/>
                </a:solidFill>
                <a:effectLst/>
                <a:latin typeface="Arial" panose="020B0604020202020204" pitchFamily="34" charset="0"/>
                <a:cs typeface="Arial" panose="020B0604020202020204" pitchFamily="34" charset="0"/>
              </a:rPr>
              <a:t>Temas </a:t>
            </a:r>
            <a:r>
              <a:rPr lang="es-ES" sz="2800" b="0" i="0" u="sng" dirty="0">
                <a:solidFill>
                  <a:schemeClr val="tx1"/>
                </a:solidFill>
                <a:effectLst/>
                <a:latin typeface="Arial" panose="020B0604020202020204" pitchFamily="34" charset="0"/>
                <a:cs typeface="Arial" panose="020B0604020202020204" pitchFamily="34" charset="0"/>
              </a:rPr>
              <a:t>iniciales </a:t>
            </a:r>
            <a:r>
              <a:rPr lang="es-ES" sz="2800" b="0" i="0" u="sng" dirty="0" smtClean="0">
                <a:solidFill>
                  <a:schemeClr val="tx1"/>
                </a:solidFill>
                <a:effectLst/>
                <a:latin typeface="Arial" panose="020B0604020202020204" pitchFamily="34" charset="0"/>
                <a:cs typeface="Arial" panose="020B0604020202020204" pitchFamily="34" charset="0"/>
              </a:rPr>
              <a:t>involucrados:</a:t>
            </a:r>
            <a:endParaRPr lang="es-CL" sz="4800" u="sng" dirty="0">
              <a:solidFill>
                <a:schemeClr val="tx1"/>
              </a:solidFill>
              <a:latin typeface="Arial" panose="020B0604020202020204" pitchFamily="34" charset="0"/>
              <a:cs typeface="Arial" panose="020B0604020202020204" pitchFamily="34" charset="0"/>
            </a:endParaRPr>
          </a:p>
        </p:txBody>
      </p:sp>
      <p:sp>
        <p:nvSpPr>
          <p:cNvPr id="3" name="CuadroTexto 2"/>
          <p:cNvSpPr txBox="1"/>
          <p:nvPr/>
        </p:nvSpPr>
        <p:spPr>
          <a:xfrm>
            <a:off x="1609253" y="1165622"/>
            <a:ext cx="8911687" cy="5539978"/>
          </a:xfrm>
          <a:prstGeom prst="rect">
            <a:avLst/>
          </a:prstGeom>
          <a:noFill/>
        </p:spPr>
        <p:txBody>
          <a:bodyPr wrap="square" rtlCol="0">
            <a:spAutoFit/>
          </a:bodyPr>
          <a:lstStyle/>
          <a:p>
            <a:pPr algn="just"/>
            <a:r>
              <a:rPr lang="es-CL" sz="2400" dirty="0" smtClean="0">
                <a:latin typeface="Arial" panose="020B0604020202020204" pitchFamily="34" charset="0"/>
                <a:cs typeface="Arial" panose="020B0604020202020204" pitchFamily="34" charset="0"/>
              </a:rPr>
              <a:t>Para esto debemos diferenciar el mantenimiento preventivo del correctivo, el </a:t>
            </a:r>
            <a:r>
              <a:rPr lang="es-CL" sz="2400" dirty="0">
                <a:latin typeface="Arial" panose="020B0604020202020204" pitchFamily="34" charset="0"/>
                <a:cs typeface="Arial" panose="020B0604020202020204" pitchFamily="34" charset="0"/>
              </a:rPr>
              <a:t>mantenimiento correctivo resuelve los problemas, mientras que el preventivo trata de evitarlos. Así, el mantenimiento </a:t>
            </a:r>
            <a:r>
              <a:rPr lang="es-CL" sz="2400" dirty="0" smtClean="0">
                <a:latin typeface="Arial" panose="020B0604020202020204" pitchFamily="34" charset="0"/>
                <a:cs typeface="Arial" panose="020B0604020202020204" pitchFamily="34" charset="0"/>
              </a:rPr>
              <a:t>correctivo </a:t>
            </a:r>
            <a:r>
              <a:rPr lang="es-CL" sz="2400" dirty="0">
                <a:latin typeface="Arial" panose="020B0604020202020204" pitchFamily="34" charset="0"/>
                <a:cs typeface="Arial" panose="020B0604020202020204" pitchFamily="34" charset="0"/>
              </a:rPr>
              <a:t>se lleva a cabo cuando se produce una avería en una máquina o equipo. El mantenimiento preventivo, en </a:t>
            </a:r>
            <a:r>
              <a:rPr lang="es-CL" sz="2400" dirty="0" smtClean="0">
                <a:latin typeface="Arial" panose="020B0604020202020204" pitchFamily="34" charset="0"/>
                <a:cs typeface="Arial" panose="020B0604020202020204" pitchFamily="34" charset="0"/>
              </a:rPr>
              <a:t>cambio busca </a:t>
            </a:r>
            <a:r>
              <a:rPr lang="es-CL" sz="2400" dirty="0">
                <a:latin typeface="Arial" panose="020B0604020202020204" pitchFamily="34" charset="0"/>
                <a:cs typeface="Arial" panose="020B0604020202020204" pitchFamily="34" charset="0"/>
              </a:rPr>
              <a:t>mediante comprobaciones y tareas rutinarias, verificar que un activo funciona correctamente e identificar cualquier fallo en su funcionamiento antes de que se produzca una avería. </a:t>
            </a:r>
            <a:r>
              <a:rPr lang="es-CL" sz="2400" dirty="0" smtClean="0">
                <a:latin typeface="Arial" panose="020B0604020202020204" pitchFamily="34" charset="0"/>
                <a:cs typeface="Arial" panose="020B0604020202020204" pitchFamily="34" charset="0"/>
              </a:rPr>
              <a:t>Todo esto para que la empresa no involucre mayores gastos en un mantenimiento correctivo. Como ejemplo de un plan preventivo seria el cambio de aceite motor, filtros del vehículos (aceite, aire, polen), pastilla de freno, alineamiento, revisión de nivel de líquidos, limpieza y mantención de inyectores y prueba de ruta. </a:t>
            </a:r>
          </a:p>
          <a:p>
            <a:endParaRPr lang="es-CL" dirty="0"/>
          </a:p>
        </p:txBody>
      </p:sp>
    </p:spTree>
    <p:extLst>
      <p:ext uri="{BB962C8B-B14F-4D97-AF65-F5344CB8AC3E}">
        <p14:creationId xmlns:p14="http://schemas.microsoft.com/office/powerpoint/2010/main" val="41772080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72B98CB-BD8E-1D3C-036A-D1FE2E56A9F2}"/>
              </a:ext>
            </a:extLst>
          </p:cNvPr>
          <p:cNvSpPr>
            <a:spLocks noGrp="1"/>
          </p:cNvSpPr>
          <p:nvPr>
            <p:ph type="title"/>
          </p:nvPr>
        </p:nvSpPr>
        <p:spPr>
          <a:xfrm>
            <a:off x="1612446" y="520956"/>
            <a:ext cx="8911687" cy="1280890"/>
          </a:xfrm>
        </p:spPr>
        <p:txBody>
          <a:bodyPr>
            <a:normAutofit/>
          </a:bodyPr>
          <a:lstStyle/>
          <a:p>
            <a:r>
              <a:rPr lang="es-ES" sz="2800" b="0" i="0" u="sng" dirty="0" smtClean="0">
                <a:solidFill>
                  <a:schemeClr val="tx1"/>
                </a:solidFill>
                <a:effectLst/>
                <a:latin typeface="Arial" panose="020B0604020202020204" pitchFamily="34" charset="0"/>
                <a:cs typeface="Arial" panose="020B0604020202020204" pitchFamily="34" charset="0"/>
              </a:rPr>
              <a:t>Cronograma </a:t>
            </a:r>
            <a:r>
              <a:rPr lang="es-ES" sz="2800" b="0" i="0" u="sng" dirty="0">
                <a:solidFill>
                  <a:schemeClr val="tx1"/>
                </a:solidFill>
                <a:effectLst/>
                <a:latin typeface="Arial" panose="020B0604020202020204" pitchFamily="34" charset="0"/>
                <a:cs typeface="Arial" panose="020B0604020202020204" pitchFamily="34" charset="0"/>
              </a:rPr>
              <a:t>y materiales a </a:t>
            </a:r>
            <a:r>
              <a:rPr lang="es-ES" sz="2800" b="0" i="0" u="sng" dirty="0" smtClean="0">
                <a:solidFill>
                  <a:schemeClr val="tx1"/>
                </a:solidFill>
                <a:effectLst/>
                <a:latin typeface="Arial" panose="020B0604020202020204" pitchFamily="34" charset="0"/>
                <a:cs typeface="Arial" panose="020B0604020202020204" pitchFamily="34" charset="0"/>
              </a:rPr>
              <a:t>utilizar:</a:t>
            </a:r>
            <a:endParaRPr lang="es-CL" sz="4800" u="sng" dirty="0">
              <a:solidFill>
                <a:schemeClr val="tx1"/>
              </a:solidFill>
              <a:latin typeface="Arial" panose="020B0604020202020204" pitchFamily="34" charset="0"/>
              <a:cs typeface="Arial" panose="020B0604020202020204" pitchFamily="34" charset="0"/>
            </a:endParaRPr>
          </a:p>
        </p:txBody>
      </p:sp>
      <p:pic>
        <p:nvPicPr>
          <p:cNvPr id="4" name="Imagen 3"/>
          <p:cNvPicPr>
            <a:picLocks noChangeAspect="1"/>
          </p:cNvPicPr>
          <p:nvPr/>
        </p:nvPicPr>
        <p:blipFill rotWithShape="1">
          <a:blip r:embed="rId2"/>
          <a:srcRect r="588"/>
          <a:stretch/>
        </p:blipFill>
        <p:spPr>
          <a:xfrm>
            <a:off x="2226850" y="1801846"/>
            <a:ext cx="7097259" cy="13322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CuadroTexto 4"/>
          <p:cNvSpPr txBox="1"/>
          <p:nvPr/>
        </p:nvSpPr>
        <p:spPr>
          <a:xfrm>
            <a:off x="1939634" y="3740727"/>
            <a:ext cx="8257309" cy="2462213"/>
          </a:xfrm>
          <a:prstGeom prst="rect">
            <a:avLst/>
          </a:prstGeom>
          <a:noFill/>
        </p:spPr>
        <p:txBody>
          <a:bodyPr wrap="square" rtlCol="0">
            <a:spAutoFit/>
          </a:bodyPr>
          <a:lstStyle/>
          <a:p>
            <a:pPr algn="just"/>
            <a:r>
              <a:rPr lang="es-CL" sz="2200" dirty="0" smtClean="0">
                <a:latin typeface="Arial" panose="020B0604020202020204" pitchFamily="34" charset="0"/>
                <a:cs typeface="Arial" panose="020B0604020202020204" pitchFamily="34" charset="0"/>
              </a:rPr>
              <a:t>Materiales a utilizar: Facturas de los repuestos y de mantenimiento que se le hayan echo a los vehículos anteriormente. </a:t>
            </a:r>
          </a:p>
          <a:p>
            <a:pPr algn="just"/>
            <a:r>
              <a:rPr lang="es-CL" sz="2200" dirty="0" smtClean="0">
                <a:latin typeface="Arial" panose="020B0604020202020204" pitchFamily="34" charset="0"/>
                <a:cs typeface="Arial" panose="020B0604020202020204" pitchFamily="34" charset="0"/>
              </a:rPr>
              <a:t>Crear un plan de mantenimiento para cada vehículo a un determinado kilometraje. Coordinar </a:t>
            </a:r>
            <a:r>
              <a:rPr lang="es-CL" sz="2200" dirty="0">
                <a:latin typeface="Arial" panose="020B0604020202020204" pitchFamily="34" charset="0"/>
                <a:cs typeface="Arial" panose="020B0604020202020204" pitchFamily="34" charset="0"/>
              </a:rPr>
              <a:t>las tareas de mantenimiento preventivo en el momento que sea mejor para el flujo de producción</a:t>
            </a:r>
            <a:r>
              <a:rPr lang="es-CL" sz="2200" dirty="0" smtClean="0">
                <a:latin typeface="Arial" panose="020B0604020202020204" pitchFamily="34" charset="0"/>
                <a:cs typeface="Arial" panose="020B0604020202020204" pitchFamily="34" charset="0"/>
              </a:rPr>
              <a:t>.</a:t>
            </a:r>
            <a:endParaRPr lang="es-CL"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0024751"/>
      </p:ext>
    </p:extLst>
  </p:cSld>
  <p:clrMapOvr>
    <a:masterClrMapping/>
  </p:clrMapOvr>
  <p:timing>
    <p:tnLst>
      <p:par>
        <p:cTn id="1" dur="indefinite" restart="never" nodeType="tmRoot"/>
      </p:par>
    </p:tnLst>
  </p:timing>
</p:sld>
</file>

<file path=ppt/theme/theme1.xml><?xml version="1.0" encoding="utf-8"?>
<a:theme xmlns:a="http://schemas.openxmlformats.org/drawingml/2006/main" name="Espiral">
  <a:themeElements>
    <a:clrScheme name="Espiral">
      <a:dk1>
        <a:sysClr val="windowText" lastClr="000000"/>
      </a:dk1>
      <a:lt1>
        <a:sysClr val="window" lastClr="FFFFFF"/>
      </a:lt1>
      <a:dk2>
        <a:srgbClr val="2C333A"/>
      </a:dk2>
      <a:lt2>
        <a:srgbClr val="D6ECED"/>
      </a:lt2>
      <a:accent1>
        <a:srgbClr val="DE32DE"/>
      </a:accent1>
      <a:accent2>
        <a:srgbClr val="F42B8A"/>
      </a:accent2>
      <a:accent3>
        <a:srgbClr val="349FE7"/>
      </a:accent3>
      <a:accent4>
        <a:srgbClr val="565FF8"/>
      </a:accent4>
      <a:accent5>
        <a:srgbClr val="876BE7"/>
      </a:accent5>
      <a:accent6>
        <a:srgbClr val="F268C2"/>
      </a:accent6>
      <a:hlink>
        <a:srgbClr val="F55CF9"/>
      </a:hlink>
      <a:folHlink>
        <a:srgbClr val="E8A0EE"/>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F20B7C8E-B819-43F3-AAF9-EE50B1A8363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A2A84260D04624A8B717A5811981AC4" ma:contentTypeVersion="16" ma:contentTypeDescription="Create a new document." ma:contentTypeScope="" ma:versionID="78ec2117f7e2a26e85b2e503ca3368cf">
  <xsd:schema xmlns:xsd="http://www.w3.org/2001/XMLSchema" xmlns:xs="http://www.w3.org/2001/XMLSchema" xmlns:p="http://schemas.microsoft.com/office/2006/metadata/properties" xmlns:ns3="044690ba-3bcd-4bf0-9bed-6c935b699a1b" xmlns:ns4="e18e1d99-ad59-48f1-b4b7-e09c670c4281" targetNamespace="http://schemas.microsoft.com/office/2006/metadata/properties" ma:root="true" ma:fieldsID="bd91240d1f551a398bc54852b2baaade" ns3:_="" ns4:_="">
    <xsd:import namespace="044690ba-3bcd-4bf0-9bed-6c935b699a1b"/>
    <xsd:import namespace="e18e1d99-ad59-48f1-b4b7-e09c670c428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AutoKeyPoints" minOccurs="0"/>
                <xsd:element ref="ns4:MediaServiceKeyPoints" minOccurs="0"/>
                <xsd:element ref="ns4:MediaServiceLocation" minOccurs="0"/>
                <xsd:element ref="ns4:MediaServiceGenerationTime" minOccurs="0"/>
                <xsd:element ref="ns4:MediaServiceEventHashCode" minOccurs="0"/>
                <xsd:element ref="ns4:_activity" minOccurs="0"/>
                <xsd:element ref="ns4:MediaServiceOCR"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4690ba-3bcd-4bf0-9bed-6c935b699a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8e1d99-ad59-48f1-b4b7-e09c670c428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18e1d99-ad59-48f1-b4b7-e09c670c4281" xsi:nil="true"/>
  </documentManagement>
</p:properties>
</file>

<file path=customXml/itemProps1.xml><?xml version="1.0" encoding="utf-8"?>
<ds:datastoreItem xmlns:ds="http://schemas.openxmlformats.org/officeDocument/2006/customXml" ds:itemID="{CAA8A3B3-4AE0-4A4B-B7C7-6305818128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4690ba-3bcd-4bf0-9bed-6c935b699a1b"/>
    <ds:schemaRef ds:uri="e18e1d99-ad59-48f1-b4b7-e09c670c42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CD2E0C6-02D9-4725-AA2D-08585DAEFECD}">
  <ds:schemaRefs>
    <ds:schemaRef ds:uri="http://schemas.microsoft.com/sharepoint/v3/contenttype/forms"/>
  </ds:schemaRefs>
</ds:datastoreItem>
</file>

<file path=customXml/itemProps3.xml><?xml version="1.0" encoding="utf-8"?>
<ds:datastoreItem xmlns:ds="http://schemas.openxmlformats.org/officeDocument/2006/customXml" ds:itemID="{1E3AC9BC-3A48-41FB-89C8-97DFFCFF99CC}">
  <ds:schemaRefs>
    <ds:schemaRef ds:uri="http://purl.org/dc/terms/"/>
    <ds:schemaRef ds:uri="http://purl.org/dc/dcmitype/"/>
    <ds:schemaRef ds:uri="http://schemas.microsoft.com/office/infopath/2007/PartnerControls"/>
    <ds:schemaRef ds:uri="e18e1d99-ad59-48f1-b4b7-e09c670c4281"/>
    <ds:schemaRef ds:uri="http://schemas.microsoft.com/office/2006/documentManagement/types"/>
    <ds:schemaRef ds:uri="http://www.w3.org/XML/1998/namespace"/>
    <ds:schemaRef ds:uri="http://purl.org/dc/elements/1.1/"/>
    <ds:schemaRef ds:uri="http://schemas.openxmlformats.org/package/2006/metadata/core-properties"/>
    <ds:schemaRef ds:uri="044690ba-3bcd-4bf0-9bed-6c935b699a1b"/>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Wisp</Template>
  <TotalTime>124</TotalTime>
  <Words>578</Words>
  <Application>Microsoft Office PowerPoint</Application>
  <PresentationFormat>Panorámica</PresentationFormat>
  <Paragraphs>28</Paragraphs>
  <Slides>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Arial</vt:lpstr>
      <vt:lpstr>Century Gothic</vt:lpstr>
      <vt:lpstr>Wingdings 3</vt:lpstr>
      <vt:lpstr>Espiral</vt:lpstr>
      <vt:lpstr>Plan mantenimiento automotriz</vt:lpstr>
      <vt:lpstr>Definición proyecto:</vt:lpstr>
      <vt:lpstr>Tema de investigación, nociones matemáticas y problemática a abordar: </vt:lpstr>
      <vt:lpstr>Objetivos y preguntas de investigación:  </vt:lpstr>
      <vt:lpstr>Temas iniciales involucrados:</vt:lpstr>
      <vt:lpstr>Cronograma y materiales a utilizar:</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 Nombre del proyecto, integrantes, profesor, asignatura y carrera</dc:title>
  <dc:creator>GISELLE ANGELICA MORA OCARES</dc:creator>
  <cp:lastModifiedBy>Erika</cp:lastModifiedBy>
  <cp:revision>22</cp:revision>
  <dcterms:created xsi:type="dcterms:W3CDTF">2023-08-31T16:26:40Z</dcterms:created>
  <dcterms:modified xsi:type="dcterms:W3CDTF">2023-11-17T02:56:21Z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0x0101003A2A84260D04624A8B717A5811981AC4</vt:lpwstr>
  </property>
</Properties>
</file>