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11/16/2023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‹Nº›</a:t>
            </a:fld>
            <a:endParaRPr lang="en-US"/>
          </a:p>
        </p:txBody>
      </p:sp>
    </p:spTree>
    <p:extLst>
      <p:ext uri="{BB962C8B-B14F-4D97-AF65-F5344CB8AC3E}">
        <p14:creationId xmlns:p14="http://schemas.microsoft.com/office/powerpoint/2010/main" val="226940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11/16/2023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080394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11/16/2023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899057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11/16/2023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15740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11/16/2023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71790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11/16/2023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4126166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11/16/2023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86684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11/16/2023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272190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11/16/2023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53372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11/16/2023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00593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11/16/2023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42490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11/16/2023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‹Nº›</a:t>
            </a:fld>
            <a:endParaRPr lang="en-US" dirty="0"/>
          </a:p>
        </p:txBody>
      </p:sp>
    </p:spTree>
    <p:extLst>
      <p:ext uri="{BB962C8B-B14F-4D97-AF65-F5344CB8AC3E}">
        <p14:creationId xmlns:p14="http://schemas.microsoft.com/office/powerpoint/2010/main" val="2140701549"/>
      </p:ext>
    </p:extLst>
  </p:cSld>
  <p:clrMap bg1="lt1" tx1="dk1" bg2="lt2" tx2="dk2" accent1="accent1" accent2="accent2" accent3="accent3" accent4="accent4" accent5="accent5" accent6="accent6" hlink="hlink" folHlink="folHlink"/>
  <p:sldLayoutIdLst>
    <p:sldLayoutId id="2147483715" r:id="rId1"/>
    <p:sldLayoutId id="2147483705" r:id="rId2"/>
    <p:sldLayoutId id="2147483706" r:id="rId3"/>
    <p:sldLayoutId id="2147483707" r:id="rId4"/>
    <p:sldLayoutId id="2147483708" r:id="rId5"/>
    <p:sldLayoutId id="2147483709" r:id="rId6"/>
    <p:sldLayoutId id="2147483710" r:id="rId7"/>
    <p:sldLayoutId id="2147483714" r:id="rId8"/>
    <p:sldLayoutId id="2147483711" r:id="rId9"/>
    <p:sldLayoutId id="2147483712" r:id="rId10"/>
    <p:sldLayoutId id="2147483713"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2">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ncepto genético abstracto">
            <a:extLst>
              <a:ext uri="{FF2B5EF4-FFF2-40B4-BE49-F238E27FC236}">
                <a16:creationId xmlns:a16="http://schemas.microsoft.com/office/drawing/2014/main" id="{9DEEC85A-A92E-48C5-7ACC-EE3B1154D58B}"/>
              </a:ext>
            </a:extLst>
          </p:cNvPr>
          <p:cNvPicPr>
            <a:picLocks noChangeAspect="1"/>
          </p:cNvPicPr>
          <p:nvPr/>
        </p:nvPicPr>
        <p:blipFill rotWithShape="1">
          <a:blip r:embed="rId3">
            <a:alphaModFix amt="70000"/>
          </a:blip>
          <a:srcRect t="25612" r="-1" b="18134"/>
          <a:stretch/>
        </p:blipFill>
        <p:spPr>
          <a:xfrm>
            <a:off x="20" y="10"/>
            <a:ext cx="12188932" cy="6856614"/>
          </a:xfrm>
          <a:prstGeom prst="rect">
            <a:avLst/>
          </a:prstGeom>
        </p:spPr>
      </p:pic>
      <p:sp>
        <p:nvSpPr>
          <p:cNvPr id="2" name="Título 1">
            <a:extLst>
              <a:ext uri="{FF2B5EF4-FFF2-40B4-BE49-F238E27FC236}">
                <a16:creationId xmlns:a16="http://schemas.microsoft.com/office/drawing/2014/main" id="{04BDC116-B44B-31FE-930B-68933584D6D1}"/>
              </a:ext>
            </a:extLst>
          </p:cNvPr>
          <p:cNvSpPr>
            <a:spLocks noGrp="1"/>
          </p:cNvSpPr>
          <p:nvPr>
            <p:ph type="ctrTitle"/>
          </p:nvPr>
        </p:nvSpPr>
        <p:spPr>
          <a:xfrm>
            <a:off x="996275" y="744909"/>
            <a:ext cx="10190071" cy="3145855"/>
          </a:xfrm>
        </p:spPr>
        <p:txBody>
          <a:bodyPr anchor="b">
            <a:normAutofit/>
          </a:bodyPr>
          <a:lstStyle/>
          <a:p>
            <a:r>
              <a:rPr lang="es-MX" sz="5200" dirty="0">
                <a:solidFill>
                  <a:srgbClr val="FFFFFF"/>
                </a:solidFill>
              </a:rPr>
              <a:t>La contaminación de la motorización a combustión </a:t>
            </a:r>
          </a:p>
        </p:txBody>
      </p:sp>
      <p:sp>
        <p:nvSpPr>
          <p:cNvPr id="3" name="Subtítulo 2">
            <a:extLst>
              <a:ext uri="{FF2B5EF4-FFF2-40B4-BE49-F238E27FC236}">
                <a16:creationId xmlns:a16="http://schemas.microsoft.com/office/drawing/2014/main" id="{41548898-8352-E855-8C14-D3ED08BC9F59}"/>
              </a:ext>
            </a:extLst>
          </p:cNvPr>
          <p:cNvSpPr>
            <a:spLocks noGrp="1"/>
          </p:cNvSpPr>
          <p:nvPr>
            <p:ph type="subTitle" idx="1"/>
          </p:nvPr>
        </p:nvSpPr>
        <p:spPr>
          <a:xfrm>
            <a:off x="1218708" y="4069780"/>
            <a:ext cx="9781327" cy="2056617"/>
          </a:xfrm>
        </p:spPr>
        <p:txBody>
          <a:bodyPr anchor="t">
            <a:normAutofit fontScale="70000" lnSpcReduction="20000"/>
          </a:bodyPr>
          <a:lstStyle/>
          <a:p>
            <a:pPr algn="l"/>
            <a:r>
              <a:rPr lang="es-MX" sz="2200" dirty="0">
                <a:solidFill>
                  <a:srgbClr val="FFFFFF"/>
                </a:solidFill>
              </a:rPr>
              <a:t>Integrantes: Matias Gutierrez</a:t>
            </a:r>
          </a:p>
          <a:p>
            <a:pPr algn="l"/>
            <a:r>
              <a:rPr lang="es-MX" sz="2200" dirty="0">
                <a:solidFill>
                  <a:srgbClr val="FFFFFF"/>
                </a:solidFill>
              </a:rPr>
              <a:t>                       Raul Moncada</a:t>
            </a:r>
          </a:p>
          <a:p>
            <a:pPr algn="l"/>
            <a:r>
              <a:rPr lang="es-MX" sz="2200" dirty="0">
                <a:solidFill>
                  <a:srgbClr val="FFFFFF"/>
                </a:solidFill>
              </a:rPr>
              <a:t>                       Claudio Neira</a:t>
            </a:r>
          </a:p>
          <a:p>
            <a:pPr algn="l"/>
            <a:r>
              <a:rPr lang="es-MX" sz="2200" dirty="0">
                <a:solidFill>
                  <a:srgbClr val="FFFFFF"/>
                </a:solidFill>
              </a:rPr>
              <a:t>Profesor: Lissette Salamanca</a:t>
            </a:r>
          </a:p>
          <a:p>
            <a:pPr algn="l"/>
            <a:r>
              <a:rPr lang="es-MX" sz="2200" dirty="0">
                <a:solidFill>
                  <a:srgbClr val="FFFFFF"/>
                </a:solidFill>
              </a:rPr>
              <a:t>Asignatura: Funciones y Geometría</a:t>
            </a:r>
          </a:p>
          <a:p>
            <a:pPr algn="l"/>
            <a:r>
              <a:rPr lang="es-MX" sz="2200" dirty="0">
                <a:solidFill>
                  <a:srgbClr val="FFFFFF"/>
                </a:solidFill>
              </a:rPr>
              <a:t>Carrera: Ingeniería Mecánica y Electromovilidad Automotriz</a:t>
            </a:r>
          </a:p>
        </p:txBody>
      </p:sp>
    </p:spTree>
    <p:extLst>
      <p:ext uri="{BB962C8B-B14F-4D97-AF65-F5344CB8AC3E}">
        <p14:creationId xmlns:p14="http://schemas.microsoft.com/office/powerpoint/2010/main" val="201593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8CD9C-B8D1-5EC8-2278-75E5DAC85231}"/>
              </a:ext>
            </a:extLst>
          </p:cNvPr>
          <p:cNvSpPr>
            <a:spLocks noGrp="1"/>
          </p:cNvSpPr>
          <p:nvPr>
            <p:ph type="title"/>
          </p:nvPr>
        </p:nvSpPr>
        <p:spPr/>
        <p:txBody>
          <a:bodyPr/>
          <a:lstStyle/>
          <a:p>
            <a:r>
              <a:rPr lang="es-MX" dirty="0"/>
              <a:t>Definición del proyecto</a:t>
            </a:r>
          </a:p>
        </p:txBody>
      </p:sp>
      <p:sp>
        <p:nvSpPr>
          <p:cNvPr id="3" name="Marcador de contenido 2">
            <a:extLst>
              <a:ext uri="{FF2B5EF4-FFF2-40B4-BE49-F238E27FC236}">
                <a16:creationId xmlns:a16="http://schemas.microsoft.com/office/drawing/2014/main" id="{814D245C-89AE-37D8-EF04-935E68DEF985}"/>
              </a:ext>
            </a:extLst>
          </p:cNvPr>
          <p:cNvSpPr>
            <a:spLocks noGrp="1"/>
          </p:cNvSpPr>
          <p:nvPr>
            <p:ph idx="1"/>
          </p:nvPr>
        </p:nvSpPr>
        <p:spPr/>
        <p:txBody>
          <a:bodyPr>
            <a:normAutofit lnSpcReduction="10000"/>
          </a:bodyPr>
          <a:lstStyle/>
          <a:p>
            <a:r>
              <a:rPr lang="es-MX" dirty="0"/>
              <a:t>Una de nuestras grandes problemáticas que estamos sufriendo en Chile y en el resto del mundo es la contaminación por todo transporte que sea propulsado por un motor a combustión interna ya que los gases que emana al ambiente son muy tóxicos los cuales son perjudiciales para la salud humana. Buscamos que la gente se dé cuenta de lo perjudicial que son estos motores a combustión y que busquen nuevas opciones de traslado, como lo está haciendo hoy en día la masificación de vehículos eléctricos. </a:t>
            </a:r>
          </a:p>
        </p:txBody>
      </p:sp>
    </p:spTree>
    <p:extLst>
      <p:ext uri="{BB962C8B-B14F-4D97-AF65-F5344CB8AC3E}">
        <p14:creationId xmlns:p14="http://schemas.microsoft.com/office/powerpoint/2010/main" val="39287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A49779-8257-291A-28D8-8D4F3BB27587}"/>
              </a:ext>
            </a:extLst>
          </p:cNvPr>
          <p:cNvSpPr>
            <a:spLocks noGrp="1"/>
          </p:cNvSpPr>
          <p:nvPr>
            <p:ph type="title"/>
          </p:nvPr>
        </p:nvSpPr>
        <p:spPr/>
        <p:txBody>
          <a:bodyPr>
            <a:normAutofit fontScale="90000"/>
          </a:bodyPr>
          <a:lstStyle/>
          <a:p>
            <a:r>
              <a:rPr lang="es-MX" dirty="0"/>
              <a:t>Tema de investigación, nociones matemáticas y problemática a abordar.</a:t>
            </a:r>
          </a:p>
        </p:txBody>
      </p:sp>
      <p:sp>
        <p:nvSpPr>
          <p:cNvPr id="3" name="Marcador de contenido 2">
            <a:extLst>
              <a:ext uri="{FF2B5EF4-FFF2-40B4-BE49-F238E27FC236}">
                <a16:creationId xmlns:a16="http://schemas.microsoft.com/office/drawing/2014/main" id="{12230E9C-E14D-6864-B6E3-9A595325D796}"/>
              </a:ext>
            </a:extLst>
          </p:cNvPr>
          <p:cNvSpPr>
            <a:spLocks noGrp="1"/>
          </p:cNvSpPr>
          <p:nvPr>
            <p:ph idx="1"/>
          </p:nvPr>
        </p:nvSpPr>
        <p:spPr/>
        <p:txBody>
          <a:bodyPr>
            <a:normAutofit lnSpcReduction="10000"/>
          </a:bodyPr>
          <a:lstStyle/>
          <a:p>
            <a:r>
              <a:rPr lang="es-MX" dirty="0"/>
              <a:t>Estudio de Casos: Análisis de casos de la venta de vehículos híbridos y eléctrico y como se a incrementado durante la integración al mercado automotriz, buscando la rentabilidad de un auto eléctrico o hibrido en comparación a uno de combustión interna.</a:t>
            </a:r>
          </a:p>
          <a:p>
            <a:r>
              <a:rPr lang="es-MX" dirty="0"/>
              <a:t>Nociones matemáticas: Estadística, porcentajes, gráficos, cálculo matemático.</a:t>
            </a:r>
          </a:p>
          <a:p>
            <a:r>
              <a:rPr lang="es-MX" dirty="0"/>
              <a:t>Impacto Financiero y Emocional: Evaluación del impacto financiero en el mercado automotriz.</a:t>
            </a:r>
          </a:p>
        </p:txBody>
      </p:sp>
    </p:spTree>
    <p:extLst>
      <p:ext uri="{BB962C8B-B14F-4D97-AF65-F5344CB8AC3E}">
        <p14:creationId xmlns:p14="http://schemas.microsoft.com/office/powerpoint/2010/main" val="334543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764097-11CA-35D7-0913-D36F4FCD0FBA}"/>
              </a:ext>
            </a:extLst>
          </p:cNvPr>
          <p:cNvSpPr>
            <a:spLocks noGrp="1"/>
          </p:cNvSpPr>
          <p:nvPr>
            <p:ph type="title"/>
          </p:nvPr>
        </p:nvSpPr>
        <p:spPr/>
        <p:txBody>
          <a:bodyPr>
            <a:normAutofit fontScale="90000"/>
          </a:bodyPr>
          <a:lstStyle/>
          <a:p>
            <a:r>
              <a:rPr lang="es-MX" dirty="0"/>
              <a:t>Objetivos y preguntas de investigación </a:t>
            </a:r>
          </a:p>
        </p:txBody>
      </p:sp>
      <p:sp>
        <p:nvSpPr>
          <p:cNvPr id="3" name="Marcador de contenido 2">
            <a:extLst>
              <a:ext uri="{FF2B5EF4-FFF2-40B4-BE49-F238E27FC236}">
                <a16:creationId xmlns:a16="http://schemas.microsoft.com/office/drawing/2014/main" id="{90C6DB3D-0F4B-206A-AB35-26F0C1C42CB0}"/>
              </a:ext>
            </a:extLst>
          </p:cNvPr>
          <p:cNvSpPr>
            <a:spLocks noGrp="1"/>
          </p:cNvSpPr>
          <p:nvPr>
            <p:ph idx="1"/>
          </p:nvPr>
        </p:nvSpPr>
        <p:spPr/>
        <p:txBody>
          <a:bodyPr>
            <a:normAutofit fontScale="92500" lnSpcReduction="10000"/>
          </a:bodyPr>
          <a:lstStyle/>
          <a:p>
            <a:r>
              <a:rPr lang="es-MX" dirty="0"/>
              <a:t>Investigar y analizar el incremento en las ventas desde que se incorporaron los vehículos eléctricos e hibrido al mercado automotriz, además de buscar la rentabilidad de estos.</a:t>
            </a:r>
          </a:p>
          <a:p>
            <a:r>
              <a:rPr lang="es-MX" dirty="0"/>
              <a:t>¿Cuál es la magnitud de las ventas en la economía nacional?</a:t>
            </a:r>
          </a:p>
          <a:p>
            <a:r>
              <a:rPr lang="es-MX" dirty="0"/>
              <a:t>¿Cuáles son los principales beneficios al tener un vehículo eléctrico o hibrido en el día a día?</a:t>
            </a:r>
          </a:p>
          <a:p>
            <a:r>
              <a:rPr lang="es-MX" dirty="0"/>
              <a:t>¿Cuál es la rentabilidad de comprar un vehículo eléctrico o hibrido en comparación si uno compra un vehículo de combustión interna?</a:t>
            </a:r>
          </a:p>
          <a:p>
            <a:endParaRPr lang="es-MX" dirty="0"/>
          </a:p>
        </p:txBody>
      </p:sp>
    </p:spTree>
    <p:extLst>
      <p:ext uri="{BB962C8B-B14F-4D97-AF65-F5344CB8AC3E}">
        <p14:creationId xmlns:p14="http://schemas.microsoft.com/office/powerpoint/2010/main" val="3760144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F3822-21E1-7325-C60E-5D4CFC57503A}"/>
              </a:ext>
            </a:extLst>
          </p:cNvPr>
          <p:cNvSpPr>
            <a:spLocks noGrp="1"/>
          </p:cNvSpPr>
          <p:nvPr>
            <p:ph type="title"/>
          </p:nvPr>
        </p:nvSpPr>
        <p:spPr/>
        <p:txBody>
          <a:bodyPr/>
          <a:lstStyle/>
          <a:p>
            <a:r>
              <a:rPr lang="es-MX" dirty="0"/>
              <a:t>Temas iniciales involucrado </a:t>
            </a:r>
          </a:p>
        </p:txBody>
      </p:sp>
      <p:sp>
        <p:nvSpPr>
          <p:cNvPr id="3" name="Marcador de contenido 2">
            <a:extLst>
              <a:ext uri="{FF2B5EF4-FFF2-40B4-BE49-F238E27FC236}">
                <a16:creationId xmlns:a16="http://schemas.microsoft.com/office/drawing/2014/main" id="{8A2537EB-1720-295F-4043-616DE3988AE6}"/>
              </a:ext>
            </a:extLst>
          </p:cNvPr>
          <p:cNvSpPr>
            <a:spLocks noGrp="1"/>
          </p:cNvSpPr>
          <p:nvPr>
            <p:ph idx="1"/>
          </p:nvPr>
        </p:nvSpPr>
        <p:spPr/>
        <p:txBody>
          <a:bodyPr/>
          <a:lstStyle/>
          <a:p>
            <a:r>
              <a:rPr lang="es-MX" dirty="0"/>
              <a:t>Explorar las razones por las cuales los vehículos eléctricos e híbridos han tomado mas el peso en el mercado automotriz.</a:t>
            </a:r>
          </a:p>
          <a:p>
            <a:r>
              <a:rPr lang="es-MX" dirty="0"/>
              <a:t>Investigar y graficar la cantidad de vehículos eléctricos e híbridos vendidos desde que se incrementaron en el mercado automotriz.</a:t>
            </a:r>
          </a:p>
          <a:p>
            <a:r>
              <a:rPr lang="es-MX" dirty="0"/>
              <a:t>Planificar estrategias de difusión para la compra de vehículos eléctricos o híbridos ya que asi uno puede ayudar a contaminar menos.</a:t>
            </a:r>
          </a:p>
        </p:txBody>
      </p:sp>
    </p:spTree>
    <p:extLst>
      <p:ext uri="{BB962C8B-B14F-4D97-AF65-F5344CB8AC3E}">
        <p14:creationId xmlns:p14="http://schemas.microsoft.com/office/powerpoint/2010/main" val="159240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43483E-AA57-839F-3245-948C8FB54C91}"/>
              </a:ext>
            </a:extLst>
          </p:cNvPr>
          <p:cNvSpPr>
            <a:spLocks noGrp="1"/>
          </p:cNvSpPr>
          <p:nvPr>
            <p:ph type="title"/>
          </p:nvPr>
        </p:nvSpPr>
        <p:spPr/>
        <p:txBody>
          <a:bodyPr/>
          <a:lstStyle/>
          <a:p>
            <a:r>
              <a:rPr lang="es-MX" dirty="0"/>
              <a:t>Cronograma y materiales a utilizar</a:t>
            </a:r>
          </a:p>
        </p:txBody>
      </p:sp>
      <p:sp>
        <p:nvSpPr>
          <p:cNvPr id="6" name="Marcador de contenido 5">
            <a:extLst>
              <a:ext uri="{FF2B5EF4-FFF2-40B4-BE49-F238E27FC236}">
                <a16:creationId xmlns:a16="http://schemas.microsoft.com/office/drawing/2014/main" id="{54C17FCE-CB5B-44C7-9427-3CA4D353AD4F}"/>
              </a:ext>
            </a:extLst>
          </p:cNvPr>
          <p:cNvSpPr>
            <a:spLocks noGrp="1"/>
          </p:cNvSpPr>
          <p:nvPr>
            <p:ph idx="1"/>
          </p:nvPr>
        </p:nvSpPr>
        <p:spPr/>
        <p:txBody>
          <a:bodyPr/>
          <a:lstStyle/>
          <a:p>
            <a:r>
              <a:rPr lang="es-MX" dirty="0"/>
              <a:t>Tareas</a:t>
            </a:r>
          </a:p>
          <a:p>
            <a:pPr marL="0" indent="0">
              <a:buNone/>
            </a:pPr>
            <a:r>
              <a:rPr lang="es-MX" dirty="0"/>
              <a:t>¿Qué haremos?</a:t>
            </a:r>
          </a:p>
          <a:p>
            <a:pPr marL="514350" indent="-514350">
              <a:buAutoNum type="arabicPeriod"/>
            </a:pPr>
            <a:r>
              <a:rPr lang="es-MX" dirty="0"/>
              <a:t>Revisión de estadísticas del incremento en ventas.</a:t>
            </a:r>
          </a:p>
          <a:p>
            <a:pPr marL="514350" indent="-514350">
              <a:buAutoNum type="arabicPeriod"/>
            </a:pPr>
            <a:r>
              <a:rPr lang="es-MX" dirty="0"/>
              <a:t>Buscar la rentabilidad de un vehículo eléctrico e hibrido en el día a día.</a:t>
            </a:r>
          </a:p>
          <a:p>
            <a:pPr marL="514350" indent="-514350">
              <a:buAutoNum type="arabicPeriod"/>
            </a:pPr>
            <a:r>
              <a:rPr lang="es-MX" dirty="0"/>
              <a:t>Selección y formación de equipos de trabajo.</a:t>
            </a:r>
          </a:p>
        </p:txBody>
      </p:sp>
    </p:spTree>
    <p:extLst>
      <p:ext uri="{BB962C8B-B14F-4D97-AF65-F5344CB8AC3E}">
        <p14:creationId xmlns:p14="http://schemas.microsoft.com/office/powerpoint/2010/main" val="3953127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FD3BB1-29D1-7C7B-35AE-8B8AB8093EB3}"/>
              </a:ext>
            </a:extLst>
          </p:cNvPr>
          <p:cNvSpPr>
            <a:spLocks noGrp="1"/>
          </p:cNvSpPr>
          <p:nvPr>
            <p:ph type="title"/>
          </p:nvPr>
        </p:nvSpPr>
        <p:spPr/>
        <p:txBody>
          <a:bodyPr/>
          <a:lstStyle/>
          <a:p>
            <a:endParaRPr lang="es-MX" dirty="0"/>
          </a:p>
        </p:txBody>
      </p:sp>
      <p:sp>
        <p:nvSpPr>
          <p:cNvPr id="3" name="Marcador de contenido 2">
            <a:extLst>
              <a:ext uri="{FF2B5EF4-FFF2-40B4-BE49-F238E27FC236}">
                <a16:creationId xmlns:a16="http://schemas.microsoft.com/office/drawing/2014/main" id="{62BB0937-2C9A-346A-A318-2455FE421280}"/>
              </a:ext>
            </a:extLst>
          </p:cNvPr>
          <p:cNvSpPr>
            <a:spLocks noGrp="1"/>
          </p:cNvSpPr>
          <p:nvPr>
            <p:ph idx="1"/>
          </p:nvPr>
        </p:nvSpPr>
        <p:spPr/>
        <p:txBody>
          <a:bodyPr>
            <a:noAutofit/>
          </a:bodyPr>
          <a:lstStyle/>
          <a:p>
            <a:r>
              <a:rPr lang="es-MX" sz="1800" dirty="0"/>
              <a:t>Productos</a:t>
            </a:r>
          </a:p>
          <a:p>
            <a:pPr marL="0" indent="0">
              <a:buNone/>
            </a:pPr>
            <a:r>
              <a:rPr lang="es-MX" sz="1800" dirty="0"/>
              <a:t>Que resultados tendremos</a:t>
            </a:r>
          </a:p>
          <a:p>
            <a:pPr marL="514350" indent="-514350">
              <a:buAutoNum type="arabicPeriod"/>
            </a:pPr>
            <a:r>
              <a:rPr lang="es-MX" sz="1800" dirty="0"/>
              <a:t>Menor porcentaje de contaminación.</a:t>
            </a:r>
          </a:p>
          <a:p>
            <a:pPr marL="514350" indent="-514350">
              <a:buAutoNum type="arabicPeriod"/>
            </a:pPr>
            <a:r>
              <a:rPr lang="es-MX" sz="1800" dirty="0"/>
              <a:t>Precio de la recarga y autonomía.</a:t>
            </a:r>
          </a:p>
          <a:p>
            <a:pPr marL="514350" indent="-514350">
              <a:buAutoNum type="arabicPeriod"/>
            </a:pPr>
            <a:r>
              <a:rPr lang="es-MX" sz="1800" dirty="0"/>
              <a:t>Investigación sobre el estado financiero en la compra de vehículos eléctricos e híbridos.</a:t>
            </a:r>
          </a:p>
          <a:p>
            <a:pPr marL="514350" indent="-514350">
              <a:buAutoNum type="arabicPeriod"/>
            </a:pPr>
            <a:r>
              <a:rPr lang="es-MX" sz="1800" dirty="0"/>
              <a:t>Rebaja en el permiso de circulación:</a:t>
            </a:r>
          </a:p>
          <a:p>
            <a:r>
              <a:rPr lang="es-MX" sz="1800" dirty="0"/>
              <a:t>Primero dos años el permiso de circulación totalmente gratis</a:t>
            </a:r>
          </a:p>
          <a:p>
            <a:r>
              <a:rPr lang="es-MX" sz="1800" dirty="0"/>
              <a:t>Tercer y cuarto 25% del permiso de circulación</a:t>
            </a:r>
          </a:p>
          <a:p>
            <a:r>
              <a:rPr lang="es-MX" sz="1800" dirty="0"/>
              <a:t>Quinto y sexto año 50% del permiso de circulación</a:t>
            </a:r>
          </a:p>
          <a:p>
            <a:r>
              <a:rPr lang="es-MX" sz="1800" dirty="0"/>
              <a:t>Séptimo y octavo año 75% del permiso de circulación</a:t>
            </a:r>
          </a:p>
        </p:txBody>
      </p:sp>
    </p:spTree>
    <p:extLst>
      <p:ext uri="{BB962C8B-B14F-4D97-AF65-F5344CB8AC3E}">
        <p14:creationId xmlns:p14="http://schemas.microsoft.com/office/powerpoint/2010/main" val="219220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C65DCD-EAFB-FFB3-4B45-BC3EFFD9E14E}"/>
              </a:ext>
            </a:extLst>
          </p:cNvPr>
          <p:cNvSpPr>
            <a:spLocks noGrp="1"/>
          </p:cNvSpPr>
          <p:nvPr>
            <p:ph type="title"/>
          </p:nvPr>
        </p:nvSpPr>
        <p:spPr/>
        <p:txBody>
          <a:bodyPr/>
          <a:lstStyle/>
          <a:p>
            <a:endParaRPr lang="es-MX" dirty="0"/>
          </a:p>
        </p:txBody>
      </p:sp>
      <p:sp>
        <p:nvSpPr>
          <p:cNvPr id="3" name="Marcador de contenido 2">
            <a:extLst>
              <a:ext uri="{FF2B5EF4-FFF2-40B4-BE49-F238E27FC236}">
                <a16:creationId xmlns:a16="http://schemas.microsoft.com/office/drawing/2014/main" id="{F595FCAA-6465-557C-2470-A3D2CFDFFF81}"/>
              </a:ext>
            </a:extLst>
          </p:cNvPr>
          <p:cNvSpPr>
            <a:spLocks noGrp="1"/>
          </p:cNvSpPr>
          <p:nvPr>
            <p:ph idx="1"/>
          </p:nvPr>
        </p:nvSpPr>
        <p:spPr/>
        <p:txBody>
          <a:bodyPr/>
          <a:lstStyle/>
          <a:p>
            <a:r>
              <a:rPr lang="es-MX" dirty="0"/>
              <a:t>Plazos</a:t>
            </a:r>
          </a:p>
          <a:p>
            <a:pPr marL="0" indent="0">
              <a:buNone/>
            </a:pPr>
            <a:r>
              <a:rPr lang="es-MX" dirty="0"/>
              <a:t>Para cuando estan hechos</a:t>
            </a:r>
          </a:p>
          <a:p>
            <a:pPr marL="514350" indent="-514350">
              <a:buAutoNum type="arabicPeriod"/>
            </a:pPr>
            <a:r>
              <a:rPr lang="es-MX" dirty="0"/>
              <a:t>1-2 Semanas: Investigación. </a:t>
            </a:r>
          </a:p>
          <a:p>
            <a:pPr marL="514350" indent="-514350">
              <a:buAutoNum type="arabicPeriod"/>
            </a:pPr>
            <a:r>
              <a:rPr lang="es-MX" dirty="0"/>
              <a:t>3-4 Semanas: Planificación.</a:t>
            </a:r>
          </a:p>
          <a:p>
            <a:pPr marL="514350" indent="-514350">
              <a:buAutoNum type="arabicPeriod"/>
            </a:pPr>
            <a:r>
              <a:rPr lang="es-MX" dirty="0"/>
              <a:t>5-6 Semanas: Ejecución.</a:t>
            </a:r>
          </a:p>
        </p:txBody>
      </p:sp>
    </p:spTree>
    <p:extLst>
      <p:ext uri="{BB962C8B-B14F-4D97-AF65-F5344CB8AC3E}">
        <p14:creationId xmlns:p14="http://schemas.microsoft.com/office/powerpoint/2010/main" val="234599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CE8B2A-5377-36A3-CD33-9834B723D94F}"/>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6EEE0BDF-CA44-3E79-F7A3-FD6E0A395502}"/>
              </a:ext>
            </a:extLst>
          </p:cNvPr>
          <p:cNvSpPr>
            <a:spLocks noGrp="1"/>
          </p:cNvSpPr>
          <p:nvPr>
            <p:ph idx="1"/>
          </p:nvPr>
        </p:nvSpPr>
        <p:spPr/>
        <p:txBody>
          <a:bodyPr/>
          <a:lstStyle/>
          <a:p>
            <a:r>
              <a:rPr lang="es-MX" dirty="0"/>
              <a:t>Responsables</a:t>
            </a:r>
          </a:p>
          <a:p>
            <a:pPr marL="0" indent="0">
              <a:buNone/>
            </a:pPr>
            <a:r>
              <a:rPr lang="es-MX" dirty="0"/>
              <a:t>¿Quién o quiénes lo harán?</a:t>
            </a:r>
          </a:p>
          <a:p>
            <a:pPr marL="514350" indent="-514350">
              <a:buAutoNum type="arabicPeriod"/>
            </a:pPr>
            <a:r>
              <a:rPr lang="es-MX" dirty="0"/>
              <a:t>Claudio Neira</a:t>
            </a:r>
          </a:p>
          <a:p>
            <a:pPr marL="514350" indent="-514350">
              <a:buAutoNum type="arabicPeriod"/>
            </a:pPr>
            <a:r>
              <a:rPr lang="es-MX" dirty="0"/>
              <a:t>Matias Gutierrez</a:t>
            </a:r>
          </a:p>
          <a:p>
            <a:pPr marL="514350" indent="-514350">
              <a:buAutoNum type="arabicPeriod"/>
            </a:pPr>
            <a:r>
              <a:rPr lang="es-MX" dirty="0"/>
              <a:t>Raul Moncada</a:t>
            </a:r>
          </a:p>
        </p:txBody>
      </p:sp>
    </p:spTree>
    <p:extLst>
      <p:ext uri="{BB962C8B-B14F-4D97-AF65-F5344CB8AC3E}">
        <p14:creationId xmlns:p14="http://schemas.microsoft.com/office/powerpoint/2010/main" val="3093286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E07B5-574C-3C83-240C-5FB618F336BA}"/>
              </a:ext>
            </a:extLst>
          </p:cNvPr>
          <p:cNvSpPr>
            <a:spLocks noGrp="1"/>
          </p:cNvSpPr>
          <p:nvPr>
            <p:ph type="title"/>
          </p:nvPr>
        </p:nvSpPr>
        <p:spPr/>
        <p:txBody>
          <a:bodyPr/>
          <a:lstStyle/>
          <a:p>
            <a:endParaRPr lang="es-MX"/>
          </a:p>
        </p:txBody>
      </p:sp>
      <p:sp>
        <p:nvSpPr>
          <p:cNvPr id="3" name="Marcador de contenido 2">
            <a:extLst>
              <a:ext uri="{FF2B5EF4-FFF2-40B4-BE49-F238E27FC236}">
                <a16:creationId xmlns:a16="http://schemas.microsoft.com/office/drawing/2014/main" id="{0B469CD2-9723-5482-D438-277C224416D6}"/>
              </a:ext>
            </a:extLst>
          </p:cNvPr>
          <p:cNvSpPr>
            <a:spLocks noGrp="1"/>
          </p:cNvSpPr>
          <p:nvPr>
            <p:ph idx="1"/>
          </p:nvPr>
        </p:nvSpPr>
        <p:spPr/>
        <p:txBody>
          <a:bodyPr>
            <a:normAutofit fontScale="85000" lnSpcReduction="20000"/>
          </a:bodyPr>
          <a:lstStyle/>
          <a:p>
            <a:r>
              <a:rPr lang="es-MX" dirty="0"/>
              <a:t>Insumos</a:t>
            </a:r>
          </a:p>
          <a:p>
            <a:pPr marL="0" indent="0">
              <a:buNone/>
            </a:pPr>
            <a:r>
              <a:rPr lang="es-MX" dirty="0"/>
              <a:t>¿Qué necesitamos para hacerlo?</a:t>
            </a:r>
          </a:p>
          <a:p>
            <a:pPr marL="0" indent="0">
              <a:buNone/>
            </a:pPr>
            <a:r>
              <a:rPr lang="es-MX" dirty="0"/>
              <a:t>Lo que necesitamos físicamente son computadores y una buena conexión a internet.</a:t>
            </a:r>
          </a:p>
          <a:p>
            <a:pPr marL="0" indent="0">
              <a:buNone/>
            </a:pPr>
            <a:r>
              <a:rPr lang="es-MX" dirty="0"/>
              <a:t>Lo que necesitamos para poder hacer nuestro ABP es comprender y definir el incremento de ventas e los vehículos eléctricos e híbridos desde su integración al mercado automotriz, crear nuestro equipo de trabajo, establecer un plan de trabajo detallado, brindar capacitaciones a las personas que estén involucradas en el proyecto y desarrollar un plan de comunicación en caso de que surgen algún suceso inesperado o que se quiera una respuesta rápida.</a:t>
            </a:r>
          </a:p>
        </p:txBody>
      </p:sp>
    </p:spTree>
    <p:extLst>
      <p:ext uri="{BB962C8B-B14F-4D97-AF65-F5344CB8AC3E}">
        <p14:creationId xmlns:p14="http://schemas.microsoft.com/office/powerpoint/2010/main" val="2658789903"/>
      </p:ext>
    </p:extLst>
  </p:cSld>
  <p:clrMapOvr>
    <a:masterClrMapping/>
  </p:clrMapOvr>
</p:sld>
</file>

<file path=ppt/theme/theme1.xml><?xml version="1.0" encoding="utf-8"?>
<a:theme xmlns:a="http://schemas.openxmlformats.org/drawingml/2006/main" name="Blockprint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docProps/app.xml><?xml version="1.0" encoding="utf-8"?>
<Properties xmlns="http://schemas.openxmlformats.org/officeDocument/2006/extended-properties" xmlns:vt="http://schemas.openxmlformats.org/officeDocument/2006/docPropsVTypes">
  <Template>Circuito</Template>
  <TotalTime>1495</TotalTime>
  <Words>605</Words>
  <Application>Microsoft Office PowerPoint</Application>
  <PresentationFormat>Panorámica</PresentationFormat>
  <Paragraphs>52</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Avenir Next LT Pro</vt:lpstr>
      <vt:lpstr>AvenirNext LT Pro Medium</vt:lpstr>
      <vt:lpstr>BlockprintVTI</vt:lpstr>
      <vt:lpstr>La contaminación de la motorización a combustión </vt:lpstr>
      <vt:lpstr>Definición del proyecto</vt:lpstr>
      <vt:lpstr>Tema de investigación, nociones matemáticas y problemática a abordar.</vt:lpstr>
      <vt:lpstr>Objetivos y preguntas de investigación </vt:lpstr>
      <vt:lpstr>Temas iniciales involucrado </vt:lpstr>
      <vt:lpstr>Cronograma y materiales a utilizar</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Robos de Banco</dc:title>
  <dc:creator>CLAUDIO EDUARDO NEIRA ZAGAL</dc:creator>
  <cp:lastModifiedBy>CLAUDIO EDUARDO NEIRA ZAGAL</cp:lastModifiedBy>
  <cp:revision>2</cp:revision>
  <dcterms:created xsi:type="dcterms:W3CDTF">2023-11-16T01:48:19Z</dcterms:created>
  <dcterms:modified xsi:type="dcterms:W3CDTF">2023-11-17T13:20:48Z</dcterms:modified>
</cp:coreProperties>
</file>