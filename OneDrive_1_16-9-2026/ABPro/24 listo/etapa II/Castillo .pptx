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omments/comment1.xml" ContentType="application/vnd.openxmlformats-officedocument.presentationml.comments+xml"/>
  <Override PartName="/ppt/comments/comment2.xml" ContentType="application/vnd.openxmlformats-officedocument.presentationml.comments+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78" r:id="rId4"/>
  </p:sldMasterIdLst>
  <p:sldIdLst>
    <p:sldId id="256" r:id="rId5"/>
    <p:sldId id="257" r:id="rId6"/>
    <p:sldId id="258" r:id="rId7"/>
    <p:sldId id="259" r:id="rId8"/>
    <p:sldId id="260" r:id="rId9"/>
    <p:sldId id="262" r:id="rId10"/>
    <p:sldId id="263" r:id="rId11"/>
    <p:sldId id="264" r:id="rId12"/>
    <p:sldId id="265" r:id="rId13"/>
    <p:sldId id="266" r:id="rId14"/>
    <p:sldId id="267" r:id="rId15"/>
    <p:sldId id="268"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SSETTE ANDREA SALAMANCA MELLA" initials="LASM" lastIdx="12" clrIdx="0">
    <p:extLst>
      <p:ext uri="{19B8F6BF-5375-455C-9EA6-DF929625EA0E}">
        <p15:presenceInfo xmlns:p15="http://schemas.microsoft.com/office/powerpoint/2012/main" userId="S::lissette.salamanca@inacapmail.cl::e8cae1b9-6bd0-45e5-8679-6c0a2293f1a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198" autoAdjust="0"/>
    <p:restoredTop sz="94660"/>
  </p:normalViewPr>
  <p:slideViewPr>
    <p:cSldViewPr snapToGrid="0">
      <p:cViewPr varScale="1">
        <p:scale>
          <a:sx n="85" d="100"/>
          <a:sy n="85" d="100"/>
        </p:scale>
        <p:origin x="200"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2T11:16:32.189" idx="1">
    <p:pos x="10" y="10"/>
    <p:text>revisar ortografía</p:text>
    <p:extLst>
      <p:ext uri="{C676402C-5697-4E1C-873F-D02D1690AC5C}">
        <p15:threadingInfo xmlns:p15="http://schemas.microsoft.com/office/powerpoint/2012/main" timeZoneBias="180"/>
      </p:ext>
    </p:extLst>
  </p:cm>
  <p:cm authorId="1" dt="2023-12-12T11:28:53.260" idx="6">
    <p:pos x="4775" y="2817"/>
    <p:text>pie de imagen... APA</p:text>
    <p:extLst>
      <p:ext uri="{C676402C-5697-4E1C-873F-D02D1690AC5C}">
        <p15:threadingInfo xmlns:p15="http://schemas.microsoft.com/office/powerpoint/2012/main" timeZoneBias="18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3-12-12T11:21:59.377" idx="3">
    <p:pos x="10" y="10"/>
    <p:text>la problematica está bien definida</p:text>
    <p:extLst>
      <p:ext uri="{C676402C-5697-4E1C-873F-D02D1690AC5C}">
        <p15:threadingInfo xmlns:p15="http://schemas.microsoft.com/office/powerpoint/2012/main" timeZoneBias="18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23-12-12T11:26:07.487" idx="4">
    <p:pos x="5974" y="1180"/>
    <p:text>para plantear el objetivo debe tener una estructura: verbo+....+.....   https://bibliotecas.duoc.cl/documentos-academicos-y-presentaciones/redactar-objetivos-de-investigacion</p:text>
    <p:extLst>
      <p:ext uri="{C676402C-5697-4E1C-873F-D02D1690AC5C}">
        <p15:threadingInfo xmlns:p15="http://schemas.microsoft.com/office/powerpoint/2012/main" timeZoneBias="180"/>
      </p:ext>
    </p:extLst>
  </p:cm>
  <p:cm authorId="1" dt="2023-12-12T11:28:03.617" idx="5">
    <p:pos x="2956" y="1870"/>
    <p:text>muy buenas preguntas</p:text>
    <p:extLst>
      <p:ext uri="{C676402C-5697-4E1C-873F-D02D1690AC5C}">
        <p15:threadingInfo xmlns:p15="http://schemas.microsoft.com/office/powerpoint/2012/main" timeZoneBias="18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23-12-12T11:29:32.880" idx="7">
    <p:pos x="10" y="10"/>
    <p:text>falta agregar temas matemáticos involucrados</p:text>
    <p:extLst>
      <p:ext uri="{C676402C-5697-4E1C-873F-D02D1690AC5C}">
        <p15:threadingInfo xmlns:p15="http://schemas.microsoft.com/office/powerpoint/2012/main" timeZoneBias="18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23-12-12T11:30:02.312" idx="8">
    <p:pos x="5968" y="2427"/>
    <p:text>muy bien</p:text>
    <p:extLst>
      <p:ext uri="{C676402C-5697-4E1C-873F-D02D1690AC5C}">
        <p15:threadingInfo xmlns:p15="http://schemas.microsoft.com/office/powerpoint/2012/main" timeZoneBias="18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23-12-12T11:30:38.797" idx="9">
    <p:pos x="10" y="10"/>
    <p:text>agregar ¿cómo encontraron la función? (es importante mostrar o plantear en el video como la encontraron... las variables y su relación)</p:text>
    <p:extLst>
      <p:ext uri="{C676402C-5697-4E1C-873F-D02D1690AC5C}">
        <p15:threadingInfo xmlns:p15="http://schemas.microsoft.com/office/powerpoint/2012/main" timeZoneBias="180"/>
      </p:ext>
    </p:extLst>
  </p:cm>
  <p:cm authorId="1" dt="2023-12-12T11:32:17.969" idx="10">
    <p:pos x="146" y="146"/>
    <p:text>buen uso de Geogebra</p:text>
    <p:extLst>
      <p:ext uri="{C676402C-5697-4E1C-873F-D02D1690AC5C}">
        <p15:threadingInfo xmlns:p15="http://schemas.microsoft.com/office/powerpoint/2012/main" timeZoneBias="180"/>
      </p:ext>
    </p:extLst>
  </p:cm>
  <p:cm authorId="1" dt="2023-12-12T11:32:30.065" idx="11">
    <p:pos x="282" y="282"/>
    <p:text>falta pie de imagen APA</p:text>
    <p:extLst>
      <p:ext uri="{C676402C-5697-4E1C-873F-D02D1690AC5C}">
        <p15:threadingInfo xmlns:p15="http://schemas.microsoft.com/office/powerpoint/2012/main" timeZoneBias="18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23-12-12T11:32:54.055" idx="12">
    <p:pos x="10" y="10"/>
    <p:text>esta información queda mas clara de leer en una tabla</p:text>
    <p:extLst>
      <p:ext uri="{C676402C-5697-4E1C-873F-D02D1690AC5C}">
        <p15:threadingInfo xmlns:p15="http://schemas.microsoft.com/office/powerpoint/2012/main" timeZoneBias="180"/>
      </p:ext>
    </p:extLst>
  </p:cm>
</p: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7498893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870205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717381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D145F0F-ABEA-49D3-ADF5-B61D2DA89C31}" type="datetimeFigureOut">
              <a:rPr lang="es-CL" smtClean="0"/>
              <a:t>12-12-23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740367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D145F0F-ABEA-49D3-ADF5-B61D2DA89C31}" type="datetimeFigureOut">
              <a:rPr lang="es-CL" smtClean="0"/>
              <a:t>12-12-23</a:t>
            </a:fld>
            <a:endParaRPr lang="es-CL"/>
          </a:p>
        </p:txBody>
      </p:sp>
      <p:sp>
        <p:nvSpPr>
          <p:cNvPr id="8" name="Footer Placeholder 7"/>
          <p:cNvSpPr>
            <a:spLocks noGrp="1"/>
          </p:cNvSpPr>
          <p:nvPr>
            <p:ph type="ftr" sz="quarter" idx="11"/>
          </p:nvPr>
        </p:nvSpPr>
        <p:spPr/>
        <p:txBody>
          <a:bodyPr/>
          <a:lstStyle/>
          <a:p>
            <a:endParaRPr lang="es-CL"/>
          </a:p>
        </p:txBody>
      </p:sp>
      <p:sp>
        <p:nvSpPr>
          <p:cNvPr id="9" name="Slide Number Placeholder 8"/>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551408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3D145F0F-ABEA-49D3-ADF5-B61D2DA89C31}" type="datetimeFigureOut">
              <a:rPr lang="es-CL" smtClean="0"/>
              <a:t>12-12-23</a:t>
            </a:fld>
            <a:endParaRPr lang="es-CL"/>
          </a:p>
        </p:txBody>
      </p:sp>
      <p:sp>
        <p:nvSpPr>
          <p:cNvPr id="4" name="Footer Placeholder 3"/>
          <p:cNvSpPr>
            <a:spLocks noGrp="1"/>
          </p:cNvSpPr>
          <p:nvPr>
            <p:ph type="ftr" sz="quarter" idx="11"/>
          </p:nvPr>
        </p:nvSpPr>
        <p:spPr/>
        <p:txBody>
          <a:bodyPr/>
          <a:lstStyle/>
          <a:p>
            <a:endParaRPr lang="es-CL"/>
          </a:p>
        </p:txBody>
      </p:sp>
      <p:sp>
        <p:nvSpPr>
          <p:cNvPr id="5" name="Slide Number Placeholder 4"/>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41800623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D145F0F-ABEA-49D3-ADF5-B61D2DA89C31}" type="datetimeFigureOut">
              <a:rPr lang="es-CL" smtClean="0"/>
              <a:t>12-12-23</a:t>
            </a:fld>
            <a:endParaRPr lang="es-CL"/>
          </a:p>
        </p:txBody>
      </p:sp>
      <p:sp>
        <p:nvSpPr>
          <p:cNvPr id="3" name="Footer Placeholder 2"/>
          <p:cNvSpPr>
            <a:spLocks noGrp="1"/>
          </p:cNvSpPr>
          <p:nvPr>
            <p:ph type="ftr" sz="quarter" idx="11"/>
          </p:nvPr>
        </p:nvSpPr>
        <p:spPr/>
        <p:txBody>
          <a:bodyPr/>
          <a:lstStyle/>
          <a:p>
            <a:endParaRPr lang="es-CL"/>
          </a:p>
        </p:txBody>
      </p:sp>
      <p:sp>
        <p:nvSpPr>
          <p:cNvPr id="4" name="Slide Number Placeholder 3"/>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05263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12-12-23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420450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3D145F0F-ABEA-49D3-ADF5-B61D2DA89C31}" type="datetimeFigureOut">
              <a:rPr lang="es-CL" smtClean="0"/>
              <a:t>12-12-23</a:t>
            </a:fld>
            <a:endParaRPr lang="es-CL"/>
          </a:p>
        </p:txBody>
      </p:sp>
      <p:sp>
        <p:nvSpPr>
          <p:cNvPr id="6" name="Footer Placeholder 5"/>
          <p:cNvSpPr>
            <a:spLocks noGrp="1"/>
          </p:cNvSpPr>
          <p:nvPr>
            <p:ph type="ftr" sz="quarter" idx="11"/>
          </p:nvPr>
        </p:nvSpPr>
        <p:spPr/>
        <p:txBody>
          <a:bodyPr/>
          <a:lstStyle/>
          <a:p>
            <a:endParaRPr lang="es-CL"/>
          </a:p>
        </p:txBody>
      </p:sp>
      <p:sp>
        <p:nvSpPr>
          <p:cNvPr id="7" name="Slide Number Placeholder 6"/>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8453157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3924926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54575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53142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64104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21238978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7336458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3D145F0F-ABEA-49D3-ADF5-B61D2DA89C31}" type="datetimeFigureOut">
              <a:rPr lang="es-CL" smtClean="0"/>
              <a:t>12-12-23</a:t>
            </a:fld>
            <a:endParaRPr lang="es-CL"/>
          </a:p>
        </p:txBody>
      </p:sp>
      <p:sp>
        <p:nvSpPr>
          <p:cNvPr id="5" name="Footer Placeholder 4"/>
          <p:cNvSpPr>
            <a:spLocks noGrp="1"/>
          </p:cNvSpPr>
          <p:nvPr>
            <p:ph type="ftr" sz="quarter" idx="11"/>
          </p:nvPr>
        </p:nvSpPr>
        <p:spPr/>
        <p:txBody>
          <a:bodyPr/>
          <a:lstStyle/>
          <a:p>
            <a:endParaRPr lang="es-CL"/>
          </a:p>
        </p:txBody>
      </p:sp>
      <p:sp>
        <p:nvSpPr>
          <p:cNvPr id="6" name="Slide Number Placeholder 5"/>
          <p:cNvSpPr>
            <a:spLocks noGrp="1"/>
          </p:cNvSpPr>
          <p:nvPr>
            <p:ph type="sldNum" sz="quarter" idx="12"/>
          </p:nvPr>
        </p:nvSpPr>
        <p:spPr/>
        <p:txBody>
          <a:bodyPr/>
          <a:lstStyle/>
          <a:p>
            <a:fld id="{9BCB0801-C394-46F1-BA09-9052FD73111B}" type="slidenum">
              <a:rPr lang="es-CL" smtClean="0"/>
              <a:t>‹Nº›</a:t>
            </a:fld>
            <a:endParaRPr lang="es-CL"/>
          </a:p>
        </p:txBody>
      </p:sp>
    </p:spTree>
    <p:extLst>
      <p:ext uri="{BB962C8B-B14F-4D97-AF65-F5344CB8AC3E}">
        <p14:creationId xmlns:p14="http://schemas.microsoft.com/office/powerpoint/2010/main" val="1498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D145F0F-ABEA-49D3-ADF5-B61D2DA89C31}" type="datetimeFigureOut">
              <a:rPr lang="es-CL" smtClean="0"/>
              <a:t>12-12-23</a:t>
            </a:fld>
            <a:endParaRPr lang="es-CL"/>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CL"/>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BCB0801-C394-46F1-BA09-9052FD73111B}" type="slidenum">
              <a:rPr lang="es-CL" smtClean="0"/>
              <a:t>‹Nº›</a:t>
            </a:fld>
            <a:endParaRPr lang="es-CL"/>
          </a:p>
        </p:txBody>
      </p:sp>
    </p:spTree>
    <p:extLst>
      <p:ext uri="{BB962C8B-B14F-4D97-AF65-F5344CB8AC3E}">
        <p14:creationId xmlns:p14="http://schemas.microsoft.com/office/powerpoint/2010/main" val="562264308"/>
      </p:ext>
    </p:extLst>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 id="2147483788" r:id="rId10"/>
    <p:sldLayoutId id="2147483789" r:id="rId11"/>
    <p:sldLayoutId id="2147483790" r:id="rId12"/>
    <p:sldLayoutId id="2147483791" r:id="rId13"/>
    <p:sldLayoutId id="2147483792" r:id="rId14"/>
    <p:sldLayoutId id="2147483793" r:id="rId15"/>
    <p:sldLayoutId id="21474837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comments" Target="../comments/comment2.xm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omments" Target="../comments/comment3.xm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omments" Target="../comments/comment4.xm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5.xml"/><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tmp"/><Relationship Id="rId1" Type="http://schemas.openxmlformats.org/officeDocument/2006/relationships/slideLayout" Target="../slideLayouts/slideLayout2.xml"/><Relationship Id="rId4" Type="http://schemas.openxmlformats.org/officeDocument/2006/relationships/comments" Target="../comments/comment6.xml"/></Relationships>
</file>

<file path=ppt/slides/_rels/slide8.xml.rels><?xml version="1.0" encoding="UTF-8" standalone="yes"?>
<Relationships xmlns="http://schemas.openxmlformats.org/package/2006/relationships"><Relationship Id="rId2" Type="http://schemas.openxmlformats.org/officeDocument/2006/relationships/comments" Target="../comments/comment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geogebra.org/?lang=es" TargetMode="External"/><Relationship Id="rId2" Type="http://schemas.openxmlformats.org/officeDocument/2006/relationships/hyperlink" Target="https://listado.mercadolibre.cl/reouestos-sprinter#D[A:reouestos%20sprinter" TargetMode="External"/><Relationship Id="rId1" Type="http://schemas.openxmlformats.org/officeDocument/2006/relationships/slideLayout" Target="../slideLayouts/slideLayout2.xml"/><Relationship Id="rId5" Type="http://schemas.openxmlformats.org/officeDocument/2006/relationships/hyperlink" Target="https://www.caren.cl/?gad_source=1&amp;gclid=EAIaIQobChMIhfCUhMX4ggMVCh6tBh0cmA5gEAAYASAAEgIc-vD_BwE" TargetMode="External"/><Relationship Id="rId4" Type="http://schemas.openxmlformats.org/officeDocument/2006/relationships/hyperlink" Target="https://www.kaufmann.cl/?utm_source=google&amp;utm_medium=CPC&amp;utm_campaign=AO-Search-Ins&amp;utm_term=Kaufmann&amp;utm_content=Kaufmann&amp;dclid=&amp;gclid=EAIaIQobChMI7NmxpcT4ggMV1VFyCh08MwJaEAAYASAAEgIKifD_Bw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n 6"/>
          <p:cNvPicPr>
            <a:picLocks noChangeAspect="1"/>
          </p:cNvPicPr>
          <p:nvPr/>
        </p:nvPicPr>
        <p:blipFill>
          <a:blip r:embed="rId2"/>
          <a:stretch>
            <a:fillRect/>
          </a:stretch>
        </p:blipFill>
        <p:spPr>
          <a:xfrm>
            <a:off x="2170111" y="1008907"/>
            <a:ext cx="6891251" cy="2888903"/>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3" name="Título 2"/>
          <p:cNvSpPr>
            <a:spLocks noGrp="1"/>
          </p:cNvSpPr>
          <p:nvPr>
            <p:ph type="ctrTitle"/>
          </p:nvPr>
        </p:nvSpPr>
        <p:spPr>
          <a:xfrm>
            <a:off x="1009589" y="1321967"/>
            <a:ext cx="8915399" cy="2262781"/>
          </a:xfrm>
        </p:spPr>
        <p:txBody>
          <a:bodyPr>
            <a:normAutofit fontScale="90000"/>
          </a:bodyPr>
          <a:lstStyle/>
          <a:p>
            <a:pPr algn="ctr">
              <a:lnSpc>
                <a:spcPct val="150000"/>
              </a:lnSpc>
            </a:pPr>
            <a:r>
              <a:rPr lang="es-CL" b="1" u="sng" dirty="0">
                <a:solidFill>
                  <a:schemeClr val="accent2">
                    <a:lumMod val="40000"/>
                    <a:lumOff val="60000"/>
                  </a:schemeClr>
                </a:solidFill>
                <a:latin typeface="Arial" panose="020B0604020202020204" pitchFamily="34" charset="0"/>
                <a:cs typeface="Arial" panose="020B0604020202020204" pitchFamily="34" charset="0"/>
              </a:rPr>
              <a:t>Plan mantenimiento automotriz</a:t>
            </a:r>
          </a:p>
        </p:txBody>
      </p:sp>
      <p:sp>
        <p:nvSpPr>
          <p:cNvPr id="4" name="CuadroTexto 3"/>
          <p:cNvSpPr txBox="1"/>
          <p:nvPr/>
        </p:nvSpPr>
        <p:spPr>
          <a:xfrm>
            <a:off x="2170111" y="4331647"/>
            <a:ext cx="8617526" cy="2274149"/>
          </a:xfrm>
          <a:prstGeom prst="rect">
            <a:avLst/>
          </a:prstGeom>
          <a:noFill/>
        </p:spPr>
        <p:txBody>
          <a:bodyPr wrap="square" rtlCol="0">
            <a:spAutoFit/>
          </a:bodyPr>
          <a:lstStyle/>
          <a:p>
            <a:pPr>
              <a:lnSpc>
                <a:spcPct val="150000"/>
              </a:lnSpc>
            </a:pPr>
            <a:r>
              <a:rPr lang="es-CL" sz="1200" dirty="0">
                <a:latin typeface="Arial" panose="020B0604020202020204" pitchFamily="34" charset="0"/>
                <a:cs typeface="Arial" panose="020B0604020202020204" pitchFamily="34" charset="0"/>
              </a:rPr>
              <a:t>Integrantes: 	Héctor Castillo.</a:t>
            </a:r>
          </a:p>
          <a:p>
            <a:pPr>
              <a:lnSpc>
                <a:spcPct val="150000"/>
              </a:lnSpc>
            </a:pPr>
            <a:r>
              <a:rPr lang="es-CL" sz="1200" dirty="0">
                <a:latin typeface="Arial" panose="020B0604020202020204" pitchFamily="34" charset="0"/>
                <a:cs typeface="Arial" panose="020B0604020202020204" pitchFamily="34" charset="0"/>
              </a:rPr>
              <a:t>  		Cesar Pérez.</a:t>
            </a:r>
          </a:p>
          <a:p>
            <a:pPr>
              <a:lnSpc>
                <a:spcPct val="150000"/>
              </a:lnSpc>
            </a:pPr>
            <a:r>
              <a:rPr lang="es-CL" sz="1200" dirty="0">
                <a:latin typeface="Arial" panose="020B0604020202020204" pitchFamily="34" charset="0"/>
                <a:cs typeface="Arial" panose="020B0604020202020204" pitchFamily="34" charset="0"/>
              </a:rPr>
              <a:t>		Bryan Pérez.</a:t>
            </a:r>
          </a:p>
          <a:p>
            <a:pPr>
              <a:lnSpc>
                <a:spcPct val="150000"/>
              </a:lnSpc>
            </a:pPr>
            <a:r>
              <a:rPr lang="es-CL" sz="1200" dirty="0">
                <a:latin typeface="Arial" panose="020B0604020202020204" pitchFamily="34" charset="0"/>
                <a:cs typeface="Arial" panose="020B0604020202020204" pitchFamily="34" charset="0"/>
              </a:rPr>
              <a:t>		Denis Erices.</a:t>
            </a:r>
          </a:p>
          <a:p>
            <a:pPr>
              <a:lnSpc>
                <a:spcPct val="150000"/>
              </a:lnSpc>
            </a:pPr>
            <a:r>
              <a:rPr lang="es-CL" sz="1200" dirty="0">
                <a:latin typeface="Arial" panose="020B0604020202020204" pitchFamily="34" charset="0"/>
                <a:cs typeface="Arial" panose="020B0604020202020204" pitchFamily="34" charset="0"/>
              </a:rPr>
              <a:t>Docente: 	Lissette Salamanca.</a:t>
            </a:r>
          </a:p>
          <a:p>
            <a:pPr>
              <a:lnSpc>
                <a:spcPct val="150000"/>
              </a:lnSpc>
            </a:pPr>
            <a:r>
              <a:rPr lang="es-CL" sz="1200" dirty="0">
                <a:latin typeface="Arial" panose="020B0604020202020204" pitchFamily="34" charset="0"/>
                <a:cs typeface="Arial" panose="020B0604020202020204" pitchFamily="34" charset="0"/>
              </a:rPr>
              <a:t>Asignatura: 	Funciones y geometría.</a:t>
            </a:r>
          </a:p>
          <a:p>
            <a:pPr>
              <a:lnSpc>
                <a:spcPct val="150000"/>
              </a:lnSpc>
            </a:pPr>
            <a:r>
              <a:rPr lang="es-CL" sz="1200" dirty="0">
                <a:latin typeface="Arial" panose="020B0604020202020204" pitchFamily="34" charset="0"/>
                <a:cs typeface="Arial" panose="020B0604020202020204" pitchFamily="34" charset="0"/>
              </a:rPr>
              <a:t>Carrera:        Ingeniería en mecánica automotriz y electromovilidad.</a:t>
            </a:r>
          </a:p>
          <a:p>
            <a:pPr>
              <a:lnSpc>
                <a:spcPct val="150000"/>
              </a:lnSpc>
            </a:pPr>
            <a:r>
              <a:rPr lang="es-CL" sz="1200" dirty="0">
                <a:latin typeface="Arial" panose="020B0604020202020204" pitchFamily="34" charset="0"/>
                <a:cs typeface="Arial" panose="020B0604020202020204" pitchFamily="34" charset="0"/>
              </a:rPr>
              <a:t>Fecha:          17-11-2023.</a:t>
            </a:r>
          </a:p>
        </p:txBody>
      </p:sp>
      <p:pic>
        <p:nvPicPr>
          <p:cNvPr id="2" name="Imagen 1"/>
          <p:cNvPicPr>
            <a:picLocks noChangeAspect="1"/>
          </p:cNvPicPr>
          <p:nvPr/>
        </p:nvPicPr>
        <p:blipFill rotWithShape="1">
          <a:blip r:embed="rId3"/>
          <a:srcRect l="4982" t="36364" r="9273" b="33964"/>
          <a:stretch/>
        </p:blipFill>
        <p:spPr>
          <a:xfrm>
            <a:off x="1039580" y="388837"/>
            <a:ext cx="1130531" cy="3912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993605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6519140-C4B6-4426-7B0B-A9112C97E292}"/>
              </a:ext>
            </a:extLst>
          </p:cNvPr>
          <p:cNvSpPr>
            <a:spLocks noGrp="1"/>
          </p:cNvSpPr>
          <p:nvPr>
            <p:ph type="title"/>
          </p:nvPr>
        </p:nvSpPr>
        <p:spPr>
          <a:xfrm>
            <a:off x="1609249" y="651818"/>
            <a:ext cx="8911687" cy="511963"/>
          </a:xfrm>
        </p:spPr>
        <p:txBody>
          <a:bodyPr>
            <a:noAutofit/>
          </a:bodyPr>
          <a:lstStyle/>
          <a:p>
            <a:pPr algn="ctr"/>
            <a:r>
              <a:rPr lang="es-ES" sz="2800" u="sng" dirty="0">
                <a:solidFill>
                  <a:schemeClr val="accent1">
                    <a:lumMod val="60000"/>
                    <a:lumOff val="40000"/>
                  </a:schemeClr>
                </a:solidFill>
                <a:latin typeface="Arial" panose="020B0604020202020204" pitchFamily="34" charset="0"/>
                <a:cs typeface="Arial" panose="020B0604020202020204" pitchFamily="34" charset="0"/>
              </a:rPr>
              <a:t>Definición proyecto:</a:t>
            </a:r>
            <a:endParaRPr lang="es-CL" sz="4800" u="sng"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3" name="CuadroTexto 2"/>
          <p:cNvSpPr txBox="1"/>
          <p:nvPr/>
        </p:nvSpPr>
        <p:spPr>
          <a:xfrm>
            <a:off x="2617757" y="1451956"/>
            <a:ext cx="6894669" cy="2828147"/>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Primero que todo debemos enfocarnos en el objetivo que queremos abordar, que seria la disminución de los costos de mantención, repuestos y mano de abra para la empresa, la cual trabaja con 10 furgones Mercedes Benz Sprinter. </a:t>
            </a:r>
          </a:p>
          <a:p>
            <a:pPr algn="just">
              <a:lnSpc>
                <a:spcPct val="150000"/>
              </a:lnSpc>
            </a:pPr>
            <a:r>
              <a:rPr lang="es-CL" sz="1200" dirty="0">
                <a:latin typeface="Arial" panose="020B0604020202020204" pitchFamily="34" charset="0"/>
                <a:cs typeface="Arial" panose="020B0604020202020204" pitchFamily="34" charset="0"/>
              </a:rPr>
              <a:t>Indagaremos y solucionaremos la problemática que se presenta en la empresa, ya que esta presentando elevados costos de mantención al no realizar a tiempo estas mantenciones a 7 de los 10 vehículos en que los que trabajan, además de un estancamiento de producción al no poder continuar con sus labores, todo esto por no realizar una sencilla mantención preventiva cada cierto kilometraje, así la empresa gastaría menos dinero en esas mantenciones. </a:t>
            </a:r>
          </a:p>
          <a:p>
            <a:pPr algn="just">
              <a:lnSpc>
                <a:spcPct val="150000"/>
              </a:lnSpc>
            </a:pPr>
            <a:r>
              <a:rPr lang="es-CL" sz="1200" dirty="0">
                <a:latin typeface="Arial" panose="020B0604020202020204" pitchFamily="34" charset="0"/>
                <a:cs typeface="Arial" panose="020B0604020202020204" pitchFamily="34" charset="0"/>
              </a:rPr>
              <a:t>Que al no realizar estas mantenciones periódicamente, saldrá mas elevado el costo en base a diagnostico, repuestos, reparación y mano de obra.</a:t>
            </a:r>
          </a:p>
        </p:txBody>
      </p:sp>
      <p:pic>
        <p:nvPicPr>
          <p:cNvPr id="4" name="Imagen 3"/>
          <p:cNvPicPr>
            <a:picLocks noChangeAspect="1"/>
          </p:cNvPicPr>
          <p:nvPr/>
        </p:nvPicPr>
        <p:blipFill>
          <a:blip r:embed="rId2"/>
          <a:stretch>
            <a:fillRect/>
          </a:stretch>
        </p:blipFill>
        <p:spPr>
          <a:xfrm>
            <a:off x="4550080" y="4471296"/>
            <a:ext cx="3030021" cy="202094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673344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7B8513-76B1-3793-002B-328B06334A56}"/>
              </a:ext>
            </a:extLst>
          </p:cNvPr>
          <p:cNvSpPr>
            <a:spLocks noGrp="1"/>
          </p:cNvSpPr>
          <p:nvPr>
            <p:ph type="title"/>
          </p:nvPr>
        </p:nvSpPr>
        <p:spPr>
          <a:xfrm>
            <a:off x="1670533" y="485565"/>
            <a:ext cx="8911687" cy="1280890"/>
          </a:xfrm>
        </p:spPr>
        <p:txBody>
          <a:bodyPr>
            <a:normAutofit/>
          </a:bodyPr>
          <a:lstStyle/>
          <a:p>
            <a:pPr algn="ctr"/>
            <a:r>
              <a:rPr lang="es-ES" sz="2800" u="sng" dirty="0">
                <a:solidFill>
                  <a:schemeClr val="accent1">
                    <a:lumMod val="60000"/>
                    <a:lumOff val="40000"/>
                  </a:schemeClr>
                </a:solidFill>
                <a:latin typeface="Arial" panose="020B0604020202020204" pitchFamily="34" charset="0"/>
                <a:cs typeface="Arial" panose="020B0604020202020204" pitchFamily="34" charset="0"/>
              </a:rPr>
              <a:t>Tema de investigación, nociones matemáticas y problemática a abordar:</a:t>
            </a:r>
            <a:r>
              <a:rPr lang="es-ES" sz="2800" b="0" i="0" dirty="0">
                <a:solidFill>
                  <a:schemeClr val="tx1"/>
                </a:solidFill>
                <a:effectLst/>
                <a:latin typeface="Arial" panose="020B0604020202020204" pitchFamily="34" charset="0"/>
                <a:cs typeface="Arial" panose="020B0604020202020204" pitchFamily="34" charset="0"/>
              </a:rPr>
              <a:t> </a:t>
            </a:r>
            <a:endParaRPr lang="es-CL" sz="4800" dirty="0">
              <a:solidFill>
                <a:schemeClr val="tx1"/>
              </a:solidFill>
              <a:latin typeface="Arial" panose="020B0604020202020204" pitchFamily="34" charset="0"/>
              <a:cs typeface="Arial" panose="020B0604020202020204" pitchFamily="34" charset="0"/>
            </a:endParaRPr>
          </a:p>
        </p:txBody>
      </p:sp>
      <p:sp>
        <p:nvSpPr>
          <p:cNvPr id="4" name="CuadroTexto 3"/>
          <p:cNvSpPr txBox="1"/>
          <p:nvPr/>
        </p:nvSpPr>
        <p:spPr>
          <a:xfrm>
            <a:off x="2255417" y="1766455"/>
            <a:ext cx="7741921" cy="2551083"/>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Investigaremos respecto a una empresa en especifico, para que realicen mantenciones a tiempo a sus vehículos, para reducir costos de reparación y mano de obra. Analizaremos los gastos que tienen periódicamente, además comparándolo con mantenimientos preventivos que se pueden hacer cada cierto tiempo, comparando valores de pago (cual conviene mas).</a:t>
            </a:r>
          </a:p>
          <a:p>
            <a:pPr algn="just">
              <a:lnSpc>
                <a:spcPct val="150000"/>
              </a:lnSpc>
            </a:pPr>
            <a:r>
              <a:rPr lang="es-CL" sz="1200" dirty="0">
                <a:latin typeface="Arial" panose="020B0604020202020204" pitchFamily="34" charset="0"/>
                <a:cs typeface="Arial" panose="020B0604020202020204" pitchFamily="34" charset="0"/>
              </a:rPr>
              <a:t>En los términos de la noción matemática que utilizaremos nos referiremos a porcentajes, cálculos matemáticos, estadísticas y gráficos.</a:t>
            </a:r>
          </a:p>
          <a:p>
            <a:pPr algn="just">
              <a:lnSpc>
                <a:spcPct val="150000"/>
              </a:lnSpc>
            </a:pPr>
            <a:r>
              <a:rPr lang="es-CL" sz="1200" dirty="0">
                <a:latin typeface="Arial" panose="020B0604020202020204" pitchFamily="34" charset="0"/>
                <a:cs typeface="Arial" panose="020B0604020202020204" pitchFamily="34" charset="0"/>
              </a:rPr>
              <a:t>La problemática a abordar serian los elevados costos de mantención </a:t>
            </a:r>
            <a:r>
              <a:rPr lang="es-CL" sz="1200" dirty="0">
                <a:solidFill>
                  <a:schemeClr val="accent5"/>
                </a:solidFill>
                <a:latin typeface="Arial" panose="020B0604020202020204" pitchFamily="34" charset="0"/>
                <a:cs typeface="Arial" panose="020B0604020202020204" pitchFamily="34" charset="0"/>
              </a:rPr>
              <a:t>– especificar el tipo de mantención- </a:t>
            </a:r>
            <a:r>
              <a:rPr lang="es-CL" sz="1200" dirty="0">
                <a:latin typeface="Arial" panose="020B0604020202020204" pitchFamily="34" charset="0"/>
                <a:cs typeface="Arial" panose="020B0604020202020204" pitchFamily="34" charset="0"/>
              </a:rPr>
              <a:t>al no efectuar a tiempo mantenciones a sus vehículos, además de un estancamiento de producción al no poder continuar con sus tareas.</a:t>
            </a:r>
          </a:p>
        </p:txBody>
      </p:sp>
      <p:pic>
        <p:nvPicPr>
          <p:cNvPr id="3" name="Imagen 2"/>
          <p:cNvPicPr>
            <a:picLocks noChangeAspect="1"/>
          </p:cNvPicPr>
          <p:nvPr/>
        </p:nvPicPr>
        <p:blipFill>
          <a:blip r:embed="rId2"/>
          <a:stretch>
            <a:fillRect/>
          </a:stretch>
        </p:blipFill>
        <p:spPr>
          <a:xfrm>
            <a:off x="4970213" y="4165331"/>
            <a:ext cx="2312326" cy="23123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271474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511957-82E8-115C-643E-E2F3E1D83AAC}"/>
              </a:ext>
            </a:extLst>
          </p:cNvPr>
          <p:cNvSpPr>
            <a:spLocks noGrp="1"/>
          </p:cNvSpPr>
          <p:nvPr>
            <p:ph type="title"/>
          </p:nvPr>
        </p:nvSpPr>
        <p:spPr>
          <a:xfrm>
            <a:off x="1733942" y="801448"/>
            <a:ext cx="8911687" cy="1280890"/>
          </a:xfrm>
        </p:spPr>
        <p:txBody>
          <a:bodyPr>
            <a:normAutofit/>
          </a:bodyPr>
          <a:lstStyle/>
          <a:p>
            <a:pPr algn="ctr"/>
            <a:r>
              <a:rPr lang="es-ES" sz="2800" b="0" i="0" u="sng" dirty="0">
                <a:solidFill>
                  <a:schemeClr val="accent1">
                    <a:lumMod val="60000"/>
                    <a:lumOff val="40000"/>
                  </a:schemeClr>
                </a:solidFill>
                <a:effectLst/>
                <a:latin typeface="Arial" panose="020B0604020202020204" pitchFamily="34" charset="0"/>
                <a:cs typeface="Arial" panose="020B0604020202020204" pitchFamily="34" charset="0"/>
              </a:rPr>
              <a:t>Objetivos y preguntas de investigación:</a:t>
            </a:r>
            <a:r>
              <a:rPr lang="es-ES" sz="2400" b="0" i="0" u="sng" dirty="0">
                <a:solidFill>
                  <a:schemeClr val="accent1">
                    <a:lumMod val="60000"/>
                    <a:lumOff val="40000"/>
                  </a:schemeClr>
                </a:solidFill>
                <a:effectLst/>
                <a:latin typeface="Arial" panose="020B0604020202020204" pitchFamily="34" charset="0"/>
                <a:cs typeface="Arial" panose="020B0604020202020204" pitchFamily="34" charset="0"/>
              </a:rPr>
              <a:t> </a:t>
            </a:r>
            <a:r>
              <a:rPr lang="es-ES" sz="2400" b="0" i="0" dirty="0">
                <a:solidFill>
                  <a:srgbClr val="000000"/>
                </a:solidFill>
                <a:effectLst/>
                <a:latin typeface="Arial" panose="020B0604020202020204" pitchFamily="34" charset="0"/>
                <a:cs typeface="Arial" panose="020B0604020202020204" pitchFamily="34" charset="0"/>
              </a:rPr>
              <a:t> </a:t>
            </a:r>
            <a:endParaRPr lang="es-CL" sz="4400" dirty="0">
              <a:latin typeface="Arial" panose="020B0604020202020204" pitchFamily="34" charset="0"/>
              <a:cs typeface="Arial" panose="020B0604020202020204" pitchFamily="34" charset="0"/>
            </a:endParaRPr>
          </a:p>
        </p:txBody>
      </p:sp>
      <p:sp>
        <p:nvSpPr>
          <p:cNvPr id="5" name="CuadroTexto 4"/>
          <p:cNvSpPr txBox="1"/>
          <p:nvPr/>
        </p:nvSpPr>
        <p:spPr>
          <a:xfrm>
            <a:off x="2842206" y="1821872"/>
            <a:ext cx="6695161" cy="2862322"/>
          </a:xfrm>
          <a:prstGeom prst="rect">
            <a:avLst/>
          </a:prstGeom>
          <a:noFill/>
        </p:spPr>
        <p:txBody>
          <a:bodyPr wrap="square" rtlCol="0">
            <a:spAutoFit/>
          </a:bodyPr>
          <a:lstStyle/>
          <a:p>
            <a:pPr algn="just">
              <a:lnSpc>
                <a:spcPct val="150000"/>
              </a:lnSpc>
            </a:pPr>
            <a:r>
              <a:rPr lang="es-CL" sz="1200" dirty="0">
                <a:solidFill>
                  <a:schemeClr val="accent5"/>
                </a:solidFill>
                <a:latin typeface="Arial" panose="020B0604020202020204" pitchFamily="34" charset="0"/>
                <a:cs typeface="Arial" panose="020B0604020202020204" pitchFamily="34" charset="0"/>
              </a:rPr>
              <a:t>El objetivo a lograr es la importancia que tiene la finalidad del mantenimiento preventivo, que es “encontrar y corregir” los problemas menores antes de que estos provoquen fallas a gran escala.</a:t>
            </a:r>
            <a:r>
              <a:rPr lang="es-CL" sz="1200" dirty="0">
                <a:latin typeface="Arial" panose="020B0604020202020204" pitchFamily="34" charset="0"/>
                <a:cs typeface="Arial" panose="020B0604020202020204" pitchFamily="34" charset="0"/>
              </a:rPr>
              <a:t> El mantenimiento preventivo comprende una lista completa de actividades, todas ellas realizadas por usuarios, operadores, y personal mecánico.</a:t>
            </a:r>
          </a:p>
          <a:p>
            <a:pPr algn="just">
              <a:lnSpc>
                <a:spcPct val="150000"/>
              </a:lnSpc>
            </a:pPr>
            <a:r>
              <a:rPr lang="es-CL" sz="1200" dirty="0">
                <a:latin typeface="Arial" panose="020B0604020202020204" pitchFamily="34" charset="0"/>
                <a:cs typeface="Arial" panose="020B0604020202020204" pitchFamily="34" charset="0"/>
              </a:rPr>
              <a:t>Preguntas de indagación:</a:t>
            </a:r>
          </a:p>
          <a:p>
            <a:pPr algn="just">
              <a:lnSpc>
                <a:spcPct val="150000"/>
              </a:lnSpc>
            </a:pPr>
            <a:r>
              <a:rPr lang="es-CL" sz="1200" dirty="0">
                <a:latin typeface="Arial" panose="020B0604020202020204" pitchFamily="34" charset="0"/>
                <a:cs typeface="Arial" panose="020B0604020202020204" pitchFamily="34" charset="0"/>
              </a:rPr>
              <a:t>¿Cuáles serian los costos de no hacer un mantenimiento a tiempo?</a:t>
            </a:r>
          </a:p>
          <a:p>
            <a:pPr algn="just">
              <a:lnSpc>
                <a:spcPct val="150000"/>
              </a:lnSpc>
            </a:pPr>
            <a:r>
              <a:rPr lang="es-CL" sz="1200" dirty="0">
                <a:latin typeface="Arial" panose="020B0604020202020204" pitchFamily="34" charset="0"/>
                <a:cs typeface="Arial" panose="020B0604020202020204" pitchFamily="34" charset="0"/>
              </a:rPr>
              <a:t>¿Cuánto dinero se ahorraría en hacer la mantención preventiva a tiempo?</a:t>
            </a:r>
          </a:p>
          <a:p>
            <a:pPr algn="just">
              <a:lnSpc>
                <a:spcPct val="150000"/>
              </a:lnSpc>
            </a:pPr>
            <a:r>
              <a:rPr lang="es-CL" sz="1200" dirty="0">
                <a:latin typeface="Arial" panose="020B0604020202020204" pitchFamily="34" charset="0"/>
                <a:cs typeface="Arial" panose="020B0604020202020204" pitchFamily="34" charset="0"/>
              </a:rPr>
              <a:t>¿Cuánto aumentaría la utilidad de la empresa?</a:t>
            </a:r>
          </a:p>
          <a:p>
            <a:pPr algn="just">
              <a:lnSpc>
                <a:spcPct val="150000"/>
              </a:lnSpc>
            </a:pPr>
            <a:r>
              <a:rPr lang="es-CL" sz="1200" dirty="0">
                <a:latin typeface="Arial" panose="020B0604020202020204" pitchFamily="34" charset="0"/>
                <a:cs typeface="Arial" panose="020B0604020202020204" pitchFamily="34" charset="0"/>
              </a:rPr>
              <a:t>¿Cuánta perdida de dinero hay en mantenciones correctivas que se pueden haber realizado antes de la falla? </a:t>
            </a:r>
          </a:p>
        </p:txBody>
      </p:sp>
      <p:pic>
        <p:nvPicPr>
          <p:cNvPr id="3" name="Imagen 2"/>
          <p:cNvPicPr>
            <a:picLocks noChangeAspect="1"/>
          </p:cNvPicPr>
          <p:nvPr/>
        </p:nvPicPr>
        <p:blipFill>
          <a:blip r:embed="rId2"/>
          <a:stretch>
            <a:fillRect/>
          </a:stretch>
        </p:blipFill>
        <p:spPr>
          <a:xfrm>
            <a:off x="5071493" y="4757844"/>
            <a:ext cx="2236584" cy="167743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2365239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609253" y="525177"/>
            <a:ext cx="8911687" cy="1280890"/>
          </a:xfrm>
        </p:spPr>
        <p:txBody>
          <a:bodyPr>
            <a:normAutofit/>
          </a:bodyPr>
          <a:lstStyle/>
          <a:p>
            <a:pPr algn="ctr"/>
            <a:r>
              <a:rPr lang="es-ES" sz="2800" b="0" i="0" u="sng" dirty="0">
                <a:solidFill>
                  <a:schemeClr val="accent1">
                    <a:lumMod val="60000"/>
                    <a:lumOff val="40000"/>
                  </a:schemeClr>
                </a:solidFill>
                <a:effectLst/>
                <a:latin typeface="Arial" panose="020B0604020202020204" pitchFamily="34" charset="0"/>
                <a:cs typeface="Arial" panose="020B0604020202020204" pitchFamily="34" charset="0"/>
              </a:rPr>
              <a:t>Temas iniciales involucrados:</a:t>
            </a:r>
            <a:endParaRPr lang="es-CL" sz="4800" u="sng" dirty="0">
              <a:solidFill>
                <a:schemeClr val="accent1">
                  <a:lumMod val="60000"/>
                  <a:lumOff val="40000"/>
                </a:schemeClr>
              </a:solidFill>
              <a:latin typeface="Arial" panose="020B0604020202020204" pitchFamily="34" charset="0"/>
              <a:cs typeface="Arial" panose="020B0604020202020204" pitchFamily="34" charset="0"/>
            </a:endParaRPr>
          </a:p>
        </p:txBody>
      </p:sp>
      <p:sp>
        <p:nvSpPr>
          <p:cNvPr id="3" name="CuadroTexto 2"/>
          <p:cNvSpPr txBox="1"/>
          <p:nvPr/>
        </p:nvSpPr>
        <p:spPr>
          <a:xfrm>
            <a:off x="2779899" y="1165622"/>
            <a:ext cx="6562158" cy="3416320"/>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Para esto debemos diferenciar el mantenimiento preventivo del correctivo, el mantenimiento correctivo resuelve los problemas, mientras que el preventivo trata de evitarlos. Así, el mantenimiento correctivo se lleva a cabo cuando se produce una avería en una máquina o equipo. </a:t>
            </a:r>
          </a:p>
          <a:p>
            <a:pPr algn="just">
              <a:lnSpc>
                <a:spcPct val="150000"/>
              </a:lnSpc>
            </a:pPr>
            <a:r>
              <a:rPr lang="es-CL" sz="1200" dirty="0">
                <a:latin typeface="Arial" panose="020B0604020202020204" pitchFamily="34" charset="0"/>
                <a:cs typeface="Arial" panose="020B0604020202020204" pitchFamily="34" charset="0"/>
              </a:rPr>
              <a:t>El mantenimiento preventivo, en cambio busca mediante comprobaciones y tareas rutinarias, verificar que un activo funciona correctamente e identificar cualquier fallo en su funcionamiento antes de que se produzca una avería. Todo esto para que la empresa no involucre mayores gastos en un mantenimiento correctivo. Como ejemplo de un plan preventivo seria el cambio de aceite motor, filtros del vehículos (aceite, aire, polen), pastilla de freno, alineamiento, revisión de nivel de líquidos, limpieza y mantención de inyectores y prueba de ruta. </a:t>
            </a:r>
          </a:p>
          <a:p>
            <a:endParaRPr lang="es-CL" dirty="0"/>
          </a:p>
        </p:txBody>
      </p:sp>
      <p:pic>
        <p:nvPicPr>
          <p:cNvPr id="4" name="Imagen 3"/>
          <p:cNvPicPr>
            <a:picLocks noChangeAspect="1"/>
          </p:cNvPicPr>
          <p:nvPr/>
        </p:nvPicPr>
        <p:blipFill>
          <a:blip r:embed="rId2"/>
          <a:stretch>
            <a:fillRect/>
          </a:stretch>
        </p:blipFill>
        <p:spPr>
          <a:xfrm>
            <a:off x="4457622" y="4462885"/>
            <a:ext cx="3206712" cy="200419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1772080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72B98CB-BD8E-1D3C-036A-D1FE2E56A9F2}"/>
              </a:ext>
            </a:extLst>
          </p:cNvPr>
          <p:cNvSpPr>
            <a:spLocks noGrp="1"/>
          </p:cNvSpPr>
          <p:nvPr>
            <p:ph type="title"/>
          </p:nvPr>
        </p:nvSpPr>
        <p:spPr>
          <a:xfrm>
            <a:off x="1612446" y="520956"/>
            <a:ext cx="8911687" cy="1280890"/>
          </a:xfrm>
        </p:spPr>
        <p:txBody>
          <a:bodyPr>
            <a:normAutofit/>
          </a:bodyPr>
          <a:lstStyle/>
          <a:p>
            <a:pPr algn="ctr"/>
            <a:r>
              <a:rPr lang="es-ES" sz="2800" b="0" i="0" u="sng" dirty="0">
                <a:solidFill>
                  <a:schemeClr val="accent1">
                    <a:lumMod val="60000"/>
                    <a:lumOff val="40000"/>
                  </a:schemeClr>
                </a:solidFill>
                <a:effectLst/>
                <a:latin typeface="Arial" panose="020B0604020202020204" pitchFamily="34" charset="0"/>
                <a:cs typeface="Arial" panose="020B0604020202020204" pitchFamily="34" charset="0"/>
              </a:rPr>
              <a:t>Cronograma y materiales a utilizar:</a:t>
            </a:r>
            <a:endParaRPr lang="es-CL" sz="4800" u="sng" dirty="0">
              <a:solidFill>
                <a:schemeClr val="accent1">
                  <a:lumMod val="60000"/>
                  <a:lumOff val="40000"/>
                </a:schemeClr>
              </a:solidFill>
              <a:latin typeface="Arial" panose="020B0604020202020204" pitchFamily="34" charset="0"/>
              <a:cs typeface="Arial" panose="020B0604020202020204" pitchFamily="34" charset="0"/>
            </a:endParaRPr>
          </a:p>
        </p:txBody>
      </p:sp>
      <p:pic>
        <p:nvPicPr>
          <p:cNvPr id="4" name="Imagen 3"/>
          <p:cNvPicPr>
            <a:picLocks noChangeAspect="1"/>
          </p:cNvPicPr>
          <p:nvPr/>
        </p:nvPicPr>
        <p:blipFill rotWithShape="1">
          <a:blip r:embed="rId2"/>
          <a:srcRect r="588"/>
          <a:stretch/>
        </p:blipFill>
        <p:spPr>
          <a:xfrm>
            <a:off x="2226850" y="1801846"/>
            <a:ext cx="7097259" cy="133220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CuadroTexto 4"/>
          <p:cNvSpPr txBox="1"/>
          <p:nvPr/>
        </p:nvSpPr>
        <p:spPr>
          <a:xfrm>
            <a:off x="2011198" y="3814773"/>
            <a:ext cx="7528562" cy="1200329"/>
          </a:xfrm>
          <a:prstGeom prst="rect">
            <a:avLst/>
          </a:prstGeom>
          <a:noFill/>
        </p:spPr>
        <p:txBody>
          <a:bodyPr wrap="square" rtlCol="0">
            <a:spAutoFit/>
          </a:bodyPr>
          <a:lstStyle/>
          <a:p>
            <a:pPr algn="just">
              <a:lnSpc>
                <a:spcPct val="150000"/>
              </a:lnSpc>
            </a:pPr>
            <a:r>
              <a:rPr lang="es-CL" sz="1200" dirty="0">
                <a:latin typeface="Arial" panose="020B0604020202020204" pitchFamily="34" charset="0"/>
                <a:cs typeface="Arial" panose="020B0604020202020204" pitchFamily="34" charset="0"/>
              </a:rPr>
              <a:t>Materiales a utilizar: Facturas de los repuestos y de mantenimiento que se le hayan echo a los vehículos anteriormente. </a:t>
            </a:r>
          </a:p>
          <a:p>
            <a:pPr algn="just">
              <a:lnSpc>
                <a:spcPct val="150000"/>
              </a:lnSpc>
            </a:pPr>
            <a:r>
              <a:rPr lang="es-CL" sz="1200" dirty="0">
                <a:latin typeface="Arial" panose="020B0604020202020204" pitchFamily="34" charset="0"/>
                <a:cs typeface="Arial" panose="020B0604020202020204" pitchFamily="34" charset="0"/>
              </a:rPr>
              <a:t>Crear un plan de mantenimiento para cada vehículo a un determinado kilometraje. </a:t>
            </a:r>
          </a:p>
          <a:p>
            <a:pPr algn="just">
              <a:lnSpc>
                <a:spcPct val="150000"/>
              </a:lnSpc>
            </a:pPr>
            <a:r>
              <a:rPr lang="es-CL" sz="1200" dirty="0">
                <a:latin typeface="Arial" panose="020B0604020202020204" pitchFamily="34" charset="0"/>
                <a:cs typeface="Arial" panose="020B0604020202020204" pitchFamily="34" charset="0"/>
              </a:rPr>
              <a:t>Coordinar las tareas de mantenimiento preventivo en el momento que sea mejor para el flujo de producción.</a:t>
            </a:r>
          </a:p>
        </p:txBody>
      </p:sp>
    </p:spTree>
    <p:extLst>
      <p:ext uri="{BB962C8B-B14F-4D97-AF65-F5344CB8AC3E}">
        <p14:creationId xmlns:p14="http://schemas.microsoft.com/office/powerpoint/2010/main" val="19500247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589491" y="311417"/>
            <a:ext cx="8911687" cy="689651"/>
          </a:xfrm>
        </p:spPr>
        <p:txBody>
          <a:bodyPr>
            <a:normAutofit/>
          </a:bodyPr>
          <a:lstStyle/>
          <a:p>
            <a:pPr algn="ctr"/>
            <a:r>
              <a:rPr lang="es-CL" sz="2800" u="sng" dirty="0">
                <a:latin typeface="Arial" panose="020B0604020202020204" pitchFamily="34" charset="0"/>
                <a:cs typeface="Arial" panose="020B0604020202020204" pitchFamily="34" charset="0"/>
              </a:rPr>
              <a:t>Herramientas tecnológicas:</a:t>
            </a:r>
          </a:p>
        </p:txBody>
      </p:sp>
      <p:sp>
        <p:nvSpPr>
          <p:cNvPr id="3" name="Marcador de contenido 2"/>
          <p:cNvSpPr>
            <a:spLocks noGrp="1"/>
          </p:cNvSpPr>
          <p:nvPr>
            <p:ph idx="1"/>
          </p:nvPr>
        </p:nvSpPr>
        <p:spPr>
          <a:xfrm>
            <a:off x="585788" y="1001068"/>
            <a:ext cx="11279378" cy="5556895"/>
          </a:xfrm>
        </p:spPr>
        <p:txBody>
          <a:bodyPr>
            <a:normAutofit fontScale="92500" lnSpcReduction="20000"/>
          </a:bodyPr>
          <a:lstStyle/>
          <a:p>
            <a:pPr>
              <a:lnSpc>
                <a:spcPct val="170000"/>
              </a:lnSpc>
            </a:pPr>
            <a:r>
              <a:rPr lang="es-CL" sz="1300" dirty="0">
                <a:latin typeface="Arial" panose="020B0604020202020204" pitchFamily="34" charset="0"/>
                <a:cs typeface="Arial" panose="020B0604020202020204" pitchFamily="34" charset="0"/>
              </a:rPr>
              <a:t>La herramienta tecnológica que utilizamos es geogebra en la cual utilizamos la función lineal para graficar.</a:t>
            </a:r>
          </a:p>
          <a:p>
            <a:pPr marL="0" indent="0">
              <a:buNone/>
            </a:pPr>
            <a:endParaRPr lang="es-CL" dirty="0">
              <a:latin typeface="Arial" panose="020B0604020202020204" pitchFamily="34" charset="0"/>
              <a:cs typeface="Arial" panose="020B0604020202020204" pitchFamily="34" charset="0"/>
            </a:endParaRPr>
          </a:p>
          <a:p>
            <a:endParaRPr lang="es-CL" dirty="0"/>
          </a:p>
          <a:p>
            <a:endParaRPr lang="es-CL" dirty="0"/>
          </a:p>
          <a:p>
            <a:endParaRPr lang="es-CL" dirty="0"/>
          </a:p>
          <a:p>
            <a:pPr marL="0" indent="0">
              <a:buNone/>
            </a:pPr>
            <a:endParaRPr lang="es-CL" dirty="0"/>
          </a:p>
          <a:p>
            <a:endParaRPr lang="es-CL" dirty="0"/>
          </a:p>
          <a:p>
            <a:endParaRPr lang="es-CL" dirty="0"/>
          </a:p>
          <a:p>
            <a:endParaRPr lang="es-CL" dirty="0"/>
          </a:p>
          <a:p>
            <a:endParaRPr lang="es-CL" dirty="0"/>
          </a:p>
          <a:p>
            <a:endParaRPr lang="es-CL" dirty="0"/>
          </a:p>
          <a:p>
            <a:pPr algn="just">
              <a:lnSpc>
                <a:spcPct val="160000"/>
              </a:lnSpc>
            </a:pPr>
            <a:r>
              <a:rPr lang="es-CL" sz="1300" dirty="0">
                <a:latin typeface="Arial" panose="020B0604020202020204" pitchFamily="34" charset="0"/>
                <a:cs typeface="Arial" panose="020B0604020202020204" pitchFamily="34" charset="0"/>
              </a:rPr>
              <a:t>La línea azul representa la función lineal de gasto que generan las 10 maquinarias  sin mantenimiento en repararse y esto es 59.041.680 pesos. </a:t>
            </a:r>
          </a:p>
          <a:p>
            <a:pPr algn="just">
              <a:lnSpc>
                <a:spcPct val="160000"/>
              </a:lnSpc>
            </a:pPr>
            <a:r>
              <a:rPr lang="es-CL" sz="1300" dirty="0">
                <a:latin typeface="Arial" panose="020B0604020202020204" pitchFamily="34" charset="0"/>
                <a:cs typeface="Arial" panose="020B0604020202020204" pitchFamily="34" charset="0"/>
              </a:rPr>
              <a:t>La línea verde representa la función lineal del gasto del mantenimiento que es de 35.940.000 pesos y el ahorro de esta función es de 23.101.680 pesos comparada con el gasto de la reparaciones de las maquinarias.</a:t>
            </a:r>
          </a:p>
          <a:p>
            <a:pPr algn="just">
              <a:lnSpc>
                <a:spcPct val="160000"/>
              </a:lnSpc>
            </a:pPr>
            <a:r>
              <a:rPr lang="es-CL" sz="1300" dirty="0">
                <a:latin typeface="Arial" panose="020B0604020202020204" pitchFamily="34" charset="0"/>
                <a:cs typeface="Arial" panose="020B0604020202020204" pitchFamily="34" charset="0"/>
              </a:rPr>
              <a:t> En un año más se muestra en c y d la función de el gasto de la reparación y crese en 118.086.079 pesos y en el gasto de la mantención crese solo a 71.880.607 millones y si se sigue con la mantención se ahorra en dos años 46.205.472 millones.</a:t>
            </a:r>
          </a:p>
          <a:p>
            <a:endParaRPr lang="es-CL" dirty="0"/>
          </a:p>
        </p:txBody>
      </p:sp>
      <p:pic>
        <p:nvPicPr>
          <p:cNvPr id="4" name="Imagen 3" descr="Recorte de pantalla"/>
          <p:cNvPicPr>
            <a:picLocks noChangeAspect="1"/>
          </p:cNvPicPr>
          <p:nvPr/>
        </p:nvPicPr>
        <p:blipFill rotWithShape="1">
          <a:blip r:embed="rId2">
            <a:extLst>
              <a:ext uri="{28A0092B-C50C-407E-A947-70E740481C1C}">
                <a14:useLocalDpi xmlns:a14="http://schemas.microsoft.com/office/drawing/2010/main" val="0"/>
              </a:ext>
            </a:extLst>
          </a:blip>
          <a:srcRect r="31150"/>
          <a:stretch/>
        </p:blipFill>
        <p:spPr>
          <a:xfrm>
            <a:off x="906922" y="1572146"/>
            <a:ext cx="4672012" cy="28037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5" name="Imagen 4"/>
          <p:cNvPicPr>
            <a:picLocks noChangeAspect="1"/>
          </p:cNvPicPr>
          <p:nvPr/>
        </p:nvPicPr>
        <p:blipFill>
          <a:blip r:embed="rId3"/>
          <a:stretch>
            <a:fillRect/>
          </a:stretch>
        </p:blipFill>
        <p:spPr>
          <a:xfrm>
            <a:off x="5900068" y="1588121"/>
            <a:ext cx="5965099" cy="277177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72349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46510" y="734279"/>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346510" y="1673046"/>
            <a:ext cx="8915400" cy="4495800"/>
          </a:xfrm>
        </p:spPr>
        <p:txBody>
          <a:bodyPr>
            <a:normAutofit lnSpcReduction="10000"/>
          </a:bodyPr>
          <a:lstStyle/>
          <a:p>
            <a:pPr algn="just">
              <a:lnSpc>
                <a:spcPct val="150000"/>
              </a:lnSpc>
            </a:pPr>
            <a:r>
              <a:rPr lang="es-CL" sz="1200" dirty="0">
                <a:latin typeface="Arial" panose="020B0604020202020204" pitchFamily="34" charset="0"/>
                <a:cs typeface="Arial" panose="020B0604020202020204" pitchFamily="34" charset="0"/>
              </a:rPr>
              <a:t>¿Cuáles serian los costos de no hacer un mantenimiento a tiempo ( 1 furgón de faena cada 15.000km o 2 meses)?</a:t>
            </a:r>
          </a:p>
          <a:p>
            <a:pPr algn="just">
              <a:lnSpc>
                <a:spcPct val="150000"/>
              </a:lnSpc>
            </a:pPr>
            <a:r>
              <a:rPr lang="es-CL" sz="1200" dirty="0">
                <a:latin typeface="Arial" panose="020B0604020202020204" pitchFamily="34" charset="0"/>
                <a:cs typeface="Arial" panose="020B0604020202020204" pitchFamily="34" charset="0"/>
              </a:rPr>
              <a:t>Mano de obra total: 120.000 pesos.</a:t>
            </a:r>
          </a:p>
          <a:p>
            <a:pPr algn="just">
              <a:lnSpc>
                <a:spcPct val="150000"/>
              </a:lnSpc>
            </a:pPr>
            <a:r>
              <a:rPr lang="es-CL" sz="1200" dirty="0">
                <a:latin typeface="Arial" panose="020B0604020202020204" pitchFamily="34" charset="0"/>
                <a:cs typeface="Arial" panose="020B0604020202020204" pitchFamily="34" charset="0"/>
              </a:rPr>
              <a:t>Cambio 4 inyectores (si es que llegan a fallar): 1.200.000 pesos aprox.</a:t>
            </a:r>
          </a:p>
          <a:p>
            <a:pPr algn="just">
              <a:lnSpc>
                <a:spcPct val="150000"/>
              </a:lnSpc>
            </a:pPr>
            <a:r>
              <a:rPr lang="es-CL" sz="1200" dirty="0">
                <a:latin typeface="Arial" panose="020B0604020202020204" pitchFamily="34" charset="0"/>
                <a:cs typeface="Arial" panose="020B0604020202020204" pitchFamily="34" charset="0"/>
              </a:rPr>
              <a:t>Filtros de petróleo, decantador, aire, aceite y polen: 160.000 pesos.</a:t>
            </a:r>
          </a:p>
          <a:p>
            <a:pPr algn="just">
              <a:lnSpc>
                <a:spcPct val="150000"/>
              </a:lnSpc>
            </a:pPr>
            <a:r>
              <a:rPr lang="es-CL" sz="1200" dirty="0">
                <a:latin typeface="Arial" panose="020B0604020202020204" pitchFamily="34" charset="0"/>
                <a:cs typeface="Arial" panose="020B0604020202020204" pitchFamily="34" charset="0"/>
              </a:rPr>
              <a:t>Cambio de aceite 12 litros: 99.000 pesos.</a:t>
            </a:r>
          </a:p>
          <a:p>
            <a:pPr algn="just">
              <a:lnSpc>
                <a:spcPct val="150000"/>
              </a:lnSpc>
            </a:pPr>
            <a:r>
              <a:rPr lang="es-CL" sz="1200" dirty="0">
                <a:latin typeface="Arial" panose="020B0604020202020204" pitchFamily="34" charset="0"/>
                <a:cs typeface="Arial" panose="020B0604020202020204" pitchFamily="34" charset="0"/>
              </a:rPr>
              <a:t>Limpieza estanque de combustible: 50.000 pesos.</a:t>
            </a:r>
          </a:p>
          <a:p>
            <a:pPr algn="just">
              <a:lnSpc>
                <a:spcPct val="150000"/>
              </a:lnSpc>
            </a:pPr>
            <a:r>
              <a:rPr lang="es-CL" sz="1200" dirty="0">
                <a:latin typeface="Arial" panose="020B0604020202020204" pitchFamily="34" charset="0"/>
                <a:cs typeface="Arial" panose="020B0604020202020204" pitchFamily="34" charset="0"/>
              </a:rPr>
              <a:t>Furgón de recambio ida y vuelta, mas el regreso del furgón en pana a faena (peaje, petróleo, conductor): 240.000 pesos.</a:t>
            </a:r>
          </a:p>
          <a:p>
            <a:pPr algn="just">
              <a:lnSpc>
                <a:spcPct val="150000"/>
              </a:lnSpc>
            </a:pPr>
            <a:r>
              <a:rPr lang="es-CL" sz="1200" dirty="0">
                <a:latin typeface="Arial" panose="020B0604020202020204" pitchFamily="34" charset="0"/>
                <a:cs typeface="Arial" panose="020B0604020202020204" pitchFamily="34" charset="0"/>
              </a:rPr>
              <a:t>Grúa en caso de requerirla: 500.000 pesos.</a:t>
            </a:r>
          </a:p>
          <a:p>
            <a:pPr algn="just">
              <a:lnSpc>
                <a:spcPct val="150000"/>
              </a:lnSpc>
            </a:pPr>
            <a:r>
              <a:rPr lang="es-CL" sz="1200" dirty="0">
                <a:latin typeface="Arial" panose="020B0604020202020204" pitchFamily="34" charset="0"/>
                <a:cs typeface="Arial" panose="020B0604020202020204" pitchFamily="34" charset="0"/>
              </a:rPr>
              <a:t>Costo total mantención: 2.249.120 pesos aprox.</a:t>
            </a:r>
          </a:p>
          <a:p>
            <a:pPr algn="just">
              <a:lnSpc>
                <a:spcPct val="150000"/>
              </a:lnSpc>
            </a:pPr>
            <a:r>
              <a:rPr lang="es-CL" sz="1200" dirty="0">
                <a:latin typeface="Arial" panose="020B0604020202020204" pitchFamily="34" charset="0"/>
                <a:cs typeface="Arial" panose="020B0604020202020204" pitchFamily="34" charset="0"/>
              </a:rPr>
              <a:t>La probabilidad de que fallen los inyectores en los furgones de la empresa es de 7 de 10, cada  45.000 a 50.000 kilómetros. </a:t>
            </a:r>
          </a:p>
          <a:p>
            <a:pPr algn="just">
              <a:lnSpc>
                <a:spcPct val="150000"/>
              </a:lnSpc>
            </a:pPr>
            <a:r>
              <a:rPr lang="es-CL" sz="1200" dirty="0">
                <a:latin typeface="Arial" panose="020B0604020202020204" pitchFamily="34" charset="0"/>
                <a:cs typeface="Arial" panose="020B0604020202020204" pitchFamily="34" charset="0"/>
              </a:rPr>
              <a:t>Todos estos valores son calculados aproximadamente o estimados, sacados de paginas de repuestos y mantención automotriz. </a:t>
            </a:r>
          </a:p>
          <a:p>
            <a:endParaRPr lang="es-CL" dirty="0"/>
          </a:p>
          <a:p>
            <a:endParaRPr lang="es-CL" dirty="0"/>
          </a:p>
        </p:txBody>
      </p:sp>
    </p:spTree>
    <p:extLst>
      <p:ext uri="{BB962C8B-B14F-4D97-AF65-F5344CB8AC3E}">
        <p14:creationId xmlns:p14="http://schemas.microsoft.com/office/powerpoint/2010/main" val="2933746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5954" y="714949"/>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302241" y="1451322"/>
            <a:ext cx="8915400" cy="5012675"/>
          </a:xfrm>
        </p:spPr>
        <p:txBody>
          <a:bodyPr>
            <a:noAutofit/>
          </a:bodyPr>
          <a:lstStyle/>
          <a:p>
            <a:pPr algn="just">
              <a:lnSpc>
                <a:spcPct val="150000"/>
              </a:lnSpc>
            </a:pPr>
            <a:r>
              <a:rPr lang="es-CL" sz="1200" dirty="0">
                <a:latin typeface="Arial" panose="020B0604020202020204" pitchFamily="34" charset="0"/>
                <a:cs typeface="Arial" panose="020B0604020202020204" pitchFamily="34" charset="0"/>
              </a:rPr>
              <a:t>¿Cuántos serian los costos de hacer la mantención preventiva a tiempo?</a:t>
            </a:r>
          </a:p>
          <a:p>
            <a:pPr algn="just">
              <a:lnSpc>
                <a:spcPct val="150000"/>
              </a:lnSpc>
            </a:pPr>
            <a:r>
              <a:rPr lang="es-CL" sz="1200" dirty="0">
                <a:latin typeface="Arial" panose="020B0604020202020204" pitchFamily="34" charset="0"/>
                <a:cs typeface="Arial" panose="020B0604020202020204" pitchFamily="34" charset="0"/>
              </a:rPr>
              <a:t>Mano de obra: 90.000 pesos.</a:t>
            </a:r>
          </a:p>
          <a:p>
            <a:pPr algn="just">
              <a:lnSpc>
                <a:spcPct val="150000"/>
              </a:lnSpc>
            </a:pPr>
            <a:r>
              <a:rPr lang="es-CL" sz="1200" dirty="0">
                <a:latin typeface="Arial" panose="020B0604020202020204" pitchFamily="34" charset="0"/>
                <a:cs typeface="Arial" panose="020B0604020202020204" pitchFamily="34" charset="0"/>
              </a:rPr>
              <a:t>Limpieza 4 inyectores: 200.000 pesos.</a:t>
            </a:r>
          </a:p>
          <a:p>
            <a:pPr algn="just">
              <a:lnSpc>
                <a:spcPct val="150000"/>
              </a:lnSpc>
            </a:pPr>
            <a:r>
              <a:rPr lang="es-CL" sz="1200" dirty="0">
                <a:latin typeface="Arial" panose="020B0604020202020204" pitchFamily="34" charset="0"/>
                <a:cs typeface="Arial" panose="020B0604020202020204" pitchFamily="34" charset="0"/>
              </a:rPr>
              <a:t>Filtros de petróleo, decantador, aire, aceite y polen: 160.000 pesos.</a:t>
            </a:r>
          </a:p>
          <a:p>
            <a:pPr algn="just">
              <a:lnSpc>
                <a:spcPct val="150000"/>
              </a:lnSpc>
            </a:pPr>
            <a:r>
              <a:rPr lang="es-CL" sz="1200" dirty="0">
                <a:latin typeface="Arial" panose="020B0604020202020204" pitchFamily="34" charset="0"/>
                <a:cs typeface="Arial" panose="020B0604020202020204" pitchFamily="34" charset="0"/>
              </a:rPr>
              <a:t>Cambio de aceite 12 litros: 99.000 pesos.</a:t>
            </a:r>
          </a:p>
          <a:p>
            <a:pPr algn="just">
              <a:lnSpc>
                <a:spcPct val="150000"/>
              </a:lnSpc>
            </a:pPr>
            <a:r>
              <a:rPr lang="es-CL" sz="1200" dirty="0">
                <a:latin typeface="Arial" panose="020B0604020202020204" pitchFamily="34" charset="0"/>
                <a:cs typeface="Arial" panose="020B0604020202020204" pitchFamily="34" charset="0"/>
              </a:rPr>
              <a:t>Limpieza estanque de combustible: 50.000 pesos.</a:t>
            </a:r>
          </a:p>
          <a:p>
            <a:pPr algn="just">
              <a:lnSpc>
                <a:spcPct val="150000"/>
              </a:lnSpc>
            </a:pPr>
            <a:r>
              <a:rPr lang="es-CL" sz="1200" dirty="0">
                <a:latin typeface="Arial" panose="020B0604020202020204" pitchFamily="34" charset="0"/>
                <a:cs typeface="Arial" panose="020B0604020202020204" pitchFamily="34" charset="0"/>
              </a:rPr>
              <a:t>Costo total mantención: 599.000 pesos.</a:t>
            </a:r>
          </a:p>
          <a:p>
            <a:pPr algn="just">
              <a:lnSpc>
                <a:spcPct val="150000"/>
              </a:lnSpc>
            </a:pPr>
            <a:r>
              <a:rPr lang="es-CL" sz="1200" dirty="0">
                <a:latin typeface="Arial" panose="020B0604020202020204" pitchFamily="34" charset="0"/>
                <a:cs typeface="Arial" panose="020B0604020202020204" pitchFamily="34" charset="0"/>
              </a:rPr>
              <a:t>El costos de no hacer un mantenimiento a tiempo rondan los 2.249.120 pesos, el mantenimiento preventivo ronda los 599.000 pesos, si se hace el mantenimiento preventivo cuando corresponde la empresa se ahorraría 1.650.120 pesos  cada vez que tengan que cambiar (inyectores, el furgón quede en pana, grúa, furgón de recambio, etc.). </a:t>
            </a:r>
          </a:p>
          <a:p>
            <a:pPr algn="just">
              <a:lnSpc>
                <a:spcPct val="150000"/>
              </a:lnSpc>
            </a:pPr>
            <a:r>
              <a:rPr lang="es-CL" sz="1200" dirty="0">
                <a:latin typeface="Arial" panose="020B0604020202020204" pitchFamily="34" charset="0"/>
                <a:cs typeface="Arial" panose="020B0604020202020204" pitchFamily="34" charset="0"/>
              </a:rPr>
              <a:t>Si este mantenimiento lo prolongamos en los 6 meses de mantención a respetarse, el total al año seria de 3.594.000 pesos, en comparación si llegaran a fallar 2 veces los inyectores al año la suma asciende a 6.894.240 pesos, la cantidad que se ahorraría la empresa haciendo su mantenciones a tiempo serian 3.300.240 pesos que corresponden a un 52.13% menos por cada furgón.</a:t>
            </a:r>
          </a:p>
        </p:txBody>
      </p:sp>
      <p:pic>
        <p:nvPicPr>
          <p:cNvPr id="4" name="Imagen 3"/>
          <p:cNvPicPr>
            <a:picLocks noChangeAspect="1"/>
          </p:cNvPicPr>
          <p:nvPr/>
        </p:nvPicPr>
        <p:blipFill rotWithShape="1">
          <a:blip r:embed="rId2"/>
          <a:srcRect l="34420"/>
          <a:stretch/>
        </p:blipFill>
        <p:spPr>
          <a:xfrm>
            <a:off x="6841375" y="1995839"/>
            <a:ext cx="2941102" cy="1494926"/>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422254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784980" y="701228"/>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568849" y="1670592"/>
            <a:ext cx="8915400" cy="3777622"/>
          </a:xfrm>
        </p:spPr>
        <p:txBody>
          <a:bodyPr>
            <a:normAutofit/>
          </a:bodyPr>
          <a:lstStyle/>
          <a:p>
            <a:pPr algn="just">
              <a:lnSpc>
                <a:spcPct val="150000"/>
              </a:lnSpc>
            </a:pPr>
            <a:r>
              <a:rPr lang="es-CL" sz="1200" dirty="0">
                <a:latin typeface="Arial" panose="020B0604020202020204" pitchFamily="34" charset="0"/>
                <a:cs typeface="Arial" panose="020B0604020202020204" pitchFamily="34" charset="0"/>
              </a:rPr>
              <a:t>¿Cuánto aumentaría la utilidad de la empresa?</a:t>
            </a:r>
          </a:p>
          <a:p>
            <a:pPr algn="just">
              <a:lnSpc>
                <a:spcPct val="150000"/>
              </a:lnSpc>
            </a:pPr>
            <a:r>
              <a:rPr lang="es-CL" sz="1200" dirty="0">
                <a:latin typeface="Arial" panose="020B0604020202020204" pitchFamily="34" charset="0"/>
                <a:cs typeface="Arial" panose="020B0604020202020204" pitchFamily="34" charset="0"/>
              </a:rPr>
              <a:t>7 furgones malos  (4 meses inyectores) 31.487.680+ (8 meses restantes mantención normal) 16.772.000</a:t>
            </a:r>
          </a:p>
          <a:p>
            <a:pPr algn="just">
              <a:lnSpc>
                <a:spcPct val="150000"/>
              </a:lnSpc>
            </a:pPr>
            <a:r>
              <a:rPr lang="es-CL" sz="1200" dirty="0">
                <a:latin typeface="Arial" panose="020B0604020202020204" pitchFamily="34" charset="0"/>
                <a:cs typeface="Arial" panose="020B0604020202020204" pitchFamily="34" charset="0"/>
              </a:rPr>
              <a:t> 3 furgones buenos  (12 meses mantención normal) 10.782.000</a:t>
            </a:r>
          </a:p>
          <a:p>
            <a:pPr algn="just">
              <a:lnSpc>
                <a:spcPct val="150000"/>
              </a:lnSpc>
            </a:pPr>
            <a:r>
              <a:rPr lang="es-CL" sz="1200" dirty="0">
                <a:latin typeface="Arial" panose="020B0604020202020204" pitchFamily="34" charset="0"/>
                <a:cs typeface="Arial" panose="020B0604020202020204" pitchFamily="34" charset="0"/>
              </a:rPr>
              <a:t>Total: 59.041.680</a:t>
            </a:r>
          </a:p>
          <a:p>
            <a:pPr algn="just">
              <a:lnSpc>
                <a:spcPct val="150000"/>
              </a:lnSpc>
            </a:pPr>
            <a:r>
              <a:rPr lang="es-CL" sz="1200" dirty="0">
                <a:latin typeface="Arial" panose="020B0604020202020204" pitchFamily="34" charset="0"/>
                <a:cs typeface="Arial" panose="020B0604020202020204" pitchFamily="34" charset="0"/>
              </a:rPr>
              <a:t>10 furgones mantenimiento tiempo 35.940.000</a:t>
            </a:r>
          </a:p>
          <a:p>
            <a:pPr algn="just">
              <a:lnSpc>
                <a:spcPct val="150000"/>
              </a:lnSpc>
            </a:pPr>
            <a:r>
              <a:rPr lang="es-CL" sz="1200" dirty="0">
                <a:latin typeface="Arial" panose="020B0604020202020204" pitchFamily="34" charset="0"/>
                <a:cs typeface="Arial" panose="020B0604020202020204" pitchFamily="34" charset="0"/>
              </a:rPr>
              <a:t>Si se resta el costo total de los 10 furgones sin mantenimiento a tiempo, con el costo de 10 furgones con mantenimiento a tiempo, la empresa se ahorraría 23.101.680  que es un 39.13% aprox de utilidad, si hace el mantenimiento correctivo a tiempo a los 10 furgones, este dinero lo podría utilizar para diversos fines de la empresa. </a:t>
            </a:r>
          </a:p>
          <a:p>
            <a:endParaRPr lang="es-CL" dirty="0"/>
          </a:p>
        </p:txBody>
      </p:sp>
      <p:pic>
        <p:nvPicPr>
          <p:cNvPr id="4" name="Imagen 3"/>
          <p:cNvPicPr>
            <a:picLocks noChangeAspect="1"/>
          </p:cNvPicPr>
          <p:nvPr/>
        </p:nvPicPr>
        <p:blipFill>
          <a:blip r:embed="rId2"/>
          <a:stretch>
            <a:fillRect/>
          </a:stretch>
        </p:blipFill>
        <p:spPr>
          <a:xfrm>
            <a:off x="5411407" y="4691756"/>
            <a:ext cx="1512916" cy="1512916"/>
          </a:xfrm>
          <a:prstGeom prst="rect">
            <a:avLst/>
          </a:prstGeom>
        </p:spPr>
      </p:pic>
    </p:spTree>
    <p:extLst>
      <p:ext uri="{BB962C8B-B14F-4D97-AF65-F5344CB8AC3E}">
        <p14:creationId xmlns:p14="http://schemas.microsoft.com/office/powerpoint/2010/main" val="2727892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31341" y="756313"/>
            <a:ext cx="8911687" cy="1280890"/>
          </a:xfrm>
        </p:spPr>
        <p:txBody>
          <a:bodyPr>
            <a:normAutofit/>
          </a:bodyPr>
          <a:lstStyle/>
          <a:p>
            <a:pPr algn="ctr"/>
            <a:r>
              <a:rPr lang="es-CL" sz="2800" u="sng" dirty="0">
                <a:latin typeface="Arial" panose="020B0604020202020204" pitchFamily="34" charset="0"/>
                <a:cs typeface="Arial" panose="020B0604020202020204" pitchFamily="34" charset="0"/>
              </a:rPr>
              <a:t>Proceso a preguntas:</a:t>
            </a:r>
          </a:p>
        </p:txBody>
      </p:sp>
      <p:sp>
        <p:nvSpPr>
          <p:cNvPr id="3" name="Marcador de contenido 2"/>
          <p:cNvSpPr>
            <a:spLocks noGrp="1"/>
          </p:cNvSpPr>
          <p:nvPr>
            <p:ph idx="1"/>
          </p:nvPr>
        </p:nvSpPr>
        <p:spPr>
          <a:xfrm>
            <a:off x="1227628" y="1560021"/>
            <a:ext cx="8915400" cy="3777622"/>
          </a:xfrm>
        </p:spPr>
        <p:txBody>
          <a:bodyPr>
            <a:normAutofit/>
          </a:bodyPr>
          <a:lstStyle/>
          <a:p>
            <a:pPr algn="just">
              <a:lnSpc>
                <a:spcPct val="150000"/>
              </a:lnSpc>
            </a:pPr>
            <a:r>
              <a:rPr lang="es-CL" sz="1200" dirty="0">
                <a:latin typeface="Arial" panose="020B0604020202020204" pitchFamily="34" charset="0"/>
                <a:cs typeface="Arial" panose="020B0604020202020204" pitchFamily="34" charset="0"/>
              </a:rPr>
              <a:t>¿Cuánta perdida de dinero hay en mantenciones correctivas que se pueden haber realizado antes de la falla?  </a:t>
            </a:r>
          </a:p>
          <a:p>
            <a:pPr algn="just">
              <a:lnSpc>
                <a:spcPct val="150000"/>
              </a:lnSpc>
            </a:pPr>
            <a:r>
              <a:rPr lang="es-CL" sz="1200" dirty="0">
                <a:latin typeface="Arial" panose="020B0604020202020204" pitchFamily="34" charset="0"/>
                <a:cs typeface="Arial" panose="020B0604020202020204" pitchFamily="34" charset="0"/>
              </a:rPr>
              <a:t>Teniendo en consideración la probabilidad de que a 7 de cada 10 furgones le fallan los inyectores 2 veces al año, realizamos los siguientes cálculos: (599.000 mantención normal, 2.249.000 mantención correctiva)</a:t>
            </a:r>
          </a:p>
          <a:p>
            <a:pPr algn="just">
              <a:lnSpc>
                <a:spcPct val="150000"/>
              </a:lnSpc>
            </a:pPr>
            <a:r>
              <a:rPr lang="es-CL" sz="1200" dirty="0">
                <a:latin typeface="Arial" panose="020B0604020202020204" pitchFamily="34" charset="0"/>
                <a:cs typeface="Arial" panose="020B0604020202020204" pitchFamily="34" charset="0"/>
              </a:rPr>
              <a:t>7 furgones (4 meses inyectores malos) 31.487.680+ (8 meses restantes mantención normal) 16.772.000, total: 48.259.680</a:t>
            </a:r>
          </a:p>
          <a:p>
            <a:pPr algn="just">
              <a:lnSpc>
                <a:spcPct val="150000"/>
              </a:lnSpc>
            </a:pPr>
            <a:r>
              <a:rPr lang="es-CL" sz="1200" dirty="0">
                <a:latin typeface="Arial" panose="020B0604020202020204" pitchFamily="34" charset="0"/>
                <a:cs typeface="Arial" panose="020B0604020202020204" pitchFamily="34" charset="0"/>
              </a:rPr>
              <a:t>Mantención a tiempo de los 7 furgones: 25.158.000</a:t>
            </a:r>
          </a:p>
          <a:p>
            <a:pPr algn="just">
              <a:lnSpc>
                <a:spcPct val="150000"/>
              </a:lnSpc>
            </a:pPr>
            <a:r>
              <a:rPr lang="es-CL" sz="1200" dirty="0">
                <a:latin typeface="Arial" panose="020B0604020202020204" pitchFamily="34" charset="0"/>
                <a:cs typeface="Arial" panose="020B0604020202020204" pitchFamily="34" charset="0"/>
              </a:rPr>
              <a:t>31.487.680(mantención correctiva 7 furgones)-(mantención preventiva a tiempo sise le hubiera echo a los 7 furgones)8.386.000= la empresa esta desembolsando 23.101.680 pesos al año por no realizar mantenimientos a tiempo de sus furgones.</a:t>
            </a:r>
          </a:p>
          <a:p>
            <a:endParaRPr lang="es-CL" dirty="0"/>
          </a:p>
          <a:p>
            <a:endParaRPr lang="es-CL" dirty="0"/>
          </a:p>
        </p:txBody>
      </p:sp>
      <p:pic>
        <p:nvPicPr>
          <p:cNvPr id="4" name="Imagen 3"/>
          <p:cNvPicPr>
            <a:picLocks noChangeAspect="1"/>
          </p:cNvPicPr>
          <p:nvPr/>
        </p:nvPicPr>
        <p:blipFill>
          <a:blip r:embed="rId2"/>
          <a:stretch>
            <a:fillRect/>
          </a:stretch>
        </p:blipFill>
        <p:spPr>
          <a:xfrm>
            <a:off x="4014469" y="4621914"/>
            <a:ext cx="3341717" cy="151943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6445141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36962" y="732175"/>
            <a:ext cx="8911687" cy="506421"/>
          </a:xfrm>
        </p:spPr>
        <p:txBody>
          <a:bodyPr>
            <a:noAutofit/>
          </a:bodyPr>
          <a:lstStyle/>
          <a:p>
            <a:pPr algn="ctr"/>
            <a:r>
              <a:rPr lang="es-CL" sz="2800" u="sng" dirty="0">
                <a:latin typeface="Arial" panose="020B0604020202020204" pitchFamily="34" charset="0"/>
                <a:cs typeface="Arial" panose="020B0604020202020204" pitchFamily="34" charset="0"/>
              </a:rPr>
              <a:t>Conclusión y bibliografía:</a:t>
            </a:r>
          </a:p>
        </p:txBody>
      </p:sp>
      <p:sp>
        <p:nvSpPr>
          <p:cNvPr id="3" name="Marcador de contenido 2"/>
          <p:cNvSpPr>
            <a:spLocks noGrp="1"/>
          </p:cNvSpPr>
          <p:nvPr>
            <p:ph idx="1"/>
          </p:nvPr>
        </p:nvSpPr>
        <p:spPr>
          <a:xfrm>
            <a:off x="2009076" y="1720735"/>
            <a:ext cx="8167458" cy="4646815"/>
          </a:xfrm>
        </p:spPr>
        <p:txBody>
          <a:bodyPr>
            <a:normAutofit/>
          </a:bodyPr>
          <a:lstStyle/>
          <a:p>
            <a:pPr algn="just">
              <a:lnSpc>
                <a:spcPct val="150000"/>
              </a:lnSpc>
            </a:pPr>
            <a:r>
              <a:rPr lang="es-CL" sz="1200" dirty="0">
                <a:latin typeface="Arial" panose="020B0604020202020204" pitchFamily="34" charset="0"/>
                <a:cs typeface="Arial" panose="020B0604020202020204" pitchFamily="34" charset="0"/>
              </a:rPr>
              <a:t>Es evidente que al realizar las mantenciones a tiempo y/o fuera de tiempo hay ciertas diferencias ya que se ahorra un tanto por ciento realizando las mantenciones a tiempo y al realizar las mantenciones fuera de tiempo tenemos un mayor gasto en las respectivas mantenciones que se pueden realizar a tiempo y así evitar los mayores gastos en mantenciones.</a:t>
            </a:r>
          </a:p>
          <a:p>
            <a:pPr algn="just">
              <a:lnSpc>
                <a:spcPct val="150000"/>
              </a:lnSpc>
            </a:pPr>
            <a:r>
              <a:rPr lang="es-CL" sz="1200" dirty="0">
                <a:latin typeface="Arial" panose="020B0604020202020204" pitchFamily="34" charset="0"/>
                <a:cs typeface="Arial" panose="020B0604020202020204" pitchFamily="34" charset="0"/>
                <a:hlinkClick r:id="rId2"/>
              </a:rPr>
              <a:t>https://listado.mercadolibre.cl/reouestos-sprinter#D[A:reouestos%20sprinter</a:t>
            </a:r>
            <a:endParaRPr lang="es-CL" sz="1200" dirty="0">
              <a:latin typeface="Arial" panose="020B0604020202020204" pitchFamily="34" charset="0"/>
              <a:cs typeface="Arial" panose="020B0604020202020204" pitchFamily="34" charset="0"/>
            </a:endParaRPr>
          </a:p>
          <a:p>
            <a:pPr algn="just">
              <a:lnSpc>
                <a:spcPct val="150000"/>
              </a:lnSpc>
            </a:pPr>
            <a:r>
              <a:rPr lang="es-CL" sz="1200" dirty="0">
                <a:latin typeface="Arial" panose="020B0604020202020204" pitchFamily="34" charset="0"/>
                <a:cs typeface="Arial" panose="020B0604020202020204" pitchFamily="34" charset="0"/>
                <a:hlinkClick r:id="rId3"/>
              </a:rPr>
              <a:t>https://www.geogebra.org/?lang=es</a:t>
            </a:r>
            <a:r>
              <a:rPr lang="es-CL" sz="1200" dirty="0">
                <a:latin typeface="Arial" panose="020B0604020202020204" pitchFamily="34" charset="0"/>
                <a:cs typeface="Arial" panose="020B0604020202020204" pitchFamily="34" charset="0"/>
              </a:rPr>
              <a:t> </a:t>
            </a:r>
          </a:p>
          <a:p>
            <a:pPr algn="just">
              <a:lnSpc>
                <a:spcPct val="150000"/>
              </a:lnSpc>
            </a:pPr>
            <a:r>
              <a:rPr lang="es-CL" sz="1200" dirty="0">
                <a:latin typeface="Arial" panose="020B0604020202020204" pitchFamily="34" charset="0"/>
                <a:cs typeface="Arial" panose="020B0604020202020204" pitchFamily="34" charset="0"/>
                <a:hlinkClick r:id="rId4"/>
              </a:rPr>
              <a:t>https://www.kaufmann.cl/?utm_source=google&amp;utm_medium=CPC&amp;utm_campaign=AO-Search-Ins&amp;utm_term=Kaufmann&amp;utm_content=Kaufmann&amp;dclid=&amp;gclid=EAIaIQobChMI7NmxpcT4ggMV1VFyCh08MwJaEAAYASAAEgIKifD_BwE</a:t>
            </a:r>
            <a:r>
              <a:rPr lang="es-CL" sz="1200" dirty="0">
                <a:latin typeface="Arial" panose="020B0604020202020204" pitchFamily="34" charset="0"/>
                <a:cs typeface="Arial" panose="020B0604020202020204" pitchFamily="34" charset="0"/>
              </a:rPr>
              <a:t> </a:t>
            </a:r>
          </a:p>
          <a:p>
            <a:pPr algn="just">
              <a:lnSpc>
                <a:spcPct val="150000"/>
              </a:lnSpc>
            </a:pPr>
            <a:r>
              <a:rPr lang="es-CL" sz="1200" dirty="0">
                <a:latin typeface="Arial" panose="020B0604020202020204" pitchFamily="34" charset="0"/>
                <a:cs typeface="Arial" panose="020B0604020202020204" pitchFamily="34" charset="0"/>
                <a:hlinkClick r:id="rId5"/>
              </a:rPr>
              <a:t>https://www.caren.cl/?gad_source=1&amp;gclid=EAIaIQobChMIhfCUhMX4ggMVCh6tBh0cmA5gEAAYASAAEgIc-vD_BwE</a:t>
            </a:r>
            <a:r>
              <a:rPr lang="es-CL" sz="1200" dirty="0">
                <a:latin typeface="Arial" panose="020B0604020202020204" pitchFamily="34" charset="0"/>
                <a:cs typeface="Arial" panose="020B0604020202020204" pitchFamily="34" charset="0"/>
              </a:rPr>
              <a:t> </a:t>
            </a:r>
          </a:p>
          <a:p>
            <a:pPr algn="just"/>
            <a:endParaRPr lang="es-CL"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0421059"/>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A2A84260D04624A8B717A5811981AC4" ma:contentTypeVersion="16" ma:contentTypeDescription="Create a new document." ma:contentTypeScope="" ma:versionID="78ec2117f7e2a26e85b2e503ca3368cf">
  <xsd:schema xmlns:xsd="http://www.w3.org/2001/XMLSchema" xmlns:xs="http://www.w3.org/2001/XMLSchema" xmlns:p="http://schemas.microsoft.com/office/2006/metadata/properties" xmlns:ns3="044690ba-3bcd-4bf0-9bed-6c935b699a1b" xmlns:ns4="e18e1d99-ad59-48f1-b4b7-e09c670c4281" targetNamespace="http://schemas.microsoft.com/office/2006/metadata/properties" ma:root="true" ma:fieldsID="bd91240d1f551a398bc54852b2baaade" ns3:_="" ns4:_="">
    <xsd:import namespace="044690ba-3bcd-4bf0-9bed-6c935b699a1b"/>
    <xsd:import namespace="e18e1d99-ad59-48f1-b4b7-e09c670c428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LengthInSeconds" minOccurs="0"/>
                <xsd:element ref="ns4:MediaServiceAutoTags" minOccurs="0"/>
                <xsd:element ref="ns4:MediaServiceAutoKeyPoints" minOccurs="0"/>
                <xsd:element ref="ns4:MediaServiceKeyPoints" minOccurs="0"/>
                <xsd:element ref="ns4:MediaServiceLocation" minOccurs="0"/>
                <xsd:element ref="ns4:MediaServiceGenerationTime" minOccurs="0"/>
                <xsd:element ref="ns4:MediaServiceEventHashCode" minOccurs="0"/>
                <xsd:element ref="ns4:_activity" minOccurs="0"/>
                <xsd:element ref="ns4:MediaServiceOCR" minOccurs="0"/>
                <xsd:element ref="ns4: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44690ba-3bcd-4bf0-9bed-6c935b699a1b"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18e1d99-ad59-48f1-b4b7-e09c670c4281"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Tags" ma:index="15" nillable="true" ma:displayName="Tags" ma:internalName="MediaServiceAutoTags"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element name="MediaServiceLocation" ma:index="18" nillable="true" ma:displayName="Location" ma:indexed="true" ma:internalName="MediaServiceLocation" ma:readOnly="true">
      <xsd:simpleType>
        <xsd:restriction base="dms:Text"/>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_activity" ma:index="21" nillable="true" ma:displayName="_activity" ma:hidden="true" ma:internalName="_activity">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e18e1d99-ad59-48f1-b4b7-e09c670c4281" xsi:nil="true"/>
  </documentManagement>
</p:properties>
</file>

<file path=customXml/itemProps1.xml><?xml version="1.0" encoding="utf-8"?>
<ds:datastoreItem xmlns:ds="http://schemas.openxmlformats.org/officeDocument/2006/customXml" ds:itemID="{6CD2E0C6-02D9-4725-AA2D-08585DAEFECD}">
  <ds:schemaRefs>
    <ds:schemaRef ds:uri="http://schemas.microsoft.com/sharepoint/v3/contenttype/forms"/>
  </ds:schemaRefs>
</ds:datastoreItem>
</file>

<file path=customXml/itemProps2.xml><?xml version="1.0" encoding="utf-8"?>
<ds:datastoreItem xmlns:ds="http://schemas.openxmlformats.org/officeDocument/2006/customXml" ds:itemID="{CAA8A3B3-4AE0-4A4B-B7C7-6305818128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44690ba-3bcd-4bf0-9bed-6c935b699a1b"/>
    <ds:schemaRef ds:uri="e18e1d99-ad59-48f1-b4b7-e09c670c42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E3AC9BC-3A48-41FB-89C8-97DFFCFF99CC}">
  <ds:schemaRefs>
    <ds:schemaRef ds:uri="http://purl.org/dc/terms/"/>
    <ds:schemaRef ds:uri="http://purl.org/dc/dcmitype/"/>
    <ds:schemaRef ds:uri="http://schemas.microsoft.com/office/infopath/2007/PartnerControls"/>
    <ds:schemaRef ds:uri="e18e1d99-ad59-48f1-b4b7-e09c670c4281"/>
    <ds:schemaRef ds:uri="http://schemas.microsoft.com/office/2006/documentManagement/types"/>
    <ds:schemaRef ds:uri="http://www.w3.org/XML/1998/namespace"/>
    <ds:schemaRef ds:uri="http://purl.org/dc/elements/1.1/"/>
    <ds:schemaRef ds:uri="http://schemas.openxmlformats.org/package/2006/metadata/core-properties"/>
    <ds:schemaRef ds:uri="044690ba-3bcd-4bf0-9bed-6c935b699a1b"/>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Facet</Template>
  <TotalTime>435</TotalTime>
  <Words>1550</Words>
  <Application>Microsoft Macintosh PowerPoint</Application>
  <PresentationFormat>Panorámica</PresentationFormat>
  <Paragraphs>87</Paragraphs>
  <Slides>12</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Arial</vt:lpstr>
      <vt:lpstr>Trebuchet MS</vt:lpstr>
      <vt:lpstr>Wingdings 3</vt:lpstr>
      <vt:lpstr>Faceta</vt:lpstr>
      <vt:lpstr>Plan mantenimiento automotriz</vt:lpstr>
      <vt:lpstr>Definición proyecto:</vt:lpstr>
      <vt:lpstr>Tema de investigación, nociones matemáticas y problemática a abordar: </vt:lpstr>
      <vt:lpstr>Objetivos y preguntas de investigación:  </vt:lpstr>
      <vt:lpstr>Temas iniciales involucrados:</vt:lpstr>
      <vt:lpstr>Cronograma y materiales a utilizar:</vt:lpstr>
      <vt:lpstr>Herramientas tecnológicas:</vt:lpstr>
      <vt:lpstr>Proceso a preguntas:</vt:lpstr>
      <vt:lpstr>Proceso a preguntas:</vt:lpstr>
      <vt:lpstr>Proceso a preguntas:</vt:lpstr>
      <vt:lpstr>Proceso a preguntas:</vt:lpstr>
      <vt:lpstr>Conclusión y bibliografía:</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 Nombre del proyecto, integrantes, profesor, asignatura y carrera</dc:title>
  <dc:creator>GISELLE ANGELICA MORA OCARES</dc:creator>
  <cp:lastModifiedBy>LISSETTE ANDREA SALAMANCA MELLA</cp:lastModifiedBy>
  <cp:revision>52</cp:revision>
  <dcterms:created xsi:type="dcterms:W3CDTF">2023-08-31T16:26:40Z</dcterms:created>
  <dcterms:modified xsi:type="dcterms:W3CDTF">2023-12-12T14:34:13Z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0x0101003A2A84260D04624A8B717A5811981AC4</vt:lpwstr>
  </property>
</Properties>
</file>