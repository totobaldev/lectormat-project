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6" r:id="rId2"/>
    <p:sldId id="257" r:id="rId3"/>
    <p:sldId id="258" r:id="rId4"/>
    <p:sldId id="259" r:id="rId5"/>
    <p:sldId id="260" r:id="rId6"/>
    <p:sldId id="261" r:id="rId7"/>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SSETTE ANDREA SALAMANCA MELLA" initials="LASM" lastIdx="9" clrIdx="0">
    <p:extLst>
      <p:ext uri="{19B8F6BF-5375-455C-9EA6-DF929625EA0E}">
        <p15:presenceInfo xmlns:p15="http://schemas.microsoft.com/office/powerpoint/2012/main" userId="S::lissette.salamanca@inacapmail.cl::e8cae1b9-6bd0-45e5-8679-6c0a2293f1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062" autoAdjust="0"/>
    <p:restoredTop sz="94660"/>
  </p:normalViewPr>
  <p:slideViewPr>
    <p:cSldViewPr snapToGrid="0">
      <p:cViewPr varScale="1">
        <p:scale>
          <a:sx n="87" d="100"/>
          <a:sy n="87" d="100"/>
        </p:scale>
        <p:origin x="200" y="6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11-23T14:06:41.147" idx="1">
    <p:pos x="2639" y="782"/>
    <p:text>mejorar la redacción, el uso de verbos y tiempos verbales</p:text>
    <p:extLst>
      <p:ext uri="{C676402C-5697-4E1C-873F-D02D1690AC5C}">
        <p15:threadingInfo xmlns:p15="http://schemas.microsoft.com/office/powerpoint/2012/main" timeZoneBias="180"/>
      </p:ext>
    </p:extLst>
  </p:cm>
  <p:cm authorId="1" dt="2023-11-23T14:20:03.153" idx="2">
    <p:pos x="2559" y="2011"/>
    <p:text>si bien entrega información, esta no se encuentra ordenada</p:text>
    <p:extLst>
      <p:ext uri="{C676402C-5697-4E1C-873F-D02D1690AC5C}">
        <p15:threadingInfo xmlns:p15="http://schemas.microsoft.com/office/powerpoint/2012/main" timeZoneBias="180"/>
      </p:ext>
    </p:extLst>
  </p:cm>
  <p:cm authorId="1" dt="2023-11-23T14:20:27.877" idx="3">
    <p:pos x="10" y="10"/>
    <p:text>es una presentación poco atractiva </p:text>
    <p:extLst>
      <p:ext uri="{C676402C-5697-4E1C-873F-D02D1690AC5C}">
        <p15:threadingInfo xmlns:p15="http://schemas.microsoft.com/office/powerpoint/2012/main" timeZoneBias="1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3-11-23T14:21:01.718" idx="4">
    <p:pos x="10" y="10"/>
    <p:text/>
    <p:extLst>
      <p:ext uri="{C676402C-5697-4E1C-873F-D02D1690AC5C}">
        <p15:threadingInfo xmlns:p15="http://schemas.microsoft.com/office/powerpoint/2012/main" timeZoneBias="180"/>
      </p:ext>
    </p:extLst>
  </p:cm>
  <p:cm authorId="1" dt="2023-11-23T14:21:03.208" idx="5">
    <p:pos x="146" y="146"/>
    <p:text>falta ORDEN!</p:text>
    <p:extLst>
      <p:ext uri="{C676402C-5697-4E1C-873F-D02D1690AC5C}">
        <p15:threadingInfo xmlns:p15="http://schemas.microsoft.com/office/powerpoint/2012/main" timeZoneBias="180"/>
      </p:ext>
    </p:extLst>
  </p:cm>
  <p:cm authorId="1" dt="2023-11-23T14:21:26.378" idx="6">
    <p:pos x="282" y="282"/>
    <p:text>para clarificar el tema de investigación debe tener identificado al detalle la problemática.</p:text>
    <p:extLst>
      <p:ext uri="{C676402C-5697-4E1C-873F-D02D1690AC5C}">
        <p15:threadingInfo xmlns:p15="http://schemas.microsoft.com/office/powerpoint/2012/main" timeZoneBias="180"/>
      </p:ext>
    </p:extLst>
  </p:cm>
  <p:cm authorId="1" dt="2023-11-23T14:22:29.475" idx="7">
    <p:pos x="3229" y="1454"/>
    <p:text>si copia debe citar o utilizar lenguaje propio de forma adecuada</p:text>
    <p:extLst>
      <p:ext uri="{C676402C-5697-4E1C-873F-D02D1690AC5C}">
        <p15:threadingInfo xmlns:p15="http://schemas.microsoft.com/office/powerpoint/2012/main" timeZoneBias="1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3-11-23T14:23:34.648" idx="8">
    <p:pos x="2555" y="167"/>
    <p:text>no queda claro cual(es) son los objetivos ni preguntas.</p:text>
    <p:extLst>
      <p:ext uri="{C676402C-5697-4E1C-873F-D02D1690AC5C}">
        <p15:threadingInfo xmlns:p15="http://schemas.microsoft.com/office/powerpoint/2012/main" timeZoneBias="180"/>
      </p:ext>
    </p:extLst>
  </p:cm>
  <p:cm authorId="1" dt="2023-11-23T14:24:03.811" idx="9">
    <p:pos x="6081" y="3135"/>
    <p:text>las preguntas se deben basar en la problemática, donde la posible solución esté enfocada a desarrollar el (los) objetivos.... deben ser medibles</p:text>
    <p:extLst>
      <p:ext uri="{C676402C-5697-4E1C-873F-D02D1690AC5C}">
        <p15:threadingInfo xmlns:p15="http://schemas.microsoft.com/office/powerpoint/2012/main" timeZoneBias="18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83D70-91AA-429A-BD57-1CB6792B30EE}"/>
              </a:ext>
            </a:extLst>
          </p:cNvPr>
          <p:cNvSpPr>
            <a:spLocks noGrp="1"/>
          </p:cNvSpPr>
          <p:nvPr>
            <p:ph type="ctrTitle"/>
          </p:nvPr>
        </p:nvSpPr>
        <p:spPr>
          <a:xfrm>
            <a:off x="1088136" y="1078030"/>
            <a:ext cx="9288096" cy="2956718"/>
          </a:xfrm>
        </p:spPr>
        <p:txBody>
          <a:bodyPr anchor="t">
            <a:noAutofit/>
          </a:bodyPr>
          <a:lstStyle>
            <a:lvl1pPr algn="l">
              <a:defRPr sz="6600" cap="all" baseline="0"/>
            </a:lvl1pPr>
          </a:lstStyle>
          <a:p>
            <a:r>
              <a:rPr lang="en-US" dirty="0"/>
              <a:t>Click to edit Master title style</a:t>
            </a:r>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088136" y="4455621"/>
            <a:ext cx="9288096" cy="1435331"/>
          </a:xfrm>
        </p:spPr>
        <p:txBody>
          <a:bodyPr>
            <a:normAutofit/>
          </a:bodyPr>
          <a:lstStyle>
            <a:lvl1pPr marL="0" indent="0" algn="l">
              <a:lnSpc>
                <a:spcPct val="12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A1E45834-53BD-4C8F-B791-CD5378F4150E}" type="datetimeFigureOut">
              <a:rPr lang="en-US" smtClean="0"/>
              <a:t>11/23/23</a:t>
            </a:fld>
            <a:endParaRPr lang="en-US"/>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19D7796-F675-488F-AC46-C88938C80352}" type="slidenum">
              <a:rPr lang="en-US" smtClean="0"/>
              <a:t>‹Nº›</a:t>
            </a:fld>
            <a:endParaRPr lang="en-US"/>
          </a:p>
        </p:txBody>
      </p:sp>
    </p:spTree>
    <p:extLst>
      <p:ext uri="{BB962C8B-B14F-4D97-AF65-F5344CB8AC3E}">
        <p14:creationId xmlns:p14="http://schemas.microsoft.com/office/powerpoint/2010/main" val="26207288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fld id="{A1E45834-53BD-4C8F-B791-CD5378F4150E}" type="datetimeFigureOut">
              <a:rPr lang="en-US" smtClean="0"/>
              <a:t>11/23/23</a:t>
            </a:fld>
            <a:endParaRPr lang="en-US"/>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719D7796-F675-488F-AC46-C88938C80352}" type="slidenum">
              <a:rPr lang="en-US" smtClean="0"/>
              <a:t>‹Nº›</a:t>
            </a:fld>
            <a:endParaRPr lang="en-US"/>
          </a:p>
        </p:txBody>
      </p:sp>
    </p:spTree>
    <p:extLst>
      <p:ext uri="{BB962C8B-B14F-4D97-AF65-F5344CB8AC3E}">
        <p14:creationId xmlns:p14="http://schemas.microsoft.com/office/powerpoint/2010/main" val="1577084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8007D-9B1D-4E2C-B38F-29C6820996DF}"/>
              </a:ext>
            </a:extLst>
          </p:cNvPr>
          <p:cNvSpPr>
            <a:spLocks noGrp="1"/>
          </p:cNvSpPr>
          <p:nvPr>
            <p:ph type="title"/>
          </p:nvPr>
        </p:nvSpPr>
        <p:spPr>
          <a:xfrm>
            <a:off x="1090940" y="1099127"/>
            <a:ext cx="9272260" cy="3472874"/>
          </a:xfrm>
        </p:spPr>
        <p:txBody>
          <a:bodyPr anchor="t">
            <a:normAutofit/>
          </a:bodyPr>
          <a:lstStyle>
            <a:lvl1pPr>
              <a:defRPr sz="40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960C51B-B525-4032-9D08-2978D7367BFF}"/>
              </a:ext>
            </a:extLst>
          </p:cNvPr>
          <p:cNvSpPr>
            <a:spLocks noGrp="1"/>
          </p:cNvSpPr>
          <p:nvPr>
            <p:ph type="body" idx="1"/>
          </p:nvPr>
        </p:nvSpPr>
        <p:spPr>
          <a:xfrm>
            <a:off x="1090939" y="4572000"/>
            <a:ext cx="9272262" cy="1320801"/>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p>
            <a:fld id="{A1E45834-53BD-4C8F-B791-CD5378F4150E}" type="datetimeFigureOut">
              <a:rPr lang="en-US" smtClean="0"/>
              <a:t>11/23/23</a:t>
            </a:fld>
            <a:endParaRPr lang="en-US"/>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p>
            <a:fld id="{719D7796-F675-488F-AC46-C88938C80352}" type="slidenum">
              <a:rPr lang="en-US" smtClean="0"/>
              <a:t>‹Nº›</a:t>
            </a:fld>
            <a:endParaRPr lang="en-US"/>
          </a:p>
        </p:txBody>
      </p:sp>
    </p:spTree>
    <p:extLst>
      <p:ext uri="{BB962C8B-B14F-4D97-AF65-F5344CB8AC3E}">
        <p14:creationId xmlns:p14="http://schemas.microsoft.com/office/powerpoint/2010/main" val="4222417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088136"/>
            <a:ext cx="9890066" cy="1294228"/>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fld id="{A1E45834-53BD-4C8F-B791-CD5378F4150E}" type="datetimeFigureOut">
              <a:rPr lang="en-US" smtClean="0"/>
              <a:t>11/23/23</a:t>
            </a:fld>
            <a:endParaRPr lang="en-US"/>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719D7796-F675-488F-AC46-C88938C80352}" type="slidenum">
              <a:rPr lang="en-US" smtClean="0"/>
              <a:t>‹Nº›</a:t>
            </a:fld>
            <a:endParaRPr lang="en-US"/>
          </a:p>
        </p:txBody>
      </p:sp>
    </p:spTree>
    <p:extLst>
      <p:ext uri="{BB962C8B-B14F-4D97-AF65-F5344CB8AC3E}">
        <p14:creationId xmlns:p14="http://schemas.microsoft.com/office/powerpoint/2010/main" val="800929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1090940" y="1084333"/>
            <a:ext cx="9949455" cy="838856"/>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1092088" y="1923190"/>
            <a:ext cx="4816475" cy="838856"/>
          </a:xfrm>
        </p:spPr>
        <p:txBody>
          <a:bodyPr anchor="b">
            <a:normAutofit/>
          </a:bodyPr>
          <a:lstStyle>
            <a:lvl1pPr marL="0" indent="0">
              <a:lnSpc>
                <a:spcPct val="100000"/>
              </a:lnSpc>
              <a:buNone/>
              <a:defRPr sz="20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1092088" y="2825791"/>
            <a:ext cx="4816475" cy="33638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6215482" y="1923190"/>
            <a:ext cx="4824913" cy="838856"/>
          </a:xfrm>
        </p:spPr>
        <p:txBody>
          <a:bodyPr anchor="b">
            <a:normAutofit/>
          </a:bodyPr>
          <a:lstStyle>
            <a:lvl1pPr marL="0" indent="0">
              <a:lnSpc>
                <a:spcPct val="100000"/>
              </a:lnSpc>
              <a:buNone/>
              <a:defRPr sz="20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6215482" y="2825791"/>
            <a:ext cx="4824913" cy="3363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fld id="{A1E45834-53BD-4C8F-B791-CD5378F4150E}" type="datetimeFigureOut">
              <a:rPr lang="en-US" smtClean="0"/>
              <a:t>11/23/23</a:t>
            </a:fld>
            <a:endParaRPr lang="en-US"/>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719D7796-F675-488F-AC46-C88938C80352}" type="slidenum">
              <a:rPr lang="en-US" smtClean="0"/>
              <a:t>‹Nº›</a:t>
            </a:fld>
            <a:endParaRPr lang="en-US"/>
          </a:p>
        </p:txBody>
      </p:sp>
    </p:spTree>
    <p:extLst>
      <p:ext uri="{BB962C8B-B14F-4D97-AF65-F5344CB8AC3E}">
        <p14:creationId xmlns:p14="http://schemas.microsoft.com/office/powerpoint/2010/main" val="20960713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p:txBody>
          <a:bodyPr/>
          <a:lstStyle>
            <a:lvl1pPr>
              <a:defRPr cap="all" baseline="0"/>
            </a:lvl1pPr>
          </a:lstStyle>
          <a:p>
            <a:r>
              <a:rPr lang="en-US" dirty="0"/>
              <a:t>Click to edit Master title style</a:t>
            </a:r>
          </a:p>
        </p:txBody>
      </p:sp>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fld id="{A1E45834-53BD-4C8F-B791-CD5378F4150E}" type="datetimeFigureOut">
              <a:rPr lang="en-US" smtClean="0"/>
              <a:t>11/23/23</a:t>
            </a:fld>
            <a:endParaRPr lang="en-US"/>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719D7796-F675-488F-AC46-C88938C80352}" type="slidenum">
              <a:rPr lang="en-US" smtClean="0"/>
              <a:t>‹Nº›</a:t>
            </a:fld>
            <a:endParaRPr lang="en-US"/>
          </a:p>
        </p:txBody>
      </p:sp>
    </p:spTree>
    <p:extLst>
      <p:ext uri="{BB962C8B-B14F-4D97-AF65-F5344CB8AC3E}">
        <p14:creationId xmlns:p14="http://schemas.microsoft.com/office/powerpoint/2010/main" val="871303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48B02B-A32A-4383-BBC7-0C383390A96F}"/>
              </a:ext>
            </a:extLst>
          </p:cNvPr>
          <p:cNvSpPr>
            <a:spLocks noGrp="1"/>
          </p:cNvSpPr>
          <p:nvPr>
            <p:ph type="dt" sz="half" idx="10"/>
          </p:nvPr>
        </p:nvSpPr>
        <p:spPr/>
        <p:txBody>
          <a:bodyPr/>
          <a:lstStyle/>
          <a:p>
            <a:fld id="{A1E45834-53BD-4C8F-B791-CD5378F4150E}" type="datetimeFigureOut">
              <a:rPr lang="en-US" smtClean="0"/>
              <a:t>11/23/23</a:t>
            </a:fld>
            <a:endParaRPr lang="en-US"/>
          </a:p>
        </p:txBody>
      </p:sp>
      <p:sp>
        <p:nvSpPr>
          <p:cNvPr id="3" name="Footer Placeholder 2">
            <a:extLst>
              <a:ext uri="{FF2B5EF4-FFF2-40B4-BE49-F238E27FC236}">
                <a16:creationId xmlns:a16="http://schemas.microsoft.com/office/drawing/2014/main" id="{FCFF7E77-47E0-4F9E-9148-8D0C59C0CFC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8005A2-ECF0-4759-A17B-FDECE80683F4}"/>
              </a:ext>
            </a:extLst>
          </p:cNvPr>
          <p:cNvSpPr>
            <a:spLocks noGrp="1"/>
          </p:cNvSpPr>
          <p:nvPr>
            <p:ph type="sldNum" sz="quarter" idx="12"/>
          </p:nvPr>
        </p:nvSpPr>
        <p:spPr/>
        <p:txBody>
          <a:bodyPr/>
          <a:lstStyle/>
          <a:p>
            <a:fld id="{719D7796-F675-488F-AC46-C88938C80352}" type="slidenum">
              <a:rPr lang="en-US" smtClean="0"/>
              <a:t>‹Nº›</a:t>
            </a:fld>
            <a:endParaRPr lang="en-US"/>
          </a:p>
        </p:txBody>
      </p:sp>
    </p:spTree>
    <p:extLst>
      <p:ext uri="{BB962C8B-B14F-4D97-AF65-F5344CB8AC3E}">
        <p14:creationId xmlns:p14="http://schemas.microsoft.com/office/powerpoint/2010/main" val="4142765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1DD4B-5676-477E-8C52-4C1CF160FCDE}"/>
              </a:ext>
            </a:extLst>
          </p:cNvPr>
          <p:cNvSpPr>
            <a:spLocks noGrp="1"/>
          </p:cNvSpPr>
          <p:nvPr>
            <p:ph type="title"/>
          </p:nvPr>
        </p:nvSpPr>
        <p:spPr>
          <a:xfrm>
            <a:off x="1090940" y="1094448"/>
            <a:ext cx="3785860" cy="1554362"/>
          </a:xfrm>
        </p:spPr>
        <p:txBody>
          <a:bodyPr anchor="t">
            <a:normAutofit/>
          </a:bodyPr>
          <a:lstStyle>
            <a:lvl1pPr>
              <a:defRPr sz="2800" cap="all" baseline="0"/>
            </a:lvl1pPr>
          </a:lstStyle>
          <a:p>
            <a:r>
              <a:rPr lang="en-US" dirty="0"/>
              <a:t>Click to edit Master title style</a:t>
            </a:r>
          </a:p>
        </p:txBody>
      </p:sp>
      <p:sp>
        <p:nvSpPr>
          <p:cNvPr id="3" name="Content Placeholder 2">
            <a:extLst>
              <a:ext uri="{FF2B5EF4-FFF2-40B4-BE49-F238E27FC236}">
                <a16:creationId xmlns:a16="http://schemas.microsoft.com/office/drawing/2014/main" id="{4B5A3E63-EB15-4D82-BF2B-36BB030C430D}"/>
              </a:ext>
            </a:extLst>
          </p:cNvPr>
          <p:cNvSpPr>
            <a:spLocks noGrp="1"/>
          </p:cNvSpPr>
          <p:nvPr>
            <p:ph idx="1"/>
          </p:nvPr>
        </p:nvSpPr>
        <p:spPr>
          <a:xfrm>
            <a:off x="5524500" y="922689"/>
            <a:ext cx="548600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CBE994E-BAB7-43DC-A0E4-C779CF2A33D5}"/>
              </a:ext>
            </a:extLst>
          </p:cNvPr>
          <p:cNvSpPr>
            <a:spLocks noGrp="1"/>
          </p:cNvSpPr>
          <p:nvPr>
            <p:ph type="body" sz="half" idx="2"/>
          </p:nvPr>
        </p:nvSpPr>
        <p:spPr>
          <a:xfrm>
            <a:off x="1090940" y="2701254"/>
            <a:ext cx="3785860" cy="316773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DEFAAA-1B70-42AA-ADCC-F49B58132654}"/>
              </a:ext>
            </a:extLst>
          </p:cNvPr>
          <p:cNvSpPr>
            <a:spLocks noGrp="1"/>
          </p:cNvSpPr>
          <p:nvPr>
            <p:ph type="dt" sz="half" idx="10"/>
          </p:nvPr>
        </p:nvSpPr>
        <p:spPr/>
        <p:txBody>
          <a:bodyPr/>
          <a:lstStyle/>
          <a:p>
            <a:fld id="{A1E45834-53BD-4C8F-B791-CD5378F4150E}" type="datetimeFigureOut">
              <a:rPr lang="en-US" smtClean="0"/>
              <a:t>11/23/23</a:t>
            </a:fld>
            <a:endParaRPr lang="en-US"/>
          </a:p>
        </p:txBody>
      </p:sp>
      <p:sp>
        <p:nvSpPr>
          <p:cNvPr id="6" name="Footer Placeholder 5">
            <a:extLst>
              <a:ext uri="{FF2B5EF4-FFF2-40B4-BE49-F238E27FC236}">
                <a16:creationId xmlns:a16="http://schemas.microsoft.com/office/drawing/2014/main" id="{E4C7B6CC-1C13-4F34-AC86-CCD442C8C3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F1B638-9061-41AD-AF47-73A4AF8B781A}"/>
              </a:ext>
            </a:extLst>
          </p:cNvPr>
          <p:cNvSpPr>
            <a:spLocks noGrp="1"/>
          </p:cNvSpPr>
          <p:nvPr>
            <p:ph type="sldNum" sz="quarter" idx="12"/>
          </p:nvPr>
        </p:nvSpPr>
        <p:spPr/>
        <p:txBody>
          <a:bodyPr/>
          <a:lstStyle/>
          <a:p>
            <a:fld id="{719D7796-F675-488F-AC46-C88938C80352}" type="slidenum">
              <a:rPr lang="en-US" smtClean="0"/>
              <a:t>‹Nº›</a:t>
            </a:fld>
            <a:endParaRPr lang="en-US"/>
          </a:p>
        </p:txBody>
      </p:sp>
    </p:spTree>
    <p:extLst>
      <p:ext uri="{BB962C8B-B14F-4D97-AF65-F5344CB8AC3E}">
        <p14:creationId xmlns:p14="http://schemas.microsoft.com/office/powerpoint/2010/main" val="3686410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F3C43-1676-4A29-83F9-D788ED2E71E9}"/>
              </a:ext>
            </a:extLst>
          </p:cNvPr>
          <p:cNvSpPr>
            <a:spLocks noGrp="1"/>
          </p:cNvSpPr>
          <p:nvPr>
            <p:ph type="title"/>
          </p:nvPr>
        </p:nvSpPr>
        <p:spPr>
          <a:xfrm>
            <a:off x="1090940" y="1097280"/>
            <a:ext cx="3785860" cy="1559740"/>
          </a:xfrm>
        </p:spPr>
        <p:txBody>
          <a:bodyPr anchor="t">
            <a:normAutofit/>
          </a:bodyPr>
          <a:lstStyle>
            <a:lvl1pPr>
              <a:defRPr sz="2800" cap="all" baseline="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5214A903-97C7-4349-B8CE-1BBED1942E3B}"/>
              </a:ext>
            </a:extLst>
          </p:cNvPr>
          <p:cNvSpPr>
            <a:spLocks noGrp="1"/>
          </p:cNvSpPr>
          <p:nvPr>
            <p:ph type="pic" idx="1"/>
          </p:nvPr>
        </p:nvSpPr>
        <p:spPr>
          <a:xfrm>
            <a:off x="5524500" y="1143000"/>
            <a:ext cx="5486400" cy="4572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BF0A9F58-4AEB-4286-98F7-3C77AA913BE8}"/>
              </a:ext>
            </a:extLst>
          </p:cNvPr>
          <p:cNvSpPr>
            <a:spLocks noGrp="1"/>
          </p:cNvSpPr>
          <p:nvPr>
            <p:ph type="body" sz="half" idx="2"/>
          </p:nvPr>
        </p:nvSpPr>
        <p:spPr>
          <a:xfrm>
            <a:off x="1090940" y="2697480"/>
            <a:ext cx="3785860" cy="30934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F55A58-F085-4500-AF61-045B12C8F41E}"/>
              </a:ext>
            </a:extLst>
          </p:cNvPr>
          <p:cNvSpPr>
            <a:spLocks noGrp="1"/>
          </p:cNvSpPr>
          <p:nvPr>
            <p:ph type="dt" sz="half" idx="10"/>
          </p:nvPr>
        </p:nvSpPr>
        <p:spPr/>
        <p:txBody>
          <a:bodyPr/>
          <a:lstStyle/>
          <a:p>
            <a:fld id="{A1E45834-53BD-4C8F-B791-CD5378F4150E}" type="datetimeFigureOut">
              <a:rPr lang="en-US" smtClean="0"/>
              <a:t>11/23/23</a:t>
            </a:fld>
            <a:endParaRPr lang="en-US"/>
          </a:p>
        </p:txBody>
      </p:sp>
      <p:sp>
        <p:nvSpPr>
          <p:cNvPr id="6" name="Footer Placeholder 5">
            <a:extLst>
              <a:ext uri="{FF2B5EF4-FFF2-40B4-BE49-F238E27FC236}">
                <a16:creationId xmlns:a16="http://schemas.microsoft.com/office/drawing/2014/main" id="{E9936470-561D-49AE-AC84-B79D483FDA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EF2BE2-DF21-4683-9D5F-849A525FD5C4}"/>
              </a:ext>
            </a:extLst>
          </p:cNvPr>
          <p:cNvSpPr>
            <a:spLocks noGrp="1"/>
          </p:cNvSpPr>
          <p:nvPr>
            <p:ph type="sldNum" sz="quarter" idx="12"/>
          </p:nvPr>
        </p:nvSpPr>
        <p:spPr/>
        <p:txBody>
          <a:bodyPr/>
          <a:lstStyle/>
          <a:p>
            <a:fld id="{719D7796-F675-488F-AC46-C88938C80352}" type="slidenum">
              <a:rPr lang="en-US" smtClean="0"/>
              <a:t>‹Nº›</a:t>
            </a:fld>
            <a:endParaRPr lang="en-US"/>
          </a:p>
        </p:txBody>
      </p:sp>
    </p:spTree>
    <p:extLst>
      <p:ext uri="{BB962C8B-B14F-4D97-AF65-F5344CB8AC3E}">
        <p14:creationId xmlns:p14="http://schemas.microsoft.com/office/powerpoint/2010/main" val="9591599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6C900-05BC-4021-B69F-2DAF974B7EF6}"/>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3F26E227-253A-44A0-9404-1CFD8CE419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fld id="{A1E45834-53BD-4C8F-B791-CD5378F4150E}" type="datetimeFigureOut">
              <a:rPr lang="en-US" smtClean="0"/>
              <a:t>11/23/23</a:t>
            </a:fld>
            <a:endParaRPr lang="en-US"/>
          </a:p>
        </p:txBody>
      </p:sp>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719D7796-F675-488F-AC46-C88938C80352}" type="slidenum">
              <a:rPr lang="en-US" smtClean="0"/>
              <a:t>‹Nº›</a:t>
            </a:fld>
            <a:endParaRPr lang="en-US"/>
          </a:p>
        </p:txBody>
      </p:sp>
    </p:spTree>
    <p:extLst>
      <p:ext uri="{BB962C8B-B14F-4D97-AF65-F5344CB8AC3E}">
        <p14:creationId xmlns:p14="http://schemas.microsoft.com/office/powerpoint/2010/main" val="24390123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2CF945-D70F-49C1-8CE5-5758C1166014}"/>
              </a:ext>
            </a:extLst>
          </p:cNvPr>
          <p:cNvSpPr>
            <a:spLocks noGrp="1"/>
          </p:cNvSpPr>
          <p:nvPr>
            <p:ph type="title" orient="vert"/>
          </p:nvPr>
        </p:nvSpPr>
        <p:spPr>
          <a:xfrm>
            <a:off x="9182100" y="1091381"/>
            <a:ext cx="2171700" cy="4953369"/>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C2FDB721-04AA-4330-8045-3F2D9BB4BC66}"/>
              </a:ext>
            </a:extLst>
          </p:cNvPr>
          <p:cNvSpPr>
            <a:spLocks noGrp="1"/>
          </p:cNvSpPr>
          <p:nvPr>
            <p:ph type="body" orient="vert" idx="1"/>
          </p:nvPr>
        </p:nvSpPr>
        <p:spPr>
          <a:xfrm>
            <a:off x="838200" y="1091381"/>
            <a:ext cx="8265340" cy="4953369"/>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F418C15-991C-4C71-8DCD-DB3B3888831F}"/>
              </a:ext>
            </a:extLst>
          </p:cNvPr>
          <p:cNvSpPr>
            <a:spLocks noGrp="1"/>
          </p:cNvSpPr>
          <p:nvPr>
            <p:ph type="dt" sz="half" idx="10"/>
          </p:nvPr>
        </p:nvSpPr>
        <p:spPr/>
        <p:txBody>
          <a:bodyPr/>
          <a:lstStyle/>
          <a:p>
            <a:fld id="{A1E45834-53BD-4C8F-B791-CD5378F4150E}" type="datetimeFigureOut">
              <a:rPr lang="en-US" smtClean="0"/>
              <a:t>11/23/23</a:t>
            </a:fld>
            <a:endParaRPr lang="en-US"/>
          </a:p>
        </p:txBody>
      </p:sp>
      <p:sp>
        <p:nvSpPr>
          <p:cNvPr id="5" name="Footer Placeholder 4">
            <a:extLst>
              <a:ext uri="{FF2B5EF4-FFF2-40B4-BE49-F238E27FC236}">
                <a16:creationId xmlns:a16="http://schemas.microsoft.com/office/drawing/2014/main" id="{F7728CC3-5830-4EFA-B28E-1648904DE1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DA91B6-E419-4483-9B66-3C758788BC48}"/>
              </a:ext>
            </a:extLst>
          </p:cNvPr>
          <p:cNvSpPr>
            <a:spLocks noGrp="1"/>
          </p:cNvSpPr>
          <p:nvPr>
            <p:ph type="sldNum" sz="quarter" idx="12"/>
          </p:nvPr>
        </p:nvSpPr>
        <p:spPr/>
        <p:txBody>
          <a:bodyPr/>
          <a:lstStyle/>
          <a:p>
            <a:fld id="{719D7796-F675-488F-AC46-C88938C80352}" type="slidenum">
              <a:rPr lang="en-US" smtClean="0"/>
              <a:t>‹Nº›</a:t>
            </a:fld>
            <a:endParaRPr lang="en-US"/>
          </a:p>
        </p:txBody>
      </p:sp>
      <p:cxnSp>
        <p:nvCxnSpPr>
          <p:cNvPr id="7" name="Straight Connector 6">
            <a:extLst>
              <a:ext uri="{FF2B5EF4-FFF2-40B4-BE49-F238E27FC236}">
                <a16:creationId xmlns:a16="http://schemas.microsoft.com/office/drawing/2014/main" id="{DE447C6A-78C3-4687-9A71-A05DBF6700DE}"/>
              </a:ext>
            </a:extLst>
          </p:cNvPr>
          <p:cNvCxnSpPr>
            <a:cxnSpLocks/>
          </p:cNvCxnSpPr>
          <p:nvPr/>
        </p:nvCxnSpPr>
        <p:spPr>
          <a:xfrm>
            <a:off x="11387805"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09680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1088136" y="1090245"/>
            <a:ext cx="9922764" cy="129422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1088136" y="2447778"/>
            <a:ext cx="9922764" cy="383872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7315200" y="6389688"/>
            <a:ext cx="3695302" cy="365125"/>
          </a:xfrm>
          <a:prstGeom prst="rect">
            <a:avLst/>
          </a:prstGeom>
        </p:spPr>
        <p:txBody>
          <a:bodyPr vert="horz" lIns="91440" tIns="45720" rIns="91440" bIns="45720" rtlCol="0" anchor="ctr"/>
          <a:lstStyle>
            <a:lvl1pPr algn="l">
              <a:defRPr sz="900">
                <a:solidFill>
                  <a:schemeClr val="tx1"/>
                </a:solidFill>
              </a:defRPr>
            </a:lvl1pPr>
          </a:lstStyle>
          <a:p>
            <a:fld id="{A1E45834-53BD-4C8F-B791-CD5378F4150E}" type="datetimeFigureOut">
              <a:rPr lang="en-US" smtClean="0"/>
              <a:t>11/23/23</a:t>
            </a:fld>
            <a:endParaRPr lang="en-US"/>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1090940" y="6389688"/>
            <a:ext cx="4433560" cy="365125"/>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10983190" y="6389688"/>
            <a:ext cx="940296" cy="365125"/>
          </a:xfrm>
          <a:prstGeom prst="rect">
            <a:avLst/>
          </a:prstGeom>
        </p:spPr>
        <p:txBody>
          <a:bodyPr vert="horz" lIns="91440" tIns="45720" rIns="91440" bIns="45720" rtlCol="0" anchor="ctr"/>
          <a:lstStyle>
            <a:lvl1pPr algn="r">
              <a:defRPr sz="900">
                <a:solidFill>
                  <a:schemeClr val="tx1"/>
                </a:solidFill>
              </a:defRPr>
            </a:lvl1pPr>
          </a:lstStyle>
          <a:p>
            <a:fld id="{719D7796-F675-488F-AC46-C88938C80352}" type="slidenum">
              <a:rPr lang="en-US" smtClean="0"/>
              <a:t>‹Nº›</a:t>
            </a:fld>
            <a:endParaRPr lang="en-US"/>
          </a:p>
        </p:txBody>
      </p:sp>
      <p:cxnSp>
        <p:nvCxnSpPr>
          <p:cNvPr id="28" name="Straight Connector 27">
            <a:extLst>
              <a:ext uri="{FF2B5EF4-FFF2-40B4-BE49-F238E27FC236}">
                <a16:creationId xmlns:a16="http://schemas.microsoft.com/office/drawing/2014/main" id="{D8689CE0-64D2-447C-9C1F-872D111D8AC3}"/>
              </a:ext>
            </a:extLst>
          </p:cNvPr>
          <p:cNvCxnSpPr>
            <a:cxnSpLocks/>
          </p:cNvCxnSpPr>
          <p:nvPr/>
        </p:nvCxnSpPr>
        <p:spPr>
          <a:xfrm>
            <a:off x="0"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4069176"/>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18" r:id="rId6"/>
    <p:sldLayoutId id="2147483714" r:id="rId7"/>
    <p:sldLayoutId id="2147483715" r:id="rId8"/>
    <p:sldLayoutId id="2147483716" r:id="rId9"/>
    <p:sldLayoutId id="2147483717" r:id="rId10"/>
    <p:sldLayoutId id="2147483719" r:id="rId11"/>
  </p:sldLayoutIdLst>
  <p:txStyles>
    <p:titleStyle>
      <a:lvl1pPr algn="l" defTabSz="914400" rtl="0" eaLnBrk="1" latinLnBrk="0" hangingPunct="1">
        <a:lnSpc>
          <a:spcPct val="85000"/>
        </a:lnSpc>
        <a:spcBef>
          <a:spcPct val="0"/>
        </a:spcBef>
        <a:buNone/>
        <a:defRPr sz="4400" b="1" kern="1200" cap="none" baseline="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Neue Haas Grotesk Text Pro" panose="020B0504020202020204" pitchFamily="34" charset="0"/>
        <a:buChar char="-"/>
        <a:defRPr sz="1800" kern="1200">
          <a:solidFill>
            <a:schemeClr val="tx1"/>
          </a:solidFill>
          <a:latin typeface="+mn-lt"/>
          <a:ea typeface="+mn-ea"/>
          <a:cs typeface="+mn-cs"/>
        </a:defRPr>
      </a:lvl1pPr>
      <a:lvl2pPr marL="502920" indent="-228600" algn="l" defTabSz="914400" rtl="0" eaLnBrk="1" latinLnBrk="0" hangingPunct="1">
        <a:lnSpc>
          <a:spcPct val="130000"/>
        </a:lnSpc>
        <a:spcBef>
          <a:spcPts val="500"/>
        </a:spcBef>
        <a:buFont typeface="Neue Haas Grotesk Text Pro" panose="020B05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30000"/>
        </a:lnSpc>
        <a:spcBef>
          <a:spcPts val="500"/>
        </a:spcBef>
        <a:buFont typeface="Neue Haas Grotesk Text Pro" panose="020B05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4pPr>
      <a:lvl5pPr marL="128016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omments" Target="../comments/comment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omments" Target="../comments/comment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96187D8-B32D-4D1A-8C48-A15933DDCD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Fondo hexagonal con luces de neón azules">
            <a:extLst>
              <a:ext uri="{FF2B5EF4-FFF2-40B4-BE49-F238E27FC236}">
                <a16:creationId xmlns:a16="http://schemas.microsoft.com/office/drawing/2014/main" id="{B9807C4A-17D6-F8DD-28FD-6D8A502A2D8D}"/>
              </a:ext>
            </a:extLst>
          </p:cNvPr>
          <p:cNvPicPr>
            <a:picLocks noChangeAspect="1"/>
          </p:cNvPicPr>
          <p:nvPr/>
        </p:nvPicPr>
        <p:blipFill rotWithShape="1">
          <a:blip r:embed="rId2">
            <a:alphaModFix/>
          </a:blip>
          <a:srcRect/>
          <a:stretch/>
        </p:blipFill>
        <p:spPr>
          <a:xfrm>
            <a:off x="402097" y="509808"/>
            <a:ext cx="12191979" cy="6857990"/>
          </a:xfrm>
          <a:prstGeom prst="rect">
            <a:avLst/>
          </a:prstGeom>
        </p:spPr>
      </p:pic>
      <p:sp>
        <p:nvSpPr>
          <p:cNvPr id="11" name="Rectangle 10">
            <a:extLst>
              <a:ext uri="{FF2B5EF4-FFF2-40B4-BE49-F238E27FC236}">
                <a16:creationId xmlns:a16="http://schemas.microsoft.com/office/drawing/2014/main" id="{D019BB32-A409-4C93-9090-8BDDC45E57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657600"/>
          </a:xfrm>
          <a:prstGeom prst="rect">
            <a:avLst/>
          </a:prstGeom>
          <a:gradFill>
            <a:gsLst>
              <a:gs pos="0">
                <a:srgbClr val="000000">
                  <a:alpha val="50000"/>
                </a:srgbClr>
              </a:gs>
              <a:gs pos="100000">
                <a:srgbClr val="000000">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F72182E-8EE1-0C7F-FF28-52D07F2884D1}"/>
              </a:ext>
            </a:extLst>
          </p:cNvPr>
          <p:cNvSpPr>
            <a:spLocks noGrp="1"/>
          </p:cNvSpPr>
          <p:nvPr>
            <p:ph type="ctrTitle"/>
          </p:nvPr>
        </p:nvSpPr>
        <p:spPr>
          <a:xfrm>
            <a:off x="1074314" y="1088571"/>
            <a:ext cx="9958356" cy="1415477"/>
          </a:xfrm>
        </p:spPr>
        <p:txBody>
          <a:bodyPr anchor="t">
            <a:normAutofit/>
          </a:bodyPr>
          <a:lstStyle/>
          <a:p>
            <a:r>
              <a:rPr lang="es-ES" sz="4000" dirty="0">
                <a:solidFill>
                  <a:srgbClr val="FFFFFF"/>
                </a:solidFill>
              </a:rPr>
              <a:t>Jaula antivuelco </a:t>
            </a:r>
            <a:endParaRPr lang="es-CL" sz="4000" dirty="0">
              <a:solidFill>
                <a:srgbClr val="FFFFFF"/>
              </a:solidFill>
            </a:endParaRPr>
          </a:p>
        </p:txBody>
      </p:sp>
      <p:cxnSp>
        <p:nvCxnSpPr>
          <p:cNvPr id="13" name="Straight Connector 12">
            <a:extLst>
              <a:ext uri="{FF2B5EF4-FFF2-40B4-BE49-F238E27FC236}">
                <a16:creationId xmlns:a16="http://schemas.microsoft.com/office/drawing/2014/main" id="{B0AA360F-DECB-4836-8FB6-22C4BC3FB0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97558"/>
            <a:ext cx="804195" cy="0"/>
          </a:xfrm>
          <a:prstGeom prst="line">
            <a:avLst/>
          </a:prstGeom>
          <a:ln w="85725">
            <a:solidFill>
              <a:srgbClr val="FFFFFF"/>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74ED70DB-1943-4E5C-A1B6-D49DFE4402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677195"/>
            <a:ext cx="12192000" cy="2180805"/>
          </a:xfrm>
          <a:prstGeom prst="rect">
            <a:avLst/>
          </a:prstGeom>
          <a:gradFill>
            <a:gsLst>
              <a:gs pos="0">
                <a:srgbClr val="000000">
                  <a:alpha val="50000"/>
                </a:srgbClr>
              </a:gs>
              <a:gs pos="100000">
                <a:srgbClr val="000000">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ítulo 2">
            <a:extLst>
              <a:ext uri="{FF2B5EF4-FFF2-40B4-BE49-F238E27FC236}">
                <a16:creationId xmlns:a16="http://schemas.microsoft.com/office/drawing/2014/main" id="{DF1DF217-A617-F8F9-61F1-3A40D5E67B04}"/>
              </a:ext>
            </a:extLst>
          </p:cNvPr>
          <p:cNvSpPr>
            <a:spLocks noGrp="1"/>
          </p:cNvSpPr>
          <p:nvPr>
            <p:ph type="subTitle" idx="1"/>
          </p:nvPr>
        </p:nvSpPr>
        <p:spPr>
          <a:xfrm>
            <a:off x="1097280" y="3013856"/>
            <a:ext cx="9874429" cy="3499486"/>
          </a:xfrm>
        </p:spPr>
        <p:txBody>
          <a:bodyPr anchor="b">
            <a:normAutofit/>
          </a:bodyPr>
          <a:lstStyle/>
          <a:p>
            <a:r>
              <a:rPr lang="es-ES" dirty="0">
                <a:solidFill>
                  <a:srgbClr val="FFFFFF"/>
                </a:solidFill>
              </a:rPr>
              <a:t>Integrantes: Fabian Cerda, Pedro Escobar, Jeison Mayorga y Jonathan </a:t>
            </a:r>
            <a:r>
              <a:rPr lang="es-ES" dirty="0" err="1">
                <a:solidFill>
                  <a:srgbClr val="FFFFFF"/>
                </a:solidFill>
              </a:rPr>
              <a:t>Pavez</a:t>
            </a:r>
            <a:r>
              <a:rPr lang="es-ES" dirty="0">
                <a:solidFill>
                  <a:srgbClr val="FFFFFF"/>
                </a:solidFill>
              </a:rPr>
              <a:t>.</a:t>
            </a:r>
          </a:p>
          <a:p>
            <a:r>
              <a:rPr lang="es-ES" dirty="0">
                <a:solidFill>
                  <a:srgbClr val="FFFFFF"/>
                </a:solidFill>
              </a:rPr>
              <a:t>Profesora: Lisette Salamanca </a:t>
            </a:r>
          </a:p>
          <a:p>
            <a:r>
              <a:rPr lang="es-ES" dirty="0">
                <a:solidFill>
                  <a:srgbClr val="FFFFFF"/>
                </a:solidFill>
              </a:rPr>
              <a:t>Asignatura: Funciones y Geometría </a:t>
            </a:r>
          </a:p>
          <a:p>
            <a:r>
              <a:rPr lang="es-ES" dirty="0">
                <a:solidFill>
                  <a:srgbClr val="FFFFFF"/>
                </a:solidFill>
              </a:rPr>
              <a:t>Carrera: Mecánica y Electromovilidad Automotriz </a:t>
            </a:r>
          </a:p>
          <a:p>
            <a:endParaRPr lang="es-ES" dirty="0">
              <a:solidFill>
                <a:srgbClr val="FFFFFF"/>
              </a:solidFill>
            </a:endParaRPr>
          </a:p>
          <a:p>
            <a:endParaRPr lang="es-ES" dirty="0">
              <a:solidFill>
                <a:srgbClr val="FFFFFF"/>
              </a:solidFill>
            </a:endParaRPr>
          </a:p>
          <a:p>
            <a:endParaRPr lang="es-CL" dirty="0">
              <a:solidFill>
                <a:srgbClr val="FFFFFF"/>
              </a:solidFill>
            </a:endParaRPr>
          </a:p>
        </p:txBody>
      </p:sp>
    </p:spTree>
    <p:extLst>
      <p:ext uri="{BB962C8B-B14F-4D97-AF65-F5344CB8AC3E}">
        <p14:creationId xmlns:p14="http://schemas.microsoft.com/office/powerpoint/2010/main" val="9717089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D8689CE0-64D2-447C-9C1F-872D111D8AC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4B6C6491-4A25-4638-B352-7708F0A2A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6125ED7-F0CF-40D9-8C60-51E188053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4DAD08D-111F-6525-B676-8CB947066FFE}"/>
              </a:ext>
            </a:extLst>
          </p:cNvPr>
          <p:cNvSpPr>
            <a:spLocks noGrp="1"/>
          </p:cNvSpPr>
          <p:nvPr>
            <p:ph type="title"/>
          </p:nvPr>
        </p:nvSpPr>
        <p:spPr>
          <a:xfrm>
            <a:off x="1052146" y="1077626"/>
            <a:ext cx="9958754" cy="5013683"/>
          </a:xfrm>
        </p:spPr>
        <p:txBody>
          <a:bodyPr vert="horz" lIns="91440" tIns="45720" rIns="91440" bIns="45720" rtlCol="0" anchor="t">
            <a:normAutofit/>
          </a:bodyPr>
          <a:lstStyle/>
          <a:p>
            <a:r>
              <a:rPr lang="en-US" sz="2000" cap="all" dirty="0">
                <a:solidFill>
                  <a:schemeClr val="bg1"/>
                </a:solidFill>
              </a:rPr>
              <a:t>Definicion del Proyecto:</a:t>
            </a:r>
            <a:br>
              <a:rPr lang="en-US" sz="2000" cap="all" dirty="0">
                <a:solidFill>
                  <a:schemeClr val="bg1"/>
                </a:solidFill>
              </a:rPr>
            </a:br>
            <a:br>
              <a:rPr lang="en-US" sz="2000" cap="all" dirty="0">
                <a:solidFill>
                  <a:schemeClr val="bg1"/>
                </a:solidFill>
              </a:rPr>
            </a:br>
            <a:r>
              <a:rPr lang="es-ES" sz="2000" cap="all" dirty="0">
                <a:solidFill>
                  <a:schemeClr val="bg1"/>
                </a:solidFill>
              </a:rPr>
              <a:t>Un proyecto de creación de una jaula antivuelco básica se refiere al diseño, construcción e instalación de una estructura de seguridad diseñada para proteger a los ocupantes de un vehículo en caso de un vuelco. La jaula antivuelco es comúnmente utilizada en vehículos todoterreno, como vehículos todo terreno (ATV), vehículos utilitarios todo terreno (UTV) o incluso en vehículos de competición. La definición del proyecto implicaría varios aspectos, como: </a:t>
            </a:r>
            <a:br>
              <a:rPr lang="es-ES" sz="2000" cap="all" dirty="0">
                <a:solidFill>
                  <a:schemeClr val="bg1"/>
                </a:solidFill>
              </a:rPr>
            </a:br>
            <a:r>
              <a:rPr lang="es-ES" sz="2000" cap="all" dirty="0">
                <a:solidFill>
                  <a:schemeClr val="bg1"/>
                </a:solidFill>
              </a:rPr>
              <a:t> Diseño: - Especificaciones y requisitos de seguridad. - Dimensiones y forma de la jaula. - Materiales a utilizar (generalmente acero o Aleaciones ligeras). </a:t>
            </a:r>
            <a:br>
              <a:rPr lang="es-ES" sz="2000" cap="all" dirty="0">
                <a:solidFill>
                  <a:schemeClr val="bg1"/>
                </a:solidFill>
              </a:rPr>
            </a:br>
            <a:r>
              <a:rPr lang="es-ES" sz="2000" cap="all" dirty="0">
                <a:solidFill>
                  <a:schemeClr val="bg1"/>
                </a:solidFill>
              </a:rPr>
              <a:t>2. Investigación y Normativas:</a:t>
            </a:r>
            <a:endParaRPr lang="en-US" sz="2000" cap="all" dirty="0">
              <a:solidFill>
                <a:schemeClr val="bg1"/>
              </a:solidFill>
            </a:endParaRPr>
          </a:p>
        </p:txBody>
      </p:sp>
      <p:cxnSp>
        <p:nvCxnSpPr>
          <p:cNvPr id="14" name="Straight Connector 13">
            <a:extLst>
              <a:ext uri="{FF2B5EF4-FFF2-40B4-BE49-F238E27FC236}">
                <a16:creationId xmlns:a16="http://schemas.microsoft.com/office/drawing/2014/main" id="{B0AA360F-DECB-4836-8FB6-22C4BC3FB0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14"/>
            <a:ext cx="804195" cy="0"/>
          </a:xfrm>
          <a:prstGeom prst="line">
            <a:avLst/>
          </a:prstGeom>
          <a:ln w="857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3929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D8689CE0-64D2-447C-9C1F-872D111D8AC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4B6C6491-4A25-4638-B352-7708F0A2A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6125ED7-F0CF-40D9-8C60-51E188053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FDF0424-4A6D-9474-855F-5C33641345B9}"/>
              </a:ext>
            </a:extLst>
          </p:cNvPr>
          <p:cNvSpPr>
            <a:spLocks noGrp="1"/>
          </p:cNvSpPr>
          <p:nvPr>
            <p:ph type="title"/>
          </p:nvPr>
        </p:nvSpPr>
        <p:spPr>
          <a:xfrm>
            <a:off x="1052146" y="265052"/>
            <a:ext cx="9958754" cy="6374286"/>
          </a:xfrm>
        </p:spPr>
        <p:txBody>
          <a:bodyPr vert="horz" lIns="91440" tIns="45720" rIns="91440" bIns="45720" rtlCol="0" anchor="t">
            <a:normAutofit/>
          </a:bodyPr>
          <a:lstStyle/>
          <a:p>
            <a:r>
              <a:rPr lang="es-ES" sz="1400" cap="all" dirty="0">
                <a:solidFill>
                  <a:schemeClr val="bg1"/>
                </a:solidFill>
              </a:rPr>
              <a:t>Tema de </a:t>
            </a:r>
            <a:r>
              <a:rPr lang="es-ES" sz="1400" cap="all" dirty="0" err="1">
                <a:solidFill>
                  <a:schemeClr val="bg1"/>
                </a:solidFill>
              </a:rPr>
              <a:t>investigacion</a:t>
            </a:r>
            <a:r>
              <a:rPr lang="es-ES" sz="1400" cap="all" dirty="0">
                <a:solidFill>
                  <a:schemeClr val="bg1"/>
                </a:solidFill>
              </a:rPr>
              <a:t>, </a:t>
            </a:r>
            <a:r>
              <a:rPr lang="es-ES" sz="1400" cap="all" dirty="0" err="1">
                <a:solidFill>
                  <a:schemeClr val="bg1"/>
                </a:solidFill>
              </a:rPr>
              <a:t>nocion</a:t>
            </a:r>
            <a:r>
              <a:rPr lang="es-ES" sz="1400" cap="all" dirty="0">
                <a:solidFill>
                  <a:schemeClr val="bg1"/>
                </a:solidFill>
              </a:rPr>
              <a:t> </a:t>
            </a:r>
            <a:r>
              <a:rPr lang="es-ES" sz="1400" cap="all" dirty="0" err="1">
                <a:solidFill>
                  <a:schemeClr val="bg1"/>
                </a:solidFill>
              </a:rPr>
              <a:t>matematica</a:t>
            </a:r>
            <a:r>
              <a:rPr lang="es-ES" sz="1400" cap="all" dirty="0">
                <a:solidFill>
                  <a:schemeClr val="bg1"/>
                </a:solidFill>
              </a:rPr>
              <a:t> y </a:t>
            </a:r>
            <a:r>
              <a:rPr lang="es-ES" sz="1400" cap="all" dirty="0" err="1">
                <a:solidFill>
                  <a:schemeClr val="bg1"/>
                </a:solidFill>
              </a:rPr>
              <a:t>problematicas</a:t>
            </a:r>
            <a:r>
              <a:rPr lang="es-ES" sz="1400" cap="all" dirty="0">
                <a:solidFill>
                  <a:schemeClr val="bg1"/>
                </a:solidFill>
              </a:rPr>
              <a:t> a abordar.</a:t>
            </a:r>
            <a:br>
              <a:rPr lang="es-ES" sz="1400" cap="all" dirty="0">
                <a:solidFill>
                  <a:schemeClr val="bg1"/>
                </a:solidFill>
              </a:rPr>
            </a:br>
            <a:br>
              <a:rPr lang="es-ES" sz="1400" cap="all" dirty="0">
                <a:solidFill>
                  <a:schemeClr val="bg1"/>
                </a:solidFill>
              </a:rPr>
            </a:br>
            <a:r>
              <a:rPr lang="es-ES" sz="1400" cap="all" dirty="0">
                <a:solidFill>
                  <a:schemeClr val="bg1"/>
                </a:solidFill>
              </a:rPr>
              <a:t>Tema de Investigación:</a:t>
            </a:r>
            <a:br>
              <a:rPr lang="es-ES" sz="1400" cap="all" dirty="0">
                <a:solidFill>
                  <a:schemeClr val="bg1"/>
                </a:solidFill>
              </a:rPr>
            </a:br>
            <a:br>
              <a:rPr lang="es-ES" sz="1400" cap="all" dirty="0">
                <a:solidFill>
                  <a:schemeClr val="bg1"/>
                </a:solidFill>
              </a:rPr>
            </a:br>
            <a:r>
              <a:rPr lang="es-ES" sz="1400" cap="all" dirty="0">
                <a:solidFill>
                  <a:schemeClr val="bg1"/>
                </a:solidFill>
              </a:rPr>
              <a:t>Optimización del Diseño de Jaulas Antivuelco para Vehículos Todo Terreno (ATV): </a:t>
            </a:r>
            <a:br>
              <a:rPr lang="es-ES" sz="1400" cap="all" dirty="0">
                <a:solidFill>
                  <a:schemeClr val="bg1"/>
                </a:solidFill>
              </a:rPr>
            </a:br>
            <a:r>
              <a:rPr lang="es-ES" sz="1400" cap="all" dirty="0">
                <a:solidFill>
                  <a:schemeClr val="bg1"/>
                </a:solidFill>
              </a:rPr>
              <a:t>Investigar métodos y técnicas para optimizar el diseño de jaulas antivuelco, teniendo en cuenta factores como la geometría, los materiales y las cargas de impacto, con el objetivo de maximizar la eficacia de la protección en caso de vuelo y minimizar el impacto en el peso y la maniobrabilidad del ATV.</a:t>
            </a:r>
            <a:br>
              <a:rPr lang="es-ES" sz="1400" cap="all" dirty="0">
                <a:solidFill>
                  <a:schemeClr val="bg1"/>
                </a:solidFill>
              </a:rPr>
            </a:br>
            <a:br>
              <a:rPr lang="es-ES" sz="1400" cap="all" dirty="0">
                <a:solidFill>
                  <a:schemeClr val="bg1"/>
                </a:solidFill>
              </a:rPr>
            </a:br>
            <a:r>
              <a:rPr lang="es-ES" sz="1400" cap="all" dirty="0">
                <a:solidFill>
                  <a:schemeClr val="bg1"/>
                </a:solidFill>
              </a:rPr>
              <a:t>Noción Matemática:</a:t>
            </a:r>
            <a:br>
              <a:rPr lang="es-ES" sz="1400" cap="all" dirty="0">
                <a:solidFill>
                  <a:schemeClr val="bg1"/>
                </a:solidFill>
              </a:rPr>
            </a:br>
            <a:br>
              <a:rPr lang="es-ES" sz="1400" cap="all" dirty="0">
                <a:solidFill>
                  <a:schemeClr val="bg1"/>
                </a:solidFill>
              </a:rPr>
            </a:br>
            <a:r>
              <a:rPr lang="es-ES" sz="1400" cap="all" dirty="0">
                <a:solidFill>
                  <a:schemeClr val="bg1"/>
                </a:solidFill>
              </a:rPr>
              <a:t>Análisis de Elementos Finitos (AEF): </a:t>
            </a:r>
            <a:br>
              <a:rPr lang="es-ES" sz="1400" cap="all" dirty="0">
                <a:solidFill>
                  <a:schemeClr val="bg1"/>
                </a:solidFill>
              </a:rPr>
            </a:br>
            <a:r>
              <a:rPr lang="es-ES" sz="1400" cap="all" dirty="0">
                <a:solidFill>
                  <a:schemeClr val="bg1"/>
                </a:solidFill>
              </a:rPr>
              <a:t>La aplicación del análisis de elementos finitos implica el uso de métodos matemáticos para dividir una estructura compleja en elementos más pequeños, permitiendo una evaluación detallada de las tensiones y deformaciones en cada sección. En el contexto de la construcción de la jaula antivuelco, el AEF puede emplearse para simular virtualmente el comportamiento de la estructura ante diferentes condiciones de vuelco, contribuyendo así a la optimización del diseño.</a:t>
            </a:r>
            <a:br>
              <a:rPr lang="es-ES" sz="1400" cap="all" dirty="0">
                <a:solidFill>
                  <a:schemeClr val="bg1"/>
                </a:solidFill>
              </a:rPr>
            </a:br>
            <a:br>
              <a:rPr lang="es-ES" sz="1400" cap="all" dirty="0">
                <a:solidFill>
                  <a:schemeClr val="bg1"/>
                </a:solidFill>
              </a:rPr>
            </a:br>
            <a:r>
              <a:rPr lang="es-ES" sz="1400" cap="all" dirty="0">
                <a:solidFill>
                  <a:schemeClr val="bg1"/>
                </a:solidFill>
              </a:rPr>
              <a:t>Problemática a Abordar:</a:t>
            </a:r>
            <a:br>
              <a:rPr lang="es-ES" sz="1400" cap="all" dirty="0">
                <a:solidFill>
                  <a:schemeClr val="bg1"/>
                </a:solidFill>
              </a:rPr>
            </a:br>
            <a:br>
              <a:rPr lang="es-ES" sz="1400" cap="all" dirty="0">
                <a:solidFill>
                  <a:schemeClr val="bg1"/>
                </a:solidFill>
              </a:rPr>
            </a:br>
            <a:r>
              <a:rPr lang="es-ES" sz="1400" cap="all" dirty="0">
                <a:solidFill>
                  <a:schemeClr val="bg1"/>
                </a:solidFill>
              </a:rPr>
              <a:t>Equilibrio entre Peso y Resistencia: </a:t>
            </a:r>
            <a:br>
              <a:rPr lang="es-ES" sz="1400" cap="all" dirty="0">
                <a:solidFill>
                  <a:schemeClr val="bg1"/>
                </a:solidFill>
              </a:rPr>
            </a:br>
            <a:r>
              <a:rPr lang="es-ES" sz="1400" cap="all" dirty="0">
                <a:solidFill>
                  <a:schemeClr val="bg1"/>
                </a:solidFill>
              </a:rPr>
              <a:t>Una de las problemáticas fundamentales en la construcción de jaulas antivuelco es lograr un equilibrio adecuado entre el peso de la estructura y su capacidad para resistir impactos durante un vuelo. La necesidad de maximizar la protección a menudo entra en conflicto con la importancia de mantener el peso del vehículo lo más bajo posible para preservar su rendimiento y maniobrabilidad. Abordar esta problemática implica encontrar soluciones que optimicen la resistencia estructural sin comprometer significativamente el peso del conjunto.</a:t>
            </a:r>
            <a:endParaRPr lang="en-US" sz="1400" cap="all" dirty="0">
              <a:solidFill>
                <a:schemeClr val="bg1"/>
              </a:solidFill>
            </a:endParaRPr>
          </a:p>
        </p:txBody>
      </p:sp>
      <p:cxnSp>
        <p:nvCxnSpPr>
          <p:cNvPr id="14" name="Straight Connector 13">
            <a:extLst>
              <a:ext uri="{FF2B5EF4-FFF2-40B4-BE49-F238E27FC236}">
                <a16:creationId xmlns:a16="http://schemas.microsoft.com/office/drawing/2014/main" id="{B0AA360F-DECB-4836-8FB6-22C4BC3FB0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14"/>
            <a:ext cx="804195" cy="0"/>
          </a:xfrm>
          <a:prstGeom prst="line">
            <a:avLst/>
          </a:prstGeom>
          <a:ln w="857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0234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D8689CE0-64D2-447C-9C1F-872D111D8AC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4B6C6491-4A25-4638-B352-7708F0A2A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6125ED7-F0CF-40D9-8C60-51E188053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CC1FAA1-01F8-95A9-53A7-3584DD3AC830}"/>
              </a:ext>
            </a:extLst>
          </p:cNvPr>
          <p:cNvSpPr>
            <a:spLocks noGrp="1"/>
          </p:cNvSpPr>
          <p:nvPr>
            <p:ph type="title"/>
          </p:nvPr>
        </p:nvSpPr>
        <p:spPr>
          <a:xfrm>
            <a:off x="1052146" y="225287"/>
            <a:ext cx="9958754" cy="6632713"/>
          </a:xfrm>
        </p:spPr>
        <p:txBody>
          <a:bodyPr vert="horz" lIns="91440" tIns="45720" rIns="91440" bIns="45720" rtlCol="0" anchor="t">
            <a:normAutofit/>
          </a:bodyPr>
          <a:lstStyle/>
          <a:p>
            <a:r>
              <a:rPr lang="en-US" sz="1200" cap="all" dirty="0">
                <a:solidFill>
                  <a:schemeClr val="bg1"/>
                </a:solidFill>
              </a:rPr>
              <a:t>Objetivos y preguntas de investigacion:</a:t>
            </a:r>
            <a:br>
              <a:rPr lang="en-US" sz="2000" cap="all" dirty="0">
                <a:solidFill>
                  <a:schemeClr val="bg1"/>
                </a:solidFill>
              </a:rPr>
            </a:br>
            <a:br>
              <a:rPr lang="en-US" sz="2000" cap="all" dirty="0">
                <a:solidFill>
                  <a:schemeClr val="bg1"/>
                </a:solidFill>
              </a:rPr>
            </a:br>
            <a:r>
              <a:rPr lang="es-ES" sz="1200" cap="all" dirty="0">
                <a:solidFill>
                  <a:schemeClr val="bg1"/>
                </a:solidFill>
              </a:rPr>
              <a:t>Diseño Eficiente:</a:t>
            </a:r>
            <a:br>
              <a:rPr lang="es-ES" sz="1200" cap="all" dirty="0">
                <a:solidFill>
                  <a:schemeClr val="bg1"/>
                </a:solidFill>
              </a:rPr>
            </a:br>
            <a:br>
              <a:rPr lang="es-ES" sz="1200" cap="all" dirty="0">
                <a:solidFill>
                  <a:schemeClr val="bg1"/>
                </a:solidFill>
              </a:rPr>
            </a:br>
            <a:r>
              <a:rPr lang="es-ES" sz="1200" cap="all" dirty="0">
                <a:solidFill>
                  <a:schemeClr val="bg1"/>
                </a:solidFill>
              </a:rPr>
              <a:t>Identificar los principios de diseño más eficientes para una jaula antivuelco en términos de resistencia y peso.</a:t>
            </a:r>
            <a:br>
              <a:rPr lang="es-ES" sz="1200" cap="all" dirty="0">
                <a:solidFill>
                  <a:schemeClr val="bg1"/>
                </a:solidFill>
              </a:rPr>
            </a:br>
            <a:r>
              <a:rPr lang="es-ES" sz="1200" cap="all" dirty="0">
                <a:solidFill>
                  <a:schemeClr val="bg1"/>
                </a:solidFill>
              </a:rPr>
              <a:t>Materiales Óptimos:</a:t>
            </a:r>
            <a:br>
              <a:rPr lang="es-ES" sz="1200" cap="all" dirty="0">
                <a:solidFill>
                  <a:schemeClr val="bg1"/>
                </a:solidFill>
              </a:rPr>
            </a:br>
            <a:br>
              <a:rPr lang="es-ES" sz="1200" cap="all" dirty="0">
                <a:solidFill>
                  <a:schemeClr val="bg1"/>
                </a:solidFill>
              </a:rPr>
            </a:br>
            <a:r>
              <a:rPr lang="es-ES" sz="1200" cap="all" dirty="0">
                <a:solidFill>
                  <a:schemeClr val="bg1"/>
                </a:solidFill>
              </a:rPr>
              <a:t>Determine los materiales más adecuados para la construcción de la jaula en función de su resistencia, durabilidad y peso.</a:t>
            </a:r>
            <a:br>
              <a:rPr lang="es-ES" sz="1200" cap="all" dirty="0">
                <a:solidFill>
                  <a:schemeClr val="bg1"/>
                </a:solidFill>
              </a:rPr>
            </a:br>
            <a:r>
              <a:rPr lang="es-ES" sz="1200" cap="all" dirty="0">
                <a:solidFill>
                  <a:schemeClr val="bg1"/>
                </a:solidFill>
              </a:rPr>
              <a:t>Normativas de Seguridad:</a:t>
            </a:r>
            <a:br>
              <a:rPr lang="es-ES" sz="1200" cap="all" dirty="0">
                <a:solidFill>
                  <a:schemeClr val="bg1"/>
                </a:solidFill>
              </a:rPr>
            </a:br>
            <a:br>
              <a:rPr lang="es-ES" sz="1200" cap="all" dirty="0">
                <a:solidFill>
                  <a:schemeClr val="bg1"/>
                </a:solidFill>
              </a:rPr>
            </a:br>
            <a:r>
              <a:rPr lang="es-ES" sz="1200" cap="all" dirty="0">
                <a:solidFill>
                  <a:schemeClr val="bg1"/>
                </a:solidFill>
              </a:rPr>
              <a:t>Analizar y comprender las normativas y regulaciones de seguridad vehicular para garantizar el cumplimiento en el diseño y la construcción de la jaula.</a:t>
            </a:r>
            <a:br>
              <a:rPr lang="es-ES" sz="1200" cap="all" dirty="0">
                <a:solidFill>
                  <a:schemeClr val="bg1"/>
                </a:solidFill>
              </a:rPr>
            </a:br>
            <a:r>
              <a:rPr lang="es-ES" sz="1200" cap="all" dirty="0">
                <a:solidFill>
                  <a:schemeClr val="bg1"/>
                </a:solidFill>
              </a:rPr>
              <a:t>Impacto en el Rendimiento del Vehículo:</a:t>
            </a:r>
            <a:br>
              <a:rPr lang="es-ES" sz="1200" cap="all" dirty="0">
                <a:solidFill>
                  <a:schemeClr val="bg1"/>
                </a:solidFill>
              </a:rPr>
            </a:br>
            <a:br>
              <a:rPr lang="es-ES" sz="1200" cap="all" dirty="0">
                <a:solidFill>
                  <a:schemeClr val="bg1"/>
                </a:solidFill>
              </a:rPr>
            </a:br>
            <a:r>
              <a:rPr lang="es-ES" sz="1200" cap="all" dirty="0">
                <a:solidFill>
                  <a:schemeClr val="bg1"/>
                </a:solidFill>
              </a:rPr>
              <a:t>Evaluar cómo la instalación de una jaula antivuelco afecta el rendimiento general del vehículo, incluyendo aspectos como la maniobrabilidad y la velocidad.</a:t>
            </a:r>
            <a:br>
              <a:rPr lang="es-ES" sz="1200" cap="all" dirty="0">
                <a:solidFill>
                  <a:schemeClr val="bg1"/>
                </a:solidFill>
              </a:rPr>
            </a:br>
            <a:br>
              <a:rPr lang="es-ES" sz="1200" cap="all" dirty="0">
                <a:solidFill>
                  <a:schemeClr val="bg1"/>
                </a:solidFill>
              </a:rPr>
            </a:br>
            <a:r>
              <a:rPr lang="es-ES" sz="1200" cap="all" dirty="0">
                <a:solidFill>
                  <a:schemeClr val="bg1"/>
                </a:solidFill>
              </a:rPr>
              <a:t>Simulaciones de Vuelco:</a:t>
            </a:r>
            <a:br>
              <a:rPr lang="es-ES" sz="1200" cap="all" dirty="0">
                <a:solidFill>
                  <a:schemeClr val="bg1"/>
                </a:solidFill>
              </a:rPr>
            </a:br>
            <a:br>
              <a:rPr lang="es-ES" sz="1200" cap="all" dirty="0">
                <a:solidFill>
                  <a:schemeClr val="bg1"/>
                </a:solidFill>
              </a:rPr>
            </a:br>
            <a:r>
              <a:rPr lang="es-ES" sz="1200" cap="all" dirty="0">
                <a:solidFill>
                  <a:schemeClr val="bg1"/>
                </a:solidFill>
              </a:rPr>
              <a:t>Realizar simulaciones de vuelo para evaluar la eficacia de la jaula en situaciones de vuelo realistas.</a:t>
            </a:r>
            <a:br>
              <a:rPr lang="en-US" sz="1050" cap="all" dirty="0">
                <a:solidFill>
                  <a:schemeClr val="bg1"/>
                </a:solidFill>
              </a:rPr>
            </a:br>
            <a:br>
              <a:rPr lang="es-ES" sz="1050" cap="all" dirty="0">
                <a:solidFill>
                  <a:schemeClr val="bg1"/>
                </a:solidFill>
              </a:rPr>
            </a:br>
            <a:r>
              <a:rPr lang="es-ES" sz="1050" cap="all" dirty="0">
                <a:solidFill>
                  <a:schemeClr val="bg1"/>
                </a:solidFill>
              </a:rPr>
              <a:t>Determinar los costos asociados con la fabricación e instalación de la jaula antivuelco y explorar formas de optimizar la relación costo-beneficio.</a:t>
            </a:r>
            <a:br>
              <a:rPr lang="es-ES" sz="1050" cap="all" dirty="0">
                <a:solidFill>
                  <a:schemeClr val="bg1"/>
                </a:solidFill>
              </a:rPr>
            </a:br>
            <a:r>
              <a:rPr lang="es-ES" sz="1050" cap="all" dirty="0">
                <a:solidFill>
                  <a:schemeClr val="bg1"/>
                </a:solidFill>
              </a:rPr>
              <a:t>Adaptabilidad a Vehículos Específicos:</a:t>
            </a:r>
            <a:br>
              <a:rPr lang="es-ES" sz="1050" cap="all" dirty="0">
                <a:solidFill>
                  <a:schemeClr val="bg1"/>
                </a:solidFill>
              </a:rPr>
            </a:br>
            <a:br>
              <a:rPr lang="es-ES" sz="1050" cap="all" dirty="0">
                <a:solidFill>
                  <a:schemeClr val="bg1"/>
                </a:solidFill>
              </a:rPr>
            </a:br>
            <a:r>
              <a:rPr lang="es-ES" sz="1050" cap="all" dirty="0">
                <a:solidFill>
                  <a:schemeClr val="bg1"/>
                </a:solidFill>
              </a:rPr>
              <a:t>Investigar la adaptabilidad del diseño de la jaula a diferentes tipos de vehículos, como ATV, UTV o vehículos de competición.</a:t>
            </a:r>
            <a:br>
              <a:rPr lang="es-ES" sz="1050" cap="all" dirty="0">
                <a:solidFill>
                  <a:schemeClr val="bg1"/>
                </a:solidFill>
              </a:rPr>
            </a:br>
            <a:r>
              <a:rPr lang="es-ES" sz="1050" cap="all" dirty="0">
                <a:solidFill>
                  <a:schemeClr val="bg1"/>
                </a:solidFill>
              </a:rPr>
              <a:t>Requisitos de Mantenimiento:</a:t>
            </a:r>
            <a:br>
              <a:rPr lang="es-ES" sz="1050" cap="all" dirty="0">
                <a:solidFill>
                  <a:schemeClr val="bg1"/>
                </a:solidFill>
              </a:rPr>
            </a:br>
            <a:br>
              <a:rPr lang="es-ES" sz="1050" cap="all" dirty="0">
                <a:solidFill>
                  <a:schemeClr val="bg1"/>
                </a:solidFill>
              </a:rPr>
            </a:br>
            <a:r>
              <a:rPr lang="es-ES" sz="1050" cap="all" dirty="0">
                <a:solidFill>
                  <a:schemeClr val="bg1"/>
                </a:solidFill>
              </a:rPr>
              <a:t>Establecer los requisitos de mantenimiento a largo plazo para garantizar la durabilidad y la eficacia continua de la jaula antivuelco.</a:t>
            </a:r>
            <a:br>
              <a:rPr lang="es-ES" sz="1050" cap="all" dirty="0">
                <a:solidFill>
                  <a:schemeClr val="bg1"/>
                </a:solidFill>
              </a:rPr>
            </a:br>
            <a:r>
              <a:rPr lang="es-ES" sz="1050" cap="all" dirty="0">
                <a:solidFill>
                  <a:schemeClr val="bg1"/>
                </a:solidFill>
              </a:rPr>
              <a:t>¿Cuáles son los factores clave a considerar al diseñar una jaula antivuelco eficiente en términos de seguridad vehicular?</a:t>
            </a:r>
            <a:br>
              <a:rPr lang="es-ES" sz="1050" cap="all" dirty="0">
                <a:solidFill>
                  <a:schemeClr val="bg1"/>
                </a:solidFill>
              </a:rPr>
            </a:br>
            <a:br>
              <a:rPr lang="es-ES" sz="1050" cap="all" dirty="0">
                <a:solidFill>
                  <a:schemeClr val="bg1"/>
                </a:solidFill>
              </a:rPr>
            </a:br>
            <a:r>
              <a:rPr lang="es-ES" sz="1050" cap="all" dirty="0">
                <a:solidFill>
                  <a:schemeClr val="bg1"/>
                </a:solidFill>
              </a:rPr>
              <a:t>¿Qué materiales ofrecen la mejor combinación de resistencia y peso para la construcción de una jaula antivuelco?</a:t>
            </a:r>
            <a:br>
              <a:rPr lang="es-ES" sz="1050" cap="all" dirty="0">
                <a:solidFill>
                  <a:schemeClr val="bg1"/>
                </a:solidFill>
              </a:rPr>
            </a:br>
            <a:br>
              <a:rPr lang="es-ES" sz="1050" cap="all" dirty="0">
                <a:solidFill>
                  <a:schemeClr val="bg1"/>
                </a:solidFill>
              </a:rPr>
            </a:br>
            <a:r>
              <a:rPr lang="es-ES" sz="1050" cap="all" dirty="0">
                <a:solidFill>
                  <a:schemeClr val="bg1"/>
                </a:solidFill>
              </a:rPr>
              <a:t>¿Cómo se comparan y aplican las normativas de seguridad vehicular en diferentes regiones en relación con las jaulas antivuelco?</a:t>
            </a:r>
            <a:br>
              <a:rPr lang="es-ES" sz="1050" cap="all" dirty="0">
                <a:solidFill>
                  <a:schemeClr val="bg1"/>
                </a:solidFill>
              </a:rPr>
            </a:br>
            <a:br>
              <a:rPr lang="es-ES" sz="1050" cap="all" dirty="0">
                <a:solidFill>
                  <a:schemeClr val="bg1"/>
                </a:solidFill>
              </a:rPr>
            </a:br>
            <a:r>
              <a:rPr lang="es-ES" sz="1050" cap="all" dirty="0">
                <a:solidFill>
                  <a:schemeClr val="bg1"/>
                </a:solidFill>
              </a:rPr>
              <a:t>¿Cómo afecta la instalación de una jaula antivuelco al rendimiento general de un vehículo, y en qué medida?</a:t>
            </a:r>
            <a:endParaRPr lang="en-US" sz="1050" cap="all" dirty="0">
              <a:solidFill>
                <a:schemeClr val="bg1"/>
              </a:solidFill>
            </a:endParaRPr>
          </a:p>
        </p:txBody>
      </p:sp>
      <p:cxnSp>
        <p:nvCxnSpPr>
          <p:cNvPr id="14" name="Straight Connector 13">
            <a:extLst>
              <a:ext uri="{FF2B5EF4-FFF2-40B4-BE49-F238E27FC236}">
                <a16:creationId xmlns:a16="http://schemas.microsoft.com/office/drawing/2014/main" id="{B0AA360F-DECB-4836-8FB6-22C4BC3FB0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14"/>
            <a:ext cx="804195" cy="0"/>
          </a:xfrm>
          <a:prstGeom prst="line">
            <a:avLst/>
          </a:prstGeom>
          <a:ln w="857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4558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D8689CE0-64D2-447C-9C1F-872D111D8AC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4B6C6491-4A25-4638-B352-7708F0A2A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6125ED7-F0CF-40D9-8C60-51E188053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67AD98C-063F-C3B7-BCB5-92E6B58B2062}"/>
              </a:ext>
            </a:extLst>
          </p:cNvPr>
          <p:cNvSpPr>
            <a:spLocks noGrp="1"/>
          </p:cNvSpPr>
          <p:nvPr>
            <p:ph type="title"/>
          </p:nvPr>
        </p:nvSpPr>
        <p:spPr>
          <a:xfrm>
            <a:off x="1052146" y="407969"/>
            <a:ext cx="9958754" cy="6231367"/>
          </a:xfrm>
        </p:spPr>
        <p:txBody>
          <a:bodyPr vert="horz" lIns="91440" tIns="45720" rIns="91440" bIns="45720" rtlCol="0" anchor="t">
            <a:normAutofit fontScale="90000"/>
          </a:bodyPr>
          <a:lstStyle/>
          <a:p>
            <a:r>
              <a:rPr lang="en-US" sz="2000" cap="all" dirty="0">
                <a:solidFill>
                  <a:schemeClr val="bg1"/>
                </a:solidFill>
              </a:rPr>
              <a:t>Temas iniciales involucrados</a:t>
            </a:r>
            <a:br>
              <a:rPr lang="en-US" sz="2000" cap="all" dirty="0">
                <a:solidFill>
                  <a:schemeClr val="bg1"/>
                </a:solidFill>
              </a:rPr>
            </a:br>
            <a:br>
              <a:rPr lang="en-US" sz="2000" cap="all" dirty="0">
                <a:solidFill>
                  <a:schemeClr val="bg1"/>
                </a:solidFill>
              </a:rPr>
            </a:br>
            <a:r>
              <a:rPr lang="es-ES" sz="1400" cap="all" dirty="0">
                <a:solidFill>
                  <a:schemeClr val="bg1"/>
                </a:solidFill>
              </a:rPr>
              <a:t>Diseño estructural:</a:t>
            </a:r>
            <a:br>
              <a:rPr lang="es-ES" sz="1400" cap="all" dirty="0">
                <a:solidFill>
                  <a:schemeClr val="bg1"/>
                </a:solidFill>
              </a:rPr>
            </a:br>
            <a:br>
              <a:rPr lang="es-ES" sz="1400" cap="all" dirty="0">
                <a:solidFill>
                  <a:schemeClr val="bg1"/>
                </a:solidFill>
              </a:rPr>
            </a:br>
            <a:r>
              <a:rPr lang="es-ES" sz="1400" cap="all" dirty="0">
                <a:solidFill>
                  <a:schemeClr val="bg1"/>
                </a:solidFill>
              </a:rPr>
              <a:t>Definir la geometría y la disposición de la jaula para garantizar la máxima resistencia y protección en caso de vuelo.</a:t>
            </a:r>
            <a:br>
              <a:rPr lang="es-ES" sz="1400" cap="all" dirty="0">
                <a:solidFill>
                  <a:schemeClr val="bg1"/>
                </a:solidFill>
              </a:rPr>
            </a:br>
            <a:br>
              <a:rPr lang="es-ES" sz="1400" cap="all" dirty="0">
                <a:solidFill>
                  <a:schemeClr val="bg1"/>
                </a:solidFill>
              </a:rPr>
            </a:br>
            <a:r>
              <a:rPr lang="es-ES" sz="1400" cap="all" dirty="0">
                <a:solidFill>
                  <a:schemeClr val="bg1"/>
                </a:solidFill>
              </a:rPr>
              <a:t>Selección de materiales:</a:t>
            </a:r>
            <a:br>
              <a:rPr lang="es-ES" sz="1400" cap="all" dirty="0">
                <a:solidFill>
                  <a:schemeClr val="bg1"/>
                </a:solidFill>
              </a:rPr>
            </a:br>
            <a:br>
              <a:rPr lang="es-ES" sz="1400" cap="all" dirty="0">
                <a:solidFill>
                  <a:schemeClr val="bg1"/>
                </a:solidFill>
              </a:rPr>
            </a:br>
            <a:r>
              <a:rPr lang="es-ES" sz="1400" cap="all" dirty="0">
                <a:solidFill>
                  <a:schemeClr val="bg1"/>
                </a:solidFill>
              </a:rPr>
              <a:t>Investigue y seleccione materiales adecuados que proporcionen la resistencia necesaria sin comprometer el peso del vehículo.</a:t>
            </a:r>
            <a:br>
              <a:rPr lang="es-ES" sz="1400" cap="all" dirty="0">
                <a:solidFill>
                  <a:schemeClr val="bg1"/>
                </a:solidFill>
              </a:rPr>
            </a:br>
            <a:br>
              <a:rPr lang="es-ES" sz="1400" cap="all" dirty="0">
                <a:solidFill>
                  <a:schemeClr val="bg1"/>
                </a:solidFill>
              </a:rPr>
            </a:br>
            <a:r>
              <a:rPr lang="es-ES" sz="1400" cap="all" dirty="0">
                <a:solidFill>
                  <a:schemeClr val="bg1"/>
                </a:solidFill>
              </a:rPr>
              <a:t>Normativas y regulaciones:</a:t>
            </a:r>
            <a:br>
              <a:rPr lang="es-ES" sz="1400" cap="all" dirty="0">
                <a:solidFill>
                  <a:schemeClr val="bg1"/>
                </a:solidFill>
              </a:rPr>
            </a:br>
            <a:br>
              <a:rPr lang="es-ES" sz="1400" cap="all" dirty="0">
                <a:solidFill>
                  <a:schemeClr val="bg1"/>
                </a:solidFill>
              </a:rPr>
            </a:br>
            <a:r>
              <a:rPr lang="es-ES" sz="1400" cap="all" dirty="0">
                <a:solidFill>
                  <a:schemeClr val="bg1"/>
                </a:solidFill>
              </a:rPr>
              <a:t>Comprender y cumplir con las normativas y regulaciones locales e internacionales de seguridad vehicular.</a:t>
            </a:r>
            <a:br>
              <a:rPr lang="es-ES" sz="1400" cap="all" dirty="0">
                <a:solidFill>
                  <a:schemeClr val="bg1"/>
                </a:solidFill>
              </a:rPr>
            </a:br>
            <a:br>
              <a:rPr lang="es-ES" sz="1400" cap="all" dirty="0">
                <a:solidFill>
                  <a:schemeClr val="bg1"/>
                </a:solidFill>
              </a:rPr>
            </a:br>
            <a:r>
              <a:rPr lang="es-ES" sz="1400" cap="all" dirty="0">
                <a:solidFill>
                  <a:schemeClr val="bg1"/>
                </a:solidFill>
              </a:rPr>
              <a:t>Análisis de carga y resistencia:</a:t>
            </a:r>
            <a:br>
              <a:rPr lang="es-ES" sz="1400" cap="all" dirty="0">
                <a:solidFill>
                  <a:schemeClr val="bg1"/>
                </a:solidFill>
              </a:rPr>
            </a:br>
            <a:br>
              <a:rPr lang="es-ES" sz="1400" cap="all" dirty="0">
                <a:solidFill>
                  <a:schemeClr val="bg1"/>
                </a:solidFill>
              </a:rPr>
            </a:br>
            <a:r>
              <a:rPr lang="es-ES" sz="1400" cap="all" dirty="0">
                <a:solidFill>
                  <a:schemeClr val="bg1"/>
                </a:solidFill>
              </a:rPr>
              <a:t>Realizar análisis de carga para determinar las fuerzas que actuarán sobre la jaula durante un vuelo y diseñar la estructura para resistir esas fuerzas.</a:t>
            </a:r>
            <a:br>
              <a:rPr lang="es-ES" sz="1400" cap="all" dirty="0">
                <a:solidFill>
                  <a:schemeClr val="bg1"/>
                </a:solidFill>
              </a:rPr>
            </a:br>
            <a:r>
              <a:rPr lang="es-ES" sz="1400" cap="all" dirty="0">
                <a:solidFill>
                  <a:schemeClr val="bg1"/>
                </a:solidFill>
              </a:rPr>
              <a:t>Técnicas de fabricación:</a:t>
            </a:r>
            <a:br>
              <a:rPr lang="es-ES" sz="1400" cap="all" dirty="0">
                <a:solidFill>
                  <a:schemeClr val="bg1"/>
                </a:solidFill>
              </a:rPr>
            </a:br>
            <a:br>
              <a:rPr lang="es-ES" sz="1400" cap="all" dirty="0">
                <a:solidFill>
                  <a:schemeClr val="bg1"/>
                </a:solidFill>
              </a:rPr>
            </a:br>
            <a:r>
              <a:rPr lang="es-ES" sz="1400" cap="all" dirty="0">
                <a:solidFill>
                  <a:schemeClr val="bg1"/>
                </a:solidFill>
              </a:rPr>
              <a:t>Seleccione las técnicas de fabricación adecuadas, como soldadura u otras formas de unión, para construir una jaula robusta y duradera.</a:t>
            </a:r>
            <a:br>
              <a:rPr lang="es-ES" sz="1400" cap="all" dirty="0">
                <a:solidFill>
                  <a:schemeClr val="bg1"/>
                </a:solidFill>
              </a:rPr>
            </a:br>
            <a:r>
              <a:rPr lang="es-ES" sz="1400" cap="all" dirty="0">
                <a:solidFill>
                  <a:schemeClr val="bg1"/>
                </a:solidFill>
              </a:rPr>
              <a:t>Integración con el vehículo:</a:t>
            </a:r>
            <a:br>
              <a:rPr lang="es-ES" sz="1400" cap="all" dirty="0">
                <a:solidFill>
                  <a:schemeClr val="bg1"/>
                </a:solidFill>
              </a:rPr>
            </a:br>
            <a:br>
              <a:rPr lang="es-ES" sz="1400" cap="all" dirty="0">
                <a:solidFill>
                  <a:schemeClr val="bg1"/>
                </a:solidFill>
              </a:rPr>
            </a:br>
            <a:r>
              <a:rPr lang="es-ES" sz="1400" cap="all" dirty="0">
                <a:solidFill>
                  <a:schemeClr val="bg1"/>
                </a:solidFill>
              </a:rPr>
              <a:t>Considere la integración de la jaula en la estructura existente del vehículo sin comprometer la integridad del chasis.</a:t>
            </a:r>
            <a:br>
              <a:rPr lang="es-ES" sz="1400" cap="all" dirty="0">
                <a:solidFill>
                  <a:schemeClr val="bg1"/>
                </a:solidFill>
              </a:rPr>
            </a:br>
            <a:br>
              <a:rPr lang="es-ES" sz="1400" cap="all" dirty="0">
                <a:solidFill>
                  <a:schemeClr val="bg1"/>
                </a:solidFill>
              </a:rPr>
            </a:br>
            <a:r>
              <a:rPr lang="es-ES" sz="1400" cap="all" dirty="0">
                <a:solidFill>
                  <a:schemeClr val="bg1"/>
                </a:solidFill>
              </a:rPr>
              <a:t>Pruebas y simulaciones:</a:t>
            </a:r>
            <a:br>
              <a:rPr lang="es-ES" sz="1400" cap="all" dirty="0">
                <a:solidFill>
                  <a:schemeClr val="bg1"/>
                </a:solidFill>
              </a:rPr>
            </a:br>
            <a:br>
              <a:rPr lang="es-ES" sz="1400" cap="all" dirty="0">
                <a:solidFill>
                  <a:schemeClr val="bg1"/>
                </a:solidFill>
              </a:rPr>
            </a:br>
            <a:r>
              <a:rPr lang="es-ES" sz="1400" cap="all" dirty="0">
                <a:solidFill>
                  <a:schemeClr val="bg1"/>
                </a:solidFill>
              </a:rPr>
              <a:t>Realice pruebas físicas y simulaciones para verificar la eficacia de la jaula en condiciones de vuelo y asegúrese de que cumple con los estándares de seguridad.</a:t>
            </a:r>
            <a:br>
              <a:rPr lang="es-ES" sz="1400" cap="all" dirty="0">
                <a:solidFill>
                  <a:schemeClr val="bg1"/>
                </a:solidFill>
              </a:rPr>
            </a:br>
            <a:endParaRPr lang="en-US" sz="1400" cap="all" dirty="0">
              <a:solidFill>
                <a:schemeClr val="bg1"/>
              </a:solidFill>
            </a:endParaRPr>
          </a:p>
        </p:txBody>
      </p:sp>
      <p:cxnSp>
        <p:nvCxnSpPr>
          <p:cNvPr id="14" name="Straight Connector 13">
            <a:extLst>
              <a:ext uri="{FF2B5EF4-FFF2-40B4-BE49-F238E27FC236}">
                <a16:creationId xmlns:a16="http://schemas.microsoft.com/office/drawing/2014/main" id="{B0AA360F-DECB-4836-8FB6-22C4BC3FB0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14"/>
            <a:ext cx="804195" cy="0"/>
          </a:xfrm>
          <a:prstGeom prst="line">
            <a:avLst/>
          </a:prstGeom>
          <a:ln w="857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4115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D8689CE0-64D2-447C-9C1F-872D111D8AC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4B6C6491-4A25-4638-B352-7708F0A2A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6125ED7-F0CF-40D9-8C60-51E188053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0ADC4A4-F20A-7064-DBF3-887BE86B4D73}"/>
              </a:ext>
            </a:extLst>
          </p:cNvPr>
          <p:cNvSpPr>
            <a:spLocks noGrp="1"/>
          </p:cNvSpPr>
          <p:nvPr>
            <p:ph type="title"/>
          </p:nvPr>
        </p:nvSpPr>
        <p:spPr>
          <a:xfrm>
            <a:off x="1052146" y="0"/>
            <a:ext cx="9958754" cy="6858000"/>
          </a:xfrm>
        </p:spPr>
        <p:txBody>
          <a:bodyPr vert="horz" lIns="91440" tIns="45720" rIns="91440" bIns="45720" rtlCol="0" anchor="t">
            <a:normAutofit fontScale="90000"/>
          </a:bodyPr>
          <a:lstStyle/>
          <a:p>
            <a:r>
              <a:rPr lang="en-US" sz="1400" cap="all" dirty="0">
                <a:solidFill>
                  <a:schemeClr val="bg1"/>
                </a:solidFill>
              </a:rPr>
              <a:t>Cronograma y materiales a utilizer.</a:t>
            </a:r>
            <a:br>
              <a:rPr lang="en-US" sz="1400" cap="all" dirty="0">
                <a:solidFill>
                  <a:schemeClr val="bg1"/>
                </a:solidFill>
              </a:rPr>
            </a:br>
            <a:br>
              <a:rPr lang="en-US" sz="1400" cap="all" dirty="0">
                <a:solidFill>
                  <a:schemeClr val="bg1"/>
                </a:solidFill>
              </a:rPr>
            </a:br>
            <a:r>
              <a:rPr lang="es-ES" sz="1200" cap="all" dirty="0">
                <a:solidFill>
                  <a:schemeClr val="bg1"/>
                </a:solidFill>
              </a:rPr>
              <a:t>Cronograma:</a:t>
            </a:r>
            <a:br>
              <a:rPr lang="es-ES" sz="1200" cap="all" dirty="0">
                <a:solidFill>
                  <a:schemeClr val="bg1"/>
                </a:solidFill>
              </a:rPr>
            </a:br>
            <a:r>
              <a:rPr lang="es-ES" sz="1200" cap="all" dirty="0">
                <a:solidFill>
                  <a:schemeClr val="bg1"/>
                </a:solidFill>
              </a:rPr>
              <a:t>Fase de Planificación (Semana 1-2):</a:t>
            </a:r>
            <a:br>
              <a:rPr lang="es-ES" sz="1200" cap="all" dirty="0">
                <a:solidFill>
                  <a:schemeClr val="bg1"/>
                </a:solidFill>
              </a:rPr>
            </a:br>
            <a:br>
              <a:rPr lang="es-ES" sz="1200" cap="all" dirty="0">
                <a:solidFill>
                  <a:schemeClr val="bg1"/>
                </a:solidFill>
              </a:rPr>
            </a:br>
            <a:r>
              <a:rPr lang="es-ES" sz="1200" cap="all" dirty="0">
                <a:solidFill>
                  <a:schemeClr val="bg1"/>
                </a:solidFill>
              </a:rPr>
              <a:t>Definición de requisitos y normativas.</a:t>
            </a:r>
            <a:br>
              <a:rPr lang="es-ES" sz="1200" cap="all" dirty="0">
                <a:solidFill>
                  <a:schemeClr val="bg1"/>
                </a:solidFill>
              </a:rPr>
            </a:br>
            <a:r>
              <a:rPr lang="es-ES" sz="1200" cap="all" dirty="0">
                <a:solidFill>
                  <a:schemeClr val="bg1"/>
                </a:solidFill>
              </a:rPr>
              <a:t>Investigación de diseños y normativas de seguridad.</a:t>
            </a:r>
            <a:br>
              <a:rPr lang="es-ES" sz="1200" cap="all" dirty="0">
                <a:solidFill>
                  <a:schemeClr val="bg1"/>
                </a:solidFill>
              </a:rPr>
            </a:br>
            <a:r>
              <a:rPr lang="es-ES" sz="1200" cap="all" dirty="0">
                <a:solidFill>
                  <a:schemeClr val="bg1"/>
                </a:solidFill>
              </a:rPr>
              <a:t>Selección preliminar de materiales.</a:t>
            </a:r>
            <a:br>
              <a:rPr lang="es-ES" sz="1200" cap="all" dirty="0">
                <a:solidFill>
                  <a:schemeClr val="bg1"/>
                </a:solidFill>
              </a:rPr>
            </a:br>
            <a:br>
              <a:rPr lang="es-ES" sz="1200" cap="all" dirty="0">
                <a:solidFill>
                  <a:schemeClr val="bg1"/>
                </a:solidFill>
              </a:rPr>
            </a:br>
            <a:r>
              <a:rPr lang="es-ES" sz="1200" cap="all" dirty="0">
                <a:solidFill>
                  <a:schemeClr val="bg1"/>
                </a:solidFill>
              </a:rPr>
              <a:t>Fase de Diseño (Semana 3-5):</a:t>
            </a:r>
            <a:br>
              <a:rPr lang="es-ES" sz="1200" cap="all" dirty="0">
                <a:solidFill>
                  <a:schemeClr val="bg1"/>
                </a:solidFill>
              </a:rPr>
            </a:br>
            <a:br>
              <a:rPr lang="es-ES" sz="1200" cap="all" dirty="0">
                <a:solidFill>
                  <a:schemeClr val="bg1"/>
                </a:solidFill>
              </a:rPr>
            </a:br>
            <a:r>
              <a:rPr lang="es-ES" sz="1200" cap="all" dirty="0">
                <a:solidFill>
                  <a:schemeClr val="bg1"/>
                </a:solidFill>
              </a:rPr>
              <a:t>Desarrollo del diseño estructural.</a:t>
            </a:r>
            <a:br>
              <a:rPr lang="es-ES" sz="1200" cap="all" dirty="0">
                <a:solidFill>
                  <a:schemeClr val="bg1"/>
                </a:solidFill>
              </a:rPr>
            </a:br>
            <a:r>
              <a:rPr lang="es-ES" sz="1200" cap="all" dirty="0">
                <a:solidFill>
                  <a:schemeClr val="bg1"/>
                </a:solidFill>
              </a:rPr>
              <a:t>Análisis de carga y resistencia.</a:t>
            </a:r>
            <a:br>
              <a:rPr lang="es-ES" sz="1200" cap="all" dirty="0">
                <a:solidFill>
                  <a:schemeClr val="bg1"/>
                </a:solidFill>
              </a:rPr>
            </a:br>
            <a:r>
              <a:rPr lang="es-ES" sz="1200" cap="all" dirty="0">
                <a:solidFill>
                  <a:schemeClr val="bg1"/>
                </a:solidFill>
              </a:rPr>
              <a:t>Aprobación del diseño por parte de expertos en seguridad vehicular.</a:t>
            </a:r>
            <a:br>
              <a:rPr lang="es-ES" sz="1200" cap="all" dirty="0">
                <a:solidFill>
                  <a:schemeClr val="bg1"/>
                </a:solidFill>
              </a:rPr>
            </a:br>
            <a:r>
              <a:rPr lang="es-ES" sz="1200" cap="all" dirty="0">
                <a:solidFill>
                  <a:schemeClr val="bg1"/>
                </a:solidFill>
              </a:rPr>
              <a:t>Fase de Adquisición de Materiales (Semana 6-8):</a:t>
            </a:r>
            <a:br>
              <a:rPr lang="es-ES" sz="1200" cap="all" dirty="0">
                <a:solidFill>
                  <a:schemeClr val="bg1"/>
                </a:solidFill>
              </a:rPr>
            </a:br>
            <a:br>
              <a:rPr lang="es-ES" sz="1200" cap="all" dirty="0">
                <a:solidFill>
                  <a:schemeClr val="bg1"/>
                </a:solidFill>
              </a:rPr>
            </a:br>
            <a:r>
              <a:rPr lang="es-ES" sz="1200" cap="all" dirty="0">
                <a:solidFill>
                  <a:schemeClr val="bg1"/>
                </a:solidFill>
              </a:rPr>
              <a:t>Finalización de la lista de materiales.</a:t>
            </a:r>
            <a:br>
              <a:rPr lang="es-ES" sz="1200" cap="all" dirty="0">
                <a:solidFill>
                  <a:schemeClr val="bg1"/>
                </a:solidFill>
              </a:rPr>
            </a:br>
            <a:r>
              <a:rPr lang="es-ES" sz="1200" cap="all" dirty="0">
                <a:solidFill>
                  <a:schemeClr val="bg1"/>
                </a:solidFill>
              </a:rPr>
              <a:t>Presupuesto y adquisición de materiales.</a:t>
            </a:r>
            <a:br>
              <a:rPr lang="es-ES" sz="1200" cap="all" dirty="0">
                <a:solidFill>
                  <a:schemeClr val="bg1"/>
                </a:solidFill>
              </a:rPr>
            </a:br>
            <a:br>
              <a:rPr lang="es-ES" sz="1200" cap="all" dirty="0">
                <a:solidFill>
                  <a:schemeClr val="bg1"/>
                </a:solidFill>
              </a:rPr>
            </a:br>
            <a:r>
              <a:rPr lang="es-ES" sz="1200" cap="all" dirty="0">
                <a:solidFill>
                  <a:schemeClr val="bg1"/>
                </a:solidFill>
              </a:rPr>
              <a:t>Fase de Fabricación (Semana 9-15):</a:t>
            </a:r>
            <a:br>
              <a:rPr lang="es-ES" sz="1200" cap="all" dirty="0">
                <a:solidFill>
                  <a:schemeClr val="bg1"/>
                </a:solidFill>
              </a:rPr>
            </a:br>
            <a:br>
              <a:rPr lang="es-ES" sz="1200" cap="all" dirty="0">
                <a:solidFill>
                  <a:schemeClr val="bg1"/>
                </a:solidFill>
              </a:rPr>
            </a:br>
            <a:r>
              <a:rPr lang="es-ES" sz="1200" cap="all" dirty="0">
                <a:solidFill>
                  <a:schemeClr val="bg1"/>
                </a:solidFill>
              </a:rPr>
              <a:t>Preparación del taller y las herramientas.</a:t>
            </a:r>
            <a:br>
              <a:rPr lang="es-ES" sz="1200" cap="all" dirty="0">
                <a:solidFill>
                  <a:schemeClr val="bg1"/>
                </a:solidFill>
              </a:rPr>
            </a:br>
            <a:r>
              <a:rPr lang="es-ES" sz="1200" cap="all" dirty="0">
                <a:solidFill>
                  <a:schemeClr val="bg1"/>
                </a:solidFill>
              </a:rPr>
              <a:t>Fabricación de componentes de la jaula.</a:t>
            </a:r>
            <a:br>
              <a:rPr lang="es-ES" sz="1200" cap="all" dirty="0">
                <a:solidFill>
                  <a:schemeClr val="bg1"/>
                </a:solidFill>
              </a:rPr>
            </a:br>
            <a:r>
              <a:rPr lang="es-ES" sz="1200" cap="all" dirty="0">
                <a:solidFill>
                  <a:schemeClr val="bg1"/>
                </a:solidFill>
              </a:rPr>
              <a:t>Ensamblaje y soldadura.</a:t>
            </a:r>
            <a:br>
              <a:rPr lang="es-ES" sz="1200" cap="all" dirty="0">
                <a:solidFill>
                  <a:schemeClr val="bg1"/>
                </a:solidFill>
              </a:rPr>
            </a:br>
            <a:r>
              <a:rPr lang="es-ES" sz="1200" cap="all" dirty="0">
                <a:solidFill>
                  <a:schemeClr val="bg1"/>
                </a:solidFill>
              </a:rPr>
              <a:t>Fase de Pruebas (Semana 16-18):</a:t>
            </a:r>
            <a:br>
              <a:rPr lang="es-ES" sz="1200" cap="all" dirty="0">
                <a:solidFill>
                  <a:schemeClr val="bg1"/>
                </a:solidFill>
              </a:rPr>
            </a:br>
            <a:br>
              <a:rPr lang="es-ES" sz="1200" cap="all" dirty="0">
                <a:solidFill>
                  <a:schemeClr val="bg1"/>
                </a:solidFill>
              </a:rPr>
            </a:br>
            <a:r>
              <a:rPr lang="es-ES" sz="1200" cap="all" dirty="0">
                <a:solidFill>
                  <a:schemeClr val="bg1"/>
                </a:solidFill>
              </a:rPr>
              <a:t>Simulaciones de vuelo.</a:t>
            </a:r>
            <a:br>
              <a:rPr lang="es-ES" sz="1200" cap="all" dirty="0">
                <a:solidFill>
                  <a:schemeClr val="bg1"/>
                </a:solidFill>
              </a:rPr>
            </a:br>
            <a:r>
              <a:rPr lang="es-ES" sz="1200" cap="all" dirty="0">
                <a:solidFill>
                  <a:schemeClr val="bg1"/>
                </a:solidFill>
              </a:rPr>
              <a:t>Pruebas de carga y resistencia.</a:t>
            </a:r>
            <a:br>
              <a:rPr lang="es-ES" sz="1200" cap="all" dirty="0">
                <a:solidFill>
                  <a:schemeClr val="bg1"/>
                </a:solidFill>
              </a:rPr>
            </a:br>
            <a:r>
              <a:rPr lang="es-ES" sz="1200" cap="all" dirty="0">
                <a:solidFill>
                  <a:schemeClr val="bg1"/>
                </a:solidFill>
              </a:rPr>
              <a:t>Ajustes y mejoras según sea necesario.</a:t>
            </a:r>
            <a:br>
              <a:rPr lang="es-ES" sz="1200" cap="all" dirty="0">
                <a:solidFill>
                  <a:schemeClr val="bg1"/>
                </a:solidFill>
              </a:rPr>
            </a:br>
            <a:br>
              <a:rPr lang="es-ES" sz="1200" cap="all" dirty="0">
                <a:solidFill>
                  <a:schemeClr val="bg1"/>
                </a:solidFill>
              </a:rPr>
            </a:br>
            <a:r>
              <a:rPr lang="es-ES" sz="1200" cap="all" dirty="0">
                <a:solidFill>
                  <a:schemeClr val="bg1"/>
                </a:solidFill>
              </a:rPr>
              <a:t>Fase de Instalación (Semana 19-20):</a:t>
            </a:r>
            <a:br>
              <a:rPr lang="es-ES" sz="1200" cap="all" dirty="0">
                <a:solidFill>
                  <a:schemeClr val="bg1"/>
                </a:solidFill>
              </a:rPr>
            </a:br>
            <a:br>
              <a:rPr lang="es-ES" sz="1200" cap="all" dirty="0">
                <a:solidFill>
                  <a:schemeClr val="bg1"/>
                </a:solidFill>
              </a:rPr>
            </a:br>
            <a:r>
              <a:rPr lang="es-ES" sz="1200" cap="all" dirty="0">
                <a:solidFill>
                  <a:schemeClr val="bg1"/>
                </a:solidFill>
              </a:rPr>
              <a:t>Preparación del vehículo.</a:t>
            </a:r>
            <a:br>
              <a:rPr lang="es-ES" sz="1200" cap="all" dirty="0">
                <a:solidFill>
                  <a:schemeClr val="bg1"/>
                </a:solidFill>
              </a:rPr>
            </a:br>
            <a:r>
              <a:rPr lang="es-ES" sz="1200" cap="all" dirty="0">
                <a:solidFill>
                  <a:schemeClr val="bg1"/>
                </a:solidFill>
              </a:rPr>
              <a:t>Instalación de la jaula antivuelco.</a:t>
            </a:r>
            <a:br>
              <a:rPr lang="es-ES" sz="1200" cap="all" dirty="0">
                <a:solidFill>
                  <a:schemeClr val="bg1"/>
                </a:solidFill>
              </a:rPr>
            </a:br>
            <a:r>
              <a:rPr lang="es-ES" sz="1200" cap="all" dirty="0">
                <a:solidFill>
                  <a:schemeClr val="bg1"/>
                </a:solidFill>
              </a:rPr>
              <a:t>Fase de Documentación y Entrega (Semana 21-22):</a:t>
            </a:r>
            <a:br>
              <a:rPr lang="es-ES" sz="1200" cap="all" dirty="0">
                <a:solidFill>
                  <a:schemeClr val="bg1"/>
                </a:solidFill>
              </a:rPr>
            </a:br>
            <a:br>
              <a:rPr lang="es-ES" sz="1200" cap="all" dirty="0">
                <a:solidFill>
                  <a:schemeClr val="bg1"/>
                </a:solidFill>
              </a:rPr>
            </a:br>
            <a:r>
              <a:rPr lang="es-ES" sz="1200" cap="all" dirty="0">
                <a:solidFill>
                  <a:schemeClr val="bg1"/>
                </a:solidFill>
              </a:rPr>
              <a:t>Creación de manuales de instalación y mantenimiento.</a:t>
            </a:r>
            <a:br>
              <a:rPr lang="es-ES" sz="1200" cap="all" dirty="0">
                <a:solidFill>
                  <a:schemeClr val="bg1"/>
                </a:solidFill>
              </a:rPr>
            </a:br>
            <a:r>
              <a:rPr lang="es-ES" sz="1200" cap="all" dirty="0">
                <a:solidFill>
                  <a:schemeClr val="bg1"/>
                </a:solidFill>
              </a:rPr>
              <a:t>Registro de los procesos de construcción.</a:t>
            </a:r>
            <a:br>
              <a:rPr lang="es-ES" sz="1200" cap="all" dirty="0">
                <a:solidFill>
                  <a:schemeClr val="bg1"/>
                </a:solidFill>
              </a:rPr>
            </a:br>
            <a:r>
              <a:rPr lang="es-ES" sz="1200" cap="all" dirty="0">
                <a:solidFill>
                  <a:schemeClr val="bg1"/>
                </a:solidFill>
              </a:rPr>
              <a:t>Entrega del proyecto finalizado.</a:t>
            </a:r>
            <a:br>
              <a:rPr lang="es-ES" sz="1200" cap="all" dirty="0">
                <a:solidFill>
                  <a:schemeClr val="bg1"/>
                </a:solidFill>
              </a:rPr>
            </a:br>
            <a:br>
              <a:rPr lang="es-ES" sz="1200" cap="all" dirty="0">
                <a:solidFill>
                  <a:schemeClr val="bg1"/>
                </a:solidFill>
              </a:rPr>
            </a:br>
            <a:r>
              <a:rPr lang="es-ES" sz="1200" cap="all" dirty="0">
                <a:solidFill>
                  <a:schemeClr val="bg1"/>
                </a:solidFill>
              </a:rPr>
              <a:t>Materiales:</a:t>
            </a:r>
            <a:br>
              <a:rPr lang="es-ES" sz="1200" cap="all" dirty="0">
                <a:solidFill>
                  <a:schemeClr val="bg1"/>
                </a:solidFill>
              </a:rPr>
            </a:br>
            <a:br>
              <a:rPr lang="es-ES" sz="1200" cap="all" dirty="0">
                <a:solidFill>
                  <a:schemeClr val="bg1"/>
                </a:solidFill>
              </a:rPr>
            </a:br>
            <a:br>
              <a:rPr lang="es-ES" sz="1200" cap="all" dirty="0">
                <a:solidFill>
                  <a:schemeClr val="bg1"/>
                </a:solidFill>
              </a:rPr>
            </a:br>
            <a:r>
              <a:rPr lang="es-ES" sz="1200" cap="all" dirty="0">
                <a:solidFill>
                  <a:schemeClr val="bg1"/>
                </a:solidFill>
              </a:rPr>
              <a:t>Tubos de Acero o Aleación Ligera, Placas de Refuerzo, Conectores y Accesorios de Soldadura, Material de Relleno para Soldadura</a:t>
            </a:r>
            <a:br>
              <a:rPr lang="es-ES" sz="1200" cap="all" dirty="0">
                <a:solidFill>
                  <a:schemeClr val="bg1"/>
                </a:solidFill>
              </a:rPr>
            </a:br>
            <a:r>
              <a:rPr lang="es-ES" sz="1200" cap="all" dirty="0">
                <a:solidFill>
                  <a:schemeClr val="bg1"/>
                </a:solidFill>
              </a:rPr>
              <a:t>Pintura Anticorrosiva, Herramientas de Corte y Soldadura, Instrumentos de Medición y Equipo de Protección Personal (EPP)</a:t>
            </a:r>
            <a:br>
              <a:rPr lang="es-ES" sz="1200" cap="all" dirty="0">
                <a:solidFill>
                  <a:schemeClr val="bg1"/>
                </a:solidFill>
              </a:rPr>
            </a:br>
            <a:br>
              <a:rPr lang="es-ES" sz="1200" cap="all" dirty="0">
                <a:solidFill>
                  <a:schemeClr val="bg1"/>
                </a:solidFill>
              </a:rPr>
            </a:br>
            <a:br>
              <a:rPr lang="es-ES" sz="1400" cap="all" dirty="0">
                <a:solidFill>
                  <a:schemeClr val="bg1"/>
                </a:solidFill>
              </a:rPr>
            </a:br>
            <a:endParaRPr lang="en-US" sz="1400" cap="all" dirty="0">
              <a:solidFill>
                <a:schemeClr val="bg1"/>
              </a:solidFill>
            </a:endParaRPr>
          </a:p>
        </p:txBody>
      </p:sp>
      <p:cxnSp>
        <p:nvCxnSpPr>
          <p:cNvPr id="14" name="Straight Connector 13">
            <a:extLst>
              <a:ext uri="{FF2B5EF4-FFF2-40B4-BE49-F238E27FC236}">
                <a16:creationId xmlns:a16="http://schemas.microsoft.com/office/drawing/2014/main" id="{B0AA360F-DECB-4836-8FB6-22C4BC3FB0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14"/>
            <a:ext cx="804195" cy="0"/>
          </a:xfrm>
          <a:prstGeom prst="line">
            <a:avLst/>
          </a:prstGeom>
          <a:ln w="857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0277380"/>
      </p:ext>
    </p:extLst>
  </p:cSld>
  <p:clrMapOvr>
    <a:masterClrMapping/>
  </p:clrMapOvr>
</p:sld>
</file>

<file path=ppt/theme/theme1.xml><?xml version="1.0" encoding="utf-8"?>
<a:theme xmlns:a="http://schemas.openxmlformats.org/drawingml/2006/main" name="BjornVTI">
  <a:themeElements>
    <a:clrScheme name="Office">
      <a:dk1>
        <a:srgbClr val="000000"/>
      </a:dk1>
      <a:lt1>
        <a:srgbClr val="FFFFFF"/>
      </a:lt1>
      <a:dk2>
        <a:srgbClr val="1D242E"/>
      </a:dk2>
      <a:lt2>
        <a:srgbClr val="F2F1F1"/>
      </a:lt2>
      <a:accent1>
        <a:srgbClr val="4472C4"/>
      </a:accent1>
      <a:accent2>
        <a:srgbClr val="ED7D31"/>
      </a:accent2>
      <a:accent3>
        <a:srgbClr val="A3A3A3"/>
      </a:accent3>
      <a:accent4>
        <a:srgbClr val="CF9B00"/>
      </a:accent4>
      <a:accent5>
        <a:srgbClr val="5B9BD5"/>
      </a:accent5>
      <a:accent6>
        <a:srgbClr val="70AD47"/>
      </a:accent6>
      <a:hlink>
        <a:srgbClr val="D26012"/>
      </a:hlink>
      <a:folHlink>
        <a:srgbClr val="9A5879"/>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VTI" id="{D01443FD-65CF-4AEF-9B9D-4466C96F9785}" vid="{36EF4262-385E-40E6-B073-FB18FD98BF4C}"/>
    </a:ext>
  </a:extLst>
</a:theme>
</file>

<file path=docProps/app.xml><?xml version="1.0" encoding="utf-8"?>
<Properties xmlns="http://schemas.openxmlformats.org/officeDocument/2006/extended-properties" xmlns:vt="http://schemas.openxmlformats.org/officeDocument/2006/docPropsVTypes">
  <TotalTime>72</TotalTime>
  <Words>1222</Words>
  <Application>Microsoft Macintosh PowerPoint</Application>
  <PresentationFormat>Panorámica</PresentationFormat>
  <Paragraphs>11</Paragraphs>
  <Slides>6</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6</vt:i4>
      </vt:variant>
    </vt:vector>
  </HeadingPairs>
  <TitlesOfParts>
    <vt:vector size="9" baseType="lpstr">
      <vt:lpstr>Arial</vt:lpstr>
      <vt:lpstr>Neue Haas Grotesk Text Pro</vt:lpstr>
      <vt:lpstr>BjornVTI</vt:lpstr>
      <vt:lpstr>Jaula antivuelco </vt:lpstr>
      <vt:lpstr>Definicion del Proyecto:  Un proyecto de creación de una jaula antivuelco básica se refiere al diseño, construcción e instalación de una estructura de seguridad diseñada para proteger a los ocupantes de un vehículo en caso de un vuelco. La jaula antivuelco es comúnmente utilizada en vehículos todoterreno, como vehículos todo terreno (ATV), vehículos utilitarios todo terreno (UTV) o incluso en vehículos de competición. La definición del proyecto implicaría varios aspectos, como:   Diseño: - Especificaciones y requisitos de seguridad. - Dimensiones y forma de la jaula. - Materiales a utilizar (generalmente acero o Aleaciones ligeras).  2. Investigación y Normativas:</vt:lpstr>
      <vt:lpstr>Tema de investigacion, nocion matematica y problematicas a abordar.  Tema de Investigación:  Optimización del Diseño de Jaulas Antivuelco para Vehículos Todo Terreno (ATV):  Investigar métodos y técnicas para optimizar el diseño de jaulas antivuelco, teniendo en cuenta factores como la geometría, los materiales y las cargas de impacto, con el objetivo de maximizar la eficacia de la protección en caso de vuelo y minimizar el impacto en el peso y la maniobrabilidad del ATV.  Noción Matemática:  Análisis de Elementos Finitos (AEF):  La aplicación del análisis de elementos finitos implica el uso de métodos matemáticos para dividir una estructura compleja en elementos más pequeños, permitiendo una evaluación detallada de las tensiones y deformaciones en cada sección. En el contexto de la construcción de la jaula antivuelco, el AEF puede emplearse para simular virtualmente el comportamiento de la estructura ante diferentes condiciones de vuelco, contribuyendo así a la optimización del diseño.  Problemática a Abordar:  Equilibrio entre Peso y Resistencia:  Una de las problemáticas fundamentales en la construcción de jaulas antivuelco es lograr un equilibrio adecuado entre el peso de la estructura y su capacidad para resistir impactos durante un vuelo. La necesidad de maximizar la protección a menudo entra en conflicto con la importancia de mantener el peso del vehículo lo más bajo posible para preservar su rendimiento y maniobrabilidad. Abordar esta problemática implica encontrar soluciones que optimicen la resistencia estructural sin comprometer significativamente el peso del conjunto.</vt:lpstr>
      <vt:lpstr>Objetivos y preguntas de investigacion:  Diseño Eficiente:  Identificar los principios de diseño más eficientes para una jaula antivuelco en términos de resistencia y peso. Materiales Óptimos:  Determine los materiales más adecuados para la construcción de la jaula en función de su resistencia, durabilidad y peso. Normativas de Seguridad:  Analizar y comprender las normativas y regulaciones de seguridad vehicular para garantizar el cumplimiento en el diseño y la construcción de la jaula. Impacto en el Rendimiento del Vehículo:  Evaluar cómo la instalación de una jaula antivuelco afecta el rendimiento general del vehículo, incluyendo aspectos como la maniobrabilidad y la velocidad.  Simulaciones de Vuelco:  Realizar simulaciones de vuelo para evaluar la eficacia de la jaula en situaciones de vuelo realistas.  Determinar los costos asociados con la fabricación e instalación de la jaula antivuelco y explorar formas de optimizar la relación costo-beneficio. Adaptabilidad a Vehículos Específicos:  Investigar la adaptabilidad del diseño de la jaula a diferentes tipos de vehículos, como ATV, UTV o vehículos de competición. Requisitos de Mantenimiento:  Establecer los requisitos de mantenimiento a largo plazo para garantizar la durabilidad y la eficacia continua de la jaula antivuelco. ¿Cuáles son los factores clave a considerar al diseñar una jaula antivuelco eficiente en términos de seguridad vehicular?  ¿Qué materiales ofrecen la mejor combinación de resistencia y peso para la construcción de una jaula antivuelco?  ¿Cómo se comparan y aplican las normativas de seguridad vehicular en diferentes regiones en relación con las jaulas antivuelco?  ¿Cómo afecta la instalación de una jaula antivuelco al rendimiento general de un vehículo, y en qué medida?</vt:lpstr>
      <vt:lpstr>Temas iniciales involucrados  Diseño estructural:  Definir la geometría y la disposición de la jaula para garantizar la máxima resistencia y protección en caso de vuelo.  Selección de materiales:  Investigue y seleccione materiales adecuados que proporcionen la resistencia necesaria sin comprometer el peso del vehículo.  Normativas y regulaciones:  Comprender y cumplir con las normativas y regulaciones locales e internacionales de seguridad vehicular.  Análisis de carga y resistencia:  Realizar análisis de carga para determinar las fuerzas que actuarán sobre la jaula durante un vuelo y diseñar la estructura para resistir esas fuerzas. Técnicas de fabricación:  Seleccione las técnicas de fabricación adecuadas, como soldadura u otras formas de unión, para construir una jaula robusta y duradera. Integración con el vehículo:  Considere la integración de la jaula en la estructura existente del vehículo sin comprometer la integridad del chasis.  Pruebas y simulaciones:  Realice pruebas físicas y simulaciones para verificar la eficacia de la jaula en condiciones de vuelo y asegúrese de que cumple con los estándares de seguridad. </vt:lpstr>
      <vt:lpstr>Cronograma y materiales a utilizer.  Cronograma: Fase de Planificación (Semana 1-2):  Definición de requisitos y normativas. Investigación de diseños y normativas de seguridad. Selección preliminar de materiales.  Fase de Diseño (Semana 3-5):  Desarrollo del diseño estructural. Análisis de carga y resistencia. Aprobación del diseño por parte de expertos en seguridad vehicular. Fase de Adquisición de Materiales (Semana 6-8):  Finalización de la lista de materiales. Presupuesto y adquisición de materiales.  Fase de Fabricación (Semana 9-15):  Preparación del taller y las herramientas. Fabricación de componentes de la jaula. Ensamblaje y soldadura. Fase de Pruebas (Semana 16-18):  Simulaciones de vuelo. Pruebas de carga y resistencia. Ajustes y mejoras según sea necesario.  Fase de Instalación (Semana 19-20):  Preparación del vehículo. Instalación de la jaula antivuelco. Fase de Documentación y Entrega (Semana 21-22):  Creación de manuales de instalación y mantenimiento. Registro de los procesos de construcción. Entrega del proyecto finalizado.  Materiales:   Tubos de Acero o Aleación Ligera, Placas de Refuerzo, Conectores y Accesorios de Soldadura, Material de Relleno para Soldadura Pintura Anticorrosiva, Herramientas de Corte y Soldadura, Instrumentos de Medición y Equipo de Protección Personal (EPP)   </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Jaula antivuelco </dc:title>
  <dc:creator>Máximo</dc:creator>
  <cp:lastModifiedBy>LISSETTE ANDREA SALAMANCA MELLA</cp:lastModifiedBy>
  <cp:revision>3</cp:revision>
  <dcterms:created xsi:type="dcterms:W3CDTF">2023-11-18T01:55:24Z</dcterms:created>
  <dcterms:modified xsi:type="dcterms:W3CDTF">2023-11-23T17:25:05Z</dcterms:modified>
</cp:coreProperties>
</file>