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3.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4"/>
  </p:sldMasterIdLst>
  <p:sldIdLst>
    <p:sldId id="256" r:id="rId5"/>
    <p:sldId id="257" r:id="rId6"/>
    <p:sldId id="258" r:id="rId7"/>
    <p:sldId id="259" r:id="rId8"/>
    <p:sldId id="260"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5"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3B375B-A51B-4F53-B543-9B3032174563}" v="51" dt="2023-11-17T21:47:08.7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98" autoAdjust="0"/>
    <p:restoredTop sz="94660"/>
  </p:normalViewPr>
  <p:slideViewPr>
    <p:cSldViewPr snapToGrid="0">
      <p:cViewPr varScale="1">
        <p:scale>
          <a:sx n="85" d="100"/>
          <a:sy n="85" d="100"/>
        </p:scale>
        <p:origin x="200"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briones fuentes" userId="717f0767207cc796" providerId="LiveId" clId="{79DA743A-7419-4785-8768-971FA9E560EC}"/>
    <pc:docChg chg="custSel modSld">
      <pc:chgData name="kevin briones fuentes" userId="717f0767207cc796" providerId="LiveId" clId="{79DA743A-7419-4785-8768-971FA9E560EC}" dt="2023-11-18T00:07:35.279" v="10" actId="33524"/>
      <pc:docMkLst>
        <pc:docMk/>
      </pc:docMkLst>
      <pc:sldChg chg="modSp mod">
        <pc:chgData name="kevin briones fuentes" userId="717f0767207cc796" providerId="LiveId" clId="{79DA743A-7419-4785-8768-971FA9E560EC}" dt="2023-11-18T00:07:35.279" v="10" actId="33524"/>
        <pc:sldMkLst>
          <pc:docMk/>
          <pc:sldMk cId="3527147444" sldId="258"/>
        </pc:sldMkLst>
        <pc:spChg chg="mod">
          <ac:chgData name="kevin briones fuentes" userId="717f0767207cc796" providerId="LiveId" clId="{79DA743A-7419-4785-8768-971FA9E560EC}" dt="2023-11-18T00:07:35.279" v="10" actId="33524"/>
          <ac:spMkLst>
            <pc:docMk/>
            <pc:sldMk cId="3527147444" sldId="258"/>
            <ac:spMk id="3" creationId="{01909937-29F9-6C26-B948-FFE0743EEB4F}"/>
          </ac:spMkLst>
        </pc:spChg>
      </pc:sldChg>
      <pc:sldChg chg="modSp mod">
        <pc:chgData name="kevin briones fuentes" userId="717f0767207cc796" providerId="LiveId" clId="{79DA743A-7419-4785-8768-971FA9E560EC}" dt="2023-11-18T00:06:12.125" v="9" actId="33524"/>
        <pc:sldMkLst>
          <pc:docMk/>
          <pc:sldMk cId="2365239600" sldId="259"/>
        </pc:sldMkLst>
        <pc:spChg chg="mod">
          <ac:chgData name="kevin briones fuentes" userId="717f0767207cc796" providerId="LiveId" clId="{79DA743A-7419-4785-8768-971FA9E560EC}" dt="2023-11-18T00:05:56.163" v="5" actId="33524"/>
          <ac:spMkLst>
            <pc:docMk/>
            <pc:sldMk cId="2365239600" sldId="259"/>
            <ac:spMk id="3" creationId="{FD6C4F65-5BCB-7C9C-B93D-9FD1A66B9236}"/>
          </ac:spMkLst>
        </pc:spChg>
        <pc:spChg chg="mod">
          <ac:chgData name="kevin briones fuentes" userId="717f0767207cc796" providerId="LiveId" clId="{79DA743A-7419-4785-8768-971FA9E560EC}" dt="2023-11-18T00:06:12.125" v="9" actId="33524"/>
          <ac:spMkLst>
            <pc:docMk/>
            <pc:sldMk cId="2365239600" sldId="259"/>
            <ac:spMk id="4" creationId="{A2ADADC6-0C02-3725-B448-9A675AB3C092}"/>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3-11-23T14:33:46.695" idx="1">
    <p:pos x="1932" y="817"/>
    <p:text>OBJETIVO GENERAL:_____</p:text>
    <p:extLst>
      <p:ext uri="{C676402C-5697-4E1C-873F-D02D1690AC5C}">
        <p15:threadingInfo xmlns:p15="http://schemas.microsoft.com/office/powerpoint/2012/main" timeZoneBias="180"/>
      </p:ext>
    </p:extLst>
  </p:cm>
  <p:cm authorId="1" dt="2023-11-23T14:34:02.766" idx="2">
    <p:pos x="1907" y="1681"/>
    <p:text>OBJETIVOS ESPECIFICOS:_______</p:text>
    <p:extLst>
      <p:ext uri="{C676402C-5697-4E1C-873F-D02D1690AC5C}">
        <p15:threadingInfo xmlns:p15="http://schemas.microsoft.com/office/powerpoint/2012/main" timeZoneBias="180"/>
      </p:ext>
    </p:extLst>
  </p:cm>
  <p:cm authorId="1" dt="2023-11-23T14:34:22.281" idx="3">
    <p:pos x="10" y="10"/>
    <p:text>Para la redacción del objetivo general debe mejorar la redacción, uso de verbos y tiempo verbales </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1-23T14:35:14.685" idx="4">
    <p:pos x="10" y="10"/>
    <p:text>involucrar mas detalle de los temas matematicos</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1-23T14:36:09.754" idx="5">
    <p:pos x="10" y="10"/>
    <p:text>realizar mas detalle del cronograma, con tiempos específicos y tareas</p:text>
    <p:extLst>
      <p:ext uri="{C676402C-5697-4E1C-873F-D02D1690AC5C}">
        <p15:threadingInfo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B162AD-8344-424C-B842-75CFEA1C178F}" type="doc">
      <dgm:prSet loTypeId="urn:microsoft.com/office/officeart/2005/8/layout/hierarchy1" loCatId="hierarchy" qsTypeId="urn:microsoft.com/office/officeart/2005/8/quickstyle/simple4" qsCatId="simple" csTypeId="urn:microsoft.com/office/officeart/2005/8/colors/colorful2" csCatId="colorful" phldr="1"/>
      <dgm:spPr/>
      <dgm:t>
        <a:bodyPr/>
        <a:lstStyle/>
        <a:p>
          <a:endParaRPr lang="en-US"/>
        </a:p>
      </dgm:t>
    </dgm:pt>
    <dgm:pt modelId="{C19EED65-2FA4-4E24-A41E-307610317AD7}">
      <dgm:prSet/>
      <dgm:spPr/>
      <dgm:t>
        <a:bodyPr/>
        <a:lstStyle/>
        <a:p>
          <a:pPr algn="just"/>
          <a:r>
            <a:rPr lang="es-CL" dirty="0"/>
            <a:t>Como el microlattice no es tan fácil de conseguir como el metal o cualquier tipo de metal, se tomará como ejemplo el material que se tenga a mano en donde se procederá a crear diversos tipos de medidas a las estructuras del vehículo, viendo sus respectivas medidas, ángulos y dimensiones que necesita.</a:t>
          </a:r>
          <a:endParaRPr lang="en-US" dirty="0"/>
        </a:p>
      </dgm:t>
    </dgm:pt>
    <dgm:pt modelId="{976F7000-C60D-4888-A862-5450143A314C}" type="parTrans" cxnId="{4158A4D3-33DD-4F2C-AF00-E56F72E2B9CD}">
      <dgm:prSet/>
      <dgm:spPr/>
      <dgm:t>
        <a:bodyPr/>
        <a:lstStyle/>
        <a:p>
          <a:endParaRPr lang="en-US"/>
        </a:p>
      </dgm:t>
    </dgm:pt>
    <dgm:pt modelId="{8665ABCC-DEEF-4A7D-8591-F9939C8C3C0A}" type="sibTrans" cxnId="{4158A4D3-33DD-4F2C-AF00-E56F72E2B9CD}">
      <dgm:prSet/>
      <dgm:spPr/>
      <dgm:t>
        <a:bodyPr/>
        <a:lstStyle/>
        <a:p>
          <a:endParaRPr lang="en-US"/>
        </a:p>
      </dgm:t>
    </dgm:pt>
    <dgm:pt modelId="{10FD8C6D-3F4E-4807-8867-C4B21C8127B3}">
      <dgm:prSet/>
      <dgm:spPr/>
      <dgm:t>
        <a:bodyPr/>
        <a:lstStyle/>
        <a:p>
          <a:pPr algn="just"/>
          <a:r>
            <a:rPr lang="es-CL" dirty="0"/>
            <a:t>Las primeras semanas se harán investigaciones a los distintos tipos de vulnerabilidades que sufren los vehículos al minuto de tener un accidente, en donde se tomarán esos datos y se harán los respectivos análisis para poder llevar a cabo este proyecto para la seguridad de las personas al momento de sufrir accidente.</a:t>
          </a:r>
          <a:endParaRPr lang="en-US" dirty="0"/>
        </a:p>
      </dgm:t>
    </dgm:pt>
    <dgm:pt modelId="{E6D5389C-27C2-4E6A-98F8-DBCF40F3C557}" type="parTrans" cxnId="{D61BE7D0-D85F-46CC-9602-3B337EE80826}">
      <dgm:prSet/>
      <dgm:spPr/>
      <dgm:t>
        <a:bodyPr/>
        <a:lstStyle/>
        <a:p>
          <a:endParaRPr lang="en-US"/>
        </a:p>
      </dgm:t>
    </dgm:pt>
    <dgm:pt modelId="{AD7746F9-BEB6-402B-8BF9-774263D3ADCE}" type="sibTrans" cxnId="{D61BE7D0-D85F-46CC-9602-3B337EE80826}">
      <dgm:prSet/>
      <dgm:spPr/>
      <dgm:t>
        <a:bodyPr/>
        <a:lstStyle/>
        <a:p>
          <a:endParaRPr lang="en-US"/>
        </a:p>
      </dgm:t>
    </dgm:pt>
    <dgm:pt modelId="{E538261B-F4EC-4AB1-A61C-E8700ED5F501}" type="pres">
      <dgm:prSet presAssocID="{56B162AD-8344-424C-B842-75CFEA1C178F}" presName="hierChild1" presStyleCnt="0">
        <dgm:presLayoutVars>
          <dgm:chPref val="1"/>
          <dgm:dir/>
          <dgm:animOne val="branch"/>
          <dgm:animLvl val="lvl"/>
          <dgm:resizeHandles/>
        </dgm:presLayoutVars>
      </dgm:prSet>
      <dgm:spPr/>
    </dgm:pt>
    <dgm:pt modelId="{12F2D133-A646-4DEC-BC6F-ED22DF8381B1}" type="pres">
      <dgm:prSet presAssocID="{C19EED65-2FA4-4E24-A41E-307610317AD7}" presName="hierRoot1" presStyleCnt="0"/>
      <dgm:spPr/>
    </dgm:pt>
    <dgm:pt modelId="{5386FCB0-F24D-4278-A586-A41E80FF8406}" type="pres">
      <dgm:prSet presAssocID="{C19EED65-2FA4-4E24-A41E-307610317AD7}" presName="composite" presStyleCnt="0"/>
      <dgm:spPr/>
    </dgm:pt>
    <dgm:pt modelId="{4FAD7289-A2C3-4375-AB9B-F22967778055}" type="pres">
      <dgm:prSet presAssocID="{C19EED65-2FA4-4E24-A41E-307610317AD7}" presName="background" presStyleLbl="node0" presStyleIdx="0" presStyleCnt="2"/>
      <dgm:spPr/>
    </dgm:pt>
    <dgm:pt modelId="{BDDE5FCB-392F-46A9-A119-AE9AC87654F2}" type="pres">
      <dgm:prSet presAssocID="{C19EED65-2FA4-4E24-A41E-307610317AD7}" presName="text" presStyleLbl="fgAcc0" presStyleIdx="0" presStyleCnt="2">
        <dgm:presLayoutVars>
          <dgm:chPref val="3"/>
        </dgm:presLayoutVars>
      </dgm:prSet>
      <dgm:spPr/>
    </dgm:pt>
    <dgm:pt modelId="{62664D1C-4A69-4BC5-A2ED-7B86BC7BB500}" type="pres">
      <dgm:prSet presAssocID="{C19EED65-2FA4-4E24-A41E-307610317AD7}" presName="hierChild2" presStyleCnt="0"/>
      <dgm:spPr/>
    </dgm:pt>
    <dgm:pt modelId="{403BADF9-DEBD-4719-8A45-278F45924725}" type="pres">
      <dgm:prSet presAssocID="{10FD8C6D-3F4E-4807-8867-C4B21C8127B3}" presName="hierRoot1" presStyleCnt="0"/>
      <dgm:spPr/>
    </dgm:pt>
    <dgm:pt modelId="{E8A3E86C-C226-43BF-BE1D-97B9FC5044EF}" type="pres">
      <dgm:prSet presAssocID="{10FD8C6D-3F4E-4807-8867-C4B21C8127B3}" presName="composite" presStyleCnt="0"/>
      <dgm:spPr/>
    </dgm:pt>
    <dgm:pt modelId="{D344F91E-8A14-440F-8A0F-6C1D7B23E699}" type="pres">
      <dgm:prSet presAssocID="{10FD8C6D-3F4E-4807-8867-C4B21C8127B3}" presName="background" presStyleLbl="node0" presStyleIdx="1" presStyleCnt="2"/>
      <dgm:spPr/>
    </dgm:pt>
    <dgm:pt modelId="{C1BE553A-7849-44A0-82A2-D804CAF9B09E}" type="pres">
      <dgm:prSet presAssocID="{10FD8C6D-3F4E-4807-8867-C4B21C8127B3}" presName="text" presStyleLbl="fgAcc0" presStyleIdx="1" presStyleCnt="2">
        <dgm:presLayoutVars>
          <dgm:chPref val="3"/>
        </dgm:presLayoutVars>
      </dgm:prSet>
      <dgm:spPr/>
    </dgm:pt>
    <dgm:pt modelId="{128B5AA5-1A8B-4A9D-94A0-3933DA9220B8}" type="pres">
      <dgm:prSet presAssocID="{10FD8C6D-3F4E-4807-8867-C4B21C8127B3}" presName="hierChild2" presStyleCnt="0"/>
      <dgm:spPr/>
    </dgm:pt>
  </dgm:ptLst>
  <dgm:cxnLst>
    <dgm:cxn modelId="{E5BDCC01-5E7C-49BD-B15A-4701C3BFEDDA}" type="presOf" srcId="{C19EED65-2FA4-4E24-A41E-307610317AD7}" destId="{BDDE5FCB-392F-46A9-A119-AE9AC87654F2}" srcOrd="0" destOrd="0" presId="urn:microsoft.com/office/officeart/2005/8/layout/hierarchy1"/>
    <dgm:cxn modelId="{56578A06-7A85-45C7-B0BD-2E62F314218A}" type="presOf" srcId="{10FD8C6D-3F4E-4807-8867-C4B21C8127B3}" destId="{C1BE553A-7849-44A0-82A2-D804CAF9B09E}" srcOrd="0" destOrd="0" presId="urn:microsoft.com/office/officeart/2005/8/layout/hierarchy1"/>
    <dgm:cxn modelId="{D61BE7D0-D85F-46CC-9602-3B337EE80826}" srcId="{56B162AD-8344-424C-B842-75CFEA1C178F}" destId="{10FD8C6D-3F4E-4807-8867-C4B21C8127B3}" srcOrd="1" destOrd="0" parTransId="{E6D5389C-27C2-4E6A-98F8-DBCF40F3C557}" sibTransId="{AD7746F9-BEB6-402B-8BF9-774263D3ADCE}"/>
    <dgm:cxn modelId="{4158A4D3-33DD-4F2C-AF00-E56F72E2B9CD}" srcId="{56B162AD-8344-424C-B842-75CFEA1C178F}" destId="{C19EED65-2FA4-4E24-A41E-307610317AD7}" srcOrd="0" destOrd="0" parTransId="{976F7000-C60D-4888-A862-5450143A314C}" sibTransId="{8665ABCC-DEEF-4A7D-8591-F9939C8C3C0A}"/>
    <dgm:cxn modelId="{745F50D7-CCFA-488E-B75C-AFDBE8163098}" type="presOf" srcId="{56B162AD-8344-424C-B842-75CFEA1C178F}" destId="{E538261B-F4EC-4AB1-A61C-E8700ED5F501}" srcOrd="0" destOrd="0" presId="urn:microsoft.com/office/officeart/2005/8/layout/hierarchy1"/>
    <dgm:cxn modelId="{BC140C00-950B-4056-9720-E40BBDA7FFC6}" type="presParOf" srcId="{E538261B-F4EC-4AB1-A61C-E8700ED5F501}" destId="{12F2D133-A646-4DEC-BC6F-ED22DF8381B1}" srcOrd="0" destOrd="0" presId="urn:microsoft.com/office/officeart/2005/8/layout/hierarchy1"/>
    <dgm:cxn modelId="{8D97340C-CCFA-4F87-8107-36F276D29102}" type="presParOf" srcId="{12F2D133-A646-4DEC-BC6F-ED22DF8381B1}" destId="{5386FCB0-F24D-4278-A586-A41E80FF8406}" srcOrd="0" destOrd="0" presId="urn:microsoft.com/office/officeart/2005/8/layout/hierarchy1"/>
    <dgm:cxn modelId="{71E3E0C7-7F16-4D91-BD6A-7ED94A648D83}" type="presParOf" srcId="{5386FCB0-F24D-4278-A586-A41E80FF8406}" destId="{4FAD7289-A2C3-4375-AB9B-F22967778055}" srcOrd="0" destOrd="0" presId="urn:microsoft.com/office/officeart/2005/8/layout/hierarchy1"/>
    <dgm:cxn modelId="{3E4BC19F-B4DE-4777-8DAE-ED1D33435D56}" type="presParOf" srcId="{5386FCB0-F24D-4278-A586-A41E80FF8406}" destId="{BDDE5FCB-392F-46A9-A119-AE9AC87654F2}" srcOrd="1" destOrd="0" presId="urn:microsoft.com/office/officeart/2005/8/layout/hierarchy1"/>
    <dgm:cxn modelId="{7DB56F1F-784C-49E3-BE80-7EB4A9FCFC9F}" type="presParOf" srcId="{12F2D133-A646-4DEC-BC6F-ED22DF8381B1}" destId="{62664D1C-4A69-4BC5-A2ED-7B86BC7BB500}" srcOrd="1" destOrd="0" presId="urn:microsoft.com/office/officeart/2005/8/layout/hierarchy1"/>
    <dgm:cxn modelId="{F2D85912-073D-4348-9AAE-DA173BA08E9C}" type="presParOf" srcId="{E538261B-F4EC-4AB1-A61C-E8700ED5F501}" destId="{403BADF9-DEBD-4719-8A45-278F45924725}" srcOrd="1" destOrd="0" presId="urn:microsoft.com/office/officeart/2005/8/layout/hierarchy1"/>
    <dgm:cxn modelId="{710602C0-7658-464E-9EAD-375A1C57D5FE}" type="presParOf" srcId="{403BADF9-DEBD-4719-8A45-278F45924725}" destId="{E8A3E86C-C226-43BF-BE1D-97B9FC5044EF}" srcOrd="0" destOrd="0" presId="urn:microsoft.com/office/officeart/2005/8/layout/hierarchy1"/>
    <dgm:cxn modelId="{2CF9D92E-9093-43D6-87E4-84FFB4796226}" type="presParOf" srcId="{E8A3E86C-C226-43BF-BE1D-97B9FC5044EF}" destId="{D344F91E-8A14-440F-8A0F-6C1D7B23E699}" srcOrd="0" destOrd="0" presId="urn:microsoft.com/office/officeart/2005/8/layout/hierarchy1"/>
    <dgm:cxn modelId="{43A83EC2-C199-4ACD-A367-E3AB183B882B}" type="presParOf" srcId="{E8A3E86C-C226-43BF-BE1D-97B9FC5044EF}" destId="{C1BE553A-7849-44A0-82A2-D804CAF9B09E}" srcOrd="1" destOrd="0" presId="urn:microsoft.com/office/officeart/2005/8/layout/hierarchy1"/>
    <dgm:cxn modelId="{9A88E454-86F0-41FC-B631-ED56DE79F174}" type="presParOf" srcId="{403BADF9-DEBD-4719-8A45-278F45924725}" destId="{128B5AA5-1A8B-4A9D-94A0-3933DA9220B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AD7289-A2C3-4375-AB9B-F22967778055}">
      <dsp:nvSpPr>
        <dsp:cNvPr id="0" name=""/>
        <dsp:cNvSpPr/>
      </dsp:nvSpPr>
      <dsp:spPr>
        <a:xfrm>
          <a:off x="1209" y="220821"/>
          <a:ext cx="4244391" cy="2695188"/>
        </a:xfrm>
        <a:prstGeom prst="roundRect">
          <a:avLst>
            <a:gd name="adj" fmla="val 1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DDE5FCB-392F-46A9-A119-AE9AC87654F2}">
      <dsp:nvSpPr>
        <dsp:cNvPr id="0" name=""/>
        <dsp:cNvSpPr/>
      </dsp:nvSpPr>
      <dsp:spPr>
        <a:xfrm>
          <a:off x="472808" y="668840"/>
          <a:ext cx="4244391" cy="269518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s-CL" sz="1900" kern="1200" dirty="0"/>
            <a:t>Como el microlattice no es tan fácil de conseguir como el metal o cualquier tipo de metal, se tomará como ejemplo el material que se tenga a mano en donde se procederá a crear diversos tipos de medidas a las estructuras del vehículo, viendo sus respectivas medidas, ángulos y dimensiones que necesita.</a:t>
          </a:r>
          <a:endParaRPr lang="en-US" sz="1900" kern="1200" dirty="0"/>
        </a:p>
      </dsp:txBody>
      <dsp:txXfrm>
        <a:off x="551747" y="747779"/>
        <a:ext cx="4086513" cy="2537310"/>
      </dsp:txXfrm>
    </dsp:sp>
    <dsp:sp modelId="{D344F91E-8A14-440F-8A0F-6C1D7B23E699}">
      <dsp:nvSpPr>
        <dsp:cNvPr id="0" name=""/>
        <dsp:cNvSpPr/>
      </dsp:nvSpPr>
      <dsp:spPr>
        <a:xfrm>
          <a:off x="5188799" y="220821"/>
          <a:ext cx="4244391" cy="2695188"/>
        </a:xfrm>
        <a:prstGeom prst="roundRect">
          <a:avLst>
            <a:gd name="adj" fmla="val 1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C1BE553A-7849-44A0-82A2-D804CAF9B09E}">
      <dsp:nvSpPr>
        <dsp:cNvPr id="0" name=""/>
        <dsp:cNvSpPr/>
      </dsp:nvSpPr>
      <dsp:spPr>
        <a:xfrm>
          <a:off x="5660398" y="668840"/>
          <a:ext cx="4244391" cy="269518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s-CL" sz="1900" kern="1200" dirty="0"/>
            <a:t>Las primeras semanas se harán investigaciones a los distintos tipos de vulnerabilidades que sufren los vehículos al minuto de tener un accidente, en donde se tomarán esos datos y se harán los respectivos análisis para poder llevar a cabo este proyecto para la seguridad de las personas al momento de sufrir accidente.</a:t>
          </a:r>
          <a:endParaRPr lang="en-US" sz="1900" kern="1200" dirty="0"/>
        </a:p>
      </dsp:txBody>
      <dsp:txXfrm>
        <a:off x="5739337" y="747779"/>
        <a:ext cx="4086513" cy="253731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D145F0F-ABEA-49D3-ADF5-B61D2DA89C31}" type="datetimeFigureOut">
              <a:rPr lang="es-CL" smtClean="0"/>
              <a:t>23-11-23</a:t>
            </a:fld>
            <a:endParaRPr lang="es-CL"/>
          </a:p>
        </p:txBody>
      </p:sp>
      <p:sp>
        <p:nvSpPr>
          <p:cNvPr id="5" name="Footer Placeholder 4"/>
          <p:cNvSpPr>
            <a:spLocks noGrp="1"/>
          </p:cNvSpPr>
          <p:nvPr>
            <p:ph type="ftr" sz="quarter" idx="11"/>
          </p:nvPr>
        </p:nvSpPr>
        <p:spPr>
          <a:xfrm>
            <a:off x="1876424" y="5410201"/>
            <a:ext cx="5124886" cy="365125"/>
          </a:xfrm>
        </p:spPr>
        <p:txBody>
          <a:bodyPr/>
          <a:lstStyle/>
          <a:p>
            <a:endParaRPr lang="es-CL"/>
          </a:p>
        </p:txBody>
      </p:sp>
      <p:sp>
        <p:nvSpPr>
          <p:cNvPr id="6" name="Slide Number Placeholder 5"/>
          <p:cNvSpPr>
            <a:spLocks noGrp="1"/>
          </p:cNvSpPr>
          <p:nvPr>
            <p:ph type="sldNum" sz="quarter" idx="12"/>
          </p:nvPr>
        </p:nvSpPr>
        <p:spPr>
          <a:xfrm>
            <a:off x="9896911" y="5410199"/>
            <a:ext cx="771089" cy="365125"/>
          </a:xfrm>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116748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23-11-23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684445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23-11-23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879675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D145F0F-ABEA-49D3-ADF5-B61D2DA89C31}" type="datetimeFigureOut">
              <a:rPr lang="es-CL" smtClean="0"/>
              <a:t>23-11-23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75809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D145F0F-ABEA-49D3-ADF5-B61D2DA89C31}" type="datetimeFigureOut">
              <a:rPr lang="es-CL" smtClean="0"/>
              <a:t>23-11-23</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91719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D145F0F-ABEA-49D3-ADF5-B61D2DA89C31}" type="datetimeFigureOut">
              <a:rPr lang="es-CL" smtClean="0"/>
              <a:t>23-11-23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91462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45F0F-ABEA-49D3-ADF5-B61D2DA89C31}" type="datetimeFigureOut">
              <a:rPr lang="es-CL" smtClean="0"/>
              <a:t>23-11-23</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74919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23-11-23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663593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23-11-23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55264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23-11-23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36417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23-11-23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689328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23-11-23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440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23-11-23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671273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3D145F0F-ABEA-49D3-ADF5-B61D2DA89C31}" type="datetimeFigureOut">
              <a:rPr lang="es-CL" smtClean="0"/>
              <a:t>23-11-23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27219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3D145F0F-ABEA-49D3-ADF5-B61D2DA89C31}" type="datetimeFigureOut">
              <a:rPr lang="es-CL" smtClean="0"/>
              <a:t>23-11-23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8920335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23-11-23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671843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23-11-23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654560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D145F0F-ABEA-49D3-ADF5-B61D2DA89C31}" type="datetimeFigureOut">
              <a:rPr lang="es-CL" smtClean="0"/>
              <a:t>23-11-23</a:t>
            </a:fld>
            <a:endParaRPr lang="es-CL"/>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1192813009"/>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comments" Target="../comments/commen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comments" Target="../comments/comment3.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EAD0EB-48AF-2D94-2566-EBDA8798BE5A}"/>
              </a:ext>
            </a:extLst>
          </p:cNvPr>
          <p:cNvSpPr>
            <a:spLocks noGrp="1"/>
          </p:cNvSpPr>
          <p:nvPr>
            <p:ph type="title"/>
          </p:nvPr>
        </p:nvSpPr>
        <p:spPr>
          <a:xfrm>
            <a:off x="6438122" y="391886"/>
            <a:ext cx="4935893" cy="1705202"/>
          </a:xfrm>
        </p:spPr>
        <p:txBody>
          <a:bodyPr vert="horz" lIns="91440" tIns="45720" rIns="91440" bIns="45720" rtlCol="0" anchor="ctr">
            <a:normAutofit fontScale="90000"/>
          </a:bodyPr>
          <a:lstStyle/>
          <a:p>
            <a:pPr algn="ctr"/>
            <a:r>
              <a:rPr lang="en-US" sz="3100" u="sng" dirty="0">
                <a:latin typeface="Arial" panose="020B0604020202020204" pitchFamily="34" charset="0"/>
                <a:cs typeface="Arial" panose="020B0604020202020204" pitchFamily="34" charset="0"/>
              </a:rPr>
              <a:t>Microlattice, una nueva opción en la Seguridad Automotriz</a:t>
            </a:r>
          </a:p>
        </p:txBody>
      </p:sp>
      <p:sp>
        <p:nvSpPr>
          <p:cNvPr id="4" name="Subtítulo 3">
            <a:extLst>
              <a:ext uri="{FF2B5EF4-FFF2-40B4-BE49-F238E27FC236}">
                <a16:creationId xmlns:a16="http://schemas.microsoft.com/office/drawing/2014/main" id="{C83D2D36-CA3F-7BF5-C09A-90BABD52499F}"/>
              </a:ext>
            </a:extLst>
          </p:cNvPr>
          <p:cNvSpPr>
            <a:spLocks noGrp="1"/>
          </p:cNvSpPr>
          <p:nvPr>
            <p:ph idx="1"/>
          </p:nvPr>
        </p:nvSpPr>
        <p:spPr>
          <a:xfrm>
            <a:off x="6257924" y="2344737"/>
            <a:ext cx="5781676" cy="3541714"/>
          </a:xfrm>
          <a:ln>
            <a:solidFill>
              <a:srgbClr val="FF0000"/>
            </a:solidFill>
          </a:ln>
        </p:spPr>
        <p:txBody>
          <a:bodyPr vert="horz" lIns="91440" tIns="45720" rIns="91440" bIns="45720" rtlCol="0">
            <a:normAutofit/>
          </a:bodyPr>
          <a:lstStyle/>
          <a:p>
            <a:pPr>
              <a:lnSpc>
                <a:spcPct val="110000"/>
              </a:lnSpc>
            </a:pPr>
            <a:r>
              <a:rPr lang="en-US" sz="1800" dirty="0">
                <a:latin typeface="Arial" panose="020B0604020202020204" pitchFamily="34" charset="0"/>
                <a:cs typeface="Arial" panose="020B0604020202020204" pitchFamily="34" charset="0"/>
              </a:rPr>
              <a:t>Integrantes:	Kevin Briones, Matías Quiñonez, 			Daniel Toledo, Marco Ulloa</a:t>
            </a:r>
          </a:p>
          <a:p>
            <a:pPr>
              <a:lnSpc>
                <a:spcPct val="110000"/>
              </a:lnSpc>
            </a:pPr>
            <a:r>
              <a:rPr lang="en-US" sz="1800" dirty="0">
                <a:latin typeface="Arial" panose="020B0604020202020204" pitchFamily="34" charset="0"/>
                <a:cs typeface="Arial" panose="020B0604020202020204" pitchFamily="34" charset="0"/>
              </a:rPr>
              <a:t>Profesora: 	Lissette Andrea Salamanca Mella</a:t>
            </a:r>
          </a:p>
          <a:p>
            <a:pPr>
              <a:lnSpc>
                <a:spcPct val="110000"/>
              </a:lnSpc>
            </a:pPr>
            <a:r>
              <a:rPr lang="en-US" sz="1800" dirty="0">
                <a:latin typeface="Arial" panose="020B0604020202020204" pitchFamily="34" charset="0"/>
                <a:cs typeface="Arial" panose="020B0604020202020204" pitchFamily="34" charset="0"/>
              </a:rPr>
              <a:t>Asignatura:	Funciones y Geometría</a:t>
            </a:r>
          </a:p>
          <a:p>
            <a:pPr>
              <a:lnSpc>
                <a:spcPct val="110000"/>
              </a:lnSpc>
            </a:pPr>
            <a:r>
              <a:rPr lang="en-US" sz="1800" dirty="0">
                <a:latin typeface="Arial" panose="020B0604020202020204" pitchFamily="34" charset="0"/>
                <a:cs typeface="Arial" panose="020B0604020202020204" pitchFamily="34" charset="0"/>
              </a:rPr>
              <a:t>Carrera:	Técnico en Mecánica y 			               Electromovilidad Automotriz</a:t>
            </a:r>
          </a:p>
        </p:txBody>
      </p:sp>
      <p:pic>
        <p:nvPicPr>
          <p:cNvPr id="5" name="Imagen 4" descr="Cactus de color verde&#10;&#10;Descripción generada automáticamente con confianza media">
            <a:extLst>
              <a:ext uri="{FF2B5EF4-FFF2-40B4-BE49-F238E27FC236}">
                <a16:creationId xmlns:a16="http://schemas.microsoft.com/office/drawing/2014/main" id="{891F59D6-A463-8F20-3217-5F287FB3A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67536" cy="6858000"/>
          </a:xfrm>
          <a:prstGeom prst="rect">
            <a:avLst/>
          </a:prstGeom>
        </p:spPr>
      </p:pic>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a:xfrm>
            <a:off x="1141413" y="1082673"/>
            <a:ext cx="2869416" cy="4708528"/>
          </a:xfrm>
        </p:spPr>
        <p:txBody>
          <a:bodyPr>
            <a:normAutofit/>
          </a:bodyPr>
          <a:lstStyle/>
          <a:p>
            <a:r>
              <a:rPr lang="es-ES" sz="3100" b="0" i="0" u="sng" dirty="0">
                <a:effectLst/>
                <a:latin typeface="Arial" panose="020B0604020202020204" pitchFamily="34" charset="0"/>
                <a:cs typeface="Arial" panose="020B0604020202020204" pitchFamily="34" charset="0"/>
              </a:rPr>
              <a:t>Definición del proyecto</a:t>
            </a:r>
            <a:endParaRPr lang="es-CL" sz="3100" u="sng"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096C6D7A-7F8D-5ED8-B3D0-0EE5A7B053F5}"/>
              </a:ext>
            </a:extLst>
          </p:cNvPr>
          <p:cNvSpPr>
            <a:spLocks noGrp="1"/>
          </p:cNvSpPr>
          <p:nvPr>
            <p:ph idx="1"/>
          </p:nvPr>
        </p:nvSpPr>
        <p:spPr>
          <a:xfrm>
            <a:off x="4469364" y="830746"/>
            <a:ext cx="6802016" cy="5028878"/>
          </a:xfrm>
          <a:ln>
            <a:solidFill>
              <a:srgbClr val="FF0000"/>
            </a:solidFill>
          </a:ln>
        </p:spPr>
        <p:txBody>
          <a:bodyPr anchor="ctr">
            <a:normAutofit/>
          </a:bodyPr>
          <a:lstStyle/>
          <a:p>
            <a:pPr algn="just">
              <a:lnSpc>
                <a:spcPct val="110000"/>
              </a:lnSpc>
            </a:pPr>
            <a:r>
              <a:rPr lang="es-ES" sz="1500" dirty="0">
                <a:latin typeface="Arial" panose="020B0604020202020204" pitchFamily="34" charset="0"/>
                <a:cs typeface="Arial" panose="020B0604020202020204" pitchFamily="34" charset="0"/>
              </a:rPr>
              <a:t>Durante el año 2022 se registraron 86.050 accidentes de tránsito en el cual 1.745 personas perdieron la vida en Chile, en donde las principales causas además de la conducción bajo el efecto de sustancias psicoactivas fueron la poca seguridad que existen en los automóviles. Por lo que nuestro proyecto está relacionado con equipar vehículos convencionales,  reforzándolos para brindar más seguridad y confiabilidad ocupando materiales como lo son el microlattice. El cual es un material de estructura metálica ultraligero que se asemeja a una red tridimensional. El cual se puede implementar en diversas aplicaciones en el área automotriz debido a sus características únicas como lo son:</a:t>
            </a:r>
          </a:p>
          <a:p>
            <a:pPr>
              <a:lnSpc>
                <a:spcPct val="110000"/>
              </a:lnSpc>
            </a:pPr>
            <a:r>
              <a:rPr lang="es-ES" sz="1500" dirty="0">
                <a:latin typeface="Arial" panose="020B0604020202020204" pitchFamily="34" charset="0"/>
                <a:cs typeface="Arial" panose="020B0604020202020204" pitchFamily="34" charset="0"/>
              </a:rPr>
              <a:t>-Reducción de peso </a:t>
            </a:r>
          </a:p>
          <a:p>
            <a:pPr>
              <a:lnSpc>
                <a:spcPct val="110000"/>
              </a:lnSpc>
            </a:pPr>
            <a:r>
              <a:rPr lang="es-ES" sz="1500" dirty="0">
                <a:latin typeface="Arial" panose="020B0604020202020204" pitchFamily="34" charset="0"/>
                <a:cs typeface="Arial" panose="020B0604020202020204" pitchFamily="34" charset="0"/>
              </a:rPr>
              <a:t>-Refuerzo estructural</a:t>
            </a:r>
          </a:p>
          <a:p>
            <a:pPr>
              <a:lnSpc>
                <a:spcPct val="110000"/>
              </a:lnSpc>
            </a:pPr>
            <a:r>
              <a:rPr lang="es-ES" sz="1500" dirty="0">
                <a:latin typeface="Arial" panose="020B0604020202020204" pitchFamily="34" charset="0"/>
                <a:cs typeface="Arial" panose="020B0604020202020204" pitchFamily="34" charset="0"/>
              </a:rPr>
              <a:t>-Absorción de impactos</a:t>
            </a:r>
            <a:endParaRPr lang="es-CL"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a:xfrm>
            <a:off x="5188787" y="323243"/>
            <a:ext cx="6050713" cy="1478570"/>
          </a:xfrm>
        </p:spPr>
        <p:txBody>
          <a:bodyPr>
            <a:normAutofit/>
          </a:bodyPr>
          <a:lstStyle/>
          <a:p>
            <a:pPr algn="ctr"/>
            <a:r>
              <a:rPr lang="es-ES" sz="3100" u="sng" dirty="0">
                <a:latin typeface="Calibri" panose="020F0502020204030204" pitchFamily="34" charset="0"/>
              </a:rPr>
              <a:t>Tema de investigación, nociones matemáticas y problemática a abordar</a:t>
            </a:r>
            <a:r>
              <a:rPr lang="es-ES" sz="3100" b="0" i="0" u="sng" dirty="0">
                <a:effectLst/>
                <a:latin typeface="Calibri" panose="020F0502020204030204" pitchFamily="34" charset="0"/>
              </a:rPr>
              <a:t> </a:t>
            </a:r>
            <a:endParaRPr lang="es-CL" sz="3100" u="sng" dirty="0"/>
          </a:p>
        </p:txBody>
      </p:sp>
      <p:pic>
        <p:nvPicPr>
          <p:cNvPr id="5" name="Picture 4" descr="Fórmulas matemáticas complejas en una pizarra">
            <a:extLst>
              <a:ext uri="{FF2B5EF4-FFF2-40B4-BE49-F238E27FC236}">
                <a16:creationId xmlns:a16="http://schemas.microsoft.com/office/drawing/2014/main" id="{9FC56D5B-0661-68AD-94F1-D55731095D02}"/>
              </a:ext>
            </a:extLst>
          </p:cNvPr>
          <p:cNvPicPr>
            <a:picLocks noChangeAspect="1"/>
          </p:cNvPicPr>
          <p:nvPr/>
        </p:nvPicPr>
        <p:blipFill rotWithShape="1">
          <a:blip r:embed="rId4"/>
          <a:srcRect l="32290" r="18366" b="-1"/>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s-CL"/>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s-CL"/>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s-CL"/>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s-CL"/>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s-CL"/>
            </a:p>
          </p:txBody>
        </p:sp>
      </p:grpSp>
      <p:sp>
        <p:nvSpPr>
          <p:cNvPr id="3" name="Marcador de contenido 2">
            <a:extLst>
              <a:ext uri="{FF2B5EF4-FFF2-40B4-BE49-F238E27FC236}">
                <a16:creationId xmlns:a16="http://schemas.microsoft.com/office/drawing/2014/main" id="{01909937-29F9-6C26-B948-FFE0743EEB4F}"/>
              </a:ext>
            </a:extLst>
          </p:cNvPr>
          <p:cNvSpPr>
            <a:spLocks noGrp="1"/>
          </p:cNvSpPr>
          <p:nvPr>
            <p:ph idx="1"/>
          </p:nvPr>
        </p:nvSpPr>
        <p:spPr>
          <a:xfrm>
            <a:off x="4934785" y="1963676"/>
            <a:ext cx="6871451" cy="4367274"/>
          </a:xfrm>
          <a:ln>
            <a:solidFill>
              <a:srgbClr val="FF0000"/>
            </a:solidFill>
          </a:ln>
        </p:spPr>
        <p:txBody>
          <a:bodyPr>
            <a:noAutofit/>
          </a:bodyPr>
          <a:lstStyle/>
          <a:p>
            <a:pPr algn="just"/>
            <a:r>
              <a:rPr lang="es-CL" sz="1500" dirty="0">
                <a:latin typeface="Arial" panose="020B0604020202020204" pitchFamily="34" charset="0"/>
                <a:cs typeface="Arial" panose="020B0604020202020204" pitchFamily="34" charset="0"/>
              </a:rPr>
              <a:t>Nuestra investigación se basa en buscar una solución a los daños que sufren los vehículos al momento de chocar o volcar, lo cuales han provocado que muchas personas pierdan su vida.</a:t>
            </a:r>
          </a:p>
          <a:p>
            <a:pPr algn="just"/>
            <a:r>
              <a:rPr lang="es-CL" sz="1500" dirty="0">
                <a:latin typeface="Arial" panose="020B0604020202020204" pitchFamily="34" charset="0"/>
                <a:cs typeface="Arial" panose="020B0604020202020204" pitchFamily="34" charset="0"/>
              </a:rPr>
              <a:t>Nuestra idea es hacer un catastro a todos los daños que sufren los vehículos y los más perjudiciales para las vidas de las personas, después de hacer esa investigación se procederá a tomar un caso en donde se puedan ver las fallas de seguridad en lo que contempla el vehículo, comúnmente se ven daños en la estructura del chasis del vehículo cuales se podrían encontrar soluciones con distintos componentes, como lo es el microlattice. Este material tiene una densidad de </a:t>
            </a:r>
            <a:r>
              <a:rPr lang="es-CL" sz="1500" b="0" i="0" dirty="0">
                <a:effectLst/>
                <a:latin typeface="Arial" panose="020B0604020202020204" pitchFamily="34" charset="0"/>
                <a:cs typeface="Arial" panose="020B0604020202020204" pitchFamily="34" charset="0"/>
              </a:rPr>
              <a:t>0,9 kg/m³ lo que hace que tenga un peso muy liviano y es igual de resistente que el metal, teniendo ese conocimiento se pueden tomar medidas de las estructuras del vehículo en donde se reforzaría con este material así provocando que el vehículo no adquiera un mayor peso y obtenga en recubrimiento para la seguridad de las personas.</a:t>
            </a:r>
            <a:endParaRPr lang="es-CL"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a:xfrm>
            <a:off x="4998132" y="0"/>
            <a:ext cx="6764660" cy="1005406"/>
          </a:xfrm>
        </p:spPr>
        <p:txBody>
          <a:bodyPr>
            <a:normAutofit/>
          </a:bodyPr>
          <a:lstStyle/>
          <a:p>
            <a:pPr algn="ctr"/>
            <a:r>
              <a:rPr lang="es-ES" sz="3100" b="0" i="0" u="sng" dirty="0">
                <a:effectLst/>
                <a:latin typeface="Arial" panose="020B0604020202020204" pitchFamily="34" charset="0"/>
                <a:cs typeface="Arial" panose="020B0604020202020204" pitchFamily="34" charset="0"/>
              </a:rPr>
              <a:t>Objetivos y preguntas de investigación </a:t>
            </a:r>
            <a:endParaRPr lang="es-CL" sz="3100" u="sng" dirty="0"/>
          </a:p>
        </p:txBody>
      </p:sp>
      <p:sp>
        <p:nvSpPr>
          <p:cNvPr id="3" name="CuadroTexto 2">
            <a:extLst>
              <a:ext uri="{FF2B5EF4-FFF2-40B4-BE49-F238E27FC236}">
                <a16:creationId xmlns:a16="http://schemas.microsoft.com/office/drawing/2014/main" id="{FD6C4F65-5BCB-7C9C-B93D-9FD1A66B9236}"/>
              </a:ext>
            </a:extLst>
          </p:cNvPr>
          <p:cNvSpPr txBox="1"/>
          <p:nvPr/>
        </p:nvSpPr>
        <p:spPr>
          <a:xfrm>
            <a:off x="1194317" y="709127"/>
            <a:ext cx="5284237" cy="5989216"/>
          </a:xfrm>
          <a:prstGeom prst="rect">
            <a:avLst/>
          </a:prstGeom>
          <a:noFill/>
          <a:ln>
            <a:solidFill>
              <a:srgbClr val="FF0000"/>
            </a:solidFill>
          </a:ln>
        </p:spPr>
        <p:txBody>
          <a:bodyPr wrap="square" rtlCol="0">
            <a:spAutoFit/>
          </a:bodyPr>
          <a:lstStyle/>
          <a:p>
            <a:pPr algn="just"/>
            <a:r>
              <a:rPr lang="es-CL" b="1" dirty="0">
                <a:latin typeface="Arial" panose="020B0604020202020204" pitchFamily="34" charset="0"/>
                <a:cs typeface="Arial" panose="020B0604020202020204" pitchFamily="34" charset="0"/>
              </a:rPr>
              <a:t>Objetivos: </a:t>
            </a:r>
          </a:p>
          <a:p>
            <a:pPr algn="just"/>
            <a:endParaRPr lang="es-CL" b="1" u="sng" dirty="0">
              <a:latin typeface="Arial" panose="020B0604020202020204" pitchFamily="34" charset="0"/>
              <a:cs typeface="Arial" panose="020B0604020202020204" pitchFamily="34" charset="0"/>
            </a:endParaRPr>
          </a:p>
          <a:p>
            <a:pPr algn="just"/>
            <a:r>
              <a:rPr lang="es-CL" sz="1500" dirty="0">
                <a:latin typeface="Arial" panose="020B0604020202020204" pitchFamily="34" charset="0"/>
                <a:cs typeface="Arial" panose="020B0604020202020204" pitchFamily="34" charset="0"/>
              </a:rPr>
              <a:t>El objetivo principal de nuestro proyecto es poder realizar un prototipo de seguridad en vehículos convencionales utilizando el microlattice como material en la construcción de chasís y carrocerías, que permitan disminuir los daños a los usuarios, al momento de sufrir un accidente de tránsito.</a:t>
            </a:r>
          </a:p>
          <a:p>
            <a:pPr algn="just"/>
            <a:r>
              <a:rPr lang="es-CL" sz="1500" dirty="0">
                <a:latin typeface="Arial" panose="020B0604020202020204" pitchFamily="34" charset="0"/>
                <a:cs typeface="Arial" panose="020B0604020202020204" pitchFamily="34" charset="0"/>
              </a:rPr>
              <a:t>Para lograr este objetivo, necesitamos ejecutar una serie de objetivos secundarios, los cuales son:</a:t>
            </a:r>
          </a:p>
          <a:p>
            <a:pPr algn="just"/>
            <a:endParaRPr lang="es-CL" sz="1500" dirty="0">
              <a:latin typeface="Arial" panose="020B0604020202020204" pitchFamily="34" charset="0"/>
              <a:cs typeface="Arial" panose="020B0604020202020204" pitchFamily="34" charset="0"/>
            </a:endParaRPr>
          </a:p>
          <a:p>
            <a:pPr marL="342900" indent="-342900" algn="just">
              <a:buAutoNum type="alphaUcParenR"/>
            </a:pPr>
            <a:r>
              <a:rPr lang="es-CL" sz="1500" dirty="0">
                <a:latin typeface="Arial" panose="020B0604020202020204" pitchFamily="34" charset="0"/>
                <a:cs typeface="Arial" panose="020B0604020202020204" pitchFamily="34" charset="0"/>
              </a:rPr>
              <a:t>Conocer la composición del microlattice y los beneficios que pueda entregar a vehículos convencionales en el ámbito de seguridad.</a:t>
            </a:r>
          </a:p>
          <a:p>
            <a:pPr marL="342900" indent="-342900" algn="just">
              <a:buAutoNum type="alphaUcParenR"/>
            </a:pPr>
            <a:r>
              <a:rPr lang="es-CL" sz="1500" dirty="0">
                <a:latin typeface="Arial" panose="020B0604020202020204" pitchFamily="34" charset="0"/>
                <a:cs typeface="Arial" panose="020B0604020202020204" pitchFamily="34" charset="0"/>
              </a:rPr>
              <a:t>Analizar los puntos más vulnerables de un vehículo al momento de sufrir un impacto, o distintos tipos de impactos, tras un accidente de tránsito.</a:t>
            </a:r>
          </a:p>
          <a:p>
            <a:pPr marL="342900" indent="-342900" algn="just">
              <a:buAutoNum type="alphaUcParenR"/>
            </a:pPr>
            <a:r>
              <a:rPr lang="es-CL" sz="1500" dirty="0">
                <a:latin typeface="Arial" panose="020B0604020202020204" pitchFamily="34" charset="0"/>
                <a:cs typeface="Arial" panose="020B0604020202020204" pitchFamily="34" charset="0"/>
              </a:rPr>
              <a:t>Identificar de qué manera, como equipo de trabajo, podríamos reforzar una carrocería prototipo con microlattice y analizar ventajas y desventajas de su uso dirigido a los pasajeros del automóvil.</a:t>
            </a:r>
          </a:p>
          <a:p>
            <a:pPr marL="342900" indent="-342900" algn="just">
              <a:buAutoNum type="alphaUcParenR"/>
            </a:pPr>
            <a:r>
              <a:rPr lang="es-CL" sz="1500" dirty="0">
                <a:latin typeface="Arial" panose="020B0604020202020204" pitchFamily="34" charset="0"/>
                <a:cs typeface="Arial" panose="020B0604020202020204" pitchFamily="34" charset="0"/>
              </a:rPr>
              <a:t>Crear una lista de materiales que usaremos para la fabricación de este prototipo.</a:t>
            </a:r>
          </a:p>
          <a:p>
            <a:pPr marL="342900" indent="-342900" algn="just">
              <a:buAutoNum type="alphaUcParenR"/>
            </a:pPr>
            <a:r>
              <a:rPr lang="es-CL" sz="1500" dirty="0">
                <a:latin typeface="Arial" panose="020B0604020202020204" pitchFamily="34" charset="0"/>
                <a:cs typeface="Arial" panose="020B0604020202020204" pitchFamily="34" charset="0"/>
              </a:rPr>
              <a:t>Realizar una carrocería a escala, simulando la ubicación del microlattice en los puntos más críticos del automóvil al sufrir un accidente vehicular.</a:t>
            </a:r>
          </a:p>
        </p:txBody>
      </p:sp>
      <p:sp>
        <p:nvSpPr>
          <p:cNvPr id="4" name="CuadroTexto 3">
            <a:extLst>
              <a:ext uri="{FF2B5EF4-FFF2-40B4-BE49-F238E27FC236}">
                <a16:creationId xmlns:a16="http://schemas.microsoft.com/office/drawing/2014/main" id="{A2ADADC6-0C02-3725-B448-9A675AB3C092}"/>
              </a:ext>
            </a:extLst>
          </p:cNvPr>
          <p:cNvSpPr txBox="1"/>
          <p:nvPr/>
        </p:nvSpPr>
        <p:spPr>
          <a:xfrm>
            <a:off x="6615404" y="1390261"/>
            <a:ext cx="4935894" cy="3416320"/>
          </a:xfrm>
          <a:prstGeom prst="rect">
            <a:avLst/>
          </a:prstGeom>
          <a:noFill/>
          <a:ln>
            <a:solidFill>
              <a:srgbClr val="FF0000"/>
            </a:solidFill>
          </a:ln>
        </p:spPr>
        <p:txBody>
          <a:bodyPr wrap="square" rtlCol="0">
            <a:spAutoFit/>
          </a:bodyPr>
          <a:lstStyle/>
          <a:p>
            <a:r>
              <a:rPr lang="es-CL" b="1" dirty="0">
                <a:latin typeface="Arial" panose="020B0604020202020204" pitchFamily="34" charset="0"/>
                <a:cs typeface="Arial" panose="020B0604020202020204" pitchFamily="34" charset="0"/>
              </a:rPr>
              <a:t>Preguntas de investigación:</a:t>
            </a:r>
          </a:p>
          <a:p>
            <a:endParaRPr lang="es-CL" b="1" dirty="0">
              <a:latin typeface="Arial" panose="020B0604020202020204" pitchFamily="34" charset="0"/>
              <a:cs typeface="Arial" panose="020B0604020202020204" pitchFamily="34" charset="0"/>
            </a:endParaRPr>
          </a:p>
          <a:p>
            <a:pPr algn="just"/>
            <a:r>
              <a:rPr lang="es-CL" sz="1500" dirty="0">
                <a:latin typeface="Arial" panose="020B0604020202020204" pitchFamily="34" charset="0"/>
                <a:cs typeface="Arial" panose="020B0604020202020204" pitchFamily="34" charset="0"/>
              </a:rPr>
              <a:t>- ¿Que es el microlattice? </a:t>
            </a:r>
          </a:p>
          <a:p>
            <a:pPr algn="just"/>
            <a:r>
              <a:rPr lang="es-CL" sz="1500" dirty="0">
                <a:latin typeface="Arial" panose="020B0604020202020204" pitchFamily="34" charset="0"/>
                <a:cs typeface="Arial" panose="020B0604020202020204" pitchFamily="34" charset="0"/>
              </a:rPr>
              <a:t>- ¿Cuál es la composición del microlattice?</a:t>
            </a:r>
          </a:p>
          <a:p>
            <a:pPr algn="just"/>
            <a:r>
              <a:rPr lang="es-CL" sz="1500" dirty="0">
                <a:latin typeface="Arial" panose="020B0604020202020204" pitchFamily="34" charset="0"/>
                <a:cs typeface="Arial" panose="020B0604020202020204" pitchFamily="34" charset="0"/>
              </a:rPr>
              <a:t>- ¿Cuáles son sus características?</a:t>
            </a:r>
          </a:p>
          <a:p>
            <a:pPr algn="just"/>
            <a:r>
              <a:rPr lang="es-CL" sz="1500" dirty="0">
                <a:latin typeface="Arial" panose="020B0604020202020204" pitchFamily="34" charset="0"/>
                <a:cs typeface="Arial" panose="020B0604020202020204" pitchFamily="34" charset="0"/>
              </a:rPr>
              <a:t>- ¿Qué zonas de un automóvil se ven más afectadas tras un accidente vehicular?</a:t>
            </a:r>
          </a:p>
          <a:p>
            <a:pPr algn="just"/>
            <a:r>
              <a:rPr lang="es-CL" sz="1500" dirty="0">
                <a:latin typeface="Arial" panose="020B0604020202020204" pitchFamily="34" charset="0"/>
                <a:cs typeface="Arial" panose="020B0604020202020204" pitchFamily="34" charset="0"/>
              </a:rPr>
              <a:t>-¿Cuáles son las áreas del cuerpo humano que más deben ser resguardadas como método de prevención de accidentes vehiculares?</a:t>
            </a:r>
          </a:p>
          <a:p>
            <a:pPr algn="just"/>
            <a:r>
              <a:rPr lang="es-CL" sz="1500" dirty="0">
                <a:latin typeface="Arial" panose="020B0604020202020204" pitchFamily="34" charset="0"/>
                <a:cs typeface="Arial" panose="020B0604020202020204" pitchFamily="34" charset="0"/>
              </a:rPr>
              <a:t>-¿Qué relación peso, potencia es la adecuada para poder beneficiar a un vehículo en ámbitos de seguridad y autonomía? ¿Qué cálculos matemáticos debemos realizar?</a:t>
            </a:r>
          </a:p>
        </p:txBody>
      </p:sp>
    </p:spTree>
    <p:extLst>
      <p:ext uri="{BB962C8B-B14F-4D97-AF65-F5344CB8AC3E}">
        <p14:creationId xmlns:p14="http://schemas.microsoft.com/office/powerpoint/2010/main" val="236523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Imagen que contiene interior, tabla, mostrador, plato&#10;&#10;Descripción generada automáticamente">
            <a:extLst>
              <a:ext uri="{FF2B5EF4-FFF2-40B4-BE49-F238E27FC236}">
                <a16:creationId xmlns:a16="http://schemas.microsoft.com/office/drawing/2014/main" id="{F6E03662-9D28-FB22-FDEF-C98D8FFBA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4118236"/>
            <a:ext cx="3281968" cy="1843610"/>
          </a:xfrm>
          <a:prstGeom prst="rect">
            <a:avLst/>
          </a:prstGeom>
        </p:spPr>
      </p:pic>
      <p:pic>
        <p:nvPicPr>
          <p:cNvPr id="5" name="Imagen 4" descr="Coche en una calle&#10;&#10;Descripción generada automáticamente con confianza media">
            <a:extLst>
              <a:ext uri="{FF2B5EF4-FFF2-40B4-BE49-F238E27FC236}">
                <a16:creationId xmlns:a16="http://schemas.microsoft.com/office/drawing/2014/main" id="{E9709B90-2FFB-0282-776A-5437F96647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7189" y="3429000"/>
            <a:ext cx="3601754" cy="2024084"/>
          </a:xfrm>
          <a:prstGeom prst="rect">
            <a:avLst/>
          </a:prstGeom>
        </p:spPr>
      </p:pic>
      <p:pic>
        <p:nvPicPr>
          <p:cNvPr id="1026" name="Picture 2" descr="Montenbaik | Principal web del Mountain Bike en Español. Encuentra los  mejores videos y fotos de MTB, las tendencias, tecnología y test de los  productos actuales. · La nueva tecnología que se">
            <a:extLst>
              <a:ext uri="{FF2B5EF4-FFF2-40B4-BE49-F238E27FC236}">
                <a16:creationId xmlns:a16="http://schemas.microsoft.com/office/drawing/2014/main" id="{2F8E4A4B-04B1-718F-545B-8230F6DE71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2637" y="1622789"/>
            <a:ext cx="2890124" cy="1927344"/>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2377768" y="403913"/>
            <a:ext cx="7436464" cy="893041"/>
          </a:xfrm>
        </p:spPr>
        <p:txBody>
          <a:bodyPr>
            <a:normAutofit/>
          </a:bodyPr>
          <a:lstStyle/>
          <a:p>
            <a:pPr algn="ctr"/>
            <a:r>
              <a:rPr lang="es-ES" sz="3100" b="0" i="0" u="sng" dirty="0">
                <a:effectLst/>
                <a:latin typeface="Arial" panose="020B0604020202020204" pitchFamily="34" charset="0"/>
                <a:cs typeface="Arial" panose="020B0604020202020204" pitchFamily="34" charset="0"/>
              </a:rPr>
              <a:t>Temas iniciales involucrados</a:t>
            </a:r>
            <a:endParaRPr lang="es-CL" sz="3100" u="sng" dirty="0">
              <a:latin typeface="Arial" panose="020B0604020202020204" pitchFamily="34" charset="0"/>
              <a:cs typeface="Arial" panose="020B0604020202020204" pitchFamily="34" charset="0"/>
            </a:endParaRPr>
          </a:p>
        </p:txBody>
      </p:sp>
      <p:sp>
        <p:nvSpPr>
          <p:cNvPr id="3" name="CuadroTexto 2">
            <a:extLst>
              <a:ext uri="{FF2B5EF4-FFF2-40B4-BE49-F238E27FC236}">
                <a16:creationId xmlns:a16="http://schemas.microsoft.com/office/drawing/2014/main" id="{79351E19-55E3-71D6-7029-115D47381393}"/>
              </a:ext>
            </a:extLst>
          </p:cNvPr>
          <p:cNvSpPr txBox="1"/>
          <p:nvPr/>
        </p:nvSpPr>
        <p:spPr>
          <a:xfrm>
            <a:off x="1192747" y="1743923"/>
            <a:ext cx="8621485" cy="1685077"/>
          </a:xfrm>
          <a:prstGeom prst="rect">
            <a:avLst/>
          </a:prstGeom>
          <a:noFill/>
        </p:spPr>
        <p:txBody>
          <a:bodyPr wrap="square" rtlCol="0">
            <a:spAutoFit/>
          </a:bodyPr>
          <a:lstStyle/>
          <a:p>
            <a:pPr>
              <a:lnSpc>
                <a:spcPct val="150000"/>
              </a:lnSpc>
            </a:pPr>
            <a:r>
              <a:rPr lang="es-CL" sz="1500" dirty="0">
                <a:latin typeface="Arial" panose="020B0604020202020204" pitchFamily="34" charset="0"/>
                <a:cs typeface="Arial" panose="020B0604020202020204" pitchFamily="34" charset="0"/>
              </a:rPr>
              <a:t>-Características y composición del microlattice.</a:t>
            </a:r>
          </a:p>
          <a:p>
            <a:pPr>
              <a:lnSpc>
                <a:spcPct val="150000"/>
              </a:lnSpc>
            </a:pPr>
            <a:r>
              <a:rPr lang="es-CL" sz="1500" dirty="0">
                <a:latin typeface="Arial" panose="020B0604020202020204" pitchFamily="34" charset="0"/>
                <a:cs typeface="Arial" panose="020B0604020202020204" pitchFamily="34" charset="0"/>
              </a:rPr>
              <a:t>-Seguridad en infraestructura automotriz.</a:t>
            </a:r>
          </a:p>
          <a:p>
            <a:pPr>
              <a:lnSpc>
                <a:spcPct val="150000"/>
              </a:lnSpc>
            </a:pPr>
            <a:r>
              <a:rPr lang="es-CL" sz="1500" dirty="0">
                <a:latin typeface="Arial" panose="020B0604020202020204" pitchFamily="34" charset="0"/>
                <a:cs typeface="Arial" panose="020B0604020202020204" pitchFamily="34" charset="0"/>
              </a:rPr>
              <a:t>-Datos estadísticos sobre accidentes vehiculares.</a:t>
            </a:r>
          </a:p>
          <a:p>
            <a:endParaRPr lang="es-CL" dirty="0"/>
          </a:p>
          <a:p>
            <a:endParaRPr lang="es-CL" dirty="0"/>
          </a:p>
        </p:txBody>
      </p:sp>
    </p:spTree>
    <p:extLst>
      <p:ext uri="{BB962C8B-B14F-4D97-AF65-F5344CB8AC3E}">
        <p14:creationId xmlns:p14="http://schemas.microsoft.com/office/powerpoint/2010/main" val="417720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1141413" y="618518"/>
            <a:ext cx="9905998" cy="1478570"/>
          </a:xfrm>
        </p:spPr>
        <p:txBody>
          <a:bodyPr>
            <a:normAutofit/>
          </a:bodyPr>
          <a:lstStyle/>
          <a:p>
            <a:r>
              <a:rPr lang="es-ES" b="0" i="0">
                <a:effectLst/>
                <a:latin typeface="Calibri" panose="020F0502020204030204" pitchFamily="34" charset="0"/>
              </a:rPr>
              <a:t>Cronograma y materiales a utilizar</a:t>
            </a:r>
            <a:endParaRPr lang="es-CL"/>
          </a:p>
        </p:txBody>
      </p:sp>
      <p:graphicFrame>
        <p:nvGraphicFramePr>
          <p:cNvPr id="53" name="Marcador de contenido 2">
            <a:extLst>
              <a:ext uri="{FF2B5EF4-FFF2-40B4-BE49-F238E27FC236}">
                <a16:creationId xmlns:a16="http://schemas.microsoft.com/office/drawing/2014/main" id="{19624808-FB56-04AE-A4CD-277FADB359FC}"/>
              </a:ext>
            </a:extLst>
          </p:cNvPr>
          <p:cNvGraphicFramePr>
            <a:graphicFrameLocks noGrp="1"/>
          </p:cNvGraphicFramePr>
          <p:nvPr>
            <p:ph idx="1"/>
            <p:extLst>
              <p:ext uri="{D42A27DB-BD31-4B8C-83A1-F6EECF244321}">
                <p14:modId xmlns:p14="http://schemas.microsoft.com/office/powerpoint/2010/main" val="1674273481"/>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00247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Props1.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3.xml><?xml version="1.0" encoding="utf-8"?>
<ds:datastoreItem xmlns:ds="http://schemas.openxmlformats.org/officeDocument/2006/customXml" ds:itemID="{1E3AC9BC-3A48-41FB-89C8-97DFFCFF99CC}">
  <ds:schemaRefs>
    <ds:schemaRef ds:uri="http://purl.org/dc/terms/"/>
    <ds:schemaRef ds:uri="http://purl.org/dc/dcmitype/"/>
    <ds:schemaRef ds:uri="http://schemas.microsoft.com/office/infopath/2007/PartnerControls"/>
    <ds:schemaRef ds:uri="e18e1d99-ad59-48f1-b4b7-e09c670c4281"/>
    <ds:schemaRef ds:uri="http://schemas.microsoft.com/office/2006/documentManagement/types"/>
    <ds:schemaRef ds:uri="http://www.w3.org/XML/1998/namespace"/>
    <ds:schemaRef ds:uri="http://purl.org/dc/elements/1.1/"/>
    <ds:schemaRef ds:uri="http://schemas.openxmlformats.org/package/2006/metadata/core-properties"/>
    <ds:schemaRef ds:uri="044690ba-3bcd-4bf0-9bed-6c935b699a1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199</TotalTime>
  <Words>787</Words>
  <Application>Microsoft Macintosh PowerPoint</Application>
  <PresentationFormat>Panorámica</PresentationFormat>
  <Paragraphs>39</Paragraphs>
  <Slides>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Calibri</vt:lpstr>
      <vt:lpstr>Trebuchet MS</vt:lpstr>
      <vt:lpstr>Tw Cen MT</vt:lpstr>
      <vt:lpstr>Circuito</vt:lpstr>
      <vt:lpstr>Microlattice, una nueva opción en la Seguridad Automotriz</vt:lpstr>
      <vt:lpstr>Definición del proyecto</vt:lpstr>
      <vt:lpstr>Tema de investigación, nociones matemáticas y problemática a abordar </vt:lpstr>
      <vt:lpstr>Objetivos y preguntas de investigación </vt:lpstr>
      <vt:lpstr>Temas iniciales involucrados</vt:lpstr>
      <vt:lpstr>Cronograma y materiales a utilizar</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LISSETTE ANDREA SALAMANCA MELLA</cp:lastModifiedBy>
  <cp:revision>14</cp:revision>
  <dcterms:created xsi:type="dcterms:W3CDTF">2023-08-31T16:26:40Z</dcterms:created>
  <dcterms:modified xsi:type="dcterms:W3CDTF">2023-11-23T17:36:40Z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