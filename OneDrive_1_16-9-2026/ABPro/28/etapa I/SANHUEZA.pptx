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7"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0202"/>
    <a:srgbClr val="F4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A488322-F2BA-4B5B-9748-0D474271808F}" styleName="Estilo medio 3 - Énfasis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14"/>
    <p:restoredTop sz="50000" autoAdjust="0"/>
  </p:normalViewPr>
  <p:slideViewPr>
    <p:cSldViewPr snapToGrid="0" snapToObjects="1">
      <p:cViewPr varScale="1">
        <p:scale>
          <a:sx n="110" d="100"/>
          <a:sy n="110" d="100"/>
        </p:scale>
        <p:origin x="272"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1-23T14:51:45.085" idx="1">
    <p:pos x="10" y="10"/>
    <p:text>SI BIEN PRESENTA LA DESCRIPCIÓN DEL PROBLEMA DEBE MEJORAR LA REDACCIÓN... SE SUGIERE INCORPORAR MAS DETALLE DEL VEHICULO (RELACIONADOS CON LO QUE DESEAN MEJORAR)</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1-23T14:53:13.988" idx="2">
    <p:pos x="10" y="10"/>
    <p:text>LOS TEMAS DEBEN SER PRESENTADOS DE FORMA GENERAL (NO CONTENIDO)</p:text>
    <p:extLst>
      <p:ext uri="{C676402C-5697-4E1C-873F-D02D1690AC5C}">
        <p15:threadingInfo xmlns:p15="http://schemas.microsoft.com/office/powerpoint/2012/main" timeZoneBias="180"/>
      </p:ext>
    </p:extLst>
  </p:cm>
  <p:cm authorId="1" dt="2023-11-23T14:53:48.587" idx="3">
    <p:pos x="146" y="146"/>
    <p:text>RECUERDE ES UN PRESENTACIÓN; DEBE SER CONCRETA Y ATRACTIVA... </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1-23T14:55:22.267" idx="4">
    <p:pos x="10" y="10"/>
    <p:text>LOS OBJETIVOS SON CONCRETOS (BUENOS)... AUNQUE ALGUNOS DE ELLOS SE PUEDEN UNIR O COMPLEMENTAR.... </p:text>
    <p:extLst>
      <p:ext uri="{C676402C-5697-4E1C-873F-D02D1690AC5C}">
        <p15:threadingInfo xmlns:p15="http://schemas.microsoft.com/office/powerpoint/2012/main" timeZoneBias="180"/>
      </p:ext>
    </p:extLst>
  </p:cm>
  <p:cm authorId="1" dt="2023-11-23T14:56:09.970" idx="5">
    <p:pos x="3740" y="2107"/>
    <p:text>CONSIDERAR QUE LAS PREGUNTAS DEBEN SER "RESPONDIDAS" CON LAS ACCIONES QUE VAN DESARROLLANDO DURANTE EL PROCESO... (DEBE QUEDAR EVIDENCIA)</p:text>
    <p:extLst>
      <p:ext uri="{C676402C-5697-4E1C-873F-D02D1690AC5C}">
        <p15:threadingInfo xmlns:p15="http://schemas.microsoft.com/office/powerpoint/2012/main" timeZoneBias="180"/>
      </p:ext>
    </p:extLst>
  </p:cm>
  <p:cm authorId="1" dt="2023-11-23T14:56:56.154" idx="6">
    <p:pos x="3697" y="2683"/>
    <p:text>ME QUEDA LA DUDA DE QUÉ ES LO QUE REALMENTE VAN A DESARROLLAR</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1-23T14:57:49.429" idx="7">
    <p:pos x="10" y="10"/>
    <p:text>SI BIEN PRESENTAN PLAZOS A TEMAS GENERALES; DEBE AGREGAR MAYOR DETALLE Y PLAZOS REALES (PLAZO QUE TIENEN ENTRE UNA Y OTRA ETAPA DE ENTREGA)</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347" y="1122363"/>
            <a:ext cx="7773308" cy="2387600"/>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5347" y="3602038"/>
            <a:ext cx="777330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11BFFDA3-703B-5A46-AEFC-E14C30159CAC}" type="datetimeFigureOut">
              <a:rPr lang="es-ES" smtClean="0"/>
              <a:t>23/11/23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845452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1BFFDA3-703B-5A46-AEFC-E14C30159CAC}" type="datetimeFigureOut">
              <a:rPr lang="es-ES" smtClean="0"/>
              <a:t>23/11/23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517191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21933" y="657227"/>
            <a:ext cx="7300134" cy="2852737"/>
          </a:xfrm>
        </p:spPr>
        <p:txBody>
          <a:bodyPr anchor="b">
            <a:normAutofit/>
          </a:bodyPr>
          <a:lstStyle>
            <a:lvl1pPr>
              <a:defRPr sz="3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21933" y="3602039"/>
            <a:ext cx="7300134"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1BFFDA3-703B-5A46-AEFC-E14C30159CAC}" type="datetimeFigureOut">
              <a:rPr lang="es-ES" smtClean="0"/>
              <a:t>23/11/23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499044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6321"/>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346" y="2088320"/>
            <a:ext cx="3829503"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30052" y="2088320"/>
            <a:ext cx="3820616"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1BFFDA3-703B-5A46-AEFC-E14C30159CAC}" type="datetimeFigureOut">
              <a:rPr lang="es-ES" smtClean="0"/>
              <a:t>23/11/23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867329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5427" y="2088320"/>
            <a:ext cx="3600326"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5346" y="2912232"/>
            <a:ext cx="3830406"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859230" y="2088320"/>
            <a:ext cx="3591437"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2912232"/>
            <a:ext cx="3821518"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1BFFDA3-703B-5A46-AEFC-E14C30159CAC}" type="datetimeFigureOut">
              <a:rPr lang="es-ES" smtClean="0"/>
              <a:t>23/11/23</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489137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1BFFDA3-703B-5A46-AEFC-E14C30159CAC}" type="datetimeFigureOut">
              <a:rPr lang="es-ES" smtClean="0"/>
              <a:t>23/11/23</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726502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BFFDA3-703B-5A46-AEFC-E14C30159CAC}" type="datetimeFigureOut">
              <a:rPr lang="es-ES" smtClean="0"/>
              <a:t>23/11/23</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075628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2949178" cy="2362200"/>
          </a:xfrm>
        </p:spPr>
        <p:txBody>
          <a:bodyPr anchor="b">
            <a:normAutofit/>
          </a:bodyPr>
          <a:lstStyle>
            <a:lvl1pPr>
              <a:defRPr sz="28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08548" y="609600"/>
            <a:ext cx="4642119" cy="5181600"/>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7921" y="2971801"/>
            <a:ext cx="2949178"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1BFFDA3-703B-5A46-AEFC-E14C30159CAC}" type="datetimeFigureOut">
              <a:rPr lang="es-ES" smtClean="0"/>
              <a:t>23/11/23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4116539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4167603" cy="2362200"/>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249932" y="758881"/>
            <a:ext cx="2966938"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346" y="2971800"/>
            <a:ext cx="4171242"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1BFFDA3-703B-5A46-AEFC-E14C30159CAC}" type="datetimeFigureOut">
              <a:rPr lang="es-ES" smtClean="0"/>
              <a:t>23/11/23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917922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355" y="4289373"/>
            <a:ext cx="7775673" cy="819355"/>
          </a:xfrm>
        </p:spPr>
        <p:txBody>
          <a:bodyPr anchor="b">
            <a:normAutofit/>
          </a:bodyPr>
          <a:lstStyle>
            <a:lvl1pP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5355" y="621322"/>
            <a:ext cx="7775673"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346" y="5108728"/>
            <a:ext cx="7774499"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1BFFDA3-703B-5A46-AEFC-E14C30159CAC}" type="datetimeFigureOut">
              <a:rPr lang="es-ES" smtClean="0"/>
              <a:t>23/11/23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787781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346" y="609601"/>
            <a:ext cx="7765322" cy="3424859"/>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347" y="4204820"/>
            <a:ext cx="776532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1BFFDA3-703B-5A46-AEFC-E14C30159CAC}" type="datetimeFigureOut">
              <a:rPr lang="es-ES" smtClean="0"/>
              <a:t>23/11/23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688937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290484" y="3610032"/>
            <a:ext cx="6564224"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5345" y="4204821"/>
            <a:ext cx="776532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1BFFDA3-703B-5A46-AEFC-E14C30159CAC}" type="datetimeFigureOut">
              <a:rPr lang="es-ES" smtClean="0"/>
              <a:t>23/11/23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7BE25F8-CB20-F449-B4F4-A964C31BB732}" type="slidenum">
              <a:rPr lang="es-ES" smtClean="0"/>
              <a:t>‹Nº›</a:t>
            </a:fld>
            <a:endParaRPr lang="es-ES"/>
          </a:p>
        </p:txBody>
      </p:sp>
      <p:sp>
        <p:nvSpPr>
          <p:cNvPr id="10" name="TextBox 9"/>
          <p:cNvSpPr txBox="1"/>
          <p:nvPr/>
        </p:nvSpPr>
        <p:spPr>
          <a:xfrm>
            <a:off x="505245" y="641749"/>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946721" y="3073376"/>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396281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5355" y="2126943"/>
            <a:ext cx="7766495"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5346" y="4650556"/>
            <a:ext cx="776532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1BFFDA3-703B-5A46-AEFC-E14C30159CAC}" type="datetimeFigureOut">
              <a:rPr lang="es-ES" smtClean="0"/>
              <a:t>23/11/23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590230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685345" y="609601"/>
            <a:ext cx="7765322" cy="1325563"/>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346" y="2088320"/>
            <a:ext cx="2474217"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5346" y="2911624"/>
            <a:ext cx="2474217"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3333658" y="2088320"/>
            <a:ext cx="2473919"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3333659" y="2911624"/>
            <a:ext cx="247486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5979974" y="2088320"/>
            <a:ext cx="246840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5982260" y="2911624"/>
            <a:ext cx="2468408"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11BFFDA3-703B-5A46-AEFC-E14C30159CAC}" type="datetimeFigureOut">
              <a:rPr lang="es-ES" smtClean="0"/>
              <a:t>23/11/23</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1665651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685346" y="609601"/>
            <a:ext cx="7765322" cy="1325563"/>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5347" y="3989147"/>
            <a:ext cx="2474216"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819015" y="2092235"/>
            <a:ext cx="2205038"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5347" y="4565409"/>
            <a:ext cx="2474216"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3332026" y="3989147"/>
            <a:ext cx="2474237"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3426747" y="2092235"/>
            <a:ext cx="2197894"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3331011" y="4565408"/>
            <a:ext cx="2475252"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5980067" y="3989147"/>
            <a:ext cx="246742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6114603" y="2092235"/>
            <a:ext cx="219908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5979973" y="4565410"/>
            <a:ext cx="2470694" cy="122579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11BFFDA3-703B-5A46-AEFC-E14C30159CAC}" type="datetimeFigureOut">
              <a:rPr lang="es-ES" smtClean="0"/>
              <a:t>23/11/23</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6971510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1BFFDA3-703B-5A46-AEFC-E14C30159CAC}" type="datetimeFigureOut">
              <a:rPr lang="es-ES" smtClean="0"/>
              <a:t>23/11/23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1890168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609600"/>
            <a:ext cx="1906993"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346" y="609600"/>
            <a:ext cx="5744029"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1BFFDA3-703B-5A46-AEFC-E14C30159CAC}" type="datetimeFigureOut">
              <a:rPr lang="es-ES" smtClean="0"/>
              <a:t>23/11/23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578885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7" y="609601"/>
            <a:ext cx="7765321" cy="1326321"/>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346" y="2096064"/>
            <a:ext cx="7765322" cy="369513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11BFFDA3-703B-5A46-AEFC-E14C30159CAC}" type="datetimeFigureOut">
              <a:rPr lang="es-ES" smtClean="0"/>
              <a:t>23/11/23</a:t>
            </a:fld>
            <a:endParaRPr lang="es-ES"/>
          </a:p>
        </p:txBody>
      </p:sp>
      <p:sp>
        <p:nvSpPr>
          <p:cNvPr id="5" name="Footer Placeholder 4"/>
          <p:cNvSpPr>
            <a:spLocks noGrp="1"/>
          </p:cNvSpPr>
          <p:nvPr>
            <p:ph type="ftr" sz="quarter" idx="3"/>
          </p:nvPr>
        </p:nvSpPr>
        <p:spPr>
          <a:xfrm>
            <a:off x="685346" y="5883276"/>
            <a:ext cx="5004649"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7BE25F8-CB20-F449-B4F4-A964C31BB732}" type="slidenum">
              <a:rPr lang="es-ES" smtClean="0"/>
              <a:t>‹Nº›</a:t>
            </a:fld>
            <a:endParaRPr lang="es-ES"/>
          </a:p>
        </p:txBody>
      </p:sp>
    </p:spTree>
    <p:extLst>
      <p:ext uri="{BB962C8B-B14F-4D97-AF65-F5344CB8AC3E}">
        <p14:creationId xmlns:p14="http://schemas.microsoft.com/office/powerpoint/2010/main" val="333052939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ctrTitle"/>
          </p:nvPr>
        </p:nvSpPr>
        <p:spPr>
          <a:xfrm>
            <a:off x="611560" y="2947566"/>
            <a:ext cx="7772400" cy="685347"/>
          </a:xfrm>
        </p:spPr>
        <p:txBody>
          <a:bodyPr>
            <a:normAutofit/>
          </a:bodyPr>
          <a:lstStyle/>
          <a:p>
            <a:r>
              <a:rPr lang="es-CL" sz="2400" b="1" dirty="0">
                <a:latin typeface="Myriad Pro"/>
                <a:cs typeface="Myriad Pro"/>
              </a:rPr>
              <a:t>Sistema de suspensión de competición </a:t>
            </a:r>
          </a:p>
        </p:txBody>
      </p:sp>
      <p:sp>
        <p:nvSpPr>
          <p:cNvPr id="15" name="Subtítulo 2"/>
          <p:cNvSpPr>
            <a:spLocks noGrp="1"/>
          </p:cNvSpPr>
          <p:nvPr>
            <p:ph type="subTitle" idx="1"/>
          </p:nvPr>
        </p:nvSpPr>
        <p:spPr>
          <a:xfrm>
            <a:off x="1297360" y="3712724"/>
            <a:ext cx="6400800" cy="362194"/>
          </a:xfrm>
        </p:spPr>
        <p:txBody>
          <a:bodyPr>
            <a:normAutofit fontScale="92500" lnSpcReduction="10000"/>
          </a:bodyPr>
          <a:lstStyle/>
          <a:p>
            <a:pPr marL="0" indent="0" algn="ctr">
              <a:buNone/>
            </a:pPr>
            <a:r>
              <a:rPr lang="es-ES" sz="1800" dirty="0">
                <a:solidFill>
                  <a:schemeClr val="tx1"/>
                </a:solidFill>
                <a:latin typeface="Mongolian Baiti" panose="03000500000000000000" pitchFamily="66" charset="0"/>
                <a:cs typeface="Mongolian Baiti" panose="03000500000000000000" pitchFamily="66" charset="0"/>
              </a:rPr>
              <a:t>Unidad 4 : Geometría Plana Y Espacial</a:t>
            </a:r>
            <a:endParaRPr lang="es-CL" sz="1800" dirty="0">
              <a:solidFill>
                <a:schemeClr val="tx1"/>
              </a:solidFill>
              <a:latin typeface="Mongolian Baiti" panose="03000500000000000000" pitchFamily="66" charset="0"/>
              <a:cs typeface="Mongolian Baiti" panose="03000500000000000000" pitchFamily="66" charset="0"/>
            </a:endParaRPr>
          </a:p>
        </p:txBody>
      </p:sp>
      <p:sp>
        <p:nvSpPr>
          <p:cNvPr id="10" name="Rectángulo 9"/>
          <p:cNvSpPr/>
          <p:nvPr/>
        </p:nvSpPr>
        <p:spPr>
          <a:xfrm>
            <a:off x="469607" y="1"/>
            <a:ext cx="1867756" cy="1867756"/>
          </a:xfrm>
          <a:prstGeom prst="rect">
            <a:avLst/>
          </a:prstGeom>
          <a:solidFill>
            <a:srgbClr val="D402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1" name="Título 1"/>
          <p:cNvSpPr txBox="1">
            <a:spLocks/>
          </p:cNvSpPr>
          <p:nvPr/>
        </p:nvSpPr>
        <p:spPr>
          <a:xfrm>
            <a:off x="469607" y="160081"/>
            <a:ext cx="1867757" cy="757701"/>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s-CL" sz="1400" kern="1400" dirty="0">
                <a:latin typeface="Myriad Pro Light"/>
                <a:cs typeface="Myriad Pro Light"/>
              </a:rPr>
              <a:t>Área Mecánica </a:t>
            </a:r>
          </a:p>
          <a:p>
            <a:r>
              <a:rPr lang="es-CL" sz="1400" kern="1400" dirty="0">
                <a:latin typeface="Myriad Pro Light"/>
                <a:cs typeface="Myriad Pro Light"/>
              </a:rPr>
              <a:t>Automotriz </a:t>
            </a:r>
          </a:p>
        </p:txBody>
      </p:sp>
      <p:pic>
        <p:nvPicPr>
          <p:cNvPr id="12" name="Imagen 11" desc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447" y="1332361"/>
            <a:ext cx="1270076" cy="342346"/>
          </a:xfrm>
          <a:prstGeom prst="rect">
            <a:avLst/>
          </a:prstGeom>
        </p:spPr>
      </p:pic>
      <p:cxnSp>
        <p:nvCxnSpPr>
          <p:cNvPr id="14" name="Conector recto 13"/>
          <p:cNvCxnSpPr/>
          <p:nvPr/>
        </p:nvCxnSpPr>
        <p:spPr>
          <a:xfrm>
            <a:off x="615294" y="1077855"/>
            <a:ext cx="1576383" cy="0"/>
          </a:xfrm>
          <a:prstGeom prst="line">
            <a:avLst/>
          </a:prstGeom>
          <a:ln w="952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6" name="CuadroTexto 15"/>
          <p:cNvSpPr txBox="1"/>
          <p:nvPr/>
        </p:nvSpPr>
        <p:spPr>
          <a:xfrm>
            <a:off x="302460" y="5388229"/>
            <a:ext cx="5116465" cy="1361014"/>
          </a:xfrm>
          <a:prstGeom prst="rect">
            <a:avLst/>
          </a:prstGeom>
          <a:noFill/>
        </p:spPr>
        <p:txBody>
          <a:bodyPr wrap="none" rtlCol="0">
            <a:spAutoFit/>
          </a:bodyPr>
          <a:lstStyle/>
          <a:p>
            <a:pPr>
              <a:lnSpc>
                <a:spcPct val="120000"/>
              </a:lnSpc>
            </a:pPr>
            <a:r>
              <a:rPr lang="es-CL" sz="1400" dirty="0">
                <a:latin typeface="Myriad Pro"/>
                <a:cs typeface="Myriad Pro"/>
              </a:rPr>
              <a:t>NOMBRE: Kevin Sanhueza, Fabian Schopp, Francisco Martínez </a:t>
            </a:r>
          </a:p>
          <a:p>
            <a:pPr>
              <a:lnSpc>
                <a:spcPct val="120000"/>
              </a:lnSpc>
            </a:pPr>
            <a:r>
              <a:rPr lang="es-CL" sz="1400" dirty="0">
                <a:latin typeface="Myriad Pro"/>
                <a:cs typeface="Myriad Pro"/>
              </a:rPr>
              <a:t>CARRERA: Técnico en Mecánica Automotriz y Electromovilidad</a:t>
            </a:r>
          </a:p>
          <a:p>
            <a:pPr>
              <a:lnSpc>
                <a:spcPct val="120000"/>
              </a:lnSpc>
            </a:pPr>
            <a:r>
              <a:rPr lang="es-CL" sz="1400" dirty="0">
                <a:latin typeface="Myriad Pro"/>
                <a:cs typeface="Myriad Pro"/>
              </a:rPr>
              <a:t>ASIGNTATURA: Funciones y geometría </a:t>
            </a:r>
          </a:p>
          <a:p>
            <a:pPr>
              <a:lnSpc>
                <a:spcPct val="120000"/>
              </a:lnSpc>
            </a:pPr>
            <a:r>
              <a:rPr lang="es-CL" sz="1400" dirty="0">
                <a:latin typeface="Myriad Pro"/>
                <a:cs typeface="Myriad Pro"/>
              </a:rPr>
              <a:t>PROFESOR:  Lissette Salamanca </a:t>
            </a:r>
          </a:p>
          <a:p>
            <a:pPr>
              <a:lnSpc>
                <a:spcPct val="120000"/>
              </a:lnSpc>
            </a:pPr>
            <a:r>
              <a:rPr lang="es-CL" sz="1400" dirty="0">
                <a:latin typeface="Myriad Pro"/>
                <a:cs typeface="Myriad Pro"/>
              </a:rPr>
              <a:t>FECHA: 17 de noviembre 2023</a:t>
            </a:r>
          </a:p>
        </p:txBody>
      </p:sp>
      <p:pic>
        <p:nvPicPr>
          <p:cNvPr id="18" name="Imagen 17"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Tree>
    <p:extLst>
      <p:ext uri="{BB962C8B-B14F-4D97-AF65-F5344CB8AC3E}">
        <p14:creationId xmlns:p14="http://schemas.microsoft.com/office/powerpoint/2010/main" val="808890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ctrTitle"/>
          </p:nvPr>
        </p:nvSpPr>
        <p:spPr>
          <a:xfrm>
            <a:off x="386479" y="271940"/>
            <a:ext cx="7772400" cy="685347"/>
          </a:xfrm>
        </p:spPr>
        <p:txBody>
          <a:bodyPr>
            <a:normAutofit/>
          </a:bodyPr>
          <a:lstStyle/>
          <a:p>
            <a:r>
              <a:rPr lang="es-CL" sz="2400" b="1" dirty="0">
                <a:latin typeface="Myriad Pro"/>
                <a:cs typeface="Myriad Pro"/>
              </a:rPr>
              <a:t>Descripción</a:t>
            </a:r>
            <a:r>
              <a:rPr lang="es-CL" sz="3200" b="1" dirty="0">
                <a:solidFill>
                  <a:srgbClr val="D40202"/>
                </a:solidFill>
                <a:latin typeface="Myriad Pro"/>
                <a:cs typeface="Myriad Pro"/>
              </a:rPr>
              <a:t> </a:t>
            </a:r>
          </a:p>
        </p:txBody>
      </p:sp>
      <p:pic>
        <p:nvPicPr>
          <p:cNvPr id="18" name="Imagen 17" descr="Logo.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
        <p:nvSpPr>
          <p:cNvPr id="21" name="Título 1"/>
          <p:cNvSpPr txBox="1">
            <a:spLocks/>
          </p:cNvSpPr>
          <p:nvPr/>
        </p:nvSpPr>
        <p:spPr>
          <a:xfrm>
            <a:off x="307821" y="3032507"/>
            <a:ext cx="322196" cy="46775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L" sz="1800" b="1" dirty="0">
                <a:solidFill>
                  <a:schemeClr val="bg1"/>
                </a:solidFill>
                <a:latin typeface="Myriad Pro"/>
                <a:cs typeface="Myriad Pro"/>
              </a:rPr>
              <a:t>2</a:t>
            </a:r>
          </a:p>
        </p:txBody>
      </p:sp>
      <p:sp>
        <p:nvSpPr>
          <p:cNvPr id="24" name="Título 1"/>
          <p:cNvSpPr txBox="1">
            <a:spLocks/>
          </p:cNvSpPr>
          <p:nvPr/>
        </p:nvSpPr>
        <p:spPr>
          <a:xfrm>
            <a:off x="289101" y="4788853"/>
            <a:ext cx="322196" cy="46775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L" sz="1800" b="1" dirty="0">
                <a:solidFill>
                  <a:schemeClr val="bg1"/>
                </a:solidFill>
                <a:latin typeface="Myriad Pro"/>
                <a:cs typeface="Myriad Pro"/>
              </a:rPr>
              <a:t>3</a:t>
            </a:r>
          </a:p>
        </p:txBody>
      </p:sp>
      <p:sp>
        <p:nvSpPr>
          <p:cNvPr id="4" name="CuadroTexto 3">
            <a:extLst>
              <a:ext uri="{FF2B5EF4-FFF2-40B4-BE49-F238E27FC236}">
                <a16:creationId xmlns:a16="http://schemas.microsoft.com/office/drawing/2014/main" id="{54A435E7-9651-ED94-3D52-E2B1D2305FF6}"/>
              </a:ext>
            </a:extLst>
          </p:cNvPr>
          <p:cNvSpPr txBox="1"/>
          <p:nvPr/>
        </p:nvSpPr>
        <p:spPr>
          <a:xfrm>
            <a:off x="1337187" y="1248697"/>
            <a:ext cx="6821692" cy="4201150"/>
          </a:xfrm>
          <a:prstGeom prst="rect">
            <a:avLst/>
          </a:prstGeom>
          <a:noFill/>
        </p:spPr>
        <p:txBody>
          <a:bodyPr wrap="square" rtlCol="0">
            <a:spAutoFit/>
          </a:bodyPr>
          <a:lstStyle/>
          <a:p>
            <a:pPr algn="just">
              <a:lnSpc>
                <a:spcPct val="150000"/>
              </a:lnSpc>
            </a:pPr>
            <a:r>
              <a:rPr lang="es-CL" sz="1400" dirty="0"/>
              <a:t>En el siguiente proyecto presentaremos un sistema de suspensión para un vehículo de competición, la competición que se estará realizando será por diferentes tipos de terrenos ya sean tramos húmedos, tramos que contienen grava o arena por lo cual para este tipo de superficies no es óptimo utilizar un vehículo cuyas características de fabricación no coinciden con los terrenos corridos. </a:t>
            </a:r>
          </a:p>
          <a:p>
            <a:pPr algn="just">
              <a:lnSpc>
                <a:spcPct val="150000"/>
              </a:lnSpc>
            </a:pPr>
            <a:endParaRPr lang="es-CL" sz="1400" dirty="0"/>
          </a:p>
          <a:p>
            <a:pPr algn="just">
              <a:lnSpc>
                <a:spcPct val="150000"/>
              </a:lnSpc>
            </a:pPr>
            <a:r>
              <a:rPr lang="es-CL" sz="1400" dirty="0"/>
              <a:t>Por lo cual la escudería tenía una camioneta de competición para el rally, pero esta sufrió unos daños en su carcasa y suspensión por lo  que decidimos comprar otro vehículo de la marca, pero esta llega con todos sus componentes para no ser forzados, totalmente stock. Por lo que se decidió realizar una serie de mejoras para que el vehículo posea el mejor rendimiento posible en la carrera que se realizara dentro de los próximos días. </a:t>
            </a:r>
          </a:p>
          <a:p>
            <a:endParaRPr lang="es-CL" dirty="0"/>
          </a:p>
          <a:p>
            <a:r>
              <a:rPr lang="es-CL" dirty="0"/>
              <a:t> </a:t>
            </a:r>
          </a:p>
        </p:txBody>
      </p:sp>
    </p:spTree>
    <p:extLst>
      <p:ext uri="{BB962C8B-B14F-4D97-AF65-F5344CB8AC3E}">
        <p14:creationId xmlns:p14="http://schemas.microsoft.com/office/powerpoint/2010/main" val="91649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title"/>
          </p:nvPr>
        </p:nvSpPr>
        <p:spPr>
          <a:xfrm>
            <a:off x="457200" y="378542"/>
            <a:ext cx="8229600" cy="1143000"/>
          </a:xfrm>
        </p:spPr>
        <p:txBody>
          <a:bodyPr>
            <a:normAutofit/>
          </a:bodyPr>
          <a:lstStyle/>
          <a:p>
            <a:r>
              <a:rPr lang="es-CL" sz="2400" b="1" dirty="0">
                <a:latin typeface="Myriad Pro"/>
                <a:cs typeface="Myriad Pro"/>
              </a:rPr>
              <a:t>Tema de investigación y nociones matemáticas </a:t>
            </a:r>
          </a:p>
        </p:txBody>
      </p:sp>
      <p:sp>
        <p:nvSpPr>
          <p:cNvPr id="3" name="Marcador de contenido 2"/>
          <p:cNvSpPr>
            <a:spLocks noGrp="1"/>
          </p:cNvSpPr>
          <p:nvPr>
            <p:ph sz="half" idx="1"/>
          </p:nvPr>
        </p:nvSpPr>
        <p:spPr>
          <a:xfrm>
            <a:off x="457200" y="1528916"/>
            <a:ext cx="4038600" cy="4525963"/>
          </a:xfrm>
          <a:ln w="28575" cmpd="sng">
            <a:solidFill>
              <a:schemeClr val="bg1">
                <a:lumMod val="85000"/>
              </a:schemeClr>
            </a:solidFill>
          </a:ln>
          <a:effectLst/>
        </p:spPr>
        <p:txBody>
          <a:bodyPr>
            <a:normAutofit/>
          </a:bodyPr>
          <a:lstStyle/>
          <a:p>
            <a:pPr marL="0" indent="0" algn="just">
              <a:lnSpc>
                <a:spcPct val="150000"/>
              </a:lnSpc>
              <a:buNone/>
            </a:pPr>
            <a:r>
              <a:rPr lang="es-ES" sz="1400" dirty="0">
                <a:latin typeface="Myriad Pro"/>
                <a:cs typeface="Myriad Pro"/>
              </a:rPr>
              <a:t>Los tipos de suspensión que podemos encontrar en el mercado para vehículos o camionetas son el eje rígido, el eje semi-rígido, Suspensión independiente, suspensión eje oscilante, suspensión McPherson, entre otros tipos de suspensión pero la más común para competición podemos encontrar la suspensión semirigida la que al ser de este tipo nos genera una mayor adherencia y control del vehículo en condiciones fuera de asfalto por lo que absorbe mejor los baches u imperfecciones que se encuentren en el tramo de carrera que se realiza. </a:t>
            </a:r>
          </a:p>
          <a:p>
            <a:pPr marL="0" indent="0" algn="just">
              <a:buNone/>
            </a:pPr>
            <a:endParaRPr lang="es-ES" sz="1400" dirty="0">
              <a:latin typeface="Myriad Pro"/>
              <a:cs typeface="Myriad Pro"/>
            </a:endParaRPr>
          </a:p>
          <a:p>
            <a:pPr marL="0" indent="0" algn="just">
              <a:buNone/>
            </a:pPr>
            <a:endParaRPr lang="es-ES" sz="1400" dirty="0">
              <a:latin typeface="Myriad Pro"/>
              <a:cs typeface="Myriad Pro"/>
            </a:endParaRPr>
          </a:p>
        </p:txBody>
      </p:sp>
      <p:pic>
        <p:nvPicPr>
          <p:cNvPr id="18" name="Imagen 17" descr="Logo.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
        <p:nvSpPr>
          <p:cNvPr id="25" name="Marcador de contenido 2"/>
          <p:cNvSpPr txBox="1">
            <a:spLocks noGrp="1" noRot="1" noMove="1" noResize="1" noEditPoints="1" noAdjustHandles="1" noChangeArrowheads="1" noChangeShapeType="1"/>
          </p:cNvSpPr>
          <p:nvPr/>
        </p:nvSpPr>
        <p:spPr>
          <a:xfrm>
            <a:off x="4572000" y="1521542"/>
            <a:ext cx="4038600" cy="4525963"/>
          </a:xfrm>
          <a:prstGeom prst="rect">
            <a:avLst/>
          </a:prstGeom>
          <a:ln w="28575" cmpd="sng">
            <a:solidFill>
              <a:schemeClr val="bg1">
                <a:lumMod val="85000"/>
              </a:schemeClr>
            </a:solidFill>
          </a:ln>
          <a:effectLst/>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lgn="just">
              <a:lnSpc>
                <a:spcPct val="150000"/>
              </a:lnSpc>
              <a:buFont typeface="Arial"/>
              <a:buNone/>
            </a:pPr>
            <a:r>
              <a:rPr lang="es-ES" sz="1400" dirty="0">
                <a:latin typeface="Myriad Pro"/>
                <a:cs typeface="Myriad Pro"/>
              </a:rPr>
              <a:t>Por otro lado, nos encontramos con que la suspensión al ser semi rígida le aporta mayor estabilidad al vehículo, además se pudo apreciar con la investigación realizada que si se realiza una leve inclinación del muelle o de la suspensión en general aproximadamente unos 45° el vehículo poseerá una mayor estabilidad y maniobrabilidad para así sea más eficiente en el tipo de suelo por el cual se está realizando la carrera.</a:t>
            </a:r>
          </a:p>
          <a:p>
            <a:pPr marL="0" indent="0" algn="just">
              <a:lnSpc>
                <a:spcPct val="150000"/>
              </a:lnSpc>
              <a:buFont typeface="Arial"/>
              <a:buNone/>
            </a:pPr>
            <a:r>
              <a:rPr lang="es-ES" sz="1400" dirty="0">
                <a:latin typeface="Myriad Pro"/>
                <a:cs typeface="Myriad Pro"/>
              </a:rPr>
              <a:t>Por otro lado, el movimiento que realiza la rueda al momento de que el muelle absorbe la irregularidad del terreno es en modo vertical, lo que mejora que el neumático en ningún momento se despegue del suelo y siga siempre pegado a este   </a:t>
            </a:r>
          </a:p>
        </p:txBody>
      </p:sp>
    </p:spTree>
    <p:extLst>
      <p:ext uri="{BB962C8B-B14F-4D97-AF65-F5344CB8AC3E}">
        <p14:creationId xmlns:p14="http://schemas.microsoft.com/office/powerpoint/2010/main" val="2557372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31F74D-D227-2DF5-FF5A-F55A6DE50BE4}"/>
              </a:ext>
            </a:extLst>
          </p:cNvPr>
          <p:cNvSpPr>
            <a:spLocks noGrp="1"/>
          </p:cNvSpPr>
          <p:nvPr>
            <p:ph type="title"/>
          </p:nvPr>
        </p:nvSpPr>
        <p:spPr/>
        <p:txBody>
          <a:bodyPr>
            <a:normAutofit/>
          </a:bodyPr>
          <a:lstStyle/>
          <a:p>
            <a:r>
              <a:rPr lang="es-CL" sz="2400" b="1" dirty="0"/>
              <a:t>Objetivos y Preguntas </a:t>
            </a:r>
          </a:p>
        </p:txBody>
      </p:sp>
      <p:sp>
        <p:nvSpPr>
          <p:cNvPr id="3" name="Marcador de contenido 2">
            <a:extLst>
              <a:ext uri="{FF2B5EF4-FFF2-40B4-BE49-F238E27FC236}">
                <a16:creationId xmlns:a16="http://schemas.microsoft.com/office/drawing/2014/main" id="{EF30379A-5857-9113-D962-FB54DD67C7F6}"/>
              </a:ext>
            </a:extLst>
          </p:cNvPr>
          <p:cNvSpPr>
            <a:spLocks noGrp="1"/>
          </p:cNvSpPr>
          <p:nvPr>
            <p:ph sz="half" idx="1"/>
          </p:nvPr>
        </p:nvSpPr>
        <p:spPr>
          <a:xfrm>
            <a:off x="685346" y="2088320"/>
            <a:ext cx="3829503" cy="4160079"/>
          </a:xfrm>
        </p:spPr>
        <p:txBody>
          <a:bodyPr>
            <a:normAutofit fontScale="62500" lnSpcReduction="20000"/>
          </a:bodyPr>
          <a:lstStyle/>
          <a:p>
            <a:pPr algn="just"/>
            <a:r>
              <a:rPr lang="es-CL" sz="1900" dirty="0"/>
              <a:t>Realizar un sistema de suspensión y carcasa óptimo para el tramo o la carrera que se realizara prontamente.</a:t>
            </a:r>
          </a:p>
          <a:p>
            <a:pPr algn="just"/>
            <a:endParaRPr lang="es-CL" sz="1900" dirty="0"/>
          </a:p>
          <a:p>
            <a:pPr algn="just"/>
            <a:r>
              <a:rPr lang="es-CL" sz="1900" dirty="0"/>
              <a:t>Crear una mayor eficiencia al auto y poder reducir costos de taller.</a:t>
            </a:r>
          </a:p>
          <a:p>
            <a:pPr algn="just"/>
            <a:endParaRPr lang="es-CL" sz="1900" dirty="0"/>
          </a:p>
          <a:p>
            <a:pPr algn="just"/>
            <a:r>
              <a:rPr lang="es-CL" sz="1900" dirty="0"/>
              <a:t>Crear un sistema de suspensión que posea una mayor durabilidad y un mejor rendimiento.</a:t>
            </a:r>
          </a:p>
          <a:p>
            <a:pPr algn="just"/>
            <a:endParaRPr lang="es-CL" sz="1900" dirty="0"/>
          </a:p>
          <a:p>
            <a:pPr algn="just"/>
            <a:r>
              <a:rPr lang="es-CL" sz="1900" dirty="0"/>
              <a:t>Realizar unas mejoras en los ángulos de ataque de la suspensión para una mayor eficiencia en distintos tipos de suelo o terreno.</a:t>
            </a:r>
          </a:p>
          <a:p>
            <a:pPr algn="just"/>
            <a:endParaRPr lang="es-CL" sz="1900" dirty="0"/>
          </a:p>
          <a:p>
            <a:pPr algn="just"/>
            <a:r>
              <a:rPr lang="es-CL" sz="1900" dirty="0"/>
              <a:t>Realizar mejoras en los puntos de apoyo de la suspensión para</a:t>
            </a:r>
          </a:p>
          <a:p>
            <a:pPr marL="0" indent="0" algn="just">
              <a:buNone/>
            </a:pPr>
            <a:endParaRPr lang="es-CL" sz="1900" dirty="0"/>
          </a:p>
          <a:p>
            <a:pPr algn="just"/>
            <a:endParaRPr lang="es-CL" sz="1900" dirty="0"/>
          </a:p>
          <a:p>
            <a:pPr algn="just"/>
            <a:endParaRPr lang="es-CL" sz="1400" dirty="0"/>
          </a:p>
        </p:txBody>
      </p:sp>
      <p:sp>
        <p:nvSpPr>
          <p:cNvPr id="4" name="Marcador de contenido 3">
            <a:extLst>
              <a:ext uri="{FF2B5EF4-FFF2-40B4-BE49-F238E27FC236}">
                <a16:creationId xmlns:a16="http://schemas.microsoft.com/office/drawing/2014/main" id="{C0817FB6-8F55-C646-F1B8-9903D0000B8C}"/>
              </a:ext>
            </a:extLst>
          </p:cNvPr>
          <p:cNvSpPr>
            <a:spLocks noGrp="1"/>
          </p:cNvSpPr>
          <p:nvPr>
            <p:ph sz="half" idx="2"/>
          </p:nvPr>
        </p:nvSpPr>
        <p:spPr>
          <a:xfrm>
            <a:off x="4630052" y="2088320"/>
            <a:ext cx="3820616" cy="4160079"/>
          </a:xfrm>
        </p:spPr>
        <p:txBody>
          <a:bodyPr>
            <a:noAutofit/>
          </a:bodyPr>
          <a:lstStyle/>
          <a:p>
            <a:pPr algn="just"/>
            <a:r>
              <a:rPr lang="es-ES" sz="1200" dirty="0"/>
              <a:t>¿Cuánto  tiempo va a necesitar el taller para que el vehículo quede en las condiciones óptimas para la competición?</a:t>
            </a:r>
          </a:p>
          <a:p>
            <a:pPr algn="just"/>
            <a:r>
              <a:rPr lang="es-ES" sz="1200" dirty="0"/>
              <a:t>¿Cuánto van a tardar las piezas para la mejora del vehículo?</a:t>
            </a:r>
          </a:p>
          <a:p>
            <a:pPr algn="just"/>
            <a:r>
              <a:rPr lang="es-ES" sz="1200" dirty="0"/>
              <a:t>¿Cuánto será el costo de todas las mejoras del vehículo?</a:t>
            </a:r>
          </a:p>
          <a:p>
            <a:pPr algn="just"/>
            <a:endParaRPr lang="es-ES" sz="1200" dirty="0"/>
          </a:p>
          <a:p>
            <a:pPr algn="just"/>
            <a:r>
              <a:rPr lang="es-CL" sz="1200" dirty="0"/>
              <a:t>¿Qué tipo de suspensión sería la más adecuada para el vehículo y las condiciones de carrera?</a:t>
            </a:r>
          </a:p>
          <a:p>
            <a:pPr algn="just"/>
            <a:r>
              <a:rPr lang="es-ES" sz="1200" dirty="0"/>
              <a:t>¿Llegará a tiempo el vehículo a su competición?</a:t>
            </a:r>
          </a:p>
          <a:p>
            <a:pPr algn="just"/>
            <a:r>
              <a:rPr lang="es-ES" sz="1200" dirty="0"/>
              <a:t>¿Sera factible reutilizar piezas que no fueron dañadas del vehículo antiguo al nuevo?</a:t>
            </a:r>
            <a:endParaRPr lang="es-CL" sz="1200" dirty="0"/>
          </a:p>
        </p:txBody>
      </p:sp>
    </p:spTree>
    <p:extLst>
      <p:ext uri="{BB962C8B-B14F-4D97-AF65-F5344CB8AC3E}">
        <p14:creationId xmlns:p14="http://schemas.microsoft.com/office/powerpoint/2010/main" val="2899874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D2A55F-D6BA-68B6-6713-720DA94DD6D3}"/>
              </a:ext>
            </a:extLst>
          </p:cNvPr>
          <p:cNvSpPr>
            <a:spLocks noGrp="1"/>
          </p:cNvSpPr>
          <p:nvPr>
            <p:ph type="title"/>
          </p:nvPr>
        </p:nvSpPr>
        <p:spPr/>
        <p:txBody>
          <a:bodyPr>
            <a:normAutofit/>
          </a:bodyPr>
          <a:lstStyle/>
          <a:p>
            <a:r>
              <a:rPr lang="es-CL" sz="2400" b="1" dirty="0"/>
              <a:t>Temas iniciales involucrados </a:t>
            </a:r>
          </a:p>
        </p:txBody>
      </p:sp>
      <p:sp>
        <p:nvSpPr>
          <p:cNvPr id="3" name="Marcador de contenido 2">
            <a:extLst>
              <a:ext uri="{FF2B5EF4-FFF2-40B4-BE49-F238E27FC236}">
                <a16:creationId xmlns:a16="http://schemas.microsoft.com/office/drawing/2014/main" id="{A8E7E192-03B1-0A93-7973-1D1DE0FFD47D}"/>
              </a:ext>
            </a:extLst>
          </p:cNvPr>
          <p:cNvSpPr>
            <a:spLocks noGrp="1"/>
          </p:cNvSpPr>
          <p:nvPr>
            <p:ph sz="half" idx="1"/>
          </p:nvPr>
        </p:nvSpPr>
        <p:spPr>
          <a:xfrm>
            <a:off x="457200" y="1600200"/>
            <a:ext cx="4038600" cy="4908755"/>
          </a:xfrm>
        </p:spPr>
        <p:txBody>
          <a:bodyPr>
            <a:normAutofit fontScale="85000" lnSpcReduction="20000"/>
          </a:bodyPr>
          <a:lstStyle/>
          <a:p>
            <a:pPr algn="just"/>
            <a:r>
              <a:rPr lang="es-ES" sz="1400" dirty="0"/>
              <a:t>Impacto de la suspensión en la seguridad, importancia de un buen sistema de suspensión para reducir accidentes y mejorar la seguridad de los ocupantes de vehículo.</a:t>
            </a:r>
          </a:p>
          <a:p>
            <a:pPr algn="just"/>
            <a:r>
              <a:rPr lang="es-ES" sz="1400" dirty="0"/>
              <a:t>Ergonomía y confort en la suspensión: cómo afecta el diseño a la experiencia del conductor y los pasajeros.</a:t>
            </a:r>
          </a:p>
          <a:p>
            <a:pPr algn="just"/>
            <a:r>
              <a:rPr lang="es-ES" sz="1400" dirty="0"/>
              <a:t>Influencia de la suspensión en el comportamiento del vehículo con la dirección, frenado, tracción, estabilidad en curvas, etc.</a:t>
            </a:r>
          </a:p>
          <a:p>
            <a:pPr algn="just"/>
            <a:r>
              <a:rPr lang="es-ES" sz="1400" dirty="0"/>
              <a:t>Desgaste y mantenimiento de la suspensión automotriz síntomas de desgaste, importancia de revisar y reemplazar componentes.</a:t>
            </a:r>
          </a:p>
          <a:p>
            <a:pPr algn="just"/>
            <a:r>
              <a:rPr lang="es-ES" sz="1400" dirty="0"/>
              <a:t>Impactos de accidentes en tramos de carrera, daños al no tener la suspensión indicada para el tramo de carrera.</a:t>
            </a:r>
          </a:p>
          <a:p>
            <a:pPr algn="just"/>
            <a:r>
              <a:rPr lang="es-ES" sz="1400" dirty="0"/>
              <a:t>Suspensiones especializadas adaptaciones para vehículos todo terreno, de competición, o con necesidades específicas.</a:t>
            </a:r>
          </a:p>
          <a:p>
            <a:pPr algn="just"/>
            <a:r>
              <a:rPr lang="es-ES" sz="1400" dirty="0"/>
              <a:t>Legalidad y normativas en sistemas de suspensión estándares de seguridad y regulaciones gubernamentales.</a:t>
            </a:r>
            <a:endParaRPr lang="es-CL" sz="1400" dirty="0"/>
          </a:p>
        </p:txBody>
      </p:sp>
    </p:spTree>
    <p:extLst>
      <p:ext uri="{BB962C8B-B14F-4D97-AF65-F5344CB8AC3E}">
        <p14:creationId xmlns:p14="http://schemas.microsoft.com/office/powerpoint/2010/main" val="3356667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5D7845-6E2E-A668-098B-4D42CB5D0706}"/>
              </a:ext>
            </a:extLst>
          </p:cNvPr>
          <p:cNvSpPr>
            <a:spLocks noGrp="1"/>
          </p:cNvSpPr>
          <p:nvPr>
            <p:ph type="title"/>
          </p:nvPr>
        </p:nvSpPr>
        <p:spPr>
          <a:xfrm>
            <a:off x="457200" y="0"/>
            <a:ext cx="8229600" cy="1143000"/>
          </a:xfrm>
        </p:spPr>
        <p:txBody>
          <a:bodyPr>
            <a:normAutofit/>
          </a:bodyPr>
          <a:lstStyle/>
          <a:p>
            <a:r>
              <a:rPr lang="es-CL" sz="2400" b="1" dirty="0"/>
              <a:t>Cronograma y materiales a utilizar </a:t>
            </a:r>
          </a:p>
        </p:txBody>
      </p:sp>
      <p:graphicFrame>
        <p:nvGraphicFramePr>
          <p:cNvPr id="5" name="Marcador de contenido 7">
            <a:extLst>
              <a:ext uri="{FF2B5EF4-FFF2-40B4-BE49-F238E27FC236}">
                <a16:creationId xmlns:a16="http://schemas.microsoft.com/office/drawing/2014/main" id="{A04DF1CD-B441-4CA4-5C28-FE97329F2A0D}"/>
              </a:ext>
            </a:extLst>
          </p:cNvPr>
          <p:cNvGraphicFramePr>
            <a:graphicFrameLocks noGrp="1"/>
          </p:cNvGraphicFramePr>
          <p:nvPr>
            <p:ph sz="half" idx="1"/>
            <p:extLst>
              <p:ext uri="{D42A27DB-BD31-4B8C-83A1-F6EECF244321}">
                <p14:modId xmlns:p14="http://schemas.microsoft.com/office/powerpoint/2010/main" val="2391022821"/>
              </p:ext>
            </p:extLst>
          </p:nvPr>
        </p:nvGraphicFramePr>
        <p:xfrm>
          <a:off x="206477" y="923154"/>
          <a:ext cx="8780205" cy="5491002"/>
        </p:xfrm>
        <a:graphic>
          <a:graphicData uri="http://schemas.openxmlformats.org/drawingml/2006/table">
            <a:tbl>
              <a:tblPr firstRow="1" bandRow="1">
                <a:tableStyleId>{2A488322-F2BA-4B5B-9748-0D474271808F}</a:tableStyleId>
              </a:tblPr>
              <a:tblGrid>
                <a:gridCol w="1756041">
                  <a:extLst>
                    <a:ext uri="{9D8B030D-6E8A-4147-A177-3AD203B41FA5}">
                      <a16:colId xmlns:a16="http://schemas.microsoft.com/office/drawing/2014/main" val="2754136917"/>
                    </a:ext>
                  </a:extLst>
                </a:gridCol>
                <a:gridCol w="1756041">
                  <a:extLst>
                    <a:ext uri="{9D8B030D-6E8A-4147-A177-3AD203B41FA5}">
                      <a16:colId xmlns:a16="http://schemas.microsoft.com/office/drawing/2014/main" val="4204278719"/>
                    </a:ext>
                  </a:extLst>
                </a:gridCol>
                <a:gridCol w="1756041">
                  <a:extLst>
                    <a:ext uri="{9D8B030D-6E8A-4147-A177-3AD203B41FA5}">
                      <a16:colId xmlns:a16="http://schemas.microsoft.com/office/drawing/2014/main" val="1967114247"/>
                    </a:ext>
                  </a:extLst>
                </a:gridCol>
                <a:gridCol w="1756041">
                  <a:extLst>
                    <a:ext uri="{9D8B030D-6E8A-4147-A177-3AD203B41FA5}">
                      <a16:colId xmlns:a16="http://schemas.microsoft.com/office/drawing/2014/main" val="241630465"/>
                    </a:ext>
                  </a:extLst>
                </a:gridCol>
                <a:gridCol w="1756041">
                  <a:extLst>
                    <a:ext uri="{9D8B030D-6E8A-4147-A177-3AD203B41FA5}">
                      <a16:colId xmlns:a16="http://schemas.microsoft.com/office/drawing/2014/main" val="714235373"/>
                    </a:ext>
                  </a:extLst>
                </a:gridCol>
              </a:tblGrid>
              <a:tr h="925625">
                <a:tc>
                  <a:txBody>
                    <a:bodyPr/>
                    <a:lstStyle/>
                    <a:p>
                      <a:r>
                        <a:rPr lang="es-CL" sz="1400" dirty="0"/>
                        <a:t>Tareas</a:t>
                      </a:r>
                    </a:p>
                    <a:p>
                      <a:r>
                        <a:rPr lang="es-CL" sz="1400" dirty="0"/>
                        <a:t>¿Qué haremos?</a:t>
                      </a:r>
                    </a:p>
                  </a:txBody>
                  <a:tcPr/>
                </a:tc>
                <a:tc>
                  <a:txBody>
                    <a:bodyPr/>
                    <a:lstStyle/>
                    <a:p>
                      <a:pPr marL="0" indent="0">
                        <a:buFont typeface="+mj-lt"/>
                        <a:buNone/>
                      </a:pPr>
                      <a:r>
                        <a:rPr lang="es-CL" sz="1400" dirty="0"/>
                        <a:t>Productos </a:t>
                      </a:r>
                    </a:p>
                    <a:p>
                      <a:pPr marL="0" indent="0">
                        <a:buFont typeface="+mj-lt"/>
                        <a:buNone/>
                      </a:pPr>
                      <a:r>
                        <a:rPr lang="es-CL" sz="1400" dirty="0"/>
                        <a:t>¿Qué resultados obtendremos? </a:t>
                      </a:r>
                    </a:p>
                  </a:txBody>
                  <a:tcPr/>
                </a:tc>
                <a:tc>
                  <a:txBody>
                    <a:bodyPr/>
                    <a:lstStyle/>
                    <a:p>
                      <a:r>
                        <a:rPr lang="es-CL" sz="1400" dirty="0"/>
                        <a:t>Plazos </a:t>
                      </a:r>
                    </a:p>
                    <a:p>
                      <a:r>
                        <a:rPr lang="es-CL" sz="1400" dirty="0"/>
                        <a:t>¿Para cuándo estará hecho?  </a:t>
                      </a:r>
                    </a:p>
                  </a:txBody>
                  <a:tcPr/>
                </a:tc>
                <a:tc>
                  <a:txBody>
                    <a:bodyPr/>
                    <a:lstStyle/>
                    <a:p>
                      <a:r>
                        <a:rPr lang="es-CL" sz="1400" dirty="0"/>
                        <a:t>Responsable </a:t>
                      </a:r>
                    </a:p>
                    <a:p>
                      <a:r>
                        <a:rPr lang="es-ES" sz="1400" dirty="0"/>
                        <a:t>¿Quien o quienes lo harán?</a:t>
                      </a:r>
                      <a:r>
                        <a:rPr lang="es-CL" sz="1400" dirty="0"/>
                        <a:t> </a:t>
                      </a:r>
                    </a:p>
                  </a:txBody>
                  <a:tcPr/>
                </a:tc>
                <a:tc>
                  <a:txBody>
                    <a:bodyPr/>
                    <a:lstStyle/>
                    <a:p>
                      <a:r>
                        <a:rPr lang="es-CL" sz="1400" dirty="0"/>
                        <a:t>Insumos </a:t>
                      </a:r>
                    </a:p>
                    <a:p>
                      <a:r>
                        <a:rPr lang="es-CL" sz="1400" dirty="0"/>
                        <a:t>¿Qué necesitaremos para hacerlo?</a:t>
                      </a:r>
                    </a:p>
                  </a:txBody>
                  <a:tcPr/>
                </a:tc>
                <a:extLst>
                  <a:ext uri="{0D108BD9-81ED-4DB2-BD59-A6C34878D82A}">
                    <a16:rowId xmlns:a16="http://schemas.microsoft.com/office/drawing/2014/main" val="3787958322"/>
                  </a:ext>
                </a:extLst>
              </a:tr>
              <a:tr h="1376202">
                <a:tc>
                  <a:txBody>
                    <a:bodyPr/>
                    <a:lstStyle/>
                    <a:p>
                      <a:pPr algn="just"/>
                      <a:r>
                        <a:rPr lang="es-CL" dirty="0"/>
                        <a:t>1.- </a:t>
                      </a:r>
                      <a:r>
                        <a:rPr lang="es-CL" sz="1400" dirty="0"/>
                        <a:t>Se determinará que tipo de suspensión comprar </a:t>
                      </a:r>
                      <a:endParaRPr lang="es-CL" dirty="0"/>
                    </a:p>
                  </a:txBody>
                  <a:tcPr/>
                </a:tc>
                <a:tc>
                  <a:txBody>
                    <a:bodyPr/>
                    <a:lstStyle/>
                    <a:p>
                      <a:pPr algn="just"/>
                      <a:r>
                        <a:rPr lang="es-ES" sz="1400" dirty="0"/>
                        <a:t>Un sistema de suspensión que posea una mayor durabilidad y un mejor rendimiento. </a:t>
                      </a:r>
                      <a:endParaRPr lang="es-CL" sz="1400" dirty="0"/>
                    </a:p>
                  </a:txBody>
                  <a:tcPr/>
                </a:tc>
                <a:tc>
                  <a:txBody>
                    <a:bodyPr/>
                    <a:lstStyle/>
                    <a:p>
                      <a:pPr algn="just"/>
                      <a:r>
                        <a:rPr lang="es-ES" sz="1400" dirty="0"/>
                        <a:t>Se determinará un plazo de dos días para la llegada de repuestos </a:t>
                      </a:r>
                      <a:endParaRPr lang="es-CL" sz="1400" dirty="0"/>
                    </a:p>
                  </a:txBody>
                  <a:tcPr/>
                </a:tc>
                <a:tc>
                  <a:txBody>
                    <a:bodyPr/>
                    <a:lstStyle/>
                    <a:p>
                      <a:pPr algn="just"/>
                      <a:r>
                        <a:rPr lang="es-CL" sz="1400" dirty="0"/>
                        <a:t>El jefe de taller será el encargado </a:t>
                      </a:r>
                    </a:p>
                  </a:txBody>
                  <a:tcPr/>
                </a:tc>
                <a:tc>
                  <a:txBody>
                    <a:bodyPr/>
                    <a:lstStyle/>
                    <a:p>
                      <a:r>
                        <a:rPr lang="es-CL" sz="1400" dirty="0"/>
                        <a:t>El vehículo totalmente stock ( salido de fabrica)</a:t>
                      </a:r>
                    </a:p>
                  </a:txBody>
                  <a:tcPr/>
                </a:tc>
                <a:extLst>
                  <a:ext uri="{0D108BD9-81ED-4DB2-BD59-A6C34878D82A}">
                    <a16:rowId xmlns:a16="http://schemas.microsoft.com/office/drawing/2014/main" val="3059954946"/>
                  </a:ext>
                </a:extLst>
              </a:tr>
              <a:tr h="1499538">
                <a:tc>
                  <a:txBody>
                    <a:bodyPr/>
                    <a:lstStyle/>
                    <a:p>
                      <a:pPr algn="just"/>
                      <a:r>
                        <a:rPr lang="es-CL" dirty="0"/>
                        <a:t>2.- </a:t>
                      </a:r>
                      <a:r>
                        <a:rPr lang="es-CL" sz="1400" dirty="0"/>
                        <a:t>Se realizará pruebas de mejoras de la suspensión además de la instalación de esta </a:t>
                      </a:r>
                      <a:endParaRPr lang="es-CL" dirty="0"/>
                    </a:p>
                  </a:txBody>
                  <a:tcPr/>
                </a:tc>
                <a:tc>
                  <a:txBody>
                    <a:bodyPr/>
                    <a:lstStyle/>
                    <a:p>
                      <a:pPr algn="just"/>
                      <a:r>
                        <a:rPr lang="es-ES" sz="1400" dirty="0"/>
                        <a:t>Mejoras los ángulos de ataque de la suspensión para una mayor eficiencia en distintos tipos de suelo o terreno.</a:t>
                      </a:r>
                      <a:endParaRPr lang="es-CL" sz="1400" dirty="0"/>
                    </a:p>
                  </a:txBody>
                  <a:tcPr/>
                </a:tc>
                <a:tc>
                  <a:txBody>
                    <a:bodyPr/>
                    <a:lstStyle/>
                    <a:p>
                      <a:pPr algn="just"/>
                      <a:r>
                        <a:rPr lang="es-CL" sz="1400" dirty="0"/>
                        <a:t>El plazo de entrega del vehículo será en un día </a:t>
                      </a:r>
                    </a:p>
                  </a:txBody>
                  <a:tcPr/>
                </a:tc>
                <a:tc>
                  <a:txBody>
                    <a:bodyPr/>
                    <a:lstStyle/>
                    <a:p>
                      <a:pPr algn="just"/>
                      <a:r>
                        <a:rPr lang="es-CL" sz="1400" dirty="0"/>
                        <a:t>Los mecánicos dispuestos por la escudería </a:t>
                      </a:r>
                    </a:p>
                  </a:txBody>
                  <a:tcPr/>
                </a:tc>
                <a:tc>
                  <a:txBody>
                    <a:bodyPr/>
                    <a:lstStyle/>
                    <a:p>
                      <a:pPr algn="just"/>
                      <a:r>
                        <a:rPr lang="es-CL" sz="1400" dirty="0"/>
                        <a:t>Se determinarán las herramientas necesarias para poder realizarle minuciosamente todas las mejoras al vehículo</a:t>
                      </a:r>
                    </a:p>
                  </a:txBody>
                  <a:tcPr/>
                </a:tc>
                <a:extLst>
                  <a:ext uri="{0D108BD9-81ED-4DB2-BD59-A6C34878D82A}">
                    <a16:rowId xmlns:a16="http://schemas.microsoft.com/office/drawing/2014/main" val="1389421599"/>
                  </a:ext>
                </a:extLst>
              </a:tr>
              <a:tr h="839393">
                <a:tc>
                  <a:txBody>
                    <a:bodyPr/>
                    <a:lstStyle/>
                    <a:p>
                      <a:r>
                        <a:rPr lang="es-CL" dirty="0"/>
                        <a:t>3.-</a:t>
                      </a:r>
                    </a:p>
                  </a:txBody>
                  <a:tcPr/>
                </a:tc>
                <a:tc>
                  <a:txBody>
                    <a:bodyPr/>
                    <a:lstStyle/>
                    <a:p>
                      <a:endParaRPr lang="es-CL" dirty="0"/>
                    </a:p>
                    <a:p>
                      <a:pPr algn="just"/>
                      <a:r>
                        <a:rPr lang="es-CL" sz="1400" dirty="0"/>
                        <a:t>Menos costo monetario </a:t>
                      </a:r>
                    </a:p>
                    <a:p>
                      <a:endParaRPr lang="es-CL" dirty="0"/>
                    </a:p>
                  </a:txBody>
                  <a:tcPr/>
                </a:tc>
                <a:tc>
                  <a:txBody>
                    <a:bodyPr/>
                    <a:lstStyle/>
                    <a:p>
                      <a:pPr algn="just"/>
                      <a:r>
                        <a:rPr lang="es-CL" sz="1400" dirty="0"/>
                        <a:t>Existe un plazo de cuatro días para que el vehículo esté listo para la carrera </a:t>
                      </a:r>
                    </a:p>
                  </a:txBody>
                  <a:tcPr/>
                </a:tc>
                <a:tc>
                  <a:txBody>
                    <a:bodyPr/>
                    <a:lstStyle/>
                    <a:p>
                      <a:r>
                        <a:rPr lang="es-CL" sz="1400" dirty="0"/>
                        <a:t>Personal de administración </a:t>
                      </a:r>
                    </a:p>
                  </a:txBody>
                  <a:tcPr/>
                </a:tc>
                <a:tc>
                  <a:txBody>
                    <a:bodyPr/>
                    <a:lstStyle/>
                    <a:p>
                      <a:pPr algn="just"/>
                      <a:r>
                        <a:rPr lang="es-CL" sz="1400" dirty="0"/>
                        <a:t>Se realizará una lista de todos los repuestos nuevos para el vehículo y sus mejoras en el sistema de suspensión </a:t>
                      </a:r>
                    </a:p>
                  </a:txBody>
                  <a:tcPr/>
                </a:tc>
                <a:extLst>
                  <a:ext uri="{0D108BD9-81ED-4DB2-BD59-A6C34878D82A}">
                    <a16:rowId xmlns:a16="http://schemas.microsoft.com/office/drawing/2014/main" val="2798162930"/>
                  </a:ext>
                </a:extLst>
              </a:tr>
            </a:tbl>
          </a:graphicData>
        </a:graphic>
      </p:graphicFrame>
    </p:spTree>
    <p:extLst>
      <p:ext uri="{BB962C8B-B14F-4D97-AF65-F5344CB8AC3E}">
        <p14:creationId xmlns:p14="http://schemas.microsoft.com/office/powerpoint/2010/main" val="35688642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TM04033921[[fn=Damasco]]</Template>
  <TotalTime>869</TotalTime>
  <Words>927</Words>
  <Application>Microsoft Macintosh PowerPoint</Application>
  <PresentationFormat>Presentación en pantalla (4:3)</PresentationFormat>
  <Paragraphs>74</Paragraphs>
  <Slides>6</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6</vt:i4>
      </vt:variant>
    </vt:vector>
  </HeadingPairs>
  <TitlesOfParts>
    <vt:vector size="13" baseType="lpstr">
      <vt:lpstr>Arial</vt:lpstr>
      <vt:lpstr>Bookman Old Style</vt:lpstr>
      <vt:lpstr>Mongolian Baiti</vt:lpstr>
      <vt:lpstr>Myriad Pro</vt:lpstr>
      <vt:lpstr>Myriad Pro Light</vt:lpstr>
      <vt:lpstr>Rockwell</vt:lpstr>
      <vt:lpstr>Damask</vt:lpstr>
      <vt:lpstr>Sistema de suspensión de competición </vt:lpstr>
      <vt:lpstr>Descripción </vt:lpstr>
      <vt:lpstr>Tema de investigación y nociones matemáticas </vt:lpstr>
      <vt:lpstr>Objetivos y Preguntas </vt:lpstr>
      <vt:lpstr>Temas iniciales involucrados </vt:lpstr>
      <vt:lpstr>Cronograma y materiales a utilizar </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Titulo de la Presentación</dc:title>
  <dc:creator>agencia</dc:creator>
  <cp:lastModifiedBy>LISSETTE ANDREA SALAMANCA MELLA</cp:lastModifiedBy>
  <cp:revision>13</cp:revision>
  <dcterms:created xsi:type="dcterms:W3CDTF">2015-06-26T15:52:47Z</dcterms:created>
  <dcterms:modified xsi:type="dcterms:W3CDTF">2023-11-23T17:59:09Z</dcterms:modified>
</cp:coreProperties>
</file>