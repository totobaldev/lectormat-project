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comment4.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notesMasterIdLst>
    <p:notesMasterId r:id="rId16"/>
  </p:notesMasterIdLst>
  <p:sldIdLst>
    <p:sldId id="256" r:id="rId2"/>
    <p:sldId id="257" r:id="rId3"/>
    <p:sldId id="258" r:id="rId4"/>
    <p:sldId id="259" r:id="rId5"/>
    <p:sldId id="260" r:id="rId6"/>
    <p:sldId id="267" r:id="rId7"/>
    <p:sldId id="266" r:id="rId8"/>
    <p:sldId id="268" r:id="rId9"/>
    <p:sldId id="269" r:id="rId10"/>
    <p:sldId id="270" r:id="rId11"/>
    <p:sldId id="271" r:id="rId12"/>
    <p:sldId id="272" r:id="rId13"/>
    <p:sldId id="273" r:id="rId14"/>
    <p:sldId id="27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5"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09" autoAdjust="0"/>
    <p:restoredTop sz="87478" autoAdjust="0"/>
  </p:normalViewPr>
  <p:slideViewPr>
    <p:cSldViewPr snapToGrid="0">
      <p:cViewPr varScale="1">
        <p:scale>
          <a:sx n="40" d="100"/>
          <a:sy n="40" d="100"/>
        </p:scale>
        <p:origin x="216" y="114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Hoja_de_c_lculo_de_Microsoft_Excel.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5"/>
    </mc:Choice>
    <mc:Fallback>
      <c:style val="5"/>
    </mc:Fallback>
  </mc:AlternateContent>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s-CL"/>
        </a:p>
      </c:txPr>
    </c:title>
    <c:autoTitleDeleted val="0"/>
    <c:plotArea>
      <c:layout>
        <c:manualLayout>
          <c:layoutTarget val="inner"/>
          <c:xMode val="edge"/>
          <c:yMode val="edge"/>
          <c:x val="0.17339628742059415"/>
          <c:y val="0.10505959647046183"/>
          <c:w val="0.79828854273650574"/>
          <c:h val="0.72662049505377069"/>
        </c:manualLayout>
      </c:layout>
      <c:barChart>
        <c:barDir val="bar"/>
        <c:grouping val="clustered"/>
        <c:varyColors val="0"/>
        <c:ser>
          <c:idx val="0"/>
          <c:order val="0"/>
          <c:tx>
            <c:strRef>
              <c:f>Hoja1!$B$1</c:f>
              <c:strCache>
                <c:ptCount val="1"/>
                <c:pt idx="0">
                  <c:v>Emision de CO2 (Kg/año)</c:v>
                </c:pt>
              </c:strCache>
            </c:strRef>
          </c:tx>
          <c:spPr>
            <a:gradFill rotWithShape="1">
              <a:gsLst>
                <a:gs pos="0">
                  <a:schemeClr val="accent3">
                    <a:shade val="65000"/>
                    <a:satMod val="103000"/>
                    <a:lumMod val="102000"/>
                    <a:tint val="94000"/>
                  </a:schemeClr>
                </a:gs>
                <a:gs pos="50000">
                  <a:schemeClr val="accent3">
                    <a:shade val="65000"/>
                    <a:satMod val="110000"/>
                    <a:lumMod val="100000"/>
                    <a:shade val="100000"/>
                  </a:schemeClr>
                </a:gs>
                <a:gs pos="100000">
                  <a:schemeClr val="accent3">
                    <a:shade val="65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s-C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Hoja1!$A$2:$A$8</c:f>
              <c:strCache>
                <c:ptCount val="7"/>
                <c:pt idx="0">
                  <c:v>Camioneta Pickup</c:v>
                </c:pt>
                <c:pt idx="1">
                  <c:v>SUV </c:v>
                </c:pt>
                <c:pt idx="2">
                  <c:v>Deportivo</c:v>
                </c:pt>
                <c:pt idx="3">
                  <c:v>De Lujo</c:v>
                </c:pt>
                <c:pt idx="4">
                  <c:v>Grande</c:v>
                </c:pt>
                <c:pt idx="5">
                  <c:v>Mediano</c:v>
                </c:pt>
                <c:pt idx="6">
                  <c:v>Pequeño</c:v>
                </c:pt>
              </c:strCache>
            </c:strRef>
          </c:cat>
          <c:val>
            <c:numRef>
              <c:f>Hoja1!$B$2:$B$8</c:f>
              <c:numCache>
                <c:formatCode>#,##0</c:formatCode>
                <c:ptCount val="7"/>
                <c:pt idx="0">
                  <c:v>3510</c:v>
                </c:pt>
                <c:pt idx="1">
                  <c:v>2500</c:v>
                </c:pt>
                <c:pt idx="2">
                  <c:v>2460</c:v>
                </c:pt>
                <c:pt idx="3">
                  <c:v>2385</c:v>
                </c:pt>
                <c:pt idx="4">
                  <c:v>1815</c:v>
                </c:pt>
                <c:pt idx="5">
                  <c:v>1515</c:v>
                </c:pt>
                <c:pt idx="6">
                  <c:v>1470</c:v>
                </c:pt>
              </c:numCache>
            </c:numRef>
          </c:val>
          <c:extLst>
            <c:ext xmlns:c16="http://schemas.microsoft.com/office/drawing/2014/chart" uri="{C3380CC4-5D6E-409C-BE32-E72D297353CC}">
              <c16:uniqueId val="{00000000-51F5-407E-AA0C-5043B7C64176}"/>
            </c:ext>
          </c:extLst>
        </c:ser>
        <c:dLbls>
          <c:dLblPos val="outEnd"/>
          <c:showLegendKey val="0"/>
          <c:showVal val="1"/>
          <c:showCatName val="0"/>
          <c:showSerName val="0"/>
          <c:showPercent val="0"/>
          <c:showBubbleSize val="0"/>
        </c:dLbls>
        <c:gapWidth val="115"/>
        <c:overlap val="-20"/>
        <c:axId val="1357425872"/>
        <c:axId val="1172339616"/>
        <c:extLst>
          <c:ext xmlns:c15="http://schemas.microsoft.com/office/drawing/2012/chart" uri="{02D57815-91ED-43cb-92C2-25804820EDAC}">
            <c15:filteredBarSeries>
              <c15:ser>
                <c:idx val="1"/>
                <c:order val="1"/>
                <c:tx>
                  <c:strRef>
                    <c:extLst>
                      <c:ext uri="{02D57815-91ED-43cb-92C2-25804820EDAC}">
                        <c15:formulaRef>
                          <c15:sqref>Hoja1!$C$1</c15:sqref>
                        </c15:formulaRef>
                      </c:ext>
                    </c:extLst>
                    <c:strCache>
                      <c:ptCount val="1"/>
                      <c:pt idx="0">
                        <c:v>Columna2</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s-CL"/>
                    </a:p>
                  </c:txPr>
                  <c:dLblPos val="outEnd"/>
                  <c:showLegendKey val="0"/>
                  <c:showVal val="1"/>
                  <c:showCatName val="0"/>
                  <c:showSerName val="0"/>
                  <c:showPercent val="0"/>
                  <c:showBubbleSize val="0"/>
                  <c:showLeaderLines val="0"/>
                  <c:extLst>
                    <c:ext uri="{CE6537A1-D6FC-4f65-9D91-7224C49458BB}">
                      <c15:showLeaderLines val="1"/>
                      <c15:leaderLines>
                        <c:spPr>
                          <a:ln w="9525">
                            <a:solidFill>
                              <a:schemeClr val="lt1">
                                <a:lumMod val="95000"/>
                                <a:alpha val="54000"/>
                              </a:schemeClr>
                            </a:solidFill>
                          </a:ln>
                          <a:effectLst/>
                        </c:spPr>
                      </c15:leaderLines>
                    </c:ext>
                  </c:extLst>
                </c:dLbls>
                <c:cat>
                  <c:strRef>
                    <c:extLst>
                      <c:ext uri="{02D57815-91ED-43cb-92C2-25804820EDAC}">
                        <c15:formulaRef>
                          <c15:sqref>Hoja1!$A$2:$A$8</c15:sqref>
                        </c15:formulaRef>
                      </c:ext>
                    </c:extLst>
                    <c:strCache>
                      <c:ptCount val="7"/>
                      <c:pt idx="0">
                        <c:v>Camioneta Pickup</c:v>
                      </c:pt>
                      <c:pt idx="1">
                        <c:v>SUV </c:v>
                      </c:pt>
                      <c:pt idx="2">
                        <c:v>Deportivo</c:v>
                      </c:pt>
                      <c:pt idx="3">
                        <c:v>De Lujo</c:v>
                      </c:pt>
                      <c:pt idx="4">
                        <c:v>Grande</c:v>
                      </c:pt>
                      <c:pt idx="5">
                        <c:v>Mediano</c:v>
                      </c:pt>
                      <c:pt idx="6">
                        <c:v>Pequeño</c:v>
                      </c:pt>
                    </c:strCache>
                  </c:strRef>
                </c:cat>
                <c:val>
                  <c:numRef>
                    <c:extLst>
                      <c:ext uri="{02D57815-91ED-43cb-92C2-25804820EDAC}">
                        <c15:formulaRef>
                          <c15:sqref>Hoja1!$C$2:$C$8</c15:sqref>
                        </c15:formulaRef>
                      </c:ext>
                    </c:extLst>
                    <c:numCache>
                      <c:formatCode>General</c:formatCode>
                      <c:ptCount val="7"/>
                    </c:numCache>
                  </c:numRef>
                </c:val>
                <c:extLst>
                  <c:ext xmlns:c16="http://schemas.microsoft.com/office/drawing/2014/chart" uri="{C3380CC4-5D6E-409C-BE32-E72D297353CC}">
                    <c16:uniqueId val="{00000001-51F5-407E-AA0C-5043B7C64176}"/>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Hoja1!$D$1</c15:sqref>
                        </c15:formulaRef>
                      </c:ext>
                    </c:extLst>
                    <c:strCache>
                      <c:ptCount val="1"/>
                      <c:pt idx="0">
                        <c:v>Columna1</c:v>
                      </c:pt>
                    </c:strCache>
                  </c:strRef>
                </c:tx>
                <c:spPr>
                  <a:gradFill rotWithShape="1">
                    <a:gsLst>
                      <a:gs pos="0">
                        <a:schemeClr val="accent3">
                          <a:tint val="65000"/>
                          <a:satMod val="103000"/>
                          <a:lumMod val="102000"/>
                          <a:tint val="94000"/>
                        </a:schemeClr>
                      </a:gs>
                      <a:gs pos="50000">
                        <a:schemeClr val="accent3">
                          <a:tint val="65000"/>
                          <a:satMod val="110000"/>
                          <a:lumMod val="100000"/>
                          <a:shade val="100000"/>
                        </a:schemeClr>
                      </a:gs>
                      <a:gs pos="100000">
                        <a:schemeClr val="accent3">
                          <a:tint val="65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s-C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extLst xmlns:c15="http://schemas.microsoft.com/office/drawing/2012/chart">
                      <c:ext xmlns:c15="http://schemas.microsoft.com/office/drawing/2012/chart" uri="{02D57815-91ED-43cb-92C2-25804820EDAC}">
                        <c15:formulaRef>
                          <c15:sqref>Hoja1!$A$2:$A$8</c15:sqref>
                        </c15:formulaRef>
                      </c:ext>
                    </c:extLst>
                    <c:strCache>
                      <c:ptCount val="7"/>
                      <c:pt idx="0">
                        <c:v>Camioneta Pickup</c:v>
                      </c:pt>
                      <c:pt idx="1">
                        <c:v>SUV </c:v>
                      </c:pt>
                      <c:pt idx="2">
                        <c:v>Deportivo</c:v>
                      </c:pt>
                      <c:pt idx="3">
                        <c:v>De Lujo</c:v>
                      </c:pt>
                      <c:pt idx="4">
                        <c:v>Grande</c:v>
                      </c:pt>
                      <c:pt idx="5">
                        <c:v>Mediano</c:v>
                      </c:pt>
                      <c:pt idx="6">
                        <c:v>Pequeño</c:v>
                      </c:pt>
                    </c:strCache>
                  </c:strRef>
                </c:cat>
                <c:val>
                  <c:numRef>
                    <c:extLst xmlns:c15="http://schemas.microsoft.com/office/drawing/2012/chart">
                      <c:ext xmlns:c15="http://schemas.microsoft.com/office/drawing/2012/chart" uri="{02D57815-91ED-43cb-92C2-25804820EDAC}">
                        <c15:formulaRef>
                          <c15:sqref>Hoja1!$D$2:$D$8</c15:sqref>
                        </c15:formulaRef>
                      </c:ext>
                    </c:extLst>
                    <c:numCache>
                      <c:formatCode>General</c:formatCode>
                      <c:ptCount val="7"/>
                    </c:numCache>
                  </c:numRef>
                </c:val>
                <c:extLst xmlns:c15="http://schemas.microsoft.com/office/drawing/2012/chart">
                  <c:ext xmlns:c16="http://schemas.microsoft.com/office/drawing/2014/chart" uri="{C3380CC4-5D6E-409C-BE32-E72D297353CC}">
                    <c16:uniqueId val="{00000002-51F5-407E-AA0C-5043B7C64176}"/>
                  </c:ext>
                </c:extLst>
              </c15:ser>
            </c15:filteredBarSeries>
          </c:ext>
        </c:extLst>
      </c:barChart>
      <c:catAx>
        <c:axId val="1357425872"/>
        <c:scaling>
          <c:orientation val="minMax"/>
        </c:scaling>
        <c:delete val="0"/>
        <c:axPos val="l"/>
        <c:title>
          <c:overlay val="0"/>
          <c:spPr>
            <a:noFill/>
            <a:ln>
              <a:noFill/>
            </a:ln>
            <a:effectLst/>
          </c:spPr>
          <c:txPr>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s-CL"/>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s-CL"/>
          </a:p>
        </c:txPr>
        <c:crossAx val="1172339616"/>
        <c:crosses val="autoZero"/>
        <c:auto val="1"/>
        <c:lblAlgn val="ctr"/>
        <c:lblOffset val="100"/>
        <c:noMultiLvlLbl val="0"/>
      </c:catAx>
      <c:valAx>
        <c:axId val="1172339616"/>
        <c:scaling>
          <c:orientation val="minMax"/>
        </c:scaling>
        <c:delete val="0"/>
        <c:axPos val="b"/>
        <c:majorGridlines>
          <c:spPr>
            <a:ln w="9525" cap="flat" cmpd="sng" algn="ctr">
              <a:solidFill>
                <a:schemeClr val="lt1">
                  <a:lumMod val="95000"/>
                  <a:alpha val="10000"/>
                </a:schemeClr>
              </a:solidFill>
              <a:round/>
            </a:ln>
            <a:effectLst/>
          </c:spPr>
        </c:majorGridlines>
        <c:title>
          <c:overlay val="0"/>
          <c:spPr>
            <a:noFill/>
            <a:ln>
              <a:noFill/>
            </a:ln>
            <a:effectLst/>
          </c:spPr>
          <c:txPr>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s-CL"/>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s-CL"/>
          </a:p>
        </c:txPr>
        <c:crossAx val="13574258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3-12-19T17:27:51.525" idx="1">
    <p:pos x="2668" y="2329"/>
    <p:text>MEJORAR REDACCIÓN</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9T17:28:20.566" idx="2">
    <p:pos x="4051" y="3216"/>
    <p:text>EMOCIONAL, ¿CÓMO LO EVALAURÁ?</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9T17:28:47.653" idx="3">
    <p:pos x="10" y="10"/>
    <p:text>SE SOLICITABAN 4 PREG. DE INVESTIGACIÓN</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19T17:29:34.181" idx="4">
    <p:pos x="10" y="10"/>
    <p:text>FALTA DE APA PARA EL GRÁFICO. </p:text>
    <p:extLst>
      <p:ext uri="{C676402C-5697-4E1C-873F-D02D1690AC5C}">
        <p15:threadingInfo xmlns:p15="http://schemas.microsoft.com/office/powerpoint/2012/main" timeZoneBias="180"/>
      </p:ext>
    </p:extLst>
  </p:cm>
  <p:cm authorId="1" dt="2023-12-19T17:30:02.329" idx="5">
    <p:pos x="10" y="146"/>
    <p:text>DE DONDE OBTUVO ESTA INFORMACIÓN?</p:text>
    <p:extLst>
      <p:ext uri="{C676402C-5697-4E1C-873F-D02D1690AC5C}">
        <p15:threadingInfo xmlns:p15="http://schemas.microsoft.com/office/powerpoint/2012/main" timeZoneBias="180">
          <p15:parentCm authorId="1" idx="4"/>
        </p15:threadingIn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E2A436-9ED0-4B7E-AD39-AC4A554AAA18}" type="datetimeFigureOut">
              <a:rPr lang="es-CL" smtClean="0"/>
              <a:t>20-12-23</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7F11F8-1EDD-4A18-90D5-EF26565D8EC7}" type="slidenum">
              <a:rPr lang="es-CL" smtClean="0"/>
              <a:t>‹Nº›</a:t>
            </a:fld>
            <a:endParaRPr lang="es-CL"/>
          </a:p>
        </p:txBody>
      </p:sp>
    </p:spTree>
    <p:extLst>
      <p:ext uri="{BB962C8B-B14F-4D97-AF65-F5344CB8AC3E}">
        <p14:creationId xmlns:p14="http://schemas.microsoft.com/office/powerpoint/2010/main" val="829759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887F11F8-1EDD-4A18-90D5-EF26565D8EC7}" type="slidenum">
              <a:rPr lang="es-CL" smtClean="0"/>
              <a:t>1</a:t>
            </a:fld>
            <a:endParaRPr lang="es-CL"/>
          </a:p>
        </p:txBody>
      </p:sp>
    </p:spTree>
    <p:extLst>
      <p:ext uri="{BB962C8B-B14F-4D97-AF65-F5344CB8AC3E}">
        <p14:creationId xmlns:p14="http://schemas.microsoft.com/office/powerpoint/2010/main" val="2243806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12/20/23</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‹Nº›</a:t>
            </a:fld>
            <a:endParaRPr lang="en-US"/>
          </a:p>
        </p:txBody>
      </p:sp>
    </p:spTree>
    <p:extLst>
      <p:ext uri="{BB962C8B-B14F-4D97-AF65-F5344CB8AC3E}">
        <p14:creationId xmlns:p14="http://schemas.microsoft.com/office/powerpoint/2010/main" val="2269403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12/20/23</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2080394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12/20/23</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3899057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12/20/23</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2157404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12/20/23</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3717903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12/20/23</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4126166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12/20/23</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866843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12/20/23</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1272190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12/20/23</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2533726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12/20/23</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1005935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12/20/23</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342490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12/20/23</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‹Nº›</a:t>
            </a:fld>
            <a:endParaRPr lang="en-US" dirty="0"/>
          </a:p>
        </p:txBody>
      </p:sp>
    </p:spTree>
    <p:extLst>
      <p:ext uri="{BB962C8B-B14F-4D97-AF65-F5344CB8AC3E}">
        <p14:creationId xmlns:p14="http://schemas.microsoft.com/office/powerpoint/2010/main" val="2140701549"/>
      </p:ext>
    </p:extLst>
  </p:cSld>
  <p:clrMap bg1="lt1" tx1="dk1" bg2="lt2" tx2="dk2" accent1="accent1" accent2="accent2" accent3="accent3" accent4="accent4" accent5="accent5" accent6="accent6" hlink="hlink" folHlink="folHlink"/>
  <p:sldLayoutIdLst>
    <p:sldLayoutId id="2147483715" r:id="rId1"/>
    <p:sldLayoutId id="2147483705" r:id="rId2"/>
    <p:sldLayoutId id="2147483706" r:id="rId3"/>
    <p:sldLayoutId id="2147483707" r:id="rId4"/>
    <p:sldLayoutId id="2147483708" r:id="rId5"/>
    <p:sldLayoutId id="2147483709" r:id="rId6"/>
    <p:sldLayoutId id="2147483710" r:id="rId7"/>
    <p:sldLayoutId id="2147483714" r:id="rId8"/>
    <p:sldLayoutId id="2147483711" r:id="rId9"/>
    <p:sldLayoutId id="2147483712" r:id="rId10"/>
    <p:sldLayoutId id="2147483713"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administracion/respuestas.docx" TargetMode="External"/><Relationship Id="rId4" Type="http://schemas.openxmlformats.org/officeDocument/2006/relationships/hyperlink" Target="https://jktornel.com.mx/lcontaminacion-ambienta-producto-"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jktornel.com.mx/lcontaminacion-ambienta-producto-%20motores-%20a%20combusti&#243;n/" TargetMode="External"/><Relationship Id="rId3" Type="http://schemas.openxmlformats.org/officeDocument/2006/relationships/hyperlink" Target="https://www.newtral.es/coches-electricos-contaminacion/20230131/#google_vignette" TargetMode="External"/><Relationship Id="rId7" Type="http://schemas.openxmlformats.org/officeDocument/2006/relationships/hyperlink" Target="https://es.statista.com/grafico/27298/media-de-emisiones-de-co2-de-los-automoviles-a-nivel-mundial/" TargetMode="External"/><Relationship Id="rId2" Type="http://schemas.openxmlformats.org/officeDocument/2006/relationships/hyperlink" Target="https://www.novatrans.es/blog/coches-electricos-vs-coches-combustion/" TargetMode="External"/><Relationship Id="rId1" Type="http://schemas.openxmlformats.org/officeDocument/2006/relationships/slideLayout" Target="../slideLayouts/slideLayout2.xml"/><Relationship Id="rId6" Type="http://schemas.openxmlformats.org/officeDocument/2006/relationships/hyperlink" Target="https://www.elconfidencial.com/tecnologia/novaceno/2021-11-23/coche-electrico-co2-contaminacion-gasolina_3329281/" TargetMode="External"/><Relationship Id="rId5" Type="http://schemas.openxmlformats.org/officeDocument/2006/relationships/hyperlink" Target="https://www.caranddriver.com/es/coches/planeta-motor/g35350195/vehiculos-electricos-autonomia/" TargetMode="External"/><Relationship Id="rId4" Type="http://schemas.openxmlformats.org/officeDocument/2006/relationships/hyperlink" Target="https://www.jacautos.cl/noticias/5-ventajas-de-tener-autos-electrico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FDDF72-DE39-4F99-A3C1-DD9D7815D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5E4ECE80-3AD1-450C-B62A-98788F193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C4056FD6-9767-4B1A-ACC2-9883F6A5B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79928" cy="6858000"/>
          </a:xfrm>
          <a:prstGeom prst="rect">
            <a:avLst/>
          </a:prstGeom>
          <a:blipFill dpi="0" rotWithShape="1">
            <a:blip r:embed="rId3">
              <a:alphaModFix amt="20000"/>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Concepto genético abstracto">
            <a:extLst>
              <a:ext uri="{FF2B5EF4-FFF2-40B4-BE49-F238E27FC236}">
                <a16:creationId xmlns:a16="http://schemas.microsoft.com/office/drawing/2014/main" id="{9DEEC85A-A92E-48C5-7ACC-EE3B1154D58B}"/>
              </a:ext>
            </a:extLst>
          </p:cNvPr>
          <p:cNvPicPr>
            <a:picLocks noChangeAspect="1"/>
          </p:cNvPicPr>
          <p:nvPr/>
        </p:nvPicPr>
        <p:blipFill rotWithShape="1">
          <a:blip r:embed="rId4">
            <a:alphaModFix amt="70000"/>
          </a:blip>
          <a:srcRect t="25612" r="-1" b="18134"/>
          <a:stretch/>
        </p:blipFill>
        <p:spPr>
          <a:xfrm>
            <a:off x="20" y="10"/>
            <a:ext cx="12188932" cy="6856614"/>
          </a:xfrm>
          <a:prstGeom prst="rect">
            <a:avLst/>
          </a:prstGeom>
        </p:spPr>
      </p:pic>
      <p:sp>
        <p:nvSpPr>
          <p:cNvPr id="2" name="Título 1">
            <a:extLst>
              <a:ext uri="{FF2B5EF4-FFF2-40B4-BE49-F238E27FC236}">
                <a16:creationId xmlns:a16="http://schemas.microsoft.com/office/drawing/2014/main" id="{04BDC116-B44B-31FE-930B-68933584D6D1}"/>
              </a:ext>
            </a:extLst>
          </p:cNvPr>
          <p:cNvSpPr>
            <a:spLocks noGrp="1"/>
          </p:cNvSpPr>
          <p:nvPr>
            <p:ph type="ctrTitle"/>
          </p:nvPr>
        </p:nvSpPr>
        <p:spPr>
          <a:xfrm>
            <a:off x="996275" y="744909"/>
            <a:ext cx="10190071" cy="3145855"/>
          </a:xfrm>
        </p:spPr>
        <p:txBody>
          <a:bodyPr anchor="b">
            <a:normAutofit/>
          </a:bodyPr>
          <a:lstStyle/>
          <a:p>
            <a:r>
              <a:rPr lang="es-MX" sz="5200" dirty="0">
                <a:solidFill>
                  <a:srgbClr val="FFFFFF"/>
                </a:solidFill>
              </a:rPr>
              <a:t>La contaminación de la motorización a combustión y la era de un nuevo vehículo</a:t>
            </a:r>
          </a:p>
        </p:txBody>
      </p:sp>
      <p:sp>
        <p:nvSpPr>
          <p:cNvPr id="3" name="Subtítulo 2">
            <a:extLst>
              <a:ext uri="{FF2B5EF4-FFF2-40B4-BE49-F238E27FC236}">
                <a16:creationId xmlns:a16="http://schemas.microsoft.com/office/drawing/2014/main" id="{41548898-8352-E855-8C14-D3ED08BC9F59}"/>
              </a:ext>
            </a:extLst>
          </p:cNvPr>
          <p:cNvSpPr>
            <a:spLocks noGrp="1"/>
          </p:cNvSpPr>
          <p:nvPr>
            <p:ph type="subTitle" idx="1"/>
          </p:nvPr>
        </p:nvSpPr>
        <p:spPr>
          <a:xfrm>
            <a:off x="1218708" y="4069780"/>
            <a:ext cx="9781327" cy="2056617"/>
          </a:xfrm>
        </p:spPr>
        <p:txBody>
          <a:bodyPr anchor="t">
            <a:normAutofit fontScale="70000" lnSpcReduction="20000"/>
          </a:bodyPr>
          <a:lstStyle/>
          <a:p>
            <a:pPr algn="l"/>
            <a:r>
              <a:rPr lang="es-MX" sz="2200" dirty="0">
                <a:solidFill>
                  <a:srgbClr val="FFFFFF"/>
                </a:solidFill>
              </a:rPr>
              <a:t>Integrantes: Matias Gutierrez</a:t>
            </a:r>
          </a:p>
          <a:p>
            <a:pPr algn="l"/>
            <a:r>
              <a:rPr lang="es-MX" sz="2200" dirty="0">
                <a:solidFill>
                  <a:srgbClr val="FFFFFF"/>
                </a:solidFill>
              </a:rPr>
              <a:t>                       Raul Moncada</a:t>
            </a:r>
          </a:p>
          <a:p>
            <a:pPr algn="l"/>
            <a:r>
              <a:rPr lang="es-MX" sz="2200" dirty="0">
                <a:solidFill>
                  <a:srgbClr val="FFFFFF"/>
                </a:solidFill>
              </a:rPr>
              <a:t>                       Claudio Neira</a:t>
            </a:r>
          </a:p>
          <a:p>
            <a:pPr algn="l"/>
            <a:r>
              <a:rPr lang="es-MX" sz="2200" dirty="0">
                <a:solidFill>
                  <a:srgbClr val="FFFFFF"/>
                </a:solidFill>
              </a:rPr>
              <a:t>Profesor: Lissette Salamanca</a:t>
            </a:r>
          </a:p>
          <a:p>
            <a:pPr algn="l"/>
            <a:r>
              <a:rPr lang="es-MX" sz="2200" dirty="0">
                <a:solidFill>
                  <a:srgbClr val="FFFFFF"/>
                </a:solidFill>
              </a:rPr>
              <a:t>Asignatura: Funciones y Geometría</a:t>
            </a:r>
          </a:p>
          <a:p>
            <a:pPr algn="l"/>
            <a:r>
              <a:rPr lang="es-MX" sz="2200" dirty="0">
                <a:solidFill>
                  <a:srgbClr val="FFFFFF"/>
                </a:solidFill>
              </a:rPr>
              <a:t>Carrera: Ingeniería Mecánica y Electromovilidad Automotriz</a:t>
            </a:r>
          </a:p>
        </p:txBody>
      </p:sp>
    </p:spTree>
    <p:extLst>
      <p:ext uri="{BB962C8B-B14F-4D97-AF65-F5344CB8AC3E}">
        <p14:creationId xmlns:p14="http://schemas.microsoft.com/office/powerpoint/2010/main" val="201593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D8CD9C-B8D1-5EC8-2278-75E5DAC85231}"/>
              </a:ext>
            </a:extLst>
          </p:cNvPr>
          <p:cNvSpPr>
            <a:spLocks noGrp="1"/>
          </p:cNvSpPr>
          <p:nvPr>
            <p:ph type="title"/>
          </p:nvPr>
        </p:nvSpPr>
        <p:spPr/>
        <p:txBody>
          <a:bodyPr/>
          <a:lstStyle/>
          <a:p>
            <a:r>
              <a:rPr lang="es-MX" dirty="0"/>
              <a:t>Definición del proyecto.</a:t>
            </a:r>
          </a:p>
        </p:txBody>
      </p:sp>
      <p:sp>
        <p:nvSpPr>
          <p:cNvPr id="3" name="Marcador de contenido 2">
            <a:extLst>
              <a:ext uri="{FF2B5EF4-FFF2-40B4-BE49-F238E27FC236}">
                <a16:creationId xmlns:a16="http://schemas.microsoft.com/office/drawing/2014/main" id="{814D245C-89AE-37D8-EF04-935E68DEF985}"/>
              </a:ext>
            </a:extLst>
          </p:cNvPr>
          <p:cNvSpPr>
            <a:spLocks noGrp="1"/>
          </p:cNvSpPr>
          <p:nvPr>
            <p:ph idx="1"/>
          </p:nvPr>
        </p:nvSpPr>
        <p:spPr/>
        <p:txBody>
          <a:bodyPr>
            <a:normAutofit lnSpcReduction="10000"/>
          </a:bodyPr>
          <a:lstStyle/>
          <a:p>
            <a:r>
              <a:rPr lang="es-MX" dirty="0"/>
              <a:t>Una de nuestras grandes problemáticas que estamos sufriendo en Chile y en el resto del mundo es la contaminación por todo transporte que sea propulsado por un motor a combustión interna ya que los gases que emana al ambiente son muy tóxicos los cuales son perjudiciales para la salud humana. Buscamos que la gente se dé cuenta de lo perjudicial que son estos motores a combustión y que busquen nuevas opciones de traslado, como lo está haciendo hoy en día la masificación de vehículos eléctricos. </a:t>
            </a:r>
          </a:p>
        </p:txBody>
      </p:sp>
    </p:spTree>
    <p:extLst>
      <p:ext uri="{BB962C8B-B14F-4D97-AF65-F5344CB8AC3E}">
        <p14:creationId xmlns:p14="http://schemas.microsoft.com/office/powerpoint/2010/main" val="392876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A49779-8257-291A-28D8-8D4F3BB27587}"/>
              </a:ext>
            </a:extLst>
          </p:cNvPr>
          <p:cNvSpPr>
            <a:spLocks noGrp="1"/>
          </p:cNvSpPr>
          <p:nvPr>
            <p:ph type="title"/>
          </p:nvPr>
        </p:nvSpPr>
        <p:spPr/>
        <p:txBody>
          <a:bodyPr>
            <a:normAutofit fontScale="90000"/>
          </a:bodyPr>
          <a:lstStyle/>
          <a:p>
            <a:r>
              <a:rPr lang="es-MX" dirty="0"/>
              <a:t>Tema de investigación, nociones matemáticas y problemática a abordar.</a:t>
            </a:r>
          </a:p>
        </p:txBody>
      </p:sp>
      <p:sp>
        <p:nvSpPr>
          <p:cNvPr id="3" name="Marcador de contenido 2">
            <a:extLst>
              <a:ext uri="{FF2B5EF4-FFF2-40B4-BE49-F238E27FC236}">
                <a16:creationId xmlns:a16="http://schemas.microsoft.com/office/drawing/2014/main" id="{12230E9C-E14D-6864-B6E3-9A595325D796}"/>
              </a:ext>
            </a:extLst>
          </p:cNvPr>
          <p:cNvSpPr>
            <a:spLocks noGrp="1"/>
          </p:cNvSpPr>
          <p:nvPr>
            <p:ph idx="1"/>
          </p:nvPr>
        </p:nvSpPr>
        <p:spPr/>
        <p:txBody>
          <a:bodyPr>
            <a:normAutofit lnSpcReduction="10000"/>
          </a:bodyPr>
          <a:lstStyle/>
          <a:p>
            <a:r>
              <a:rPr lang="es-MX" dirty="0"/>
              <a:t>Estudio de Casos: Análisis de casos de la venta de vehículos híbridos y eléctrico y como se a incrementado durante la integración al mercado automotriz, buscando la rentabilidad de un auto eléctrico o hibrido en comparación a uno de combustión interna.</a:t>
            </a:r>
          </a:p>
          <a:p>
            <a:r>
              <a:rPr lang="es-MX" dirty="0"/>
              <a:t>Nociones matemáticas: Estadística, porcentajes, gráficos, cálculo matemático.</a:t>
            </a:r>
          </a:p>
          <a:p>
            <a:r>
              <a:rPr lang="es-MX" dirty="0"/>
              <a:t>Impacto Financiero y Emocional: Evaluación del impacto financiero en el mercado automotriz.</a:t>
            </a:r>
          </a:p>
        </p:txBody>
      </p:sp>
    </p:spTree>
    <p:extLst>
      <p:ext uri="{BB962C8B-B14F-4D97-AF65-F5344CB8AC3E}">
        <p14:creationId xmlns:p14="http://schemas.microsoft.com/office/powerpoint/2010/main" val="3345438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764097-11CA-35D7-0913-D36F4FCD0FBA}"/>
              </a:ext>
            </a:extLst>
          </p:cNvPr>
          <p:cNvSpPr>
            <a:spLocks noGrp="1"/>
          </p:cNvSpPr>
          <p:nvPr>
            <p:ph type="title"/>
          </p:nvPr>
        </p:nvSpPr>
        <p:spPr/>
        <p:txBody>
          <a:bodyPr>
            <a:normAutofit fontScale="90000"/>
          </a:bodyPr>
          <a:lstStyle/>
          <a:p>
            <a:r>
              <a:rPr lang="es-MX" dirty="0"/>
              <a:t>Objetivos y preguntas de investigación.</a:t>
            </a:r>
          </a:p>
        </p:txBody>
      </p:sp>
      <p:sp>
        <p:nvSpPr>
          <p:cNvPr id="3" name="Marcador de contenido 2">
            <a:extLst>
              <a:ext uri="{FF2B5EF4-FFF2-40B4-BE49-F238E27FC236}">
                <a16:creationId xmlns:a16="http://schemas.microsoft.com/office/drawing/2014/main" id="{90C6DB3D-0F4B-206A-AB35-26F0C1C42CB0}"/>
              </a:ext>
            </a:extLst>
          </p:cNvPr>
          <p:cNvSpPr>
            <a:spLocks noGrp="1"/>
          </p:cNvSpPr>
          <p:nvPr>
            <p:ph idx="1"/>
          </p:nvPr>
        </p:nvSpPr>
        <p:spPr/>
        <p:txBody>
          <a:bodyPr>
            <a:normAutofit fontScale="92500" lnSpcReduction="10000"/>
          </a:bodyPr>
          <a:lstStyle/>
          <a:p>
            <a:r>
              <a:rPr lang="es-MX" dirty="0"/>
              <a:t>Investigar y analizar el incremento en las ventas desde que se incorporaron los vehículos eléctricos e hibrido al mercado automotriz, además de buscar la rentabilidad de estos.</a:t>
            </a:r>
          </a:p>
          <a:p>
            <a:r>
              <a:rPr lang="es-MX" dirty="0"/>
              <a:t>¿Cuál es el impacto de la industria automotriz en la economía Chilena?</a:t>
            </a:r>
          </a:p>
          <a:p>
            <a:r>
              <a:rPr lang="es-MX" dirty="0"/>
              <a:t>¿Cuáles son los principales beneficios al tener un vehículo eléctrico en el día a día?</a:t>
            </a:r>
          </a:p>
          <a:p>
            <a:r>
              <a:rPr lang="es-MX" dirty="0"/>
              <a:t>¿Cuál es la diferencia de comprar un vehículo eléctrico en comparación si uno compra un vehículo de combustión interna?</a:t>
            </a:r>
          </a:p>
          <a:p>
            <a:endParaRPr lang="es-MX" dirty="0"/>
          </a:p>
        </p:txBody>
      </p:sp>
    </p:spTree>
    <p:extLst>
      <p:ext uri="{BB962C8B-B14F-4D97-AF65-F5344CB8AC3E}">
        <p14:creationId xmlns:p14="http://schemas.microsoft.com/office/powerpoint/2010/main" val="3760144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FF3822-21E1-7325-C60E-5D4CFC57503A}"/>
              </a:ext>
            </a:extLst>
          </p:cNvPr>
          <p:cNvSpPr>
            <a:spLocks noGrp="1"/>
          </p:cNvSpPr>
          <p:nvPr>
            <p:ph type="title"/>
          </p:nvPr>
        </p:nvSpPr>
        <p:spPr/>
        <p:txBody>
          <a:bodyPr/>
          <a:lstStyle/>
          <a:p>
            <a:r>
              <a:rPr lang="es-MX" dirty="0"/>
              <a:t>Temas iniciales involucrado. </a:t>
            </a:r>
          </a:p>
        </p:txBody>
      </p:sp>
      <p:sp>
        <p:nvSpPr>
          <p:cNvPr id="3" name="Marcador de contenido 2">
            <a:extLst>
              <a:ext uri="{FF2B5EF4-FFF2-40B4-BE49-F238E27FC236}">
                <a16:creationId xmlns:a16="http://schemas.microsoft.com/office/drawing/2014/main" id="{8A2537EB-1720-295F-4043-616DE3988AE6}"/>
              </a:ext>
            </a:extLst>
          </p:cNvPr>
          <p:cNvSpPr>
            <a:spLocks noGrp="1"/>
          </p:cNvSpPr>
          <p:nvPr>
            <p:ph idx="1"/>
          </p:nvPr>
        </p:nvSpPr>
        <p:spPr/>
        <p:txBody>
          <a:bodyPr/>
          <a:lstStyle/>
          <a:p>
            <a:r>
              <a:rPr lang="es-MX" dirty="0"/>
              <a:t>Explorar las razones por las cuales los vehículos eléctricos han tomado mas el peso en el mercado automotriz.</a:t>
            </a:r>
          </a:p>
          <a:p>
            <a:r>
              <a:rPr lang="es-MX" dirty="0"/>
              <a:t>Investigar y graficar la cantidad de vehículos eléctricos vendidos desde que se incrementaron en el mercado automotriz.</a:t>
            </a:r>
          </a:p>
          <a:p>
            <a:r>
              <a:rPr lang="es-MX" dirty="0"/>
              <a:t>Planificar estrategias de difusión para la compra de vehículos eléctricos ya que asi uno puede ayudar a contaminar menos.</a:t>
            </a:r>
          </a:p>
        </p:txBody>
      </p:sp>
    </p:spTree>
    <p:extLst>
      <p:ext uri="{BB962C8B-B14F-4D97-AF65-F5344CB8AC3E}">
        <p14:creationId xmlns:p14="http://schemas.microsoft.com/office/powerpoint/2010/main" val="1592407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a:extLst>
              <a:ext uri="{FF2B5EF4-FFF2-40B4-BE49-F238E27FC236}">
                <a16:creationId xmlns:a16="http://schemas.microsoft.com/office/drawing/2014/main" id="{D794BC7D-31FC-051A-AEC4-154FD14E70E6}"/>
              </a:ext>
            </a:extLst>
          </p:cNvPr>
          <p:cNvGraphicFramePr>
            <a:graphicFrameLocks noGrp="1"/>
          </p:cNvGraphicFramePr>
          <p:nvPr>
            <p:ph idx="1"/>
            <p:extLst>
              <p:ext uri="{D42A27DB-BD31-4B8C-83A1-F6EECF244321}">
                <p14:modId xmlns:p14="http://schemas.microsoft.com/office/powerpoint/2010/main" val="2448632766"/>
              </p:ext>
            </p:extLst>
          </p:nvPr>
        </p:nvGraphicFramePr>
        <p:xfrm>
          <a:off x="571500" y="316582"/>
          <a:ext cx="11049000" cy="6224835"/>
        </p:xfrm>
        <a:graphic>
          <a:graphicData uri="http://schemas.openxmlformats.org/drawingml/2006/table">
            <a:tbl>
              <a:tblPr firstRow="1" bandRow="1">
                <a:tableStyleId>{5C22544A-7EE6-4342-B048-85BDC9FD1C3A}</a:tableStyleId>
              </a:tblPr>
              <a:tblGrid>
                <a:gridCol w="1891352">
                  <a:extLst>
                    <a:ext uri="{9D8B030D-6E8A-4147-A177-3AD203B41FA5}">
                      <a16:colId xmlns:a16="http://schemas.microsoft.com/office/drawing/2014/main" val="2225506482"/>
                    </a:ext>
                  </a:extLst>
                </a:gridCol>
                <a:gridCol w="1856096">
                  <a:extLst>
                    <a:ext uri="{9D8B030D-6E8A-4147-A177-3AD203B41FA5}">
                      <a16:colId xmlns:a16="http://schemas.microsoft.com/office/drawing/2014/main" val="2255570628"/>
                    </a:ext>
                  </a:extLst>
                </a:gridCol>
                <a:gridCol w="1705970">
                  <a:extLst>
                    <a:ext uri="{9D8B030D-6E8A-4147-A177-3AD203B41FA5}">
                      <a16:colId xmlns:a16="http://schemas.microsoft.com/office/drawing/2014/main" val="2858833100"/>
                    </a:ext>
                  </a:extLst>
                </a:gridCol>
                <a:gridCol w="1596788">
                  <a:extLst>
                    <a:ext uri="{9D8B030D-6E8A-4147-A177-3AD203B41FA5}">
                      <a16:colId xmlns:a16="http://schemas.microsoft.com/office/drawing/2014/main" val="3733761507"/>
                    </a:ext>
                  </a:extLst>
                </a:gridCol>
                <a:gridCol w="3998794">
                  <a:extLst>
                    <a:ext uri="{9D8B030D-6E8A-4147-A177-3AD203B41FA5}">
                      <a16:colId xmlns:a16="http://schemas.microsoft.com/office/drawing/2014/main" val="3364699773"/>
                    </a:ext>
                  </a:extLst>
                </a:gridCol>
              </a:tblGrid>
              <a:tr h="671471">
                <a:tc>
                  <a:txBody>
                    <a:bodyPr/>
                    <a:lstStyle/>
                    <a:p>
                      <a:r>
                        <a:rPr lang="es-MX" sz="1600" dirty="0"/>
                        <a:t>Tareas</a:t>
                      </a:r>
                    </a:p>
                    <a:p>
                      <a:r>
                        <a:rPr lang="es-MX" sz="1600" dirty="0"/>
                        <a:t>¿Qué haremos?</a:t>
                      </a:r>
                    </a:p>
                  </a:txBody>
                  <a:tcPr/>
                </a:tc>
                <a:tc>
                  <a:txBody>
                    <a:bodyPr/>
                    <a:lstStyle/>
                    <a:p>
                      <a:r>
                        <a:rPr lang="es-MX" sz="1600" dirty="0"/>
                        <a:t>Productos</a:t>
                      </a:r>
                    </a:p>
                    <a:p>
                      <a:r>
                        <a:rPr lang="es-MX" sz="1600" dirty="0"/>
                        <a:t>¿Qué resultados tendremos?</a:t>
                      </a:r>
                    </a:p>
                  </a:txBody>
                  <a:tcPr/>
                </a:tc>
                <a:tc>
                  <a:txBody>
                    <a:bodyPr/>
                    <a:lstStyle/>
                    <a:p>
                      <a:r>
                        <a:rPr lang="es-MX" sz="1600" dirty="0"/>
                        <a:t>Plazos</a:t>
                      </a:r>
                    </a:p>
                    <a:p>
                      <a:r>
                        <a:rPr lang="es-MX" sz="1600" dirty="0"/>
                        <a:t>¿Para cuándo este hecho?</a:t>
                      </a:r>
                    </a:p>
                  </a:txBody>
                  <a:tcPr/>
                </a:tc>
                <a:tc>
                  <a:txBody>
                    <a:bodyPr/>
                    <a:lstStyle/>
                    <a:p>
                      <a:r>
                        <a:rPr lang="es-MX" sz="1600" dirty="0"/>
                        <a:t>Responsables</a:t>
                      </a:r>
                    </a:p>
                    <a:p>
                      <a:r>
                        <a:rPr lang="es-MX" sz="1600" dirty="0"/>
                        <a:t>¿Quiénes lo harán?</a:t>
                      </a:r>
                    </a:p>
                  </a:txBody>
                  <a:tcPr/>
                </a:tc>
                <a:tc>
                  <a:txBody>
                    <a:bodyPr/>
                    <a:lstStyle/>
                    <a:p>
                      <a:r>
                        <a:rPr lang="es-MX" sz="1600" dirty="0"/>
                        <a:t>Insumos</a:t>
                      </a:r>
                    </a:p>
                    <a:p>
                      <a:r>
                        <a:rPr lang="es-MX" sz="1600" dirty="0"/>
                        <a:t>¿Qué necesitamos para hacerlo?</a:t>
                      </a:r>
                    </a:p>
                  </a:txBody>
                  <a:tcPr/>
                </a:tc>
                <a:extLst>
                  <a:ext uri="{0D108BD9-81ED-4DB2-BD59-A6C34878D82A}">
                    <a16:rowId xmlns:a16="http://schemas.microsoft.com/office/drawing/2014/main" val="2787701658"/>
                  </a:ext>
                </a:extLst>
              </a:tr>
              <a:tr h="16699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Revisión de estadísticas del incremento en ventas.</a:t>
                      </a:r>
                    </a:p>
                    <a:p>
                      <a:endParaRPr lang="es-MX" dirty="0"/>
                    </a:p>
                  </a:txBody>
                  <a:tcPr/>
                </a:tc>
                <a:tc>
                  <a:txBody>
                    <a:bodyPr/>
                    <a:lstStyle/>
                    <a:p>
                      <a:pPr marL="0" indent="0">
                        <a:buNone/>
                      </a:pPr>
                      <a:r>
                        <a:rPr lang="es-MX" sz="1600" dirty="0"/>
                        <a:t>Menor porcentaje de contaminación.</a:t>
                      </a:r>
                    </a:p>
                    <a:p>
                      <a:pPr marL="0" indent="0">
                        <a:buNone/>
                      </a:pPr>
                      <a:r>
                        <a:rPr lang="es-MX" sz="1600" dirty="0"/>
                        <a:t>Precio de la recarga y autonomía.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1-2 Semanas: Investigación. </a:t>
                      </a:r>
                    </a:p>
                    <a:p>
                      <a:endParaRPr lang="es-MX" dirty="0"/>
                    </a:p>
                  </a:txBody>
                  <a:tcPr/>
                </a:tc>
                <a:tc>
                  <a:txBody>
                    <a:bodyPr/>
                    <a:lstStyle/>
                    <a:p>
                      <a:r>
                        <a:rPr lang="es-MX" sz="1600" dirty="0"/>
                        <a:t>Matias Gutierrez</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Lo que necesitamos físicamente son computadores y una buena conexión a internet.</a:t>
                      </a:r>
                    </a:p>
                  </a:txBody>
                  <a:tcPr/>
                </a:tc>
                <a:extLst>
                  <a:ext uri="{0D108BD9-81ED-4DB2-BD59-A6C34878D82A}">
                    <a16:rowId xmlns:a16="http://schemas.microsoft.com/office/drawing/2014/main" val="521657133"/>
                  </a:ext>
                </a:extLst>
              </a:tr>
              <a:tr h="19336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Buscar la rentabilidad de un vehículo eléctrico  en el día a día.</a:t>
                      </a:r>
                    </a:p>
                    <a:p>
                      <a:endParaRPr lang="es-MX"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Investigación sobre el estado financiero en la compra de vehículos eléctricos.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3-4 Semanas: Planificación.</a:t>
                      </a:r>
                    </a:p>
                    <a:p>
                      <a:endParaRPr lang="es-MX" dirty="0"/>
                    </a:p>
                  </a:txBody>
                  <a:tcPr/>
                </a:tc>
                <a:tc>
                  <a:txBody>
                    <a:bodyPr/>
                    <a:lstStyle/>
                    <a:p>
                      <a:r>
                        <a:rPr lang="es-MX" sz="1600" dirty="0"/>
                        <a:t>Claudio Neira</a:t>
                      </a:r>
                    </a:p>
                  </a:txBody>
                  <a:tcPr/>
                </a:tc>
                <a:tc>
                  <a:txBody>
                    <a:bodyPr/>
                    <a:lstStyle/>
                    <a:p>
                      <a:r>
                        <a:rPr lang="es-MX" sz="1600" dirty="0"/>
                        <a:t>Lo que necesitamos para poder hacer nuestro ABP es comprender y definir el incremento de ventas e los vehículos eléctricos desde su integración al mercado automotriz, crear nuestro equipo de trabajo, </a:t>
                      </a:r>
                    </a:p>
                  </a:txBody>
                  <a:tcPr/>
                </a:tc>
                <a:extLst>
                  <a:ext uri="{0D108BD9-81ED-4DB2-BD59-A6C34878D82A}">
                    <a16:rowId xmlns:a16="http://schemas.microsoft.com/office/drawing/2014/main" val="4016185587"/>
                  </a:ext>
                </a:extLst>
              </a:tr>
              <a:tr h="1406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Selección y formación de equipos de trabajo.</a:t>
                      </a:r>
                    </a:p>
                    <a:p>
                      <a:endParaRPr lang="es-MX" dirty="0"/>
                    </a:p>
                  </a:txBody>
                  <a:tcPr/>
                </a:tc>
                <a:tc>
                  <a:txBody>
                    <a:bodyPr/>
                    <a:lstStyle/>
                    <a:p>
                      <a:r>
                        <a:rPr lang="es-MX" sz="1600" dirty="0"/>
                        <a:t>Rebaja en el permiso de circulación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5-6 Semanas: Ejecución.</a:t>
                      </a:r>
                    </a:p>
                    <a:p>
                      <a:endParaRPr lang="es-MX" dirty="0"/>
                    </a:p>
                  </a:txBody>
                  <a:tcPr/>
                </a:tc>
                <a:tc>
                  <a:txBody>
                    <a:bodyPr/>
                    <a:lstStyle/>
                    <a:p>
                      <a:r>
                        <a:rPr lang="es-MX" sz="1600" dirty="0"/>
                        <a:t>Raul Moncada</a:t>
                      </a:r>
                    </a:p>
                  </a:txBody>
                  <a:tcPr/>
                </a:tc>
                <a:tc>
                  <a:txBody>
                    <a:bodyPr/>
                    <a:lstStyle/>
                    <a:p>
                      <a:r>
                        <a:rPr lang="es-MX" sz="1600" dirty="0"/>
                        <a:t>establecer un plan de trabajo detallado, brindar capacitaciones a las personas que estén involucradas en el proyecto y desarrollar un plan de comunicación en caso de que surgen algún suceso inesperado o que se quiera una respuesta rápida.</a:t>
                      </a:r>
                    </a:p>
                  </a:txBody>
                  <a:tcPr/>
                </a:tc>
                <a:extLst>
                  <a:ext uri="{0D108BD9-81ED-4DB2-BD59-A6C34878D82A}">
                    <a16:rowId xmlns:a16="http://schemas.microsoft.com/office/drawing/2014/main" val="968793744"/>
                  </a:ext>
                </a:extLst>
              </a:tr>
            </a:tbl>
          </a:graphicData>
        </a:graphic>
      </p:graphicFrame>
    </p:spTree>
    <p:extLst>
      <p:ext uri="{BB962C8B-B14F-4D97-AF65-F5344CB8AC3E}">
        <p14:creationId xmlns:p14="http://schemas.microsoft.com/office/powerpoint/2010/main" val="1055438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0FD6C3-E74B-04A5-FEB1-A330A2CA5030}"/>
              </a:ext>
            </a:extLst>
          </p:cNvPr>
          <p:cNvSpPr>
            <a:spLocks noGrp="1"/>
          </p:cNvSpPr>
          <p:nvPr>
            <p:ph type="title"/>
          </p:nvPr>
        </p:nvSpPr>
        <p:spPr/>
        <p:txBody>
          <a:bodyPr/>
          <a:lstStyle/>
          <a:p>
            <a:r>
              <a:rPr lang="es-MX" dirty="0"/>
              <a:t> </a:t>
            </a:r>
          </a:p>
        </p:txBody>
      </p:sp>
      <p:graphicFrame>
        <p:nvGraphicFramePr>
          <p:cNvPr id="12" name="Marcador de contenido 11">
            <a:extLst>
              <a:ext uri="{FF2B5EF4-FFF2-40B4-BE49-F238E27FC236}">
                <a16:creationId xmlns:a16="http://schemas.microsoft.com/office/drawing/2014/main" id="{42BAC858-7EF7-0AA3-E1EC-5123FEA2F0F9}"/>
              </a:ext>
            </a:extLst>
          </p:cNvPr>
          <p:cNvGraphicFramePr>
            <a:graphicFrameLocks noGrp="1"/>
          </p:cNvGraphicFramePr>
          <p:nvPr>
            <p:ph idx="1"/>
            <p:extLst>
              <p:ext uri="{D42A27DB-BD31-4B8C-83A1-F6EECF244321}">
                <p14:modId xmlns:p14="http://schemas.microsoft.com/office/powerpoint/2010/main" val="1580783279"/>
              </p:ext>
            </p:extLst>
          </p:nvPr>
        </p:nvGraphicFramePr>
        <p:xfrm>
          <a:off x="838200" y="365760"/>
          <a:ext cx="10515600" cy="577945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64907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8" name="Rectangle 9">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9" name="Rectangle 11">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5989027"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0" name="Rectangle 13">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48" y="0"/>
            <a:ext cx="5989019"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15">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2" name="Imagen 1">
            <a:extLst>
              <a:ext uri="{FF2B5EF4-FFF2-40B4-BE49-F238E27FC236}">
                <a16:creationId xmlns:a16="http://schemas.microsoft.com/office/drawing/2014/main" id="{AAE50A23-107A-21FA-8FDE-44D4553865CB}"/>
              </a:ext>
            </a:extLst>
          </p:cNvPr>
          <p:cNvPicPr>
            <a:picLocks noChangeAspect="1"/>
          </p:cNvPicPr>
          <p:nvPr/>
        </p:nvPicPr>
        <p:blipFill>
          <a:blip r:embed="rId3"/>
          <a:stretch>
            <a:fillRect/>
          </a:stretch>
        </p:blipFill>
        <p:spPr>
          <a:xfrm>
            <a:off x="606552" y="1900235"/>
            <a:ext cx="4724400" cy="3143873"/>
          </a:xfrm>
          <a:prstGeom prst="rect">
            <a:avLst/>
          </a:prstGeom>
        </p:spPr>
      </p:pic>
      <p:sp>
        <p:nvSpPr>
          <p:cNvPr id="3" name="Marcador de contenido 2">
            <a:extLst>
              <a:ext uri="{FF2B5EF4-FFF2-40B4-BE49-F238E27FC236}">
                <a16:creationId xmlns:a16="http://schemas.microsoft.com/office/drawing/2014/main" id="{C4D01B51-5566-A8A8-6919-A0F3C5606196}"/>
              </a:ext>
            </a:extLst>
          </p:cNvPr>
          <p:cNvSpPr>
            <a:spLocks noGrp="1"/>
          </p:cNvSpPr>
          <p:nvPr>
            <p:ph idx="1"/>
          </p:nvPr>
        </p:nvSpPr>
        <p:spPr>
          <a:xfrm>
            <a:off x="6553200" y="2411653"/>
            <a:ext cx="4952681" cy="3728613"/>
          </a:xfrm>
        </p:spPr>
        <p:txBody>
          <a:bodyPr>
            <a:normAutofit/>
          </a:bodyPr>
          <a:lstStyle/>
          <a:p>
            <a:r>
              <a:rPr lang="es-CL" sz="1800">
                <a:solidFill>
                  <a:schemeClr val="tx2"/>
                </a:solidFill>
              </a:rPr>
              <a:t>El grafico hecho anteriormente se realizó con datos a nivel mundial, las emisiones de CO2 de una camioneta pickup son más del doble que de los automóviles pequeños o medianos lo que representa una diferencia de 2.000 kilogramos de CO2 al año, esto se basa en una distancia promedio recorrida de 15.000 km.</a:t>
            </a:r>
          </a:p>
          <a:p>
            <a:pPr marL="0" indent="0">
              <a:buNone/>
            </a:pPr>
            <a:endParaRPr lang="es-CL" sz="1800">
              <a:solidFill>
                <a:schemeClr val="tx2"/>
              </a:solidFill>
            </a:endParaRPr>
          </a:p>
        </p:txBody>
      </p:sp>
      <p:sp>
        <p:nvSpPr>
          <p:cNvPr id="4" name="CuadroTexto 3">
            <a:extLst>
              <a:ext uri="{FF2B5EF4-FFF2-40B4-BE49-F238E27FC236}">
                <a16:creationId xmlns:a16="http://schemas.microsoft.com/office/drawing/2014/main" id="{827673AF-C152-7D57-39E6-A8EDA01B1803}"/>
              </a:ext>
            </a:extLst>
          </p:cNvPr>
          <p:cNvSpPr txBox="1"/>
          <p:nvPr/>
        </p:nvSpPr>
        <p:spPr>
          <a:xfrm>
            <a:off x="941696" y="5240740"/>
            <a:ext cx="4389256" cy="769441"/>
          </a:xfrm>
          <a:prstGeom prst="rect">
            <a:avLst/>
          </a:prstGeom>
          <a:noFill/>
        </p:spPr>
        <p:txBody>
          <a:bodyPr wrap="square" rtlCol="0">
            <a:spAutoFit/>
          </a:bodyPr>
          <a:lstStyle/>
          <a:p>
            <a:r>
              <a:rPr lang="es-MX" sz="1100" b="1" i="1" dirty="0"/>
              <a:t>Fig. 1. Vehículo a combustión contaminando medioambiente de: </a:t>
            </a:r>
            <a:r>
              <a:rPr lang="es-MX" sz="1100" b="1" i="1" dirty="0" err="1"/>
              <a:t>JkTornel</a:t>
            </a:r>
            <a:r>
              <a:rPr lang="es-MX" sz="1100" b="1" i="1" dirty="0"/>
              <a:t>, 19 de Noviembre 2021 </a:t>
            </a:r>
            <a:r>
              <a:rPr lang="es-MX" sz="1100" b="1" i="1" dirty="0">
                <a:hlinkClick r:id="rId4"/>
              </a:rPr>
              <a:t>https://jktornel.com.mx/lcontaminacion-ambienta-producto-</a:t>
            </a:r>
            <a:r>
              <a:rPr lang="es-MX" sz="1100" b="1" i="1" dirty="0"/>
              <a:t> motores- a combustión/</a:t>
            </a:r>
          </a:p>
        </p:txBody>
      </p:sp>
      <p:sp>
        <p:nvSpPr>
          <p:cNvPr id="5" name="Flecha: a la derecha con muesca 4">
            <a:hlinkClick r:id="rId5" action="ppaction://hlinkfile"/>
            <a:extLst>
              <a:ext uri="{FF2B5EF4-FFF2-40B4-BE49-F238E27FC236}">
                <a16:creationId xmlns:a16="http://schemas.microsoft.com/office/drawing/2014/main" id="{416F0901-0024-C8D4-2725-98D9120B1763}"/>
              </a:ext>
            </a:extLst>
          </p:cNvPr>
          <p:cNvSpPr/>
          <p:nvPr/>
        </p:nvSpPr>
        <p:spPr>
          <a:xfrm>
            <a:off x="7829550" y="5240740"/>
            <a:ext cx="2237014" cy="1209046"/>
          </a:xfrm>
          <a:prstGeom prst="notchedRightArrow">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Respuestas Word</a:t>
            </a:r>
          </a:p>
        </p:txBody>
      </p:sp>
    </p:spTree>
    <p:extLst>
      <p:ext uri="{BB962C8B-B14F-4D97-AF65-F5344CB8AC3E}">
        <p14:creationId xmlns:p14="http://schemas.microsoft.com/office/powerpoint/2010/main" val="1230164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8102EE-705F-8A7B-8C52-53F7F5BD6DBD}"/>
              </a:ext>
            </a:extLst>
          </p:cNvPr>
          <p:cNvSpPr>
            <a:spLocks noGrp="1"/>
          </p:cNvSpPr>
          <p:nvPr>
            <p:ph type="title"/>
          </p:nvPr>
        </p:nvSpPr>
        <p:spPr>
          <a:xfrm>
            <a:off x="838200" y="0"/>
            <a:ext cx="10515600" cy="1325563"/>
          </a:xfrm>
        </p:spPr>
        <p:txBody>
          <a:bodyPr>
            <a:noAutofit/>
          </a:bodyPr>
          <a:lstStyle/>
          <a:p>
            <a:pPr algn="ctr"/>
            <a:r>
              <a:rPr lang="es-MX" sz="2400" dirty="0">
                <a:latin typeface="Calibri" panose="020F0502020204030204" pitchFamily="34" charset="0"/>
                <a:ea typeface="Calibri" panose="020F0502020204030204" pitchFamily="34" charset="0"/>
                <a:cs typeface="Calibri" panose="020F0502020204030204" pitchFamily="34" charset="0"/>
              </a:rPr>
              <a:t>¿Cuál es el impacto de la industria automotriz en la economía Chilena?</a:t>
            </a:r>
            <a:br>
              <a:rPr lang="es-MX" sz="2400" dirty="0">
                <a:latin typeface="Calibri" panose="020F0502020204030204" pitchFamily="34" charset="0"/>
                <a:ea typeface="Calibri" panose="020F0502020204030204" pitchFamily="34" charset="0"/>
                <a:cs typeface="Calibri" panose="020F0502020204030204" pitchFamily="34" charset="0"/>
              </a:rPr>
            </a:br>
            <a:endParaRPr lang="es-CL"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Marcador de contenido 2">
            <a:extLst>
              <a:ext uri="{FF2B5EF4-FFF2-40B4-BE49-F238E27FC236}">
                <a16:creationId xmlns:a16="http://schemas.microsoft.com/office/drawing/2014/main" id="{3E761D95-D4F1-80AB-394D-D28BC28983EF}"/>
              </a:ext>
            </a:extLst>
          </p:cNvPr>
          <p:cNvSpPr>
            <a:spLocks noGrp="1"/>
          </p:cNvSpPr>
          <p:nvPr>
            <p:ph idx="1"/>
          </p:nvPr>
        </p:nvSpPr>
        <p:spPr>
          <a:xfrm>
            <a:off x="324852" y="874629"/>
            <a:ext cx="11241505" cy="5830971"/>
          </a:xfrm>
        </p:spPr>
        <p:txBody>
          <a:bodyPr>
            <a:normAutofit fontScale="92500"/>
          </a:bodyPr>
          <a:lstStyle/>
          <a:p>
            <a:pPr>
              <a:lnSpc>
                <a:spcPct val="107000"/>
              </a:lnSpc>
              <a:spcAft>
                <a:spcPts val="800"/>
              </a:spcAft>
            </a:pPr>
            <a:r>
              <a:rPr lang="es-CL" sz="2400" kern="100" dirty="0">
                <a:effectLst/>
                <a:latin typeface="Calibri" panose="020F0502020204030204" pitchFamily="34" charset="0"/>
                <a:ea typeface="Calibri" panose="020F0502020204030204" pitchFamily="34" charset="0"/>
                <a:cs typeface="Times New Roman" panose="02020603050405020304" pitchFamily="18" charset="0"/>
              </a:rPr>
              <a:t>La industria automotriz en Chile tiene varios impactos en la economía en la sociedad del país tales como:</a:t>
            </a:r>
          </a:p>
          <a:p>
            <a:pPr marL="342900" lvl="0" indent="-342900" algn="just">
              <a:lnSpc>
                <a:spcPct val="107000"/>
              </a:lnSpc>
              <a:buFont typeface="+mj-lt"/>
              <a:buAutoNum type="arabicPeriod"/>
            </a:pPr>
            <a:r>
              <a:rPr lang="es-CL" sz="2400" kern="100" dirty="0">
                <a:effectLst/>
                <a:latin typeface="Calibri" panose="020F0502020204030204" pitchFamily="34" charset="0"/>
                <a:ea typeface="Calibri" panose="020F0502020204030204" pitchFamily="34" charset="0"/>
                <a:cs typeface="Times New Roman" panose="02020603050405020304" pitchFamily="18" charset="0"/>
              </a:rPr>
              <a:t>La fabricación y venta de los vehículos, así como los servicios asociados contribuyen significativamente al producto interno bruto (PIB) </a:t>
            </a:r>
          </a:p>
          <a:p>
            <a:pPr marL="342900" lvl="0" indent="-342900" algn="just">
              <a:lnSpc>
                <a:spcPct val="107000"/>
              </a:lnSpc>
              <a:buFont typeface="+mj-lt"/>
              <a:buAutoNum type="arabicPeriod"/>
            </a:pPr>
            <a:r>
              <a:rPr lang="es-CL" sz="2400" kern="100" dirty="0">
                <a:effectLst/>
                <a:latin typeface="Calibri" panose="020F0502020204030204" pitchFamily="34" charset="0"/>
                <a:ea typeface="Calibri" panose="020F0502020204030204" pitchFamily="34" charset="0"/>
                <a:cs typeface="Times New Roman" panose="02020603050405020304" pitchFamily="18" charset="0"/>
              </a:rPr>
              <a:t>La industria automotriz crea empleo directo o indirecto en áreas como la fabricación de vehículos, la venta y la distribución, el mantenimiento y reparación además de mencionar los sectores financieros y de seguros.</a:t>
            </a:r>
          </a:p>
          <a:p>
            <a:pPr marL="342900" lvl="0" indent="-342900" algn="just">
              <a:lnSpc>
                <a:spcPct val="107000"/>
              </a:lnSpc>
              <a:buFont typeface="+mj-lt"/>
              <a:buAutoNum type="arabicPeriod"/>
            </a:pPr>
            <a:r>
              <a:rPr lang="es-CL" sz="2400" kern="100" dirty="0">
                <a:effectLst/>
                <a:latin typeface="Calibri" panose="020F0502020204030204" pitchFamily="34" charset="0"/>
                <a:ea typeface="Calibri" panose="020F0502020204030204" pitchFamily="34" charset="0"/>
                <a:cs typeface="Times New Roman" panose="02020603050405020304" pitchFamily="18" charset="0"/>
              </a:rPr>
              <a:t>El aumento de los vehículos puede impulsar la necesidad de inversión en la infraestructura vial como carreteras y estacionamientos.</a:t>
            </a:r>
          </a:p>
          <a:p>
            <a:pPr marL="342900" lvl="0" indent="-342900" algn="just">
              <a:lnSpc>
                <a:spcPct val="107000"/>
              </a:lnSpc>
              <a:buFont typeface="+mj-lt"/>
              <a:buAutoNum type="arabicPeriod"/>
            </a:pPr>
            <a:r>
              <a:rPr lang="es-CL" sz="2400" kern="100" dirty="0">
                <a:effectLst/>
                <a:latin typeface="Calibri" panose="020F0502020204030204" pitchFamily="34" charset="0"/>
                <a:ea typeface="Calibri" panose="020F0502020204030204" pitchFamily="34" charset="0"/>
                <a:cs typeface="Times New Roman" panose="02020603050405020304" pitchFamily="18" charset="0"/>
              </a:rPr>
              <a:t>La producción y exportación de vehículos y componentes contribuyen al comercio internacional la industria automotriz es un importante actor en las cadenas globales de suministro. </a:t>
            </a:r>
          </a:p>
          <a:p>
            <a:pPr marL="342900" lvl="0" indent="-342900" algn="just">
              <a:lnSpc>
                <a:spcPct val="107000"/>
              </a:lnSpc>
              <a:spcAft>
                <a:spcPts val="800"/>
              </a:spcAft>
              <a:buFont typeface="+mj-lt"/>
              <a:buAutoNum type="arabicPeriod"/>
            </a:pPr>
            <a:r>
              <a:rPr lang="es-CL" sz="2400" kern="100" dirty="0">
                <a:effectLst/>
                <a:latin typeface="Calibri" panose="020F0502020204030204" pitchFamily="34" charset="0"/>
                <a:ea typeface="Calibri" panose="020F0502020204030204" pitchFamily="34" charset="0"/>
                <a:cs typeface="Times New Roman" panose="02020603050405020304" pitchFamily="18" charset="0"/>
              </a:rPr>
              <a:t>La competencia en la industria automotriz impulsa a la innovación y el desarrollo tecnológico. </a:t>
            </a:r>
          </a:p>
          <a:p>
            <a:pPr marL="0" indent="0">
              <a:buNone/>
            </a:pPr>
            <a:endParaRPr lang="es-CL" dirty="0"/>
          </a:p>
        </p:txBody>
      </p:sp>
    </p:spTree>
    <p:extLst>
      <p:ext uri="{BB962C8B-B14F-4D97-AF65-F5344CB8AC3E}">
        <p14:creationId xmlns:p14="http://schemas.microsoft.com/office/powerpoint/2010/main" val="2620399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F09A60-0388-CC1F-17B3-18652FF6B75C}"/>
              </a:ext>
            </a:extLst>
          </p:cNvPr>
          <p:cNvSpPr>
            <a:spLocks noGrp="1"/>
          </p:cNvSpPr>
          <p:nvPr>
            <p:ph type="title"/>
          </p:nvPr>
        </p:nvSpPr>
        <p:spPr>
          <a:xfrm>
            <a:off x="838200" y="-131545"/>
            <a:ext cx="10515600" cy="1325563"/>
          </a:xfrm>
        </p:spPr>
        <p:txBody>
          <a:bodyPr>
            <a:normAutofit/>
          </a:bodyPr>
          <a:lstStyle/>
          <a:p>
            <a:pPr algn="ctr"/>
            <a:r>
              <a:rPr lang="es-MX" sz="2400" kern="100" dirty="0">
                <a:effectLst/>
                <a:latin typeface="Calibri" panose="020F0502020204030204" pitchFamily="34" charset="0"/>
                <a:ea typeface="Calibri" panose="020F0502020204030204" pitchFamily="34" charset="0"/>
                <a:cs typeface="Times New Roman" panose="02020603050405020304" pitchFamily="18" charset="0"/>
              </a:rPr>
              <a:t>¿Cuáles son los principales beneficios al tener un vehículo eléctrico en el día a día?</a:t>
            </a:r>
            <a:br>
              <a:rPr lang="es-CL" sz="2400" kern="100" dirty="0">
                <a:effectLst/>
                <a:latin typeface="Calibri" panose="020F0502020204030204" pitchFamily="34" charset="0"/>
                <a:ea typeface="Calibri" panose="020F0502020204030204" pitchFamily="34" charset="0"/>
                <a:cs typeface="Times New Roman" panose="02020603050405020304" pitchFamily="18" charset="0"/>
              </a:rPr>
            </a:br>
            <a:endParaRPr lang="es-CL" sz="2400" dirty="0"/>
          </a:p>
        </p:txBody>
      </p:sp>
      <p:sp>
        <p:nvSpPr>
          <p:cNvPr id="3" name="Marcador de contenido 2">
            <a:extLst>
              <a:ext uri="{FF2B5EF4-FFF2-40B4-BE49-F238E27FC236}">
                <a16:creationId xmlns:a16="http://schemas.microsoft.com/office/drawing/2014/main" id="{90170C3F-51D9-3008-1CB1-1492A02F9965}"/>
              </a:ext>
            </a:extLst>
          </p:cNvPr>
          <p:cNvSpPr>
            <a:spLocks noGrp="1"/>
          </p:cNvSpPr>
          <p:nvPr>
            <p:ph idx="1"/>
          </p:nvPr>
        </p:nvSpPr>
        <p:spPr>
          <a:xfrm>
            <a:off x="-56147" y="531236"/>
            <a:ext cx="12304294" cy="4267578"/>
          </a:xfrm>
        </p:spPr>
        <p:txBody>
          <a:bodyPr>
            <a:normAutofit fontScale="25000" lnSpcReduction="20000"/>
          </a:bodyPr>
          <a:lstStyle/>
          <a:p>
            <a:pPr>
              <a:lnSpc>
                <a:spcPct val="107000"/>
              </a:lnSpc>
              <a:spcAft>
                <a:spcPts val="800"/>
              </a:spcAft>
            </a:pP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Tener un vehículo eléctrico tiene varios beneficios tales como.</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b="1" kern="100" dirty="0">
                <a:effectLst/>
                <a:latin typeface="Calibri" panose="020F0502020204030204" pitchFamily="34" charset="0"/>
                <a:ea typeface="Calibri" panose="020F0502020204030204" pitchFamily="34" charset="0"/>
                <a:cs typeface="Times New Roman" panose="02020603050405020304" pitchFamily="18" charset="0"/>
              </a:rPr>
              <a:t>Cero emisiones</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El factor de contaminación es una de las grandes ventajas de los autos eléctricos, este argumento se diferenciador se basa en que no producen emisiones toxicas durante su funcionamiento de tal manera que un transporte más amigable con el medio ambiente.</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b="1" kern="100" dirty="0">
                <a:effectLst/>
                <a:latin typeface="Calibri" panose="020F0502020204030204" pitchFamily="34" charset="0"/>
                <a:ea typeface="Calibri" panose="020F0502020204030204" pitchFamily="34" charset="0"/>
                <a:cs typeface="Times New Roman" panose="02020603050405020304" pitchFamily="18" charset="0"/>
              </a:rPr>
              <a:t>Costo de uso y mantenimiento</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Si bien el desembolso inicial de dinero al comprar un vehículo eléctrico puede ser mayor al de un auto de combustión interna, este valor se podría ver compensado al menor costo de desplazamiento, debido a que el gasto por kilómetro de un auto a combustión interna es superior.</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En cuanto al mantenimiento un auto eléctrico a batería cuenta con menos piezas que un automóvil a combustión interna así que el mantenimiento es relativamente simple, menos frecuente y más económico.</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b="1" kern="100" dirty="0">
                <a:effectLst/>
                <a:latin typeface="Calibri" panose="020F0502020204030204" pitchFamily="34" charset="0"/>
                <a:ea typeface="Calibri" panose="020F0502020204030204" pitchFamily="34" charset="0"/>
                <a:cs typeface="Times New Roman" panose="02020603050405020304" pitchFamily="18" charset="0"/>
              </a:rPr>
              <a:t>Reducción al ruido ambiente</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Las personas que viven en ciudades céntricas están expuestas a diversos rangos de niveles de ruido y los vehículos a combustión interna tienen responsabilidad en esta materia, principalmente aquellos que cuentas con sus tubos de escape modificados, pues buen uno de los beneficios de los vehículos eléctricos es que el motor es silencioso lo que poder ser una buena herramienta para disminuir la contaminación acústica en las ciudades.</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b="1" kern="100" dirty="0">
                <a:effectLst/>
                <a:latin typeface="Calibri" panose="020F0502020204030204" pitchFamily="34" charset="0"/>
                <a:ea typeface="Calibri" panose="020F0502020204030204" pitchFamily="34" charset="0"/>
                <a:cs typeface="Times New Roman" panose="02020603050405020304" pitchFamily="18" charset="0"/>
              </a:rPr>
              <a:t>Autonomía en ascenso</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Otro aspecto para considerar es la autonomía que precisamente era uno de los puntos negativos de los primeros vehículos eléctricos, sin ir más lejos el primer auto eléctrico que se construyo fue en el 2011 y ofrecía una autonomía de 160 kilómetros, en cambio hoy en día las baterías cuentas con una mayor densidad energética y esto permite que algunos vehículos superen los 600 kilómetros de autonomía tales como el Ford Mustang Mach-E (600 Km), Mercedes EQE (613 Km), Hyundai </a:t>
            </a:r>
            <a:r>
              <a:rPr lang="es-MX" sz="6400" kern="100" dirty="0" err="1">
                <a:effectLst/>
                <a:latin typeface="Calibri" panose="020F0502020204030204" pitchFamily="34" charset="0"/>
                <a:ea typeface="Calibri" panose="020F0502020204030204" pitchFamily="34" charset="0"/>
                <a:cs typeface="Times New Roman" panose="02020603050405020304" pitchFamily="18" charset="0"/>
              </a:rPr>
              <a:t>Ioniq</a:t>
            </a: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 6 (614 Km), BMW </a:t>
            </a:r>
            <a:r>
              <a:rPr lang="es-MX" sz="6400" kern="100" dirty="0" err="1">
                <a:effectLst/>
                <a:latin typeface="Calibri" panose="020F0502020204030204" pitchFamily="34" charset="0"/>
                <a:ea typeface="Calibri" panose="020F0502020204030204" pitchFamily="34" charset="0"/>
                <a:cs typeface="Times New Roman" panose="02020603050405020304" pitchFamily="18" charset="0"/>
              </a:rPr>
              <a:t>iX</a:t>
            </a: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 (628 Km), Tesla </a:t>
            </a:r>
            <a:r>
              <a:rPr lang="es-MX" sz="6400" kern="100" dirty="0" err="1">
                <a:effectLst/>
                <a:latin typeface="Calibri" panose="020F0502020204030204" pitchFamily="34" charset="0"/>
                <a:ea typeface="Calibri" panose="020F0502020204030204" pitchFamily="34" charset="0"/>
                <a:cs typeface="Times New Roman" panose="02020603050405020304" pitchFamily="18" charset="0"/>
              </a:rPr>
              <a:t>Model</a:t>
            </a: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 S (634 Km) y con la mayor autonomía del mercado el Mercedes EQS con un rango de uso de hasta 741 kilómetros. </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s-CL" dirty="0"/>
          </a:p>
        </p:txBody>
      </p:sp>
    </p:spTree>
    <p:extLst>
      <p:ext uri="{BB962C8B-B14F-4D97-AF65-F5344CB8AC3E}">
        <p14:creationId xmlns:p14="http://schemas.microsoft.com/office/powerpoint/2010/main" val="3971619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9A94D7-D256-5818-BFB2-B40A8C68CFBF}"/>
              </a:ext>
            </a:extLst>
          </p:cNvPr>
          <p:cNvSpPr>
            <a:spLocks noGrp="1"/>
          </p:cNvSpPr>
          <p:nvPr>
            <p:ph type="title"/>
          </p:nvPr>
        </p:nvSpPr>
        <p:spPr>
          <a:xfrm>
            <a:off x="838201" y="-178219"/>
            <a:ext cx="10515600" cy="1325563"/>
          </a:xfrm>
        </p:spPr>
        <p:txBody>
          <a:bodyPr>
            <a:normAutofit/>
          </a:bodyPr>
          <a:lstStyle/>
          <a:p>
            <a:pPr algn="ctr"/>
            <a:r>
              <a:rPr lang="es-CL" sz="2400" b="1" u="sng" kern="100" dirty="0">
                <a:effectLst/>
                <a:latin typeface="Calibri" panose="020F0502020204030204" pitchFamily="34" charset="0"/>
                <a:ea typeface="Calibri" panose="020F0502020204030204" pitchFamily="34" charset="0"/>
                <a:cs typeface="Times New Roman" panose="02020603050405020304" pitchFamily="18" charset="0"/>
              </a:rPr>
              <a:t>¿Cuál es la diferencia de comprar un vehículo eléctrico en comparación si una compra un vehículo de </a:t>
            </a:r>
            <a:r>
              <a:rPr lang="es-CL" sz="2400" b="1" kern="100" dirty="0">
                <a:effectLst/>
                <a:latin typeface="Calibri" panose="020F0502020204030204" pitchFamily="34" charset="0"/>
                <a:ea typeface="Calibri" panose="020F0502020204030204" pitchFamily="34" charset="0"/>
                <a:cs typeface="Times New Roman" panose="02020603050405020304" pitchFamily="18" charset="0"/>
              </a:rPr>
              <a:t>combustión</a:t>
            </a:r>
            <a:r>
              <a:rPr lang="es-CL" sz="2400" b="1" u="sng" kern="100" dirty="0">
                <a:effectLst/>
                <a:latin typeface="Calibri" panose="020F0502020204030204" pitchFamily="34" charset="0"/>
                <a:ea typeface="Calibri" panose="020F0502020204030204" pitchFamily="34" charset="0"/>
                <a:cs typeface="Times New Roman" panose="02020603050405020304" pitchFamily="18" charset="0"/>
              </a:rPr>
              <a:t> interna?</a:t>
            </a:r>
            <a:br>
              <a:rPr lang="es-CL" sz="2400" kern="100" dirty="0">
                <a:effectLst/>
                <a:latin typeface="Calibri" panose="020F0502020204030204" pitchFamily="34" charset="0"/>
                <a:ea typeface="Calibri" panose="020F0502020204030204" pitchFamily="34" charset="0"/>
                <a:cs typeface="Times New Roman" panose="02020603050405020304" pitchFamily="18" charset="0"/>
              </a:rPr>
            </a:br>
            <a:endParaRPr lang="es-CL" sz="2400" dirty="0"/>
          </a:p>
        </p:txBody>
      </p:sp>
      <p:sp>
        <p:nvSpPr>
          <p:cNvPr id="3" name="Marcador de contenido 2">
            <a:extLst>
              <a:ext uri="{FF2B5EF4-FFF2-40B4-BE49-F238E27FC236}">
                <a16:creationId xmlns:a16="http://schemas.microsoft.com/office/drawing/2014/main" id="{7C1AA2FE-A77F-FA92-20CC-88062F6FCA5F}"/>
              </a:ext>
            </a:extLst>
          </p:cNvPr>
          <p:cNvSpPr>
            <a:spLocks noGrp="1"/>
          </p:cNvSpPr>
          <p:nvPr>
            <p:ph idx="1"/>
          </p:nvPr>
        </p:nvSpPr>
        <p:spPr>
          <a:xfrm>
            <a:off x="0" y="364580"/>
            <a:ext cx="12192000" cy="4195763"/>
          </a:xfrm>
        </p:spPr>
        <p:txBody>
          <a:bodyPr>
            <a:normAutofit fontScale="25000" lnSpcReduction="20000"/>
          </a:bodyPr>
          <a:lstStyle/>
          <a:p>
            <a:pPr marL="0" lvl="0" indent="0">
              <a:lnSpc>
                <a:spcPct val="107000"/>
              </a:lnSpc>
              <a:spcAft>
                <a:spcPts val="800"/>
              </a:spcAft>
              <a:buNone/>
            </a:pPr>
            <a:r>
              <a:rPr lang="es-CL" sz="3600" b="1" kern="100" dirty="0">
                <a:effectLst/>
                <a:latin typeface="Calibri" panose="020F0502020204030204" pitchFamily="34" charset="0"/>
                <a:ea typeface="Calibri" panose="020F0502020204030204" pitchFamily="34" charset="0"/>
                <a:cs typeface="Times New Roman" panose="02020603050405020304" pitchFamily="18" charset="0"/>
              </a:rPr>
              <a:t>Costo Inicial:</a:t>
            </a:r>
            <a:endParaRPr lang="es-CL"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eléctrico: Los vehículos eléctricos tienden a tener un costo inicial más alto debido, en gran parte, al precio de las baterías. Sin embargo, los costos están disminuyendo a medida que avanza la tecnología.</a:t>
            </a: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de combustión interna: Los vehículos de combustión interna a menudo tienen un precio inicial más bajo en comparación con los vehículos eléctricos.</a:t>
            </a:r>
          </a:p>
          <a:p>
            <a:pPr marL="0" lvl="0" indent="0">
              <a:lnSpc>
                <a:spcPct val="107000"/>
              </a:lnSpc>
              <a:spcAft>
                <a:spcPts val="800"/>
              </a:spcAft>
              <a:buNone/>
            </a:pPr>
            <a:r>
              <a:rPr lang="es-CL" sz="3600" b="1" kern="100" dirty="0">
                <a:effectLst/>
                <a:latin typeface="Calibri" panose="020F0502020204030204" pitchFamily="34" charset="0"/>
                <a:ea typeface="Calibri" panose="020F0502020204030204" pitchFamily="34" charset="0"/>
                <a:cs typeface="Times New Roman" panose="02020603050405020304" pitchFamily="18" charset="0"/>
              </a:rPr>
              <a:t>Costos de Operación:</a:t>
            </a:r>
            <a:endParaRPr lang="es-CL"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eléctrico: Los costos de operación diarios, como el costo de la electricidad en comparación con la gasolina, son generalmente más bajos para los vehículos eléctricos. Además, los vehículos eléctricos tienden a requerir menos mantenimiento, lo que puede reducir los costos a lo largo del tiempo.</a:t>
            </a: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de combustión interna: Los vehículos de combustión interna tienen costos operativos más tradicionales, como el combustible y el mantenimiento regular.</a:t>
            </a:r>
          </a:p>
          <a:p>
            <a:pPr marL="0" lvl="0" indent="0">
              <a:lnSpc>
                <a:spcPct val="107000"/>
              </a:lnSpc>
              <a:spcAft>
                <a:spcPts val="800"/>
              </a:spcAft>
              <a:buNone/>
            </a:pPr>
            <a:r>
              <a:rPr lang="es-CL" sz="3600" b="1" kern="100" dirty="0">
                <a:effectLst/>
                <a:latin typeface="Calibri" panose="020F0502020204030204" pitchFamily="34" charset="0"/>
                <a:ea typeface="Calibri" panose="020F0502020204030204" pitchFamily="34" charset="0"/>
                <a:cs typeface="Times New Roman" panose="02020603050405020304" pitchFamily="18" charset="0"/>
              </a:rPr>
              <a:t>Autonomía y Recarga:</a:t>
            </a:r>
            <a:endParaRPr lang="es-CL"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eléctrico: Los vehículos eléctricos a menudo tienen una autonomía más limitada en comparación con los vehículos de combustión interna, pero este aspecto está mejorando con avances en la tecnología de las baterías. La recarga puede llevar más tiempo, aunque esto también está mejorando con la expansión de la infraestructura de carga rápida.</a:t>
            </a: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de combustión interna: Los vehículos de combustión interna suelen tener una mayor autonomía y tiempos de recarga más rápidos al repostar combustible.</a:t>
            </a:r>
          </a:p>
          <a:p>
            <a:pPr marL="0" lvl="0" indent="0">
              <a:lnSpc>
                <a:spcPct val="107000"/>
              </a:lnSpc>
              <a:spcAft>
                <a:spcPts val="800"/>
              </a:spcAft>
              <a:buNone/>
            </a:pPr>
            <a:r>
              <a:rPr lang="es-CL" sz="3600" b="1" kern="100" dirty="0">
                <a:effectLst/>
                <a:latin typeface="Calibri" panose="020F0502020204030204" pitchFamily="34" charset="0"/>
                <a:ea typeface="Calibri" panose="020F0502020204030204" pitchFamily="34" charset="0"/>
                <a:cs typeface="Times New Roman" panose="02020603050405020304" pitchFamily="18" charset="0"/>
              </a:rPr>
              <a:t>Infraestructura de Recarga:</a:t>
            </a:r>
            <a:endParaRPr lang="es-CL" sz="3600" b="1" kern="100" dirty="0">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eléctrico: La infraestructura de carga para vehículos eléctricos está en crecimiento, pero puede ser menos ubicua en comparación con las estaciones de servicio de combustibles fósiles.</a:t>
            </a:r>
          </a:p>
          <a:p>
            <a:pPr marL="0" lv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de combustión interna: Las estaciones de servicio son comunes y ampliamente distribuidas para vehículos de combustión interna.</a:t>
            </a:r>
          </a:p>
          <a:p>
            <a:pPr marL="0" lvl="0" indent="0">
              <a:lnSpc>
                <a:spcPct val="107000"/>
              </a:lnSpc>
              <a:spcAft>
                <a:spcPts val="800"/>
              </a:spcAft>
              <a:buNone/>
            </a:pPr>
            <a:r>
              <a:rPr lang="es-CL" sz="3600" b="1" kern="100" dirty="0">
                <a:effectLst/>
                <a:latin typeface="Calibri" panose="020F0502020204030204" pitchFamily="34" charset="0"/>
                <a:ea typeface="Calibri" panose="020F0502020204030204" pitchFamily="34" charset="0"/>
                <a:cs typeface="Times New Roman" panose="02020603050405020304" pitchFamily="18" charset="0"/>
              </a:rPr>
              <a:t>Impacto Ambiental:</a:t>
            </a:r>
            <a:endParaRPr lang="es-CL"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eléctrico: Los vehículos eléctricos tienen cero emisiones locales durante la operación, lo que contribuye a la mejora de la calidad del aire. Sin embargo, la producción y eliminación de baterías pueden tener impactos ambientales.</a:t>
            </a: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de combustión interna: Los vehículos de combustión interna emiten gases contaminantes y contribuyen a la contaminación del aire.</a:t>
            </a:r>
          </a:p>
          <a:p>
            <a:pPr marL="0" lvl="0" indent="0">
              <a:lnSpc>
                <a:spcPct val="107000"/>
              </a:lnSpc>
              <a:spcAft>
                <a:spcPts val="800"/>
              </a:spcAft>
              <a:buNone/>
            </a:pPr>
            <a:r>
              <a:rPr lang="es-CL" sz="3600" b="1" kern="100" dirty="0">
                <a:effectLst/>
                <a:latin typeface="Calibri" panose="020F0502020204030204" pitchFamily="34" charset="0"/>
                <a:ea typeface="Calibri" panose="020F0502020204030204" pitchFamily="34" charset="0"/>
                <a:cs typeface="Times New Roman" panose="02020603050405020304" pitchFamily="18" charset="0"/>
              </a:rPr>
              <a:t>Incentivos Gubernamentales:</a:t>
            </a:r>
            <a:endParaRPr lang="es-CL"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eléctrico: Algunos gobiernos ofrecen incentivos fiscales y subvenciones para la compra de vehículos eléctricos.</a:t>
            </a: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de combustión interna: En algunos lugares, los vehículos de combustión interna pueden estar sujetos a impuestos ambientales o restricciones.</a:t>
            </a:r>
          </a:p>
          <a:p>
            <a:endParaRPr lang="es-CL" dirty="0"/>
          </a:p>
        </p:txBody>
      </p:sp>
    </p:spTree>
    <p:extLst>
      <p:ext uri="{BB962C8B-B14F-4D97-AF65-F5344CB8AC3E}">
        <p14:creationId xmlns:p14="http://schemas.microsoft.com/office/powerpoint/2010/main" val="950511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8C630C-5212-28E5-EB39-A6165900C5A0}"/>
              </a:ext>
            </a:extLst>
          </p:cNvPr>
          <p:cNvSpPr>
            <a:spLocks noGrp="1"/>
          </p:cNvSpPr>
          <p:nvPr>
            <p:ph type="title"/>
          </p:nvPr>
        </p:nvSpPr>
        <p:spPr/>
        <p:txBody>
          <a:bodyPr/>
          <a:lstStyle/>
          <a:p>
            <a:r>
              <a:rPr lang="es-CL" dirty="0" err="1"/>
              <a:t>Presentacion</a:t>
            </a:r>
            <a:r>
              <a:rPr lang="es-CL" dirty="0"/>
              <a:t> </a:t>
            </a:r>
          </a:p>
        </p:txBody>
      </p:sp>
      <p:sp>
        <p:nvSpPr>
          <p:cNvPr id="3" name="Marcador de contenido 2">
            <a:extLst>
              <a:ext uri="{FF2B5EF4-FFF2-40B4-BE49-F238E27FC236}">
                <a16:creationId xmlns:a16="http://schemas.microsoft.com/office/drawing/2014/main" id="{78625F06-84F1-0BAE-837E-77DDF9E5601C}"/>
              </a:ext>
            </a:extLst>
          </p:cNvPr>
          <p:cNvSpPr>
            <a:spLocks noGrp="1"/>
          </p:cNvSpPr>
          <p:nvPr>
            <p:ph idx="1"/>
          </p:nvPr>
        </p:nvSpPr>
        <p:spPr/>
        <p:txBody>
          <a:bodyPr/>
          <a:lstStyle/>
          <a:p>
            <a:r>
              <a:rPr lang="es-CL" dirty="0"/>
              <a:t>https://clipchamp.com/watch/tLbWj9eEW3t</a:t>
            </a:r>
          </a:p>
        </p:txBody>
      </p:sp>
    </p:spTree>
    <p:extLst>
      <p:ext uri="{BB962C8B-B14F-4D97-AF65-F5344CB8AC3E}">
        <p14:creationId xmlns:p14="http://schemas.microsoft.com/office/powerpoint/2010/main" val="3919552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5939A-80E8-6DD9-3862-BC4B8726A290}"/>
              </a:ext>
            </a:extLst>
          </p:cNvPr>
          <p:cNvSpPr>
            <a:spLocks noGrp="1"/>
          </p:cNvSpPr>
          <p:nvPr>
            <p:ph type="title"/>
          </p:nvPr>
        </p:nvSpPr>
        <p:spPr>
          <a:xfrm>
            <a:off x="609600" y="-271054"/>
            <a:ext cx="10515600" cy="1325563"/>
          </a:xfrm>
        </p:spPr>
        <p:txBody>
          <a:bodyPr>
            <a:normAutofit/>
          </a:bodyPr>
          <a:lstStyle/>
          <a:p>
            <a:r>
              <a:rPr lang="es-CL" dirty="0"/>
              <a:t>Conclusiones.</a:t>
            </a:r>
          </a:p>
        </p:txBody>
      </p:sp>
      <p:sp>
        <p:nvSpPr>
          <p:cNvPr id="3" name="Marcador de contenido 2">
            <a:extLst>
              <a:ext uri="{FF2B5EF4-FFF2-40B4-BE49-F238E27FC236}">
                <a16:creationId xmlns:a16="http://schemas.microsoft.com/office/drawing/2014/main" id="{CB3B7222-3B07-3FFA-E96F-17CF43657B56}"/>
              </a:ext>
            </a:extLst>
          </p:cNvPr>
          <p:cNvSpPr>
            <a:spLocks noGrp="1"/>
          </p:cNvSpPr>
          <p:nvPr>
            <p:ph idx="1"/>
          </p:nvPr>
        </p:nvSpPr>
        <p:spPr>
          <a:xfrm>
            <a:off x="838200" y="675822"/>
            <a:ext cx="10515600" cy="4195763"/>
          </a:xfrm>
        </p:spPr>
        <p:txBody>
          <a:bodyPr>
            <a:noAutofit/>
          </a:bodyPr>
          <a:lstStyle/>
          <a:p>
            <a:r>
              <a:rPr lang="es-MX" sz="1800" dirty="0"/>
              <a:t>El trabajo destaca de manera efectiva la grave problemática de la contaminación generada por motores de combustión interna en Chile y a nivel mundial. Proporciona una clara llamada a la concienciación, enfocándose en la importancia de que las personas comprendan los peligros para la salud asociados con estos motores y adopten nuevas opciones de transporte, como la masificación de vehículos eléctricos. La investigación se centra en el análisis de casos para evaluar la rentabilidad de los vehículos eléctricos e híbridos en comparación con los de combustión interna.</a:t>
            </a:r>
          </a:p>
          <a:p>
            <a:r>
              <a:rPr lang="es-MX" sz="1800" dirty="0"/>
              <a:t>El trabajo demuestra un enfoque integral al incorporar nociones matemáticas, estadísticas, porcentajes y gráficos para respaldar la investigación. La evaluación del impacto financiero y emocional en el mercado automotriz en Chile se presenta a través de preguntas de investigación específicas, explorando el aumento en las ventas de vehículos eléctricos e híbridos. Se destaca el papel crucial de la industria automotriz en la economía chilena, abordando aspectos como la generación de empleo, la infraestructura vial y la contribución al comercio internacional.</a:t>
            </a:r>
          </a:p>
          <a:p>
            <a:r>
              <a:rPr lang="es-MX" sz="1800" dirty="0"/>
              <a:t>El trabajo proporciona una comparación exhaustiva entre vehículos eléctricos y de combustión interna, abordando factores clave como costos iniciales, costos de operación, autonomía, recarga, impacto ambiental e incentivos gubernamentales. Destaca los beneficios de los vehículos eléctricos, como cero emisiones locales, menores costos de operación y contribuciones a la mejora de la calidad del aire. Además, se reconoce la necesidad de abordar los impactos ambientales asociados con la producción y eliminación de baterías eléctricas.</a:t>
            </a:r>
            <a:endParaRPr lang="es-CL" sz="1800" dirty="0"/>
          </a:p>
        </p:txBody>
      </p:sp>
    </p:spTree>
    <p:extLst>
      <p:ext uri="{BB962C8B-B14F-4D97-AF65-F5344CB8AC3E}">
        <p14:creationId xmlns:p14="http://schemas.microsoft.com/office/powerpoint/2010/main" val="2407863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8DC59C-DF4A-0B43-D285-50254DDD27BF}"/>
              </a:ext>
            </a:extLst>
          </p:cNvPr>
          <p:cNvSpPr>
            <a:spLocks noGrp="1"/>
          </p:cNvSpPr>
          <p:nvPr>
            <p:ph type="title"/>
          </p:nvPr>
        </p:nvSpPr>
        <p:spPr/>
        <p:txBody>
          <a:bodyPr/>
          <a:lstStyle/>
          <a:p>
            <a:r>
              <a:rPr lang="es-CL" dirty="0"/>
              <a:t>Bibliografía.</a:t>
            </a:r>
          </a:p>
        </p:txBody>
      </p:sp>
      <p:sp>
        <p:nvSpPr>
          <p:cNvPr id="3" name="Marcador de contenido 2">
            <a:extLst>
              <a:ext uri="{FF2B5EF4-FFF2-40B4-BE49-F238E27FC236}">
                <a16:creationId xmlns:a16="http://schemas.microsoft.com/office/drawing/2014/main" id="{A0EFECEA-8D65-45B5-C81F-CF43BCA4131B}"/>
              </a:ext>
            </a:extLst>
          </p:cNvPr>
          <p:cNvSpPr>
            <a:spLocks noGrp="1"/>
          </p:cNvSpPr>
          <p:nvPr>
            <p:ph idx="1"/>
          </p:nvPr>
        </p:nvSpPr>
        <p:spPr/>
        <p:txBody>
          <a:bodyPr>
            <a:normAutofit fontScale="70000" lnSpcReduction="20000"/>
          </a:bodyPr>
          <a:lstStyle/>
          <a:p>
            <a:r>
              <a:rPr lang="es-CL" dirty="0">
                <a:hlinkClick r:id="rId2">
                  <a:extLst>
                    <a:ext uri="{A12FA001-AC4F-418D-AE19-62706E023703}">
                      <ahyp:hlinkClr xmlns:ahyp="http://schemas.microsoft.com/office/drawing/2018/hyperlinkcolor" val="tx"/>
                    </a:ext>
                  </a:extLst>
                </a:hlinkClick>
              </a:rPr>
              <a:t>https://www.novatrans.es/blog/coches-electricos-vs-coches-combustion/</a:t>
            </a:r>
            <a:endParaRPr lang="es-CL" dirty="0"/>
          </a:p>
          <a:p>
            <a:r>
              <a:rPr lang="es-CL" dirty="0">
                <a:hlinkClick r:id="rId3">
                  <a:extLst>
                    <a:ext uri="{A12FA001-AC4F-418D-AE19-62706E023703}">
                      <ahyp:hlinkClr xmlns:ahyp="http://schemas.microsoft.com/office/drawing/2018/hyperlinkcolor" val="tx"/>
                    </a:ext>
                  </a:extLst>
                </a:hlinkClick>
              </a:rPr>
              <a:t>https://www.newtral.es/coches-electricos-contaminacion/20230131/#google_vignette</a:t>
            </a:r>
            <a:endParaRPr lang="es-CL" dirty="0"/>
          </a:p>
          <a:p>
            <a:r>
              <a:rPr lang="es-CL" dirty="0">
                <a:hlinkClick r:id="rId4">
                  <a:extLst>
                    <a:ext uri="{A12FA001-AC4F-418D-AE19-62706E023703}">
                      <ahyp:hlinkClr xmlns:ahyp="http://schemas.microsoft.com/office/drawing/2018/hyperlinkcolor" val="tx"/>
                    </a:ext>
                  </a:extLst>
                </a:hlinkClick>
              </a:rPr>
              <a:t>https://www.jacautos.cl/noticias/5-ventajas-de-tener-autos-electricos</a:t>
            </a:r>
            <a:endParaRPr lang="es-CL" dirty="0"/>
          </a:p>
          <a:p>
            <a:r>
              <a:rPr lang="es-CL" dirty="0">
                <a:hlinkClick r:id="rId5">
                  <a:extLst>
                    <a:ext uri="{A12FA001-AC4F-418D-AE19-62706E023703}">
                      <ahyp:hlinkClr xmlns:ahyp="http://schemas.microsoft.com/office/drawing/2018/hyperlinkcolor" val="tx"/>
                    </a:ext>
                  </a:extLst>
                </a:hlinkClick>
              </a:rPr>
              <a:t>https://www.caranddriver.com/es/coches/planeta-motor/g35350195/vehiculos-electricos-autonomia/</a:t>
            </a:r>
            <a:endParaRPr lang="es-CL" dirty="0"/>
          </a:p>
          <a:p>
            <a:r>
              <a:rPr lang="es-CL" dirty="0">
                <a:hlinkClick r:id="rId6">
                  <a:extLst>
                    <a:ext uri="{A12FA001-AC4F-418D-AE19-62706E023703}">
                      <ahyp:hlinkClr xmlns:ahyp="http://schemas.microsoft.com/office/drawing/2018/hyperlinkcolor" val="tx"/>
                    </a:ext>
                  </a:extLst>
                </a:hlinkClick>
              </a:rPr>
              <a:t>https://www.elconfidencial.com/tecnologia/novaceno/2021-11-23/coche-electrico-co2-contaminacion-gasolina_3329281/</a:t>
            </a:r>
            <a:endParaRPr lang="es-CL" dirty="0"/>
          </a:p>
          <a:p>
            <a:r>
              <a:rPr lang="es-CL" dirty="0">
                <a:hlinkClick r:id="rId7">
                  <a:extLst>
                    <a:ext uri="{A12FA001-AC4F-418D-AE19-62706E023703}">
                      <ahyp:hlinkClr xmlns:ahyp="http://schemas.microsoft.com/office/drawing/2018/hyperlinkcolor" val="tx"/>
                    </a:ext>
                  </a:extLst>
                </a:hlinkClick>
              </a:rPr>
              <a:t>https://es.statista.com/grafico/27298/media-de-emisiones-de-co2-de-los-automoviles-a-nivel-mundial/</a:t>
            </a:r>
            <a:endParaRPr lang="es-CL" dirty="0"/>
          </a:p>
          <a:p>
            <a:r>
              <a:rPr lang="es-CL" dirty="0">
                <a:hlinkClick r:id="rId8">
                  <a:extLst>
                    <a:ext uri="{A12FA001-AC4F-418D-AE19-62706E023703}">
                      <ahyp:hlinkClr xmlns:ahyp="http://schemas.microsoft.com/office/drawing/2018/hyperlinkcolor" val="tx"/>
                    </a:ext>
                  </a:extLst>
                </a:hlinkClick>
              </a:rPr>
              <a:t>https://jktornel.com.mx/</a:t>
            </a:r>
            <a:r>
              <a:rPr lang="es-CL" dirty="0" err="1">
                <a:hlinkClick r:id="rId8">
                  <a:extLst>
                    <a:ext uri="{A12FA001-AC4F-418D-AE19-62706E023703}">
                      <ahyp:hlinkClr xmlns:ahyp="http://schemas.microsoft.com/office/drawing/2018/hyperlinkcolor" val="tx"/>
                    </a:ext>
                  </a:extLst>
                </a:hlinkClick>
              </a:rPr>
              <a:t>lcontaminacion</a:t>
            </a:r>
            <a:r>
              <a:rPr lang="es-CL" dirty="0">
                <a:hlinkClick r:id="rId8">
                  <a:extLst>
                    <a:ext uri="{A12FA001-AC4F-418D-AE19-62706E023703}">
                      <ahyp:hlinkClr xmlns:ahyp="http://schemas.microsoft.com/office/drawing/2018/hyperlinkcolor" val="tx"/>
                    </a:ext>
                  </a:extLst>
                </a:hlinkClick>
              </a:rPr>
              <a:t>-ambienta-producto-%20motores-%20a%20combustión/</a:t>
            </a:r>
            <a:endParaRPr lang="es-CL" dirty="0"/>
          </a:p>
          <a:p>
            <a:endParaRPr lang="es-CL" dirty="0"/>
          </a:p>
        </p:txBody>
      </p:sp>
    </p:spTree>
    <p:extLst>
      <p:ext uri="{BB962C8B-B14F-4D97-AF65-F5344CB8AC3E}">
        <p14:creationId xmlns:p14="http://schemas.microsoft.com/office/powerpoint/2010/main" val="3362794280"/>
      </p:ext>
    </p:extLst>
  </p:cSld>
  <p:clrMapOvr>
    <a:masterClrMapping/>
  </p:clrMapOvr>
</p:sld>
</file>

<file path=ppt/theme/theme1.xml><?xml version="1.0" encoding="utf-8"?>
<a:theme xmlns:a="http://schemas.openxmlformats.org/drawingml/2006/main" name="BlockprintVTI">
  <a:themeElements>
    <a:clrScheme name="AnalogousFromLightSeedLeftStep">
      <a:dk1>
        <a:srgbClr val="000000"/>
      </a:dk1>
      <a:lt1>
        <a:srgbClr val="FFFFFF"/>
      </a:lt1>
      <a:dk2>
        <a:srgbClr val="24393F"/>
      </a:dk2>
      <a:lt2>
        <a:srgbClr val="E8E8E2"/>
      </a:lt2>
      <a:accent1>
        <a:srgbClr val="8885D7"/>
      </a:accent1>
      <a:accent2>
        <a:srgbClr val="6A90CE"/>
      </a:accent2>
      <a:accent3>
        <a:srgbClr val="5AAEC3"/>
      </a:accent3>
      <a:accent4>
        <a:srgbClr val="5DB4A2"/>
      </a:accent4>
      <a:accent5>
        <a:srgbClr val="68B484"/>
      </a:accent5>
      <a:accent6>
        <a:srgbClr val="62B65E"/>
      </a:accent6>
      <a:hlink>
        <a:srgbClr val="848651"/>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Circuito</Template>
  <TotalTime>21117</TotalTime>
  <Words>1976</Words>
  <Application>Microsoft Macintosh PowerPoint</Application>
  <PresentationFormat>Panorámica</PresentationFormat>
  <Paragraphs>107</Paragraphs>
  <Slides>14</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14</vt:i4>
      </vt:variant>
    </vt:vector>
  </HeadingPairs>
  <TitlesOfParts>
    <vt:vector size="20" baseType="lpstr">
      <vt:lpstr>Arial</vt:lpstr>
      <vt:lpstr>Avenir Next LT Pro</vt:lpstr>
      <vt:lpstr>AvenirNext LT Pro Medium</vt:lpstr>
      <vt:lpstr>Calibri</vt:lpstr>
      <vt:lpstr>Times New Roman</vt:lpstr>
      <vt:lpstr>BlockprintVTI</vt:lpstr>
      <vt:lpstr>La contaminación de la motorización a combustión y la era de un nuevo vehículo</vt:lpstr>
      <vt:lpstr>Definición del proyecto.</vt:lpstr>
      <vt:lpstr>Tema de investigación, nociones matemáticas y problemática a abordar.</vt:lpstr>
      <vt:lpstr>Objetivos y preguntas de investigación.</vt:lpstr>
      <vt:lpstr>Temas iniciales involucrado. </vt:lpstr>
      <vt:lpstr>Presentación de PowerPoint</vt:lpstr>
      <vt:lpstr> </vt:lpstr>
      <vt:lpstr>Presentación de PowerPoint</vt:lpstr>
      <vt:lpstr>¿Cuál es el impacto de la industria automotriz en la economía Chilena? </vt:lpstr>
      <vt:lpstr>¿Cuáles son los principales beneficios al tener un vehículo eléctrico en el día a día? </vt:lpstr>
      <vt:lpstr>¿Cuál es la diferencia de comprar un vehículo eléctrico en comparación si una compra un vehículo de combustión interna? </vt:lpstr>
      <vt:lpstr>Presentacion </vt:lpstr>
      <vt:lpstr>Conclusiones.</vt:lpstr>
      <vt:lpstr>Bibliografía.</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Robos de Banco</dc:title>
  <dc:creator>CLAUDIO EDUARDO NEIRA ZAGAL</dc:creator>
  <cp:lastModifiedBy>Microsoft Office User</cp:lastModifiedBy>
  <cp:revision>10</cp:revision>
  <dcterms:created xsi:type="dcterms:W3CDTF">2023-11-16T01:48:19Z</dcterms:created>
  <dcterms:modified xsi:type="dcterms:W3CDTF">2023-12-20T17:03:26Z</dcterms:modified>
</cp:coreProperties>
</file>