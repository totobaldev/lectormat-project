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87" autoAdjust="0"/>
    <p:restoredTop sz="94660"/>
  </p:normalViewPr>
  <p:slideViewPr>
    <p:cSldViewPr snapToGrid="0">
      <p:cViewPr varScale="1">
        <p:scale>
          <a:sx n="83" d="100"/>
          <a:sy n="83" d="100"/>
        </p:scale>
        <p:origin x="216"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4T15:51:46.740" idx="7">
    <p:pos x="10" y="10"/>
    <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3T13:52:53.557" idx="1">
    <p:pos x="10" y="10"/>
    <p:text>mejorar redacción</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3T13:53:12.018" idx="2">
    <p:pos x="7224" y="415"/>
    <p:text>el objetivo y tema de investigación no es lo mismo</p:text>
    <p:extLst>
      <p:ext uri="{C676402C-5697-4E1C-873F-D02D1690AC5C}">
        <p15:threadingInfo xmlns:p15="http://schemas.microsoft.com/office/powerpoint/2012/main" timeZoneBias="180"/>
      </p:ext>
    </p:extLst>
  </p:cm>
  <p:cm authorId="1" dt="2023-12-13T13:53:53.601" idx="3">
    <p:pos x="7299" y="1822"/>
    <p:text>ésta descripción se puede considerar tema a investigar.</p:text>
    <p:extLst>
      <p:ext uri="{C676402C-5697-4E1C-873F-D02D1690AC5C}">
        <p15:threadingInfo xmlns:p15="http://schemas.microsoft.com/office/powerpoint/2012/main" timeZoneBias="180"/>
      </p:ext>
    </p:extLst>
  </p:cm>
  <p:cm authorId="1" dt="2023-12-13T13:54:51.333" idx="4">
    <p:pos x="7299" y="1958"/>
    <p:text>la problemática debe ser una descripción de una situación problemática... es decir, que sucede hoy con los vehículos cuando se vuelcan</p:text>
    <p:extLst>
      <p:ext uri="{C676402C-5697-4E1C-873F-D02D1690AC5C}">
        <p15:threadingInfo xmlns:p15="http://schemas.microsoft.com/office/powerpoint/2012/main" timeZoneBias="180">
          <p15:parentCm authorId="1" idx="3"/>
        </p15:threadingInfo>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3T13:55:05.173" idx="5">
    <p:pos x="4929" y="991"/>
    <p:text>muy bien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4T15:52:26.531" idx="8">
    <p:pos x="3591" y="855"/>
    <p:text>cambiar color... recuerde debemos leer la información</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4T15:54:15.445" idx="9">
    <p:pos x="10" y="10"/>
    <p:text>uso APA para imágenes</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83A0BE0-3D73-4F25-BEA6-1ADEEEB5FE1E}" type="datetimeFigureOut">
              <a:rPr lang="es-CL" smtClean="0"/>
              <a:t>14-12-23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1869727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3A0BE0-3D73-4F25-BEA6-1ADEEEB5FE1E}" type="datetimeFigureOut">
              <a:rPr lang="es-CL" smtClean="0"/>
              <a:t>14-12-23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146003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83A0BE0-3D73-4F25-BEA6-1ADEEEB5FE1E}" type="datetimeFigureOut">
              <a:rPr lang="es-CL" smtClean="0"/>
              <a:t>14-12-23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134554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4176121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83A0BE0-3D73-4F25-BEA6-1ADEEEB5FE1E}" type="datetimeFigureOut">
              <a:rPr lang="es-CL" smtClean="0"/>
              <a:t>14-12-23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995694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83A0BE0-3D73-4F25-BEA6-1ADEEEB5FE1E}" type="datetimeFigureOut">
              <a:rPr lang="es-CL" smtClean="0"/>
              <a:t>14-12-23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768268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3A0BE0-3D73-4F25-BEA6-1ADEEEB5FE1E}" type="datetimeFigureOut">
              <a:rPr lang="es-CL" smtClean="0"/>
              <a:t>14-12-23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776000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955851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2200571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412708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64408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41878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83A0BE0-3D73-4F25-BEA6-1ADEEEB5FE1E}" type="datetimeFigureOut">
              <a:rPr lang="es-CL" smtClean="0"/>
              <a:t>14-12-23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4004740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83A0BE0-3D73-4F25-BEA6-1ADEEEB5FE1E}" type="datetimeFigureOut">
              <a:rPr lang="es-CL" smtClean="0"/>
              <a:t>14-12-23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3090394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583A0BE0-3D73-4F25-BEA6-1ADEEEB5FE1E}" type="datetimeFigureOut">
              <a:rPr lang="es-CL" smtClean="0"/>
              <a:t>14-12-23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492542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3A0BE0-3D73-4F25-BEA6-1ADEEEB5FE1E}" type="datetimeFigureOut">
              <a:rPr lang="es-CL" smtClean="0"/>
              <a:t>14-12-23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1681176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3A0BE0-3D73-4F25-BEA6-1ADEEEB5FE1E}" type="datetimeFigureOut">
              <a:rPr lang="es-CL" smtClean="0"/>
              <a:t>14-12-23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B50DA473-0601-47E1-9BED-DB8C1D5546F0}" type="slidenum">
              <a:rPr lang="es-CL" smtClean="0"/>
              <a:t>‹Nº›</a:t>
            </a:fld>
            <a:endParaRPr lang="es-CL"/>
          </a:p>
        </p:txBody>
      </p:sp>
    </p:spTree>
    <p:extLst>
      <p:ext uri="{BB962C8B-B14F-4D97-AF65-F5344CB8AC3E}">
        <p14:creationId xmlns:p14="http://schemas.microsoft.com/office/powerpoint/2010/main" val="535304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83A0BE0-3D73-4F25-BEA6-1ADEEEB5FE1E}" type="datetimeFigureOut">
              <a:rPr lang="es-CL" smtClean="0"/>
              <a:t>14-12-23</a:t>
            </a:fld>
            <a:endParaRPr lang="es-CL"/>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0DA473-0601-47E1-9BED-DB8C1D5546F0}" type="slidenum">
              <a:rPr lang="es-CL" smtClean="0"/>
              <a:t>‹Nº›</a:t>
            </a:fld>
            <a:endParaRPr lang="es-CL"/>
          </a:p>
        </p:txBody>
      </p:sp>
    </p:spTree>
    <p:extLst>
      <p:ext uri="{BB962C8B-B14F-4D97-AF65-F5344CB8AC3E}">
        <p14:creationId xmlns:p14="http://schemas.microsoft.com/office/powerpoint/2010/main" val="515111868"/>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comments" Target="../comments/commen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334E94-E9C5-BE51-FD35-34D5D289628C}"/>
              </a:ext>
            </a:extLst>
          </p:cNvPr>
          <p:cNvPicPr>
            <a:picLocks noChangeAspect="1"/>
          </p:cNvPicPr>
          <p:nvPr/>
        </p:nvPicPr>
        <p:blipFill rotWithShape="1">
          <a:blip r:embed="rId3"/>
          <a:srcRect t="29"/>
          <a:stretch/>
        </p:blipFill>
        <p:spPr>
          <a:xfrm>
            <a:off x="20" y="2030"/>
            <a:ext cx="12191980" cy="6855970"/>
          </a:xfrm>
          <a:prstGeom prst="rect">
            <a:avLst/>
          </a:prstGeom>
        </p:spPr>
      </p:pic>
      <p:sp>
        <p:nvSpPr>
          <p:cNvPr id="7" name="Rectangle 9">
            <a:extLst>
              <a:ext uri="{FF2B5EF4-FFF2-40B4-BE49-F238E27FC236}">
                <a16:creationId xmlns:a16="http://schemas.microsoft.com/office/drawing/2014/main" id="{BD1CAB03-F6A4-4736-85F6-261056424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3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3E2321B3-5D47-422E-8DD6-192DA485FF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alphaModFix amt="30000"/>
              <a:duotone>
                <a:prstClr val="black"/>
                <a:schemeClr val="accent3">
                  <a:tint val="45000"/>
                  <a:satMod val="400000"/>
                </a:schemeClr>
              </a:duotone>
              <a:extLst>
                <a:ext uri="{BEBA8EAE-BF5A-486C-A8C5-ECC9F3942E4B}">
                  <a14:imgProps xmlns:a14="http://schemas.microsoft.com/office/drawing/2010/main">
                    <a14:imgLayer>
                      <a14:imgEffect>
                        <a14:sharpenSoften amount="35000"/>
                      </a14:imgEffect>
                    </a14:imgLayer>
                  </a14:imgProps>
                </a:ext>
              </a:extLst>
            </a:blip>
            <a:srcRect/>
            <a:tile tx="0" ty="0" sx="100000" sy="100000" flip="none" algn="ctr"/>
          </a:blip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4F9DF43-D903-8008-DB45-68F8253CF7E1}"/>
              </a:ext>
            </a:extLst>
          </p:cNvPr>
          <p:cNvSpPr>
            <a:spLocks noGrp="1"/>
          </p:cNvSpPr>
          <p:nvPr>
            <p:ph type="ctrTitle"/>
          </p:nvPr>
        </p:nvSpPr>
        <p:spPr>
          <a:xfrm>
            <a:off x="1595269" y="868362"/>
            <a:ext cx="9001462" cy="2387600"/>
          </a:xfrm>
        </p:spPr>
        <p:txBody>
          <a:bodyPr>
            <a:normAutofit/>
          </a:bodyPr>
          <a:lstStyle/>
          <a:p>
            <a:r>
              <a:rPr lang="es-CL" dirty="0">
                <a:latin typeface="Arial" panose="020B0604020202020204" pitchFamily="34" charset="0"/>
                <a:cs typeface="Arial" panose="020B0604020202020204" pitchFamily="34" charset="0"/>
              </a:rPr>
              <a:t>Jaula Antivuelco</a:t>
            </a:r>
          </a:p>
        </p:txBody>
      </p:sp>
      <p:sp>
        <p:nvSpPr>
          <p:cNvPr id="3" name="Subtítulo 2">
            <a:extLst>
              <a:ext uri="{FF2B5EF4-FFF2-40B4-BE49-F238E27FC236}">
                <a16:creationId xmlns:a16="http://schemas.microsoft.com/office/drawing/2014/main" id="{A6DF3E30-3054-6308-8B00-C399EEA2FC12}"/>
              </a:ext>
            </a:extLst>
          </p:cNvPr>
          <p:cNvSpPr>
            <a:spLocks noGrp="1"/>
          </p:cNvSpPr>
          <p:nvPr>
            <p:ph type="subTitle" idx="1"/>
          </p:nvPr>
        </p:nvSpPr>
        <p:spPr>
          <a:xfrm>
            <a:off x="1595269" y="3602038"/>
            <a:ext cx="9001462" cy="1655762"/>
          </a:xfrm>
        </p:spPr>
        <p:txBody>
          <a:bodyPr>
            <a:normAutofit/>
          </a:bodyPr>
          <a:lstStyle/>
          <a:p>
            <a:pPr>
              <a:lnSpc>
                <a:spcPct val="110000"/>
              </a:lnSpc>
            </a:pPr>
            <a:r>
              <a:rPr lang="es-CL" sz="1400" dirty="0">
                <a:latin typeface="Arial" panose="020B0604020202020204" pitchFamily="34" charset="0"/>
                <a:cs typeface="Arial" panose="020B0604020202020204" pitchFamily="34" charset="0"/>
              </a:rPr>
              <a:t>Integrantes: Fabian Cerda, Pedro Escobar, Jeison Mayorga y Jonathan Pavez</a:t>
            </a:r>
          </a:p>
          <a:p>
            <a:pPr>
              <a:lnSpc>
                <a:spcPct val="110000"/>
              </a:lnSpc>
            </a:pPr>
            <a:r>
              <a:rPr lang="es-CL" sz="1400" dirty="0">
                <a:latin typeface="Arial" panose="020B0604020202020204" pitchFamily="34" charset="0"/>
                <a:cs typeface="Arial" panose="020B0604020202020204" pitchFamily="34" charset="0"/>
              </a:rPr>
              <a:t>Profesor: Lissette Salamanca</a:t>
            </a:r>
          </a:p>
          <a:p>
            <a:pPr>
              <a:lnSpc>
                <a:spcPct val="110000"/>
              </a:lnSpc>
            </a:pPr>
            <a:r>
              <a:rPr lang="es-CL" sz="1400" dirty="0">
                <a:latin typeface="Arial" panose="020B0604020202020204" pitchFamily="34" charset="0"/>
                <a:cs typeface="Arial" panose="020B0604020202020204" pitchFamily="34" charset="0"/>
              </a:rPr>
              <a:t>Asignatura: Funciones y Geometría</a:t>
            </a:r>
          </a:p>
          <a:p>
            <a:pPr>
              <a:lnSpc>
                <a:spcPct val="110000"/>
              </a:lnSpc>
            </a:pPr>
            <a:r>
              <a:rPr lang="es-CL" sz="1400" dirty="0">
                <a:latin typeface="Arial" panose="020B0604020202020204" pitchFamily="34" charset="0"/>
                <a:cs typeface="Arial" panose="020B0604020202020204" pitchFamily="34" charset="0"/>
              </a:rPr>
              <a:t>Carrera: Electromovilidad y Mecánica Automotriz</a:t>
            </a:r>
          </a:p>
        </p:txBody>
      </p:sp>
    </p:spTree>
    <p:extLst>
      <p:ext uri="{BB962C8B-B14F-4D97-AF65-F5344CB8AC3E}">
        <p14:creationId xmlns:p14="http://schemas.microsoft.com/office/powerpoint/2010/main" val="3309829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EC665F-F226-7421-278D-4D1374F2C005}"/>
              </a:ext>
            </a:extLst>
          </p:cNvPr>
          <p:cNvSpPr>
            <a:spLocks noGrp="1"/>
          </p:cNvSpPr>
          <p:nvPr>
            <p:ph type="title"/>
          </p:nvPr>
        </p:nvSpPr>
        <p:spPr>
          <a:xfrm>
            <a:off x="1828800" y="545123"/>
            <a:ext cx="8534400" cy="1507067"/>
          </a:xfrm>
        </p:spPr>
        <p:txBody>
          <a:bodyPr>
            <a:normAutofit/>
          </a:bodyPr>
          <a:lstStyle/>
          <a:p>
            <a:pPr algn="just"/>
            <a:r>
              <a:rPr lang="es-CL" sz="1600" dirty="0">
                <a:latin typeface="Arial" panose="020B0604020202020204" pitchFamily="34" charset="0"/>
                <a:cs typeface="Arial" panose="020B0604020202020204" pitchFamily="34" charset="0"/>
              </a:rPr>
              <a:t>Definición del Proyecto</a:t>
            </a:r>
          </a:p>
        </p:txBody>
      </p:sp>
      <p:sp>
        <p:nvSpPr>
          <p:cNvPr id="3" name="Marcador de contenido 2">
            <a:extLst>
              <a:ext uri="{FF2B5EF4-FFF2-40B4-BE49-F238E27FC236}">
                <a16:creationId xmlns:a16="http://schemas.microsoft.com/office/drawing/2014/main" id="{A1388BAE-F3CA-D52E-4D56-B94B60C9AEDB}"/>
              </a:ext>
            </a:extLst>
          </p:cNvPr>
          <p:cNvSpPr>
            <a:spLocks noGrp="1"/>
          </p:cNvSpPr>
          <p:nvPr>
            <p:ph idx="1"/>
          </p:nvPr>
        </p:nvSpPr>
        <p:spPr>
          <a:xfrm>
            <a:off x="1454727" y="1621366"/>
            <a:ext cx="9296400" cy="3615267"/>
          </a:xfrm>
        </p:spPr>
        <p:txBody>
          <a:bodyPr>
            <a:normAutofit/>
          </a:bodyPr>
          <a:lstStyle/>
          <a:p>
            <a:pPr marL="0" indent="0" algn="just">
              <a:lnSpc>
                <a:spcPct val="150000"/>
              </a:lnSpc>
              <a:buNone/>
            </a:pPr>
            <a:r>
              <a:rPr lang="es-ES" sz="1200" dirty="0">
                <a:latin typeface="Arial" panose="020B0604020202020204" pitchFamily="34" charset="0"/>
                <a:cs typeface="Arial" panose="020B0604020202020204" pitchFamily="34" charset="0"/>
              </a:rPr>
              <a:t>Un proyecto de creación de una jaula antivuelco básica se refiere al diseño, construcción e instalación de una estructura de seguridad diseñada para proteger a los ocupantes de un vehículo en caso de un vuelco. La jaula antivuelco es comúnmente utilizada en vehículos todoterreno, vehículos utilitarios o incluso en vehículos de competición. La definición del proyecto implicaría varios aspectos como diseño, especificaciones, requisitos de seguridad, dimensiones y forma de la jaula. </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078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8A032C1-4820-ADC6-ABDE-3E455ECFB01C}"/>
              </a:ext>
            </a:extLst>
          </p:cNvPr>
          <p:cNvSpPr>
            <a:spLocks noGrp="1"/>
          </p:cNvSpPr>
          <p:nvPr>
            <p:ph idx="1"/>
          </p:nvPr>
        </p:nvSpPr>
        <p:spPr>
          <a:xfrm>
            <a:off x="540327" y="256309"/>
            <a:ext cx="11111346" cy="6345381"/>
          </a:xfrm>
        </p:spPr>
        <p:txBody>
          <a:bodyPr>
            <a:normAutofit/>
          </a:bodyPr>
          <a:lstStyle/>
          <a:p>
            <a:pPr marL="0" indent="0">
              <a:lnSpc>
                <a:spcPct val="150000"/>
              </a:lnSpc>
              <a:buNone/>
            </a:pPr>
            <a:r>
              <a:rPr lang="es-ES" sz="1600" b="1" dirty="0">
                <a:latin typeface="Arial" panose="020B0604020202020204" pitchFamily="34" charset="0"/>
                <a:cs typeface="Arial" panose="020B0604020202020204" pitchFamily="34" charset="0"/>
              </a:rPr>
              <a:t>Tema de Investigación:</a:t>
            </a:r>
            <a:br>
              <a:rPr lang="es-ES" sz="1600" dirty="0">
                <a:latin typeface="Arial" panose="020B0604020202020204" pitchFamily="34" charset="0"/>
                <a:cs typeface="Arial" panose="020B0604020202020204" pitchFamily="34" charset="0"/>
              </a:rPr>
            </a:br>
            <a:r>
              <a:rPr lang="es-ES" sz="1200" b="0" i="0" dirty="0">
                <a:effectLst/>
                <a:latin typeface="Arial" panose="020B0604020202020204" pitchFamily="34" charset="0"/>
                <a:cs typeface="Arial" panose="020B0604020202020204" pitchFamily="34" charset="0"/>
              </a:rPr>
              <a:t>El presente proyecto de investigación tiene como objetivo principal la optimización y evaluación de materiales compuestos en la fabricación de jaulas antivuelco, además de brindar seguridad y protección al conductor o quien se encuentre en el vehículo.</a:t>
            </a:r>
            <a:br>
              <a:rPr lang="es-ES" sz="1200" dirty="0">
                <a:latin typeface="Arial" panose="020B0604020202020204" pitchFamily="34" charset="0"/>
                <a:cs typeface="Arial" panose="020B0604020202020204" pitchFamily="34" charset="0"/>
              </a:rPr>
            </a:br>
            <a:br>
              <a:rPr lang="es-ES" sz="1200" dirty="0">
                <a:latin typeface="Arial" panose="020B0604020202020204" pitchFamily="34" charset="0"/>
                <a:cs typeface="Arial" panose="020B0604020202020204" pitchFamily="34" charset="0"/>
              </a:rPr>
            </a:br>
            <a:r>
              <a:rPr lang="es-ES" sz="1600" b="1" dirty="0">
                <a:latin typeface="Arial" panose="020B0604020202020204" pitchFamily="34" charset="0"/>
                <a:cs typeface="Arial" panose="020B0604020202020204" pitchFamily="34" charset="0"/>
              </a:rPr>
              <a:t>Noción Matemática:</a:t>
            </a:r>
            <a:br>
              <a:rPr lang="es-ES" sz="1600" dirty="0">
                <a:latin typeface="Arial" panose="020B0604020202020204" pitchFamily="34" charset="0"/>
                <a:cs typeface="Arial" panose="020B0604020202020204" pitchFamily="34" charset="0"/>
              </a:rPr>
            </a:br>
            <a:r>
              <a:rPr lang="es-ES" sz="1200" b="1" i="0" dirty="0">
                <a:effectLst/>
                <a:latin typeface="Arial" panose="020B0604020202020204" pitchFamily="34" charset="0"/>
                <a:cs typeface="Arial" panose="020B0604020202020204" pitchFamily="34" charset="0"/>
              </a:rPr>
              <a:t>Normativas y estándares de seguridad, </a:t>
            </a:r>
            <a:r>
              <a:rPr lang="es-CL" sz="1200" b="1" dirty="0">
                <a:effectLst/>
                <a:latin typeface="Arial" panose="020B0604020202020204" pitchFamily="34" charset="0"/>
                <a:cs typeface="Arial" panose="020B0604020202020204" pitchFamily="34" charset="0"/>
              </a:rPr>
              <a:t>s</a:t>
            </a:r>
            <a:r>
              <a:rPr lang="es-CL" sz="1200" b="1" i="0" dirty="0">
                <a:effectLst/>
                <a:latin typeface="Arial" panose="020B0604020202020204" pitchFamily="34" charset="0"/>
                <a:cs typeface="Arial" panose="020B0604020202020204" pitchFamily="34" charset="0"/>
              </a:rPr>
              <a:t>elección de </a:t>
            </a:r>
            <a:r>
              <a:rPr lang="es-CL" sz="1200" b="1" dirty="0">
                <a:effectLst/>
                <a:latin typeface="Arial" panose="020B0604020202020204" pitchFamily="34" charset="0"/>
                <a:cs typeface="Arial" panose="020B0604020202020204" pitchFamily="34" charset="0"/>
              </a:rPr>
              <a:t>m</a:t>
            </a:r>
            <a:r>
              <a:rPr lang="es-CL" sz="1200" b="1" i="0" dirty="0">
                <a:effectLst/>
                <a:latin typeface="Arial" panose="020B0604020202020204" pitchFamily="34" charset="0"/>
                <a:cs typeface="Arial" panose="020B0604020202020204" pitchFamily="34" charset="0"/>
              </a:rPr>
              <a:t>ateriales inadecuados, dificultades en la fabricación, simulaciones y validación.</a:t>
            </a:r>
          </a:p>
          <a:p>
            <a:pPr marL="0" indent="0">
              <a:lnSpc>
                <a:spcPct val="150000"/>
              </a:lnSpc>
              <a:buNone/>
            </a:pPr>
            <a:br>
              <a:rPr lang="es-ES" sz="1200" dirty="0">
                <a:latin typeface="Arial" panose="020B0604020202020204" pitchFamily="34" charset="0"/>
                <a:cs typeface="Arial" panose="020B0604020202020204" pitchFamily="34" charset="0"/>
              </a:rPr>
            </a:br>
            <a:r>
              <a:rPr lang="es-ES" sz="1600" b="1" dirty="0">
                <a:latin typeface="Arial" panose="020B0604020202020204" pitchFamily="34" charset="0"/>
                <a:cs typeface="Arial" panose="020B0604020202020204" pitchFamily="34" charset="0"/>
              </a:rPr>
              <a:t>Problemática a Abordar:</a:t>
            </a:r>
            <a:br>
              <a:rPr lang="es-ES" sz="1500" dirty="0">
                <a:latin typeface="Arial" panose="020B0604020202020204" pitchFamily="34" charset="0"/>
                <a:cs typeface="Arial" panose="020B0604020202020204" pitchFamily="34" charset="0"/>
              </a:rPr>
            </a:br>
            <a:r>
              <a:rPr lang="es-ES" sz="1200" dirty="0">
                <a:latin typeface="Arial" panose="020B0604020202020204" pitchFamily="34" charset="0"/>
                <a:cs typeface="Arial" panose="020B0604020202020204" pitchFamily="34" charset="0"/>
              </a:rPr>
              <a:t>Una de las problemáticas fundamentales en la construcción de jaulas antivuelco es lograr un equilibrio adecuado entre el peso de la estructura y su capacidad para resistir impactos durante un vuelo. La necesidad de maximizar la protección a menudo entra en conflicto con la importancia de mantener el peso del vehículo lo más bajo posible para preservar su rendimiento y maniobrabilidad. Abordar esta problemática implica encontrar soluciones que optimicen la resistencia estructural sin comprometer significativamente el peso del conjunto.</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103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E056071-3DD1-B87C-1C55-CBDEBDDE82DC}"/>
              </a:ext>
            </a:extLst>
          </p:cNvPr>
          <p:cNvSpPr>
            <a:spLocks noGrp="1"/>
          </p:cNvSpPr>
          <p:nvPr>
            <p:ph idx="1"/>
          </p:nvPr>
        </p:nvSpPr>
        <p:spPr>
          <a:xfrm>
            <a:off x="332509" y="817418"/>
            <a:ext cx="11499273" cy="5472546"/>
          </a:xfrm>
        </p:spPr>
        <p:txBody>
          <a:bodyPr>
            <a:normAutofit fontScale="55000" lnSpcReduction="20000"/>
          </a:bodyPr>
          <a:lstStyle/>
          <a:p>
            <a:pPr marL="0" indent="0">
              <a:buNone/>
            </a:pPr>
            <a:r>
              <a:rPr lang="es-ES" sz="2600" b="1" dirty="0">
                <a:latin typeface="Arial" panose="020B0604020202020204" pitchFamily="34" charset="0"/>
                <a:cs typeface="Arial" panose="020B0604020202020204" pitchFamily="34" charset="0"/>
              </a:rPr>
              <a:t>Objetivos del Proyecto:</a:t>
            </a:r>
          </a:p>
          <a:p>
            <a:pPr marL="0" indent="0">
              <a:lnSpc>
                <a:spcPct val="170000"/>
              </a:lnSpc>
              <a:buNone/>
            </a:pPr>
            <a:br>
              <a:rPr lang="es-ES" sz="1400" dirty="0">
                <a:latin typeface="Arial" panose="020B0604020202020204" pitchFamily="34" charset="0"/>
                <a:cs typeface="Arial" panose="020B0604020202020204" pitchFamily="34" charset="0"/>
              </a:rPr>
            </a:br>
            <a:br>
              <a:rPr lang="es-ES" sz="14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Identificar los principios de diseño más eficientes para una jaula antivuelco en términos de resistencia y peso.</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a:latin typeface="Arial" panose="020B0604020202020204" pitchFamily="34" charset="0"/>
                <a:cs typeface="Arial" panose="020B0604020202020204" pitchFamily="34" charset="0"/>
              </a:rPr>
              <a:t>Objetivos específicos: </a:t>
            </a: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Determine los materiales más adecuados para la construcción de la jaula en función de su resistencia, durabilidad y peso.</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Analizar y comprender las normativas y regulaciones de seguridad vehicular para garantizar el cumplimiento en el diseño y la construcción de la jaula.</a:t>
            </a:r>
          </a:p>
          <a:p>
            <a:pPr marL="0" indent="0">
              <a:lnSpc>
                <a:spcPct val="170000"/>
              </a:lnSpc>
              <a:buNone/>
            </a:pPr>
            <a:br>
              <a:rPr lang="es-ES" sz="1400" dirty="0">
                <a:latin typeface="Arial" panose="020B0604020202020204" pitchFamily="34" charset="0"/>
                <a:cs typeface="Arial" panose="020B0604020202020204" pitchFamily="34" charset="0"/>
              </a:rPr>
            </a:br>
            <a:r>
              <a:rPr lang="es-ES" sz="2900" b="1" dirty="0">
                <a:latin typeface="Arial" panose="020B0604020202020204" pitchFamily="34" charset="0"/>
                <a:cs typeface="Arial" panose="020B0604020202020204" pitchFamily="34" charset="0"/>
              </a:rPr>
              <a:t>Preguntas de investigación:</a:t>
            </a:r>
            <a:endParaRPr lang="es-ES" sz="2600" b="1" dirty="0">
              <a:latin typeface="Arial" panose="020B0604020202020204" pitchFamily="34" charset="0"/>
              <a:cs typeface="Arial" panose="020B0604020202020204" pitchFamily="34" charset="0"/>
            </a:endParaRPr>
          </a:p>
          <a:p>
            <a:pPr marL="0" indent="0">
              <a:buNone/>
            </a:pPr>
            <a:endParaRPr lang="es-ES" sz="1600" b="1" dirty="0">
              <a:latin typeface="Arial" panose="020B0604020202020204" pitchFamily="34" charset="0"/>
              <a:cs typeface="Arial" panose="020B0604020202020204" pitchFamily="34" charset="0"/>
            </a:endParaRPr>
          </a:p>
          <a:p>
            <a:pPr marL="0" indent="0">
              <a:lnSpc>
                <a:spcPct val="170000"/>
              </a:lnSpc>
              <a:buNone/>
            </a:pPr>
            <a:r>
              <a:rPr lang="es-ES" sz="2200" dirty="0">
                <a:latin typeface="Arial" panose="020B0604020202020204" pitchFamily="34" charset="0"/>
                <a:cs typeface="Arial" panose="020B0604020202020204" pitchFamily="34" charset="0"/>
              </a:rPr>
              <a:t>¿Qué materiales ofrecen la mejor combinación de resistencia y peso para la construcción de una jaula antivuelco?</a:t>
            </a:r>
            <a:br>
              <a:rPr lang="es-ES" sz="2200" dirty="0">
                <a:latin typeface="Arial" panose="020B0604020202020204" pitchFamily="34" charset="0"/>
                <a:cs typeface="Arial" panose="020B0604020202020204" pitchFamily="34" charset="0"/>
              </a:rPr>
            </a:b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¿Para qué tipo de vehículo se podría utilizar esta jaula?</a:t>
            </a:r>
          </a:p>
          <a:p>
            <a:pPr marL="0" indent="0">
              <a:lnSpc>
                <a:spcPct val="170000"/>
              </a:lnSpc>
              <a:buNone/>
            </a:pPr>
            <a:br>
              <a:rPr lang="es-ES" sz="2200" dirty="0">
                <a:latin typeface="Arial" panose="020B0604020202020204" pitchFamily="34" charset="0"/>
                <a:cs typeface="Arial" panose="020B0604020202020204" pitchFamily="34" charset="0"/>
              </a:rPr>
            </a:br>
            <a:r>
              <a:rPr lang="es-ES" sz="2200" dirty="0">
                <a:latin typeface="Arial" panose="020B0604020202020204" pitchFamily="34" charset="0"/>
                <a:cs typeface="Arial" panose="020B0604020202020204" pitchFamily="34" charset="0"/>
              </a:rPr>
              <a:t>¿Cómo afecta la instalación de una jaula antivuelco al rendimiento general de un vehículo?</a:t>
            </a:r>
          </a:p>
          <a:p>
            <a:pPr marL="0" indent="0">
              <a:buNone/>
            </a:pPr>
            <a:endParaRPr lang="es-CL"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2602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6B338C5-9765-7F8E-D207-AA5EF2806B50}"/>
              </a:ext>
            </a:extLst>
          </p:cNvPr>
          <p:cNvSpPr>
            <a:spLocks noGrp="1"/>
          </p:cNvSpPr>
          <p:nvPr>
            <p:ph idx="1"/>
          </p:nvPr>
        </p:nvSpPr>
        <p:spPr>
          <a:xfrm>
            <a:off x="838200" y="936264"/>
            <a:ext cx="10515600" cy="4985472"/>
          </a:xfrm>
        </p:spPr>
        <p:txBody>
          <a:bodyPr>
            <a:normAutofit/>
          </a:bodyPr>
          <a:lstStyle/>
          <a:p>
            <a:pPr marL="0" indent="0" algn="just">
              <a:buNone/>
            </a:pPr>
            <a:r>
              <a:rPr lang="es-CL" sz="1600" b="1" dirty="0">
                <a:latin typeface="Arial" panose="020B0604020202020204" pitchFamily="34" charset="0"/>
                <a:cs typeface="Arial" panose="020B0604020202020204" pitchFamily="34" charset="0"/>
              </a:rPr>
              <a:t>Temas iniciales involucrados:</a:t>
            </a:r>
          </a:p>
          <a:p>
            <a:pPr marL="0" indent="0">
              <a:buNone/>
            </a:pPr>
            <a:endParaRPr lang="es-CL" sz="1600" b="1" dirty="0">
              <a:latin typeface="Arial" panose="020B0604020202020204" pitchFamily="34" charset="0"/>
              <a:cs typeface="Arial" panose="020B0604020202020204" pitchFamily="34" charset="0"/>
            </a:endParaRPr>
          </a:p>
          <a:p>
            <a:pPr>
              <a:lnSpc>
                <a:spcPct val="150000"/>
              </a:lnSpc>
            </a:pPr>
            <a:r>
              <a:rPr lang="es-ES" sz="1200" dirty="0">
                <a:latin typeface="Arial" panose="020B0604020202020204" pitchFamily="34" charset="0"/>
                <a:cs typeface="Arial" panose="020B0604020202020204" pitchFamily="34" charset="0"/>
              </a:rPr>
              <a:t>Definir la geometría y la disposición de la jaula para garantizar la máxima resistencia y protección en caso de vuelo.</a:t>
            </a:r>
          </a:p>
          <a:p>
            <a:pPr>
              <a:lnSpc>
                <a:spcPct val="150000"/>
              </a:lnSpc>
            </a:pPr>
            <a:r>
              <a:rPr lang="es-ES" sz="1200" dirty="0">
                <a:latin typeface="Arial" panose="020B0604020202020204" pitchFamily="34" charset="0"/>
                <a:cs typeface="Arial" panose="020B0604020202020204" pitchFamily="34" charset="0"/>
              </a:rPr>
              <a:t>Investigar y seleccionar materiales adecuados que proporcionen la resistencia necesaria sin comprometer el peso del vehículo.</a:t>
            </a:r>
          </a:p>
          <a:p>
            <a:pPr>
              <a:lnSpc>
                <a:spcPct val="150000"/>
              </a:lnSpc>
            </a:pPr>
            <a:r>
              <a:rPr lang="es-ES" sz="1200" dirty="0">
                <a:latin typeface="Arial" panose="020B0604020202020204" pitchFamily="34" charset="0"/>
                <a:cs typeface="Arial" panose="020B0604020202020204" pitchFamily="34" charset="0"/>
              </a:rPr>
              <a:t>Comprender y cumplir con las normativas y regulaciones locales e internacionales de seguridad vehicular.</a:t>
            </a:r>
            <a:br>
              <a:rPr lang="es-ES" sz="1200" dirty="0">
                <a:latin typeface="Arial" panose="020B0604020202020204" pitchFamily="34" charset="0"/>
                <a:cs typeface="Arial" panose="020B0604020202020204" pitchFamily="34" charset="0"/>
              </a:rPr>
            </a:br>
            <a:br>
              <a:rPr lang="es-ES" sz="1200" dirty="0">
                <a:latin typeface="Arial" panose="020B0604020202020204" pitchFamily="34" charset="0"/>
                <a:cs typeface="Arial" panose="020B0604020202020204" pitchFamily="34" charset="0"/>
              </a:rPr>
            </a:b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8318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F0B6C09-D529-9E8F-C24B-C847716CCDA8}"/>
              </a:ext>
            </a:extLst>
          </p:cNvPr>
          <p:cNvSpPr txBox="1"/>
          <p:nvPr/>
        </p:nvSpPr>
        <p:spPr>
          <a:xfrm>
            <a:off x="1468581" y="517174"/>
            <a:ext cx="3934690" cy="369332"/>
          </a:xfrm>
          <a:prstGeom prst="rect">
            <a:avLst/>
          </a:prstGeom>
          <a:noFill/>
        </p:spPr>
        <p:txBody>
          <a:bodyPr wrap="square" rtlCol="0">
            <a:spAutoFit/>
          </a:bodyPr>
          <a:lstStyle/>
          <a:p>
            <a:pPr algn="ctr"/>
            <a:r>
              <a:rPr lang="es-CL" dirty="0">
                <a:latin typeface="Arial" panose="020B0604020202020204" pitchFamily="34" charset="0"/>
                <a:cs typeface="Arial" panose="020B0604020202020204" pitchFamily="34" charset="0"/>
              </a:rPr>
              <a:t>Cronograma</a:t>
            </a:r>
          </a:p>
        </p:txBody>
      </p:sp>
      <p:pic>
        <p:nvPicPr>
          <p:cNvPr id="4" name="Marcador de contenido 3">
            <a:extLst>
              <a:ext uri="{FF2B5EF4-FFF2-40B4-BE49-F238E27FC236}">
                <a16:creationId xmlns:a16="http://schemas.microsoft.com/office/drawing/2014/main" id="{DED5F68C-DC0D-F922-A9A8-6652075453DC}"/>
              </a:ext>
            </a:extLst>
          </p:cNvPr>
          <p:cNvPicPr>
            <a:picLocks noGrp="1" noChangeAspect="1"/>
          </p:cNvPicPr>
          <p:nvPr>
            <p:ph idx="1"/>
          </p:nvPr>
        </p:nvPicPr>
        <p:blipFill>
          <a:blip r:embed="rId2"/>
          <a:stretch>
            <a:fillRect/>
          </a:stretch>
        </p:blipFill>
        <p:spPr>
          <a:xfrm>
            <a:off x="1170709" y="1357745"/>
            <a:ext cx="4530435" cy="5163190"/>
          </a:xfrm>
          <a:prstGeom prst="rect">
            <a:avLst/>
          </a:prstGeom>
        </p:spPr>
      </p:pic>
      <p:sp>
        <p:nvSpPr>
          <p:cNvPr id="2" name="CuadroTexto 1">
            <a:extLst>
              <a:ext uri="{FF2B5EF4-FFF2-40B4-BE49-F238E27FC236}">
                <a16:creationId xmlns:a16="http://schemas.microsoft.com/office/drawing/2014/main" id="{90DE9BA1-5687-5939-CD14-8D004B417883}"/>
              </a:ext>
            </a:extLst>
          </p:cNvPr>
          <p:cNvSpPr txBox="1"/>
          <p:nvPr/>
        </p:nvSpPr>
        <p:spPr>
          <a:xfrm>
            <a:off x="7730836" y="517174"/>
            <a:ext cx="2299855" cy="369332"/>
          </a:xfrm>
          <a:prstGeom prst="rect">
            <a:avLst/>
          </a:prstGeom>
          <a:noFill/>
        </p:spPr>
        <p:txBody>
          <a:bodyPr wrap="square" rtlCol="0">
            <a:spAutoFit/>
          </a:bodyPr>
          <a:lstStyle/>
          <a:p>
            <a:r>
              <a:rPr lang="es-CL" dirty="0">
                <a:latin typeface="Arial" panose="020B0604020202020204" pitchFamily="34" charset="0"/>
                <a:cs typeface="Arial" panose="020B0604020202020204" pitchFamily="34" charset="0"/>
              </a:rPr>
              <a:t>Materiales a utilizar</a:t>
            </a:r>
          </a:p>
        </p:txBody>
      </p:sp>
      <p:sp>
        <p:nvSpPr>
          <p:cNvPr id="3" name="CuadroTexto 2">
            <a:extLst>
              <a:ext uri="{FF2B5EF4-FFF2-40B4-BE49-F238E27FC236}">
                <a16:creationId xmlns:a16="http://schemas.microsoft.com/office/drawing/2014/main" id="{A6934D9D-59CA-C2C4-6F7F-F94514B9550D}"/>
              </a:ext>
            </a:extLst>
          </p:cNvPr>
          <p:cNvSpPr txBox="1"/>
          <p:nvPr/>
        </p:nvSpPr>
        <p:spPr>
          <a:xfrm>
            <a:off x="7079673" y="1357745"/>
            <a:ext cx="3941618" cy="2862322"/>
          </a:xfrm>
          <a:prstGeom prst="rect">
            <a:avLst/>
          </a:prstGeom>
          <a:noFill/>
        </p:spPr>
        <p:txBody>
          <a:bodyPr wrap="square" rtlCol="0">
            <a:spAutoFit/>
          </a:bodyPr>
          <a:lstStyle/>
          <a:p>
            <a:pPr marL="342900" indent="-342900">
              <a:lnSpc>
                <a:spcPct val="150000"/>
              </a:lnSpc>
              <a:buFont typeface="+mj-lt"/>
              <a:buAutoNum type="arabicPeriod"/>
            </a:pPr>
            <a:r>
              <a:rPr lang="es-CL" i="0" dirty="0">
                <a:effectLst/>
                <a:latin typeface="Arial" panose="020B0604020202020204" pitchFamily="34" charset="0"/>
                <a:cs typeface="Arial" panose="020B0604020202020204" pitchFamily="34" charset="0"/>
              </a:rPr>
              <a:t>Acero de Alta Resistencia</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Aleaciones de Aluminio</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Tubos Cromoly</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Materiales Híbridos</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Fibra de vidrio</a:t>
            </a:r>
          </a:p>
          <a:p>
            <a:pPr marL="342900" indent="-342900">
              <a:lnSpc>
                <a:spcPct val="150000"/>
              </a:lnSpc>
              <a:buFont typeface="+mj-lt"/>
              <a:buAutoNum type="arabicPeriod"/>
            </a:pPr>
            <a:r>
              <a:rPr lang="es-CL" dirty="0">
                <a:latin typeface="Arial" panose="020B0604020202020204" pitchFamily="34" charset="0"/>
                <a:cs typeface="Arial" panose="020B0604020202020204" pitchFamily="34" charset="0"/>
              </a:rPr>
              <a:t>Titanio</a:t>
            </a:r>
          </a:p>
          <a:p>
            <a:pPr marL="342900" indent="-342900">
              <a:buFont typeface="+mj-lt"/>
              <a:buAutoNum type="arabicPeriod"/>
            </a:pPr>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096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47D1CA9-BCC7-CDE8-4203-6669193CBBAB}"/>
              </a:ext>
            </a:extLst>
          </p:cNvPr>
          <p:cNvSpPr>
            <a:spLocks noGrp="1"/>
          </p:cNvSpPr>
          <p:nvPr>
            <p:ph idx="1"/>
          </p:nvPr>
        </p:nvSpPr>
        <p:spPr>
          <a:xfrm>
            <a:off x="913794" y="1994246"/>
            <a:ext cx="10353762" cy="3695136"/>
          </a:xfrm>
        </p:spPr>
        <p:txBody>
          <a:bodyPr>
            <a:normAutofit/>
          </a:bodyPr>
          <a:lstStyle/>
          <a:p>
            <a:pPr>
              <a:lnSpc>
                <a:spcPct val="150000"/>
              </a:lnSpc>
            </a:pPr>
            <a:r>
              <a:rPr lang="es-CL" sz="1200" dirty="0">
                <a:latin typeface="Arial" panose="020B0604020202020204" pitchFamily="34" charset="0"/>
                <a:cs typeface="Arial" panose="020B0604020202020204" pitchFamily="34" charset="0"/>
              </a:rPr>
              <a:t>Para realizar la jaula antivuelco necesitaremos de un galletero para cortar la mayoría de los fierros utilizados, una huincha para que cada material cortado sea con una medida exacta, también necesitaremos una soldadora para poder unir los materiales y finalmente pintura en aerosol para que quede presentable. </a:t>
            </a:r>
          </a:p>
          <a:p>
            <a:pPr>
              <a:lnSpc>
                <a:spcPct val="150000"/>
              </a:lnSpc>
            </a:pPr>
            <a:endParaRPr lang="es-CL" sz="1200" dirty="0">
              <a:latin typeface="Arial" panose="020B0604020202020204" pitchFamily="34" charset="0"/>
              <a:cs typeface="Arial" panose="020B0604020202020204" pitchFamily="34" charset="0"/>
            </a:endParaRPr>
          </a:p>
          <a:p>
            <a:pPr>
              <a:lnSpc>
                <a:spcPct val="150000"/>
              </a:lnSpc>
            </a:pPr>
            <a:endParaRPr lang="es-CL" sz="1200" dirty="0">
              <a:latin typeface="Arial" panose="020B0604020202020204" pitchFamily="34" charset="0"/>
              <a:cs typeface="Arial" panose="020B0604020202020204" pitchFamily="34" charset="0"/>
            </a:endParaRPr>
          </a:p>
        </p:txBody>
      </p:sp>
      <p:sp>
        <p:nvSpPr>
          <p:cNvPr id="7" name="Título 6">
            <a:extLst>
              <a:ext uri="{FF2B5EF4-FFF2-40B4-BE49-F238E27FC236}">
                <a16:creationId xmlns:a16="http://schemas.microsoft.com/office/drawing/2014/main" id="{588098EB-D0BA-AFB0-9E8D-8C40569933FD}"/>
              </a:ext>
            </a:extLst>
          </p:cNvPr>
          <p:cNvSpPr>
            <a:spLocks noGrp="1"/>
          </p:cNvSpPr>
          <p:nvPr>
            <p:ph type="title"/>
          </p:nvPr>
        </p:nvSpPr>
        <p:spPr>
          <a:xfrm>
            <a:off x="913794" y="667925"/>
            <a:ext cx="10353761" cy="1326321"/>
          </a:xfrm>
        </p:spPr>
        <p:txBody>
          <a:bodyPr>
            <a:normAutofit/>
          </a:bodyPr>
          <a:lstStyle/>
          <a:p>
            <a:pPr algn="just"/>
            <a:r>
              <a:rPr lang="es-CL" sz="1600" dirty="0">
                <a:effectLst/>
                <a:latin typeface="Arial" panose="020B0604020202020204" pitchFamily="34" charset="0"/>
                <a:cs typeface="Arial" panose="020B0604020202020204" pitchFamily="34" charset="0"/>
              </a:rPr>
              <a:t>Incorporación de herramientas</a:t>
            </a:r>
          </a:p>
        </p:txBody>
      </p:sp>
      <p:pic>
        <p:nvPicPr>
          <p:cNvPr id="8" name="Imagen 7">
            <a:extLst>
              <a:ext uri="{FF2B5EF4-FFF2-40B4-BE49-F238E27FC236}">
                <a16:creationId xmlns:a16="http://schemas.microsoft.com/office/drawing/2014/main" id="{C0FD65BE-4C9B-BA35-75DA-CFC6155897BA}"/>
              </a:ext>
            </a:extLst>
          </p:cNvPr>
          <p:cNvPicPr>
            <a:picLocks noChangeAspect="1"/>
          </p:cNvPicPr>
          <p:nvPr/>
        </p:nvPicPr>
        <p:blipFill>
          <a:blip r:embed="rId2"/>
          <a:stretch>
            <a:fillRect/>
          </a:stretch>
        </p:blipFill>
        <p:spPr>
          <a:xfrm>
            <a:off x="883534" y="3161765"/>
            <a:ext cx="2924341" cy="2339473"/>
          </a:xfrm>
          <a:prstGeom prst="rect">
            <a:avLst/>
          </a:prstGeom>
        </p:spPr>
      </p:pic>
      <p:pic>
        <p:nvPicPr>
          <p:cNvPr id="9" name="Imagen 8">
            <a:extLst>
              <a:ext uri="{FF2B5EF4-FFF2-40B4-BE49-F238E27FC236}">
                <a16:creationId xmlns:a16="http://schemas.microsoft.com/office/drawing/2014/main" id="{E4E8E5CA-0CD4-6D61-B6A9-ADBFE64B0CA1}"/>
              </a:ext>
            </a:extLst>
          </p:cNvPr>
          <p:cNvPicPr>
            <a:picLocks noChangeAspect="1"/>
          </p:cNvPicPr>
          <p:nvPr/>
        </p:nvPicPr>
        <p:blipFill>
          <a:blip r:embed="rId3"/>
          <a:stretch>
            <a:fillRect/>
          </a:stretch>
        </p:blipFill>
        <p:spPr>
          <a:xfrm>
            <a:off x="4651775" y="3161765"/>
            <a:ext cx="2339473" cy="2339473"/>
          </a:xfrm>
          <a:prstGeom prst="rect">
            <a:avLst/>
          </a:prstGeom>
        </p:spPr>
      </p:pic>
      <p:pic>
        <p:nvPicPr>
          <p:cNvPr id="10" name="Imagen 9">
            <a:extLst>
              <a:ext uri="{FF2B5EF4-FFF2-40B4-BE49-F238E27FC236}">
                <a16:creationId xmlns:a16="http://schemas.microsoft.com/office/drawing/2014/main" id="{92154BED-D65F-A49B-F6C7-2411D42D10F8}"/>
              </a:ext>
            </a:extLst>
          </p:cNvPr>
          <p:cNvPicPr>
            <a:picLocks noChangeAspect="1"/>
          </p:cNvPicPr>
          <p:nvPr/>
        </p:nvPicPr>
        <p:blipFill>
          <a:blip r:embed="rId4"/>
          <a:stretch>
            <a:fillRect/>
          </a:stretch>
        </p:blipFill>
        <p:spPr>
          <a:xfrm>
            <a:off x="8026791" y="2945891"/>
            <a:ext cx="2917874" cy="2917874"/>
          </a:xfrm>
          <a:prstGeom prst="rect">
            <a:avLst/>
          </a:prstGeom>
        </p:spPr>
      </p:pic>
      <p:sp>
        <p:nvSpPr>
          <p:cNvPr id="11" name="CuadroTexto 10">
            <a:extLst>
              <a:ext uri="{FF2B5EF4-FFF2-40B4-BE49-F238E27FC236}">
                <a16:creationId xmlns:a16="http://schemas.microsoft.com/office/drawing/2014/main" id="{5030F6D7-F789-A056-EDFA-52DD3148A99B}"/>
              </a:ext>
            </a:extLst>
          </p:cNvPr>
          <p:cNvSpPr txBox="1"/>
          <p:nvPr/>
        </p:nvSpPr>
        <p:spPr>
          <a:xfrm>
            <a:off x="7883236" y="5717697"/>
            <a:ext cx="3384319" cy="923330"/>
          </a:xfrm>
          <a:prstGeom prst="rect">
            <a:avLst/>
          </a:prstGeom>
          <a:noFill/>
        </p:spPr>
        <p:txBody>
          <a:bodyPr wrap="square" rtlCol="0">
            <a:spAutoFit/>
          </a:bodyPr>
          <a:lstStyle/>
          <a:p>
            <a:pPr algn="ctr"/>
            <a:r>
              <a:rPr lang="es-CL" dirty="0"/>
              <a:t>https://www.tusherramientas.cl/soldadora-inverter-indura-160-amp-arctig-160-lcd</a:t>
            </a:r>
          </a:p>
        </p:txBody>
      </p:sp>
      <p:sp>
        <p:nvSpPr>
          <p:cNvPr id="12" name="CuadroTexto 11">
            <a:extLst>
              <a:ext uri="{FF2B5EF4-FFF2-40B4-BE49-F238E27FC236}">
                <a16:creationId xmlns:a16="http://schemas.microsoft.com/office/drawing/2014/main" id="{0E6280C7-5726-8EED-C39B-4D317E44C798}"/>
              </a:ext>
            </a:extLst>
          </p:cNvPr>
          <p:cNvSpPr txBox="1"/>
          <p:nvPr/>
        </p:nvSpPr>
        <p:spPr>
          <a:xfrm>
            <a:off x="4524980" y="5678820"/>
            <a:ext cx="2653256" cy="923330"/>
          </a:xfrm>
          <a:prstGeom prst="rect">
            <a:avLst/>
          </a:prstGeom>
          <a:noFill/>
        </p:spPr>
        <p:txBody>
          <a:bodyPr wrap="square" rtlCol="0">
            <a:spAutoFit/>
          </a:bodyPr>
          <a:lstStyle/>
          <a:p>
            <a:r>
              <a:rPr lang="es-CL" dirty="0"/>
              <a:t>https://aguila.cl/huincha-de-medir-global-plus-8m-26-30626.html</a:t>
            </a:r>
          </a:p>
        </p:txBody>
      </p:sp>
      <p:sp>
        <p:nvSpPr>
          <p:cNvPr id="13" name="CuadroTexto 12">
            <a:extLst>
              <a:ext uri="{FF2B5EF4-FFF2-40B4-BE49-F238E27FC236}">
                <a16:creationId xmlns:a16="http://schemas.microsoft.com/office/drawing/2014/main" id="{CC9F6C9F-5591-F4CD-2812-9494B918096F}"/>
              </a:ext>
            </a:extLst>
          </p:cNvPr>
          <p:cNvSpPr txBox="1"/>
          <p:nvPr/>
        </p:nvSpPr>
        <p:spPr>
          <a:xfrm>
            <a:off x="913794" y="5673984"/>
            <a:ext cx="2906186" cy="923330"/>
          </a:xfrm>
          <a:prstGeom prst="rect">
            <a:avLst/>
          </a:prstGeom>
          <a:noFill/>
        </p:spPr>
        <p:txBody>
          <a:bodyPr wrap="square" rtlCol="0">
            <a:spAutoFit/>
          </a:bodyPr>
          <a:lstStyle/>
          <a:p>
            <a:r>
              <a:rPr lang="es-CL"/>
              <a:t>https://www.easy.cl/herramientas/herramientas-electricas/esmeriles</a:t>
            </a:r>
            <a:endParaRPr lang="es-CL" dirty="0"/>
          </a:p>
        </p:txBody>
      </p:sp>
    </p:spTree>
    <p:extLst>
      <p:ext uri="{BB962C8B-B14F-4D97-AF65-F5344CB8AC3E}">
        <p14:creationId xmlns:p14="http://schemas.microsoft.com/office/powerpoint/2010/main" val="1304037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D1E73B-8021-8217-A512-1E888154953E}"/>
              </a:ext>
            </a:extLst>
          </p:cNvPr>
          <p:cNvSpPr>
            <a:spLocks noGrp="1"/>
          </p:cNvSpPr>
          <p:nvPr>
            <p:ph type="title"/>
          </p:nvPr>
        </p:nvSpPr>
        <p:spPr/>
        <p:txBody>
          <a:bodyPr>
            <a:normAutofit fontScale="90000"/>
          </a:bodyPr>
          <a:lstStyle/>
          <a:p>
            <a:pPr algn="just"/>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r>
              <a:rPr kumimoji="0" lang="es-ES"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¿Qué materiales ofrecen la mejor combinación de resistencia y peso para la construcción de una jaula antivuelco?</a:t>
            </a:r>
            <a:br>
              <a:rPr kumimoji="0" lang="es-ES" sz="18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br>
              <a:rPr kumimoji="0" lang="es-ES" sz="12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lang="es-CL" dirty="0">
              <a:effectLst/>
            </a:endParaRPr>
          </a:p>
        </p:txBody>
      </p:sp>
      <p:sp>
        <p:nvSpPr>
          <p:cNvPr id="3" name="Marcador de contenido 2">
            <a:extLst>
              <a:ext uri="{FF2B5EF4-FFF2-40B4-BE49-F238E27FC236}">
                <a16:creationId xmlns:a16="http://schemas.microsoft.com/office/drawing/2014/main" id="{2866DF57-8E7F-9DE3-6A85-77D9C6BFCDE4}"/>
              </a:ext>
            </a:extLst>
          </p:cNvPr>
          <p:cNvSpPr>
            <a:spLocks noGrp="1"/>
          </p:cNvSpPr>
          <p:nvPr>
            <p:ph idx="1"/>
          </p:nvPr>
        </p:nvSpPr>
        <p:spPr/>
        <p:txBody>
          <a:bodyPr>
            <a:normAutofit/>
          </a:bodyPr>
          <a:lstStyle/>
          <a:p>
            <a:pPr algn="just">
              <a:lnSpc>
                <a:spcPct val="150000"/>
              </a:lnSpc>
            </a:pPr>
            <a:r>
              <a:rPr lang="es-ES" sz="1200" b="0" i="0" dirty="0">
                <a:effectLst/>
                <a:latin typeface="Arial" panose="020B0604020202020204" pitchFamily="34" charset="0"/>
                <a:cs typeface="Arial" panose="020B0604020202020204" pitchFamily="34" charset="0"/>
              </a:rPr>
              <a:t>La elección de los materiales para la creación de una jaula antivuelco debe equilibrar la resistencia, el peso y la durabilidad.</a:t>
            </a:r>
          </a:p>
          <a:p>
            <a:pPr marL="0" indent="0" algn="just">
              <a:lnSpc>
                <a:spcPct val="150000"/>
              </a:lnSpc>
              <a:buNone/>
            </a:pPr>
            <a:r>
              <a:rPr lang="es-CL" sz="1200" b="1" dirty="0">
                <a:latin typeface="Arial" panose="020B0604020202020204" pitchFamily="34" charset="0"/>
                <a:cs typeface="Arial" panose="020B0604020202020204" pitchFamily="34" charset="0"/>
              </a:rPr>
              <a:t>Acero de Alta Resistencia: </a:t>
            </a:r>
            <a:r>
              <a:rPr lang="es-CL" sz="1200" dirty="0">
                <a:latin typeface="Arial" panose="020B0604020202020204" pitchFamily="34" charset="0"/>
                <a:cs typeface="Arial" panose="020B0604020202020204" pitchFamily="34" charset="0"/>
              </a:rPr>
              <a:t>e</a:t>
            </a:r>
            <a:r>
              <a:rPr lang="es-ES" sz="1200" b="0" i="0" dirty="0">
                <a:effectLst/>
                <a:latin typeface="Arial" panose="020B0604020202020204" pitchFamily="34" charset="0"/>
                <a:cs typeface="Arial" panose="020B0604020202020204" pitchFamily="34" charset="0"/>
              </a:rPr>
              <a:t>s ampliamente utilizado en jaulas antivuelco debido a su alta resistencia y capacidad para absorber impactos.</a:t>
            </a:r>
          </a:p>
          <a:p>
            <a:pPr marL="0" indent="0" algn="just">
              <a:lnSpc>
                <a:spcPct val="150000"/>
              </a:lnSpc>
              <a:buNone/>
            </a:pPr>
            <a:r>
              <a:rPr lang="es-CL" sz="1200" b="1" i="0" dirty="0">
                <a:effectLst/>
                <a:latin typeface="Arial" panose="020B0604020202020204" pitchFamily="34" charset="0"/>
                <a:cs typeface="Arial" panose="020B0604020202020204" pitchFamily="34" charset="0"/>
              </a:rPr>
              <a:t>Aleaciones de Aluminio:  </a:t>
            </a:r>
            <a:r>
              <a:rPr lang="es-ES" sz="1200" b="0" i="0" dirty="0">
                <a:solidFill>
                  <a:srgbClr val="D1D5DB"/>
                </a:solidFill>
                <a:effectLst/>
                <a:latin typeface="Arial" panose="020B0604020202020204" pitchFamily="34" charset="0"/>
                <a:cs typeface="Arial" panose="020B0604020202020204" pitchFamily="34" charset="0"/>
              </a:rPr>
              <a:t>ofrecen una buena resistencia con un peso más ligero que el acero.</a:t>
            </a:r>
          </a:p>
          <a:p>
            <a:pPr marL="0" indent="0" algn="just">
              <a:lnSpc>
                <a:spcPct val="150000"/>
              </a:lnSpc>
              <a:buNone/>
            </a:pPr>
            <a:r>
              <a:rPr lang="es-CL" sz="1200" b="1" i="0" dirty="0">
                <a:effectLst/>
                <a:latin typeface="Arial" panose="020B0604020202020204" pitchFamily="34" charset="0"/>
                <a:cs typeface="Arial" panose="020B0604020202020204" pitchFamily="34" charset="0"/>
              </a:rPr>
              <a:t>Fibra de Carbono: </a:t>
            </a:r>
            <a:r>
              <a:rPr lang="es-ES" sz="1200" b="0" i="0" dirty="0">
                <a:solidFill>
                  <a:srgbClr val="D1D5DB"/>
                </a:solidFill>
                <a:effectLst/>
                <a:latin typeface="Arial" panose="020B0604020202020204" pitchFamily="34" charset="0"/>
                <a:cs typeface="Arial" panose="020B0604020202020204" pitchFamily="34" charset="0"/>
              </a:rPr>
              <a:t>La fibra de carbono es un material compuesto conocido por su alta resistencia específica y rigidez.</a:t>
            </a:r>
          </a:p>
          <a:p>
            <a:pPr marL="0" indent="0" algn="just">
              <a:lnSpc>
                <a:spcPct val="150000"/>
              </a:lnSpc>
              <a:buNone/>
            </a:pPr>
            <a:r>
              <a:rPr lang="es-CL" sz="1200" b="1" i="0" dirty="0">
                <a:effectLst/>
                <a:latin typeface="Arial" panose="020B0604020202020204" pitchFamily="34" charset="0"/>
                <a:cs typeface="Arial" panose="020B0604020202020204" pitchFamily="34" charset="0"/>
              </a:rPr>
              <a:t>Titanio:  </a:t>
            </a:r>
            <a:r>
              <a:rPr lang="es-ES" sz="1200" b="0" i="0" dirty="0">
                <a:solidFill>
                  <a:srgbClr val="D1D5DB"/>
                </a:solidFill>
                <a:effectLst/>
                <a:latin typeface="Arial" panose="020B0604020202020204" pitchFamily="34" charset="0"/>
                <a:cs typeface="Arial" panose="020B0604020202020204" pitchFamily="34" charset="0"/>
              </a:rPr>
              <a:t>El titanio es conocido por su alta resistencia y durabilidad con un peso más ligero que el acero.</a:t>
            </a:r>
          </a:p>
          <a:p>
            <a:pPr marL="0" indent="0" algn="just">
              <a:lnSpc>
                <a:spcPct val="150000"/>
              </a:lnSpc>
              <a:buNone/>
            </a:pPr>
            <a:r>
              <a:rPr lang="es-CL" sz="1200" b="1" i="0" dirty="0">
                <a:effectLst/>
                <a:latin typeface="Arial" panose="020B0604020202020204" pitchFamily="34" charset="0"/>
                <a:cs typeface="Arial" panose="020B0604020202020204" pitchFamily="34" charset="0"/>
              </a:rPr>
              <a:t>Materiales Compuestos: </a:t>
            </a:r>
            <a:r>
              <a:rPr lang="es-ES" sz="1200" b="0" i="0" dirty="0">
                <a:solidFill>
                  <a:srgbClr val="D1D5DB"/>
                </a:solidFill>
                <a:effectLst/>
                <a:latin typeface="Arial" panose="020B0604020202020204" pitchFamily="34" charset="0"/>
                <a:cs typeface="Arial" panose="020B0604020202020204" pitchFamily="34" charset="0"/>
              </a:rPr>
              <a:t>compuestos como fibra de vidrio o fibra de aramida en una matriz de resina epoxi ofrecen una buena resistencia y capacidad de absorción de energía.</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5221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D08BD-38B9-AF6E-44EA-D204903CE5F3}"/>
              </a:ext>
            </a:extLst>
          </p:cNvPr>
          <p:cNvSpPr>
            <a:spLocks noGrp="1"/>
          </p:cNvSpPr>
          <p:nvPr>
            <p:ph type="title"/>
          </p:nvPr>
        </p:nvSpPr>
        <p:spPr/>
        <p:txBody>
          <a:bodyPr>
            <a:normAutofit/>
          </a:bodyPr>
          <a:lstStyle/>
          <a:p>
            <a:pPr algn="just"/>
            <a:r>
              <a:rPr kumimoji="0" lang="es-ES" sz="1600" i="0" u="none" strike="noStrike" kern="1200" cap="none" spc="0" normalizeH="0" baseline="0" noProof="0" dirty="0">
                <a:ln>
                  <a:noFill/>
                </a:ln>
                <a:solidFill>
                  <a:prstClr val="white"/>
                </a:solidFill>
                <a:effectLst>
                  <a:outerShdw blurRad="50800" dist="38100" dir="2700000" algn="tl" rotWithShape="0">
                    <a:srgbClr val="000000">
                      <a:alpha val="48000"/>
                    </a:srgbClr>
                  </a:outerShdw>
                </a:effectLst>
                <a:uLnTx/>
                <a:uFillTx/>
                <a:latin typeface="Arial" panose="020B0604020202020204" pitchFamily="34" charset="0"/>
                <a:ea typeface="+mn-ea"/>
                <a:cs typeface="Arial" panose="020B0604020202020204" pitchFamily="34" charset="0"/>
              </a:rPr>
              <a:t>¿Para qué tipo de vehículo se podría utilizar esta jaula?</a:t>
            </a:r>
            <a:endParaRPr lang="es-CL" sz="1600" dirty="0"/>
          </a:p>
        </p:txBody>
      </p:sp>
      <p:sp>
        <p:nvSpPr>
          <p:cNvPr id="3" name="Marcador de contenido 2">
            <a:extLst>
              <a:ext uri="{FF2B5EF4-FFF2-40B4-BE49-F238E27FC236}">
                <a16:creationId xmlns:a16="http://schemas.microsoft.com/office/drawing/2014/main" id="{014BB0E6-9620-7F43-41EE-A87AB39A3C0E}"/>
              </a:ext>
            </a:extLst>
          </p:cNvPr>
          <p:cNvSpPr>
            <a:spLocks noGrp="1"/>
          </p:cNvSpPr>
          <p:nvPr>
            <p:ph idx="1"/>
          </p:nvPr>
        </p:nvSpPr>
        <p:spPr/>
        <p:txBody>
          <a:bodyPr>
            <a:normAutofit/>
          </a:bodyPr>
          <a:lstStyle/>
          <a:p>
            <a:pPr algn="just">
              <a:lnSpc>
                <a:spcPct val="150000"/>
              </a:lnSpc>
            </a:pPr>
            <a:r>
              <a:rPr lang="es-ES" sz="1200" b="1" i="0" dirty="0">
                <a:effectLst/>
                <a:latin typeface="Arial" panose="020B0604020202020204" pitchFamily="34" charset="0"/>
                <a:cs typeface="Arial" panose="020B0604020202020204" pitchFamily="34" charset="0"/>
              </a:rPr>
              <a:t>Vehículos Todo Terreno (ATV):</a:t>
            </a:r>
            <a:r>
              <a:rPr lang="es-ES" sz="1200" b="0" i="0" dirty="0">
                <a:solidFill>
                  <a:srgbClr val="D1D5DB"/>
                </a:solidFill>
                <a:effectLst/>
                <a:latin typeface="Arial" panose="020B0604020202020204" pitchFamily="34" charset="0"/>
                <a:cs typeface="Arial" panose="020B0604020202020204" pitchFamily="34" charset="0"/>
              </a:rPr>
              <a:t> Los ATV, también conocidos como cuatrimotos o quad, son vehículos de tres o cuatro ruedas utilizadas en terrenos accidentados.</a:t>
            </a:r>
          </a:p>
          <a:p>
            <a:pPr algn="just">
              <a:lnSpc>
                <a:spcPct val="150000"/>
              </a:lnSpc>
            </a:pPr>
            <a:r>
              <a:rPr lang="es-ES" sz="1200" b="1" i="0" dirty="0">
                <a:effectLst/>
                <a:latin typeface="Arial" panose="020B0604020202020204" pitchFamily="34" charset="0"/>
                <a:cs typeface="Arial" panose="020B0604020202020204" pitchFamily="34" charset="0"/>
              </a:rPr>
              <a:t>Vehículos de Competición y Carreras:</a:t>
            </a:r>
            <a:r>
              <a:rPr lang="es-ES" sz="1200" b="0" i="0" dirty="0">
                <a:solidFill>
                  <a:srgbClr val="D1D5DB"/>
                </a:solidFill>
                <a:effectLst/>
                <a:latin typeface="Arial" panose="020B0604020202020204" pitchFamily="34" charset="0"/>
                <a:cs typeface="Arial" panose="020B0604020202020204" pitchFamily="34" charset="0"/>
              </a:rPr>
              <a:t> En el ámbito del automovilismo, especialmente en competiciones todoterreno, rally y carreras de resistencia, es común encontrar jaulas antivuelco en los vehículos de competición.</a:t>
            </a:r>
          </a:p>
          <a:p>
            <a:pPr algn="just">
              <a:lnSpc>
                <a:spcPct val="150000"/>
              </a:lnSpc>
            </a:pPr>
            <a:r>
              <a:rPr lang="es-ES" sz="1200" b="1" i="0" dirty="0">
                <a:effectLst/>
                <a:latin typeface="Arial" panose="020B0604020202020204" pitchFamily="34" charset="0"/>
                <a:cs typeface="Arial" panose="020B0604020202020204" pitchFamily="34" charset="0"/>
              </a:rPr>
              <a:t>Vehículos Militares y de Rescate:</a:t>
            </a:r>
            <a:r>
              <a:rPr lang="es-ES" sz="1200" b="0" i="0" dirty="0">
                <a:solidFill>
                  <a:srgbClr val="D1D5DB"/>
                </a:solidFill>
                <a:effectLst/>
                <a:latin typeface="Arial" panose="020B0604020202020204" pitchFamily="34" charset="0"/>
                <a:cs typeface="Arial" panose="020B0604020202020204" pitchFamily="34" charset="0"/>
              </a:rPr>
              <a:t> En algunos vehículos militares y de rescate diseñados para operar en terrenos difíciles, las jaulas antivuelco proporcionan protección adicional para los ocupantes en situaciones potencialmente peligrosas.</a:t>
            </a:r>
          </a:p>
          <a:p>
            <a:pPr algn="just">
              <a:lnSpc>
                <a:spcPct val="150000"/>
              </a:lnSpc>
            </a:pPr>
            <a:r>
              <a:rPr lang="es-ES" sz="1200" b="1" i="0" dirty="0">
                <a:effectLst/>
                <a:latin typeface="Arial" panose="020B0604020202020204" pitchFamily="34" charset="0"/>
                <a:cs typeface="Arial" panose="020B0604020202020204" pitchFamily="34" charset="0"/>
              </a:rPr>
              <a:t>Vehículos de Servicio Público:</a:t>
            </a:r>
            <a:r>
              <a:rPr lang="es-ES" sz="1200" b="0" i="0" dirty="0">
                <a:solidFill>
                  <a:srgbClr val="D1D5DB"/>
                </a:solidFill>
                <a:effectLst/>
                <a:latin typeface="Arial" panose="020B0604020202020204" pitchFamily="34" charset="0"/>
                <a:cs typeface="Arial" panose="020B0604020202020204" pitchFamily="34" charset="0"/>
              </a:rPr>
              <a:t> En ciertos vehículos de servicio público, como vehículos utilitarios, utilizados por personal de seguridad, policía o servicios de emergencia en entornos accidentados, las jaulas antivuelco pueden ser esenciales para garantizar la seguridad de los operadores.</a:t>
            </a:r>
          </a:p>
          <a:p>
            <a:pPr algn="just">
              <a:lnSpc>
                <a:spcPct val="150000"/>
              </a:lnSpc>
            </a:pPr>
            <a:r>
              <a:rPr lang="es-ES" sz="1200" b="0" i="0" dirty="0">
                <a:solidFill>
                  <a:srgbClr val="D1D5DB"/>
                </a:solidFill>
                <a:effectLst/>
                <a:latin typeface="Arial" panose="020B0604020202020204" pitchFamily="34" charset="0"/>
                <a:cs typeface="Arial" panose="020B0604020202020204" pitchFamily="34" charset="0"/>
              </a:rPr>
              <a:t>Es importante destacar que la instalación de una jaula antivuelco debe cumplir con normativas y estándares de seguridad específicos, y la elección de materiales y diseño debe adaptarse a las características y requisitos de cada tipo de vehículo.</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319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35528D-322B-3AFE-85C9-62C8229F4098}"/>
              </a:ext>
            </a:extLst>
          </p:cNvPr>
          <p:cNvSpPr>
            <a:spLocks noGrp="1"/>
          </p:cNvSpPr>
          <p:nvPr>
            <p:ph type="title"/>
          </p:nvPr>
        </p:nvSpPr>
        <p:spPr/>
        <p:txBody>
          <a:bodyPr>
            <a:normAutofit/>
          </a:bodyPr>
          <a:lstStyle/>
          <a:p>
            <a:pPr marL="0" marR="0" lvl="0" indent="0" algn="just" defTabSz="914400" rtl="0" eaLnBrk="1" fontAlgn="auto" latinLnBrk="0" hangingPunct="1">
              <a:lnSpc>
                <a:spcPct val="170000"/>
              </a:lnSpc>
              <a:spcBef>
                <a:spcPts val="1000"/>
              </a:spcBef>
              <a:spcAft>
                <a:spcPts val="0"/>
              </a:spcAft>
              <a:tabLst/>
              <a:defRPr/>
            </a:pPr>
            <a: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¿Cómo afecta la instalación de una jaula antivuelco al rendimiento general de un vehículo?</a:t>
            </a:r>
            <a:br>
              <a:rPr kumimoji="0" lang="es-ES" sz="160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lang="es-CL" sz="1600" dirty="0">
              <a:effectLst/>
            </a:endParaRPr>
          </a:p>
        </p:txBody>
      </p:sp>
      <p:sp>
        <p:nvSpPr>
          <p:cNvPr id="3" name="Marcador de contenido 2">
            <a:extLst>
              <a:ext uri="{FF2B5EF4-FFF2-40B4-BE49-F238E27FC236}">
                <a16:creationId xmlns:a16="http://schemas.microsoft.com/office/drawing/2014/main" id="{34E61125-82B6-F96C-2030-D02C4BE9B785}"/>
              </a:ext>
            </a:extLst>
          </p:cNvPr>
          <p:cNvSpPr>
            <a:spLocks noGrp="1"/>
          </p:cNvSpPr>
          <p:nvPr>
            <p:ph idx="1"/>
          </p:nvPr>
        </p:nvSpPr>
        <p:spPr/>
        <p:txBody>
          <a:bodyPr>
            <a:normAutofit/>
          </a:bodyPr>
          <a:lstStyle/>
          <a:p>
            <a:pPr>
              <a:lnSpc>
                <a:spcPct val="150000"/>
              </a:lnSpc>
            </a:pPr>
            <a:r>
              <a:rPr lang="es-ES" sz="1200" b="0" i="0" dirty="0">
                <a:solidFill>
                  <a:srgbClr val="D1D5DB"/>
                </a:solidFill>
                <a:effectLst/>
                <a:latin typeface="Arial" panose="020B0604020202020204" pitchFamily="34" charset="0"/>
                <a:cs typeface="Arial" panose="020B0604020202020204" pitchFamily="34" charset="0"/>
              </a:rPr>
              <a:t>La instalación de una jaula antivuelco puede tener varias implicaciones en el rendimiento general de un vehículo, ya que introduce cambios estructurales y de peso que afectan la dinámica de conducción y otras características. Aquí se describen algunas de las formas en que la instalación de una jaula antivuelco puede influir en el rendimiento del vehículo:</a:t>
            </a:r>
          </a:p>
          <a:p>
            <a:pPr>
              <a:lnSpc>
                <a:spcPct val="150000"/>
              </a:lnSpc>
            </a:pPr>
            <a:r>
              <a:rPr lang="es-ES" sz="1200" b="1" i="0" dirty="0">
                <a:effectLst/>
                <a:latin typeface="Arial" panose="020B0604020202020204" pitchFamily="34" charset="0"/>
                <a:cs typeface="Arial" panose="020B0604020202020204" pitchFamily="34" charset="0"/>
              </a:rPr>
              <a:t>Peso Adicional:</a:t>
            </a:r>
            <a:r>
              <a:rPr lang="es-ES" sz="1200" b="0" i="0" dirty="0">
                <a:solidFill>
                  <a:srgbClr val="D1D5DB"/>
                </a:solidFill>
                <a:effectLst/>
                <a:latin typeface="Arial" panose="020B0604020202020204" pitchFamily="34" charset="0"/>
                <a:cs typeface="Arial" panose="020B0604020202020204" pitchFamily="34" charset="0"/>
              </a:rPr>
              <a:t> La jaula antivuelco, especialmente si está construida con materiales densos como el acero, puede agregar peso significativo al vehículo.</a:t>
            </a:r>
          </a:p>
          <a:p>
            <a:pPr>
              <a:lnSpc>
                <a:spcPct val="150000"/>
              </a:lnSpc>
            </a:pPr>
            <a:r>
              <a:rPr lang="es-ES" sz="1200" b="1" i="0" dirty="0">
                <a:effectLst/>
                <a:latin typeface="Arial" panose="020B0604020202020204" pitchFamily="34" charset="0"/>
                <a:cs typeface="Arial" panose="020B0604020202020204" pitchFamily="34" charset="0"/>
              </a:rPr>
              <a:t>Distribución de Peso:</a:t>
            </a:r>
            <a:r>
              <a:rPr lang="es-ES" sz="1200" b="0" i="0" dirty="0">
                <a:solidFill>
                  <a:srgbClr val="D1D5DB"/>
                </a:solidFill>
                <a:effectLst/>
                <a:latin typeface="Arial" panose="020B0604020202020204" pitchFamily="34" charset="0"/>
                <a:cs typeface="Arial" panose="020B0604020202020204" pitchFamily="34" charset="0"/>
              </a:rPr>
              <a:t> La adición de la jaula puede cambiar la distribución de peso del vehículo. Esto puede afectar la tracción de las ruedas, la estabilidad en curvas y la capacidad para mantener el control en terrenos difíciles.</a:t>
            </a:r>
          </a:p>
          <a:p>
            <a:pPr>
              <a:lnSpc>
                <a:spcPct val="150000"/>
              </a:lnSpc>
            </a:pPr>
            <a:r>
              <a:rPr lang="es-ES" sz="1200" b="1" i="0" dirty="0">
                <a:effectLst/>
                <a:latin typeface="Arial" panose="020B0604020202020204" pitchFamily="34" charset="0"/>
                <a:cs typeface="Arial" panose="020B0604020202020204" pitchFamily="34" charset="0"/>
              </a:rPr>
              <a:t>Espacio Interior Limitado:</a:t>
            </a:r>
            <a:r>
              <a:rPr lang="es-ES" sz="1200" b="0" i="0" dirty="0">
                <a:solidFill>
                  <a:srgbClr val="D1D5DB"/>
                </a:solidFill>
                <a:effectLst/>
                <a:latin typeface="Arial" panose="020B0604020202020204" pitchFamily="34" charset="0"/>
                <a:cs typeface="Arial" panose="020B0604020202020204" pitchFamily="34" charset="0"/>
              </a:rPr>
              <a:t> Dependiendo del diseño de la jaula y su ubicación, puede limitar el espacio interior del vehículo. </a:t>
            </a:r>
            <a:endParaRPr lang="es-CL"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89561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184</TotalTime>
  <Words>1081</Words>
  <Application>Microsoft Macintosh PowerPoint</Application>
  <PresentationFormat>Panorámica</PresentationFormat>
  <Paragraphs>51</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Bookman Old Style</vt:lpstr>
      <vt:lpstr>Calibri</vt:lpstr>
      <vt:lpstr>Rockwell</vt:lpstr>
      <vt:lpstr>Damask</vt:lpstr>
      <vt:lpstr>Jaula Antivuelco</vt:lpstr>
      <vt:lpstr>Definición del Proyecto</vt:lpstr>
      <vt:lpstr>Presentación de PowerPoint</vt:lpstr>
      <vt:lpstr>Presentación de PowerPoint</vt:lpstr>
      <vt:lpstr>Presentación de PowerPoint</vt:lpstr>
      <vt:lpstr>Presentación de PowerPoint</vt:lpstr>
      <vt:lpstr>Incorporación de herramientas</vt:lpstr>
      <vt:lpstr>   ¿Qué materiales ofrecen la mejor combinación de resistencia y peso para la construcción de una jaula antivuelco?  </vt:lpstr>
      <vt:lpstr>¿Para qué tipo de vehículo se podría utilizar esta jaula?</vt:lpstr>
      <vt:lpstr>¿Cómo afecta la instalación de una jaula antivuelco al rendimiento general de un vehículo?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Jaula Antivuelco</dc:title>
  <dc:creator>JONATHAN ALEJANDRO PAVEZ RIOS</dc:creator>
  <cp:lastModifiedBy>LISSETTE ANDREA SALAMANCA MELLA</cp:lastModifiedBy>
  <cp:revision>4</cp:revision>
  <dcterms:created xsi:type="dcterms:W3CDTF">2023-12-06T15:21:07Z</dcterms:created>
  <dcterms:modified xsi:type="dcterms:W3CDTF">2023-12-14T18:54:36Z</dcterms:modified>
</cp:coreProperties>
</file>