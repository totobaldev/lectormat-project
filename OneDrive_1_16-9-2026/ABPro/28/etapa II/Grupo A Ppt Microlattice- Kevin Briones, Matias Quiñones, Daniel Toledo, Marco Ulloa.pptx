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notesMasterIdLst>
    <p:notesMasterId r:id="rId16"/>
  </p:notesMasterIdLst>
  <p:sldIdLst>
    <p:sldId id="256" r:id="rId5"/>
    <p:sldId id="257" r:id="rId6"/>
    <p:sldId id="258" r:id="rId7"/>
    <p:sldId id="259" r:id="rId8"/>
    <p:sldId id="260" r:id="rId9"/>
    <p:sldId id="262" r:id="rId10"/>
    <p:sldId id="263" r:id="rId11"/>
    <p:sldId id="264" r:id="rId12"/>
    <p:sldId id="267"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14"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463B02-CFF3-42FB-A6C9-ECE4E9C6414F}" v="6" dt="2023-12-06T15:18:20.467"/>
    <p1510:client id="{686E8CBA-794F-45CF-98A7-21A3D56AC73E}" v="7" dt="2023-12-06T23:35:33.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4" autoAdjust="0"/>
    <p:restoredTop sz="94660"/>
  </p:normalViewPr>
  <p:slideViewPr>
    <p:cSldViewPr snapToGrid="0">
      <p:cViewPr varScale="1">
        <p:scale>
          <a:sx n="88" d="100"/>
          <a:sy n="88"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briones fuentes" userId="717f0767207cc796" providerId="LiveId" clId="{BB463B02-CFF3-42FB-A6C9-ECE4E9C6414F}"/>
    <pc:docChg chg="custSel addSld modSld">
      <pc:chgData name="kevin briones fuentes" userId="717f0767207cc796" providerId="LiveId" clId="{BB463B02-CFF3-42FB-A6C9-ECE4E9C6414F}" dt="2023-12-06T15:20:36.628" v="1227" actId="1076"/>
      <pc:docMkLst>
        <pc:docMk/>
      </pc:docMkLst>
      <pc:sldChg chg="modSp mod">
        <pc:chgData name="kevin briones fuentes" userId="717f0767207cc796" providerId="LiveId" clId="{BB463B02-CFF3-42FB-A6C9-ECE4E9C6414F}" dt="2023-12-06T14:48:22.093" v="36" actId="122"/>
        <pc:sldMkLst>
          <pc:docMk/>
          <pc:sldMk cId="3270838591" sldId="263"/>
        </pc:sldMkLst>
        <pc:spChg chg="mod">
          <ac:chgData name="kevin briones fuentes" userId="717f0767207cc796" providerId="LiveId" clId="{BB463B02-CFF3-42FB-A6C9-ECE4E9C6414F}" dt="2023-12-06T14:48:22.093" v="36" actId="122"/>
          <ac:spMkLst>
            <pc:docMk/>
            <pc:sldMk cId="3270838591" sldId="263"/>
            <ac:spMk id="2" creationId="{97C12E43-C66F-2D3F-36A8-48C5B35BEA87}"/>
          </ac:spMkLst>
        </pc:spChg>
      </pc:sldChg>
      <pc:sldChg chg="modSp mod">
        <pc:chgData name="kevin briones fuentes" userId="717f0767207cc796" providerId="LiveId" clId="{BB463B02-CFF3-42FB-A6C9-ECE4E9C6414F}" dt="2023-12-06T14:49:03.531" v="46" actId="33524"/>
        <pc:sldMkLst>
          <pc:docMk/>
          <pc:sldMk cId="3581703056" sldId="264"/>
        </pc:sldMkLst>
        <pc:spChg chg="mod">
          <ac:chgData name="kevin briones fuentes" userId="717f0767207cc796" providerId="LiveId" clId="{BB463B02-CFF3-42FB-A6C9-ECE4E9C6414F}" dt="2023-12-06T14:49:03.531" v="46" actId="33524"/>
          <ac:spMkLst>
            <pc:docMk/>
            <pc:sldMk cId="3581703056" sldId="264"/>
            <ac:spMk id="3" creationId="{6D03EF81-D989-983B-C30C-F2E0426F2489}"/>
          </ac:spMkLst>
        </pc:spChg>
      </pc:sldChg>
      <pc:sldChg chg="addSp modSp new mod">
        <pc:chgData name="kevin briones fuentes" userId="717f0767207cc796" providerId="LiveId" clId="{BB463B02-CFF3-42FB-A6C9-ECE4E9C6414F}" dt="2023-12-06T15:20:36.628" v="1227" actId="1076"/>
        <pc:sldMkLst>
          <pc:docMk/>
          <pc:sldMk cId="3162224660" sldId="265"/>
        </pc:sldMkLst>
        <pc:spChg chg="mod">
          <ac:chgData name="kevin briones fuentes" userId="717f0767207cc796" providerId="LiveId" clId="{BB463B02-CFF3-42FB-A6C9-ECE4E9C6414F}" dt="2023-12-06T14:54:52.534" v="625" actId="1076"/>
          <ac:spMkLst>
            <pc:docMk/>
            <pc:sldMk cId="3162224660" sldId="265"/>
            <ac:spMk id="2" creationId="{18EF5A1D-F612-26B0-93D8-6279E0C5006B}"/>
          </ac:spMkLst>
        </pc:spChg>
        <pc:spChg chg="mod">
          <ac:chgData name="kevin briones fuentes" userId="717f0767207cc796" providerId="LiveId" clId="{BB463B02-CFF3-42FB-A6C9-ECE4E9C6414F}" dt="2023-12-06T15:18:51.996" v="1220" actId="27636"/>
          <ac:spMkLst>
            <pc:docMk/>
            <pc:sldMk cId="3162224660" sldId="265"/>
            <ac:spMk id="3" creationId="{ED64E801-FDDE-8E10-325E-90BDCA583679}"/>
          </ac:spMkLst>
        </pc:spChg>
        <pc:spChg chg="add mod">
          <ac:chgData name="kevin briones fuentes" userId="717f0767207cc796" providerId="LiveId" clId="{BB463B02-CFF3-42FB-A6C9-ECE4E9C6414F}" dt="2023-12-06T15:20:32.846" v="1226" actId="1076"/>
          <ac:spMkLst>
            <pc:docMk/>
            <pc:sldMk cId="3162224660" sldId="265"/>
            <ac:spMk id="4" creationId="{065602DD-8E01-4AB8-0031-FE1DA40673E6}"/>
          </ac:spMkLst>
        </pc:spChg>
        <pc:picChg chg="add mod">
          <ac:chgData name="kevin briones fuentes" userId="717f0767207cc796" providerId="LiveId" clId="{BB463B02-CFF3-42FB-A6C9-ECE4E9C6414F}" dt="2023-12-06T15:20:36.628" v="1227" actId="1076"/>
          <ac:picMkLst>
            <pc:docMk/>
            <pc:sldMk cId="3162224660" sldId="265"/>
            <ac:picMk id="6" creationId="{2C301829-7352-C70E-F773-A15A7FA76283}"/>
          </ac:picMkLst>
        </pc:picChg>
        <pc:picChg chg="add mod ord">
          <ac:chgData name="kevin briones fuentes" userId="717f0767207cc796" providerId="LiveId" clId="{BB463B02-CFF3-42FB-A6C9-ECE4E9C6414F}" dt="2023-12-06T15:18:57.694" v="1221" actId="1076"/>
          <ac:picMkLst>
            <pc:docMk/>
            <pc:sldMk cId="3162224660" sldId="265"/>
            <ac:picMk id="9" creationId="{57792112-44B3-843D-2ED9-5C6DCFB0138D}"/>
          </ac:picMkLst>
        </pc:picChg>
      </pc:sldChg>
    </pc:docChg>
  </pc:docChgLst>
  <pc:docChgLst>
    <pc:chgData name="Daniel Toledo" userId="a5f0d6d9f75cb55a" providerId="LiveId" clId="{686E8CBA-794F-45CF-98A7-21A3D56AC73E}"/>
    <pc:docChg chg="custSel addSld modSld">
      <pc:chgData name="Daniel Toledo" userId="a5f0d6d9f75cb55a" providerId="LiveId" clId="{686E8CBA-794F-45CF-98A7-21A3D56AC73E}" dt="2023-12-06T23:35:34.142" v="45" actId="27614"/>
      <pc:docMkLst>
        <pc:docMk/>
      </pc:docMkLst>
      <pc:sldChg chg="delSp">
        <pc:chgData name="Daniel Toledo" userId="a5f0d6d9f75cb55a" providerId="LiveId" clId="{686E8CBA-794F-45CF-98A7-21A3D56AC73E}" dt="2023-12-06T19:24:18.657" v="1"/>
        <pc:sldMkLst>
          <pc:docMk/>
          <pc:sldMk cId="993605615" sldId="256"/>
        </pc:sldMkLst>
        <pc:spChg chg="del">
          <ac:chgData name="Daniel Toledo" userId="a5f0d6d9f75cb55a" providerId="LiveId" clId="{686E8CBA-794F-45CF-98A7-21A3D56AC73E}" dt="2023-12-06T19:24:18.657" v="1"/>
          <ac:spMkLst>
            <pc:docMk/>
            <pc:sldMk cId="993605615" sldId="256"/>
            <ac:spMk id="3" creationId="{167F3EF9-C8CA-4F74-FD8A-99F696358222}"/>
          </ac:spMkLst>
        </pc:spChg>
      </pc:sldChg>
      <pc:sldChg chg="delSp">
        <pc:chgData name="Daniel Toledo" userId="a5f0d6d9f75cb55a" providerId="LiveId" clId="{686E8CBA-794F-45CF-98A7-21A3D56AC73E}" dt="2023-12-06T19:24:18.657" v="1"/>
        <pc:sldMkLst>
          <pc:docMk/>
          <pc:sldMk cId="3673344006" sldId="257"/>
        </pc:sldMkLst>
        <pc:spChg chg="del">
          <ac:chgData name="Daniel Toledo" userId="a5f0d6d9f75cb55a" providerId="LiveId" clId="{686E8CBA-794F-45CF-98A7-21A3D56AC73E}" dt="2023-12-06T19:24:18.657" v="1"/>
          <ac:spMkLst>
            <pc:docMk/>
            <pc:sldMk cId="3673344006" sldId="257"/>
            <ac:spMk id="4" creationId="{FBA535EF-E950-84FD-7C60-C38B282EB5CD}"/>
          </ac:spMkLst>
        </pc:spChg>
      </pc:sldChg>
      <pc:sldChg chg="delSp">
        <pc:chgData name="Daniel Toledo" userId="a5f0d6d9f75cb55a" providerId="LiveId" clId="{686E8CBA-794F-45CF-98A7-21A3D56AC73E}" dt="2023-12-06T19:24:18.657" v="1"/>
        <pc:sldMkLst>
          <pc:docMk/>
          <pc:sldMk cId="3527147444" sldId="258"/>
        </pc:sldMkLst>
        <pc:spChg chg="del">
          <ac:chgData name="Daniel Toledo" userId="a5f0d6d9f75cb55a" providerId="LiveId" clId="{686E8CBA-794F-45CF-98A7-21A3D56AC73E}" dt="2023-12-06T19:24:18.657" v="1"/>
          <ac:spMkLst>
            <pc:docMk/>
            <pc:sldMk cId="3527147444" sldId="258"/>
            <ac:spMk id="4" creationId="{576319D4-8C04-C04B-730A-86519E11B4DE}"/>
          </ac:spMkLst>
        </pc:spChg>
      </pc:sldChg>
      <pc:sldChg chg="delSp">
        <pc:chgData name="Daniel Toledo" userId="a5f0d6d9f75cb55a" providerId="LiveId" clId="{686E8CBA-794F-45CF-98A7-21A3D56AC73E}" dt="2023-12-06T19:24:18.657" v="1"/>
        <pc:sldMkLst>
          <pc:docMk/>
          <pc:sldMk cId="2365239600" sldId="259"/>
        </pc:sldMkLst>
        <pc:spChg chg="del">
          <ac:chgData name="Daniel Toledo" userId="a5f0d6d9f75cb55a" providerId="LiveId" clId="{686E8CBA-794F-45CF-98A7-21A3D56AC73E}" dt="2023-12-06T19:24:18.657" v="1"/>
          <ac:spMkLst>
            <pc:docMk/>
            <pc:sldMk cId="2365239600" sldId="259"/>
            <ac:spMk id="5" creationId="{B97512B1-C123-CCA5-42DE-075F9CDC4873}"/>
          </ac:spMkLst>
        </pc:spChg>
      </pc:sldChg>
      <pc:sldChg chg="delSp">
        <pc:chgData name="Daniel Toledo" userId="a5f0d6d9f75cb55a" providerId="LiveId" clId="{686E8CBA-794F-45CF-98A7-21A3D56AC73E}" dt="2023-12-06T19:24:18.657" v="1"/>
        <pc:sldMkLst>
          <pc:docMk/>
          <pc:sldMk cId="4177208024" sldId="260"/>
        </pc:sldMkLst>
        <pc:spChg chg="del">
          <ac:chgData name="Daniel Toledo" userId="a5f0d6d9f75cb55a" providerId="LiveId" clId="{686E8CBA-794F-45CF-98A7-21A3D56AC73E}" dt="2023-12-06T19:24:18.657" v="1"/>
          <ac:spMkLst>
            <pc:docMk/>
            <pc:sldMk cId="4177208024" sldId="260"/>
            <ac:spMk id="4" creationId="{428EAA6D-6F2B-11A0-2E80-BB17E167BF1B}"/>
          </ac:spMkLst>
        </pc:spChg>
      </pc:sldChg>
      <pc:sldChg chg="delSp">
        <pc:chgData name="Daniel Toledo" userId="a5f0d6d9f75cb55a" providerId="LiveId" clId="{686E8CBA-794F-45CF-98A7-21A3D56AC73E}" dt="2023-12-06T19:24:18.657" v="1"/>
        <pc:sldMkLst>
          <pc:docMk/>
          <pc:sldMk cId="1950024751" sldId="262"/>
        </pc:sldMkLst>
        <pc:spChg chg="del">
          <ac:chgData name="Daniel Toledo" userId="a5f0d6d9f75cb55a" providerId="LiveId" clId="{686E8CBA-794F-45CF-98A7-21A3D56AC73E}" dt="2023-12-06T19:24:18.657" v="1"/>
          <ac:spMkLst>
            <pc:docMk/>
            <pc:sldMk cId="1950024751" sldId="262"/>
            <ac:spMk id="3" creationId="{913017EE-5F1E-3625-BA48-B0DEFAA0D2FE}"/>
          </ac:spMkLst>
        </pc:spChg>
      </pc:sldChg>
      <pc:sldChg chg="delSp modSp mod">
        <pc:chgData name="Daniel Toledo" userId="a5f0d6d9f75cb55a" providerId="LiveId" clId="{686E8CBA-794F-45CF-98A7-21A3D56AC73E}" dt="2023-12-06T19:24:40.395" v="4" actId="1076"/>
        <pc:sldMkLst>
          <pc:docMk/>
          <pc:sldMk cId="3270838591" sldId="263"/>
        </pc:sldMkLst>
        <pc:spChg chg="mod">
          <ac:chgData name="Daniel Toledo" userId="a5f0d6d9f75cb55a" providerId="LiveId" clId="{686E8CBA-794F-45CF-98A7-21A3D56AC73E}" dt="2023-12-06T19:24:08.034" v="0" actId="20577"/>
          <ac:spMkLst>
            <pc:docMk/>
            <pc:sldMk cId="3270838591" sldId="263"/>
            <ac:spMk id="3" creationId="{6DCDAB1C-432A-9B31-4A63-852F08DC5C84}"/>
          </ac:spMkLst>
        </pc:spChg>
        <pc:spChg chg="del">
          <ac:chgData name="Daniel Toledo" userId="a5f0d6d9f75cb55a" providerId="LiveId" clId="{686E8CBA-794F-45CF-98A7-21A3D56AC73E}" dt="2023-12-06T19:24:18.657" v="1"/>
          <ac:spMkLst>
            <pc:docMk/>
            <pc:sldMk cId="3270838591" sldId="263"/>
            <ac:spMk id="6" creationId="{41D02C3F-0881-B2A1-E2A9-D195887436C9}"/>
          </ac:spMkLst>
        </pc:spChg>
        <pc:spChg chg="mod">
          <ac:chgData name="Daniel Toledo" userId="a5f0d6d9f75cb55a" providerId="LiveId" clId="{686E8CBA-794F-45CF-98A7-21A3D56AC73E}" dt="2023-12-06T19:24:40.395" v="4" actId="1076"/>
          <ac:spMkLst>
            <pc:docMk/>
            <pc:sldMk cId="3270838591" sldId="263"/>
            <ac:spMk id="7" creationId="{7C33C61E-954D-17F0-6D5F-860221F562D6}"/>
          </ac:spMkLst>
        </pc:spChg>
        <pc:picChg chg="mod">
          <ac:chgData name="Daniel Toledo" userId="a5f0d6d9f75cb55a" providerId="LiveId" clId="{686E8CBA-794F-45CF-98A7-21A3D56AC73E}" dt="2023-12-06T19:24:34.700" v="2" actId="1076"/>
          <ac:picMkLst>
            <pc:docMk/>
            <pc:sldMk cId="3270838591" sldId="263"/>
            <ac:picMk id="4" creationId="{6D587CB8-3358-CE3F-49B7-DE6DA35CB75E}"/>
          </ac:picMkLst>
        </pc:picChg>
        <pc:picChg chg="mod">
          <ac:chgData name="Daniel Toledo" userId="a5f0d6d9f75cb55a" providerId="LiveId" clId="{686E8CBA-794F-45CF-98A7-21A3D56AC73E}" dt="2023-12-06T19:24:36.604" v="3" actId="1076"/>
          <ac:picMkLst>
            <pc:docMk/>
            <pc:sldMk cId="3270838591" sldId="263"/>
            <ac:picMk id="5" creationId="{22610792-2B57-CC52-CA7A-6AEC0C89217E}"/>
          </ac:picMkLst>
        </pc:picChg>
      </pc:sldChg>
      <pc:sldChg chg="delSp modSp mod">
        <pc:chgData name="Daniel Toledo" userId="a5f0d6d9f75cb55a" providerId="LiveId" clId="{686E8CBA-794F-45CF-98A7-21A3D56AC73E}" dt="2023-12-06T19:24:51.120" v="5" actId="20577"/>
        <pc:sldMkLst>
          <pc:docMk/>
          <pc:sldMk cId="3581703056" sldId="264"/>
        </pc:sldMkLst>
        <pc:spChg chg="mod">
          <ac:chgData name="Daniel Toledo" userId="a5f0d6d9f75cb55a" providerId="LiveId" clId="{686E8CBA-794F-45CF-98A7-21A3D56AC73E}" dt="2023-12-06T19:24:51.120" v="5" actId="20577"/>
          <ac:spMkLst>
            <pc:docMk/>
            <pc:sldMk cId="3581703056" sldId="264"/>
            <ac:spMk id="2" creationId="{A288B3A4-7A66-A5E2-0A5A-0474FDC0F480}"/>
          </ac:spMkLst>
        </pc:spChg>
        <pc:spChg chg="del">
          <ac:chgData name="Daniel Toledo" userId="a5f0d6d9f75cb55a" providerId="LiveId" clId="{686E8CBA-794F-45CF-98A7-21A3D56AC73E}" dt="2023-12-06T19:24:18.657" v="1"/>
          <ac:spMkLst>
            <pc:docMk/>
            <pc:sldMk cId="3581703056" sldId="264"/>
            <ac:spMk id="4" creationId="{9916D024-A15D-7F19-F9A9-50C2D263DFCF}"/>
          </ac:spMkLst>
        </pc:spChg>
      </pc:sldChg>
      <pc:sldChg chg="addSp delSp modSp new mod setBg setClrOvrMap">
        <pc:chgData name="Daniel Toledo" userId="a5f0d6d9f75cb55a" providerId="LiveId" clId="{686E8CBA-794F-45CF-98A7-21A3D56AC73E}" dt="2023-12-06T19:27:50.322" v="23" actId="26606"/>
        <pc:sldMkLst>
          <pc:docMk/>
          <pc:sldMk cId="3830511040" sldId="266"/>
        </pc:sldMkLst>
        <pc:spChg chg="mod">
          <ac:chgData name="Daniel Toledo" userId="a5f0d6d9f75cb55a" providerId="LiveId" clId="{686E8CBA-794F-45CF-98A7-21A3D56AC73E}" dt="2023-12-06T19:27:50.322" v="23" actId="26606"/>
          <ac:spMkLst>
            <pc:docMk/>
            <pc:sldMk cId="3830511040" sldId="266"/>
            <ac:spMk id="2" creationId="{18BC4C82-A478-6A01-FB6D-FEC01D1B8A62}"/>
          </ac:spMkLst>
        </pc:spChg>
        <pc:spChg chg="del">
          <ac:chgData name="Daniel Toledo" userId="a5f0d6d9f75cb55a" providerId="LiveId" clId="{686E8CBA-794F-45CF-98A7-21A3D56AC73E}" dt="2023-12-06T19:27:45.606" v="20"/>
          <ac:spMkLst>
            <pc:docMk/>
            <pc:sldMk cId="3830511040" sldId="266"/>
            <ac:spMk id="3" creationId="{E93E894B-E26E-043F-22CC-5E80997727D9}"/>
          </ac:spMkLst>
        </pc:spChg>
        <pc:spChg chg="add">
          <ac:chgData name="Daniel Toledo" userId="a5f0d6d9f75cb55a" providerId="LiveId" clId="{686E8CBA-794F-45CF-98A7-21A3D56AC73E}" dt="2023-12-06T19:27:50.322" v="23" actId="26606"/>
          <ac:spMkLst>
            <pc:docMk/>
            <pc:sldMk cId="3830511040" sldId="266"/>
            <ac:spMk id="9" creationId="{8E114E55-555D-2F78-3FB0-3088728840D1}"/>
          </ac:spMkLst>
        </pc:spChg>
        <pc:spChg chg="add">
          <ac:chgData name="Daniel Toledo" userId="a5f0d6d9f75cb55a" providerId="LiveId" clId="{686E8CBA-794F-45CF-98A7-21A3D56AC73E}" dt="2023-12-06T19:27:50.322" v="23" actId="26606"/>
          <ac:spMkLst>
            <pc:docMk/>
            <pc:sldMk cId="3830511040" sldId="266"/>
            <ac:spMk id="12" creationId="{3CBA50DB-DBC7-4B6E-B3C1-8FF1EA519791}"/>
          </ac:spMkLst>
        </pc:spChg>
        <pc:spChg chg="add">
          <ac:chgData name="Daniel Toledo" userId="a5f0d6d9f75cb55a" providerId="LiveId" clId="{686E8CBA-794F-45CF-98A7-21A3D56AC73E}" dt="2023-12-06T19:27:50.322" v="23" actId="26606"/>
          <ac:spMkLst>
            <pc:docMk/>
            <pc:sldMk cId="3830511040" sldId="266"/>
            <ac:spMk id="57" creationId="{A1351C6B-7343-451F-AB4A-1CE294A4E927}"/>
          </ac:spMkLst>
        </pc:spChg>
        <pc:grpChg chg="add">
          <ac:chgData name="Daniel Toledo" userId="a5f0d6d9f75cb55a" providerId="LiveId" clId="{686E8CBA-794F-45CF-98A7-21A3D56AC73E}" dt="2023-12-06T19:27:50.322" v="23" actId="26606"/>
          <ac:grpSpMkLst>
            <pc:docMk/>
            <pc:sldMk cId="3830511040" sldId="266"/>
            <ac:grpSpMk id="14" creationId="{1DED8FB6-AF8D-4D98-913D-E6486FEC1021}"/>
          </ac:grpSpMkLst>
        </pc:grpChg>
        <pc:picChg chg="add mod">
          <ac:chgData name="Daniel Toledo" userId="a5f0d6d9f75cb55a" providerId="LiveId" clId="{686E8CBA-794F-45CF-98A7-21A3D56AC73E}" dt="2023-12-06T19:27:50.322" v="23" actId="26606"/>
          <ac:picMkLst>
            <pc:docMk/>
            <pc:sldMk cId="3830511040" sldId="266"/>
            <ac:picMk id="5" creationId="{E2ABF92D-F8F9-17B3-3DE9-77F54D4CE347}"/>
          </ac:picMkLst>
        </pc:picChg>
        <pc:picChg chg="add">
          <ac:chgData name="Daniel Toledo" userId="a5f0d6d9f75cb55a" providerId="LiveId" clId="{686E8CBA-794F-45CF-98A7-21A3D56AC73E}" dt="2023-12-06T19:27:50.322" v="23" actId="26606"/>
          <ac:picMkLst>
            <pc:docMk/>
            <pc:sldMk cId="3830511040" sldId="266"/>
            <ac:picMk id="55" creationId="{5B3DE270-418F-47A7-B311-C4D876041DC6}"/>
          </ac:picMkLst>
        </pc:picChg>
      </pc:sldChg>
      <pc:sldChg chg="addSp modSp new mod setBg">
        <pc:chgData name="Daniel Toledo" userId="a5f0d6d9f75cb55a" providerId="LiveId" clId="{686E8CBA-794F-45CF-98A7-21A3D56AC73E}" dt="2023-12-06T23:35:34.142" v="45" actId="27614"/>
        <pc:sldMkLst>
          <pc:docMk/>
          <pc:sldMk cId="2661709992" sldId="267"/>
        </pc:sldMkLst>
        <pc:spChg chg="mod">
          <ac:chgData name="Daniel Toledo" userId="a5f0d6d9f75cb55a" providerId="LiveId" clId="{686E8CBA-794F-45CF-98A7-21A3D56AC73E}" dt="2023-12-06T23:34:35.533" v="43" actId="26606"/>
          <ac:spMkLst>
            <pc:docMk/>
            <pc:sldMk cId="2661709992" sldId="267"/>
            <ac:spMk id="2" creationId="{F57BA98C-B0CB-3EE9-0A6E-2328DC7F6FF4}"/>
          </ac:spMkLst>
        </pc:spChg>
        <pc:spChg chg="mod">
          <ac:chgData name="Daniel Toledo" userId="a5f0d6d9f75cb55a" providerId="LiveId" clId="{686E8CBA-794F-45CF-98A7-21A3D56AC73E}" dt="2023-12-06T23:34:35.533" v="43" actId="26606"/>
          <ac:spMkLst>
            <pc:docMk/>
            <pc:sldMk cId="2661709992" sldId="267"/>
            <ac:spMk id="3" creationId="{F6D4C1C0-AB5E-1E63-B124-4860AFA1A884}"/>
          </ac:spMkLst>
        </pc:spChg>
        <pc:spChg chg="add">
          <ac:chgData name="Daniel Toledo" userId="a5f0d6d9f75cb55a" providerId="LiveId" clId="{686E8CBA-794F-45CF-98A7-21A3D56AC73E}" dt="2023-12-06T23:34:35.533" v="43" actId="26606"/>
          <ac:spMkLst>
            <pc:docMk/>
            <pc:sldMk cId="2661709992" sldId="267"/>
            <ac:spMk id="10" creationId="{A0F3E2DF-E827-4D2A-A6D3-15B8451C8784}"/>
          </ac:spMkLst>
        </pc:spChg>
        <pc:picChg chg="add mod ord">
          <ac:chgData name="Daniel Toledo" userId="a5f0d6d9f75cb55a" providerId="LiveId" clId="{686E8CBA-794F-45CF-98A7-21A3D56AC73E}" dt="2023-12-06T23:35:34.013" v="44" actId="27614"/>
          <ac:picMkLst>
            <pc:docMk/>
            <pc:sldMk cId="2661709992" sldId="267"/>
            <ac:picMk id="4" creationId="{32243392-CA9A-CA86-5B0C-C002E6B60077}"/>
          </ac:picMkLst>
        </pc:picChg>
        <pc:picChg chg="add mod">
          <ac:chgData name="Daniel Toledo" userId="a5f0d6d9f75cb55a" providerId="LiveId" clId="{686E8CBA-794F-45CF-98A7-21A3D56AC73E}" dt="2023-12-06T23:35:34.142" v="45" actId="27614"/>
          <ac:picMkLst>
            <pc:docMk/>
            <pc:sldMk cId="2661709992" sldId="267"/>
            <ac:picMk id="5" creationId="{071277A6-B628-76BF-FB8F-53C2DB1585B7}"/>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12-13T11:53:01.549" idx="6">
    <p:pos x="6912" y="2071"/>
    <p:text>cambiar ya que utilizó esta frase anteriormente</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3T11:55:11.641" idx="7">
    <p:pos x="10" y="10"/>
    <p:text>describir con mas detalle "la situación problemática" (un caso en particular) para abordar en la investigación.</p:text>
    <p:extLst>
      <p:ext uri="{C676402C-5697-4E1C-873F-D02D1690AC5C}">
        <p15:threadingInfo xmlns:p15="http://schemas.microsoft.com/office/powerpoint/2012/main" timeZoneBias="180"/>
      </p:ext>
    </p:extLst>
  </p:cm>
  <p:cm authorId="1" dt="2023-12-13T11:56:52.091" idx="8">
    <p:pos x="10" y="146"/>
    <p:text>la utilización del microlattice es parte de la solución, por tanto no se incorpora en la problemática ni tema a investigar</p:text>
    <p:extLst>
      <p:ext uri="{C676402C-5697-4E1C-873F-D02D1690AC5C}">
        <p15:threadingInfo xmlns:p15="http://schemas.microsoft.com/office/powerpoint/2012/main" timeZoneBias="180">
          <p15:parentCm authorId="1" idx="7"/>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3T11:57:32.762" idx="9">
    <p:pos x="4051" y="812"/>
    <p:text>nombrar un tipo de vehículo en particular para acotar la problemática y luego en las conclusiones se puede plantear que es posible abordar para todo tipo de vehículo convencional </p:text>
    <p:extLst>
      <p:ext uri="{C676402C-5697-4E1C-873F-D02D1690AC5C}">
        <p15:threadingInfo xmlns:p15="http://schemas.microsoft.com/office/powerpoint/2012/main" timeZoneBias="180"/>
      </p:ext>
    </p:extLst>
  </p:cm>
  <p:cm authorId="1" dt="2023-12-13T11:59:45.608" idx="10">
    <p:pos x="1951" y="1682"/>
    <p:text>muy bien los objetivos específicos!</p:text>
    <p:extLst>
      <p:ext uri="{C676402C-5697-4E1C-873F-D02D1690AC5C}">
        <p15:threadingInfo xmlns:p15="http://schemas.microsoft.com/office/powerpoint/2012/main" timeZoneBias="180"/>
      </p:ext>
    </p:extLst>
  </p:cm>
  <p:cm authorId="1" dt="2023-12-13T12:00:52.119" idx="11">
    <p:pos x="4264" y="1068"/>
    <p:text>buenas preguntas... éstas deben ser investigadas (referencias bibliográficas) para ir dando respuesta a través del proceso de solución de la problemática planteada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1-23T14:35:14.685" idx="4">
    <p:pos x="10" y="10"/>
    <p:text>involucrar mas detalle de los temas matematicos</p:text>
    <p:extLst>
      <p:ext uri="{C676402C-5697-4E1C-873F-D02D1690AC5C}">
        <p15:threadingInfo xmlns:p15="http://schemas.microsoft.com/office/powerpoint/2012/main" timeZoneBias="180"/>
      </p:ext>
    </p:extLst>
  </p:cm>
  <p:cm authorId="1" dt="2023-12-13T12:02:08.502" idx="12">
    <p:pos x="10" y="146"/>
    <p:text>incorporar APA a las imagenes</p:text>
    <p:extLst>
      <p:ext uri="{C676402C-5697-4E1C-873F-D02D1690AC5C}">
        <p15:threadingInfo xmlns:p15="http://schemas.microsoft.com/office/powerpoint/2012/main" timeZoneBias="180">
          <p15:parentCm authorId="1" idx="4"/>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1-23T14:36:09.754" idx="5">
    <p:pos x="10" y="10"/>
    <p:text>realizar mas detalle del cronograma, con tiempos específicos y tareas</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3T12:03:12.411" idx="13">
    <p:pos x="6959" y="390"/>
    <p:text>falta referencias bibliograficas</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3T12:03:38.741" idx="14">
    <p:pos x="10" y="10"/>
    <p:text>uso APA para imagenes</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B162AD-8344-424C-B842-75CFEA1C178F}"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C19EED65-2FA4-4E24-A41E-307610317AD7}">
      <dgm:prSet custT="1"/>
      <dgm:spPr/>
      <dgm:t>
        <a:bodyPr/>
        <a:lstStyle/>
        <a:p>
          <a:pPr algn="just"/>
          <a:r>
            <a:rPr lang="es-CL" sz="1500" dirty="0">
              <a:latin typeface="Arial" panose="020B0604020202020204" pitchFamily="34" charset="0"/>
              <a:cs typeface="Arial" panose="020B0604020202020204" pitchFamily="34" charset="0"/>
            </a:rPr>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sz="1500" dirty="0">
            <a:latin typeface="Arial" panose="020B0604020202020204" pitchFamily="34" charset="0"/>
            <a:cs typeface="Arial" panose="020B0604020202020204" pitchFamily="34" charset="0"/>
          </a:endParaRPr>
        </a:p>
      </dgm:t>
    </dgm:pt>
    <dgm:pt modelId="{976F7000-C60D-4888-A862-5450143A314C}" type="parTrans" cxnId="{4158A4D3-33DD-4F2C-AF00-E56F72E2B9CD}">
      <dgm:prSet/>
      <dgm:spPr/>
      <dgm:t>
        <a:bodyPr/>
        <a:lstStyle/>
        <a:p>
          <a:endParaRPr lang="en-US"/>
        </a:p>
      </dgm:t>
    </dgm:pt>
    <dgm:pt modelId="{8665ABCC-DEEF-4A7D-8591-F9939C8C3C0A}" type="sibTrans" cxnId="{4158A4D3-33DD-4F2C-AF00-E56F72E2B9CD}">
      <dgm:prSet/>
      <dgm:spPr/>
      <dgm:t>
        <a:bodyPr/>
        <a:lstStyle/>
        <a:p>
          <a:endParaRPr lang="en-US"/>
        </a:p>
      </dgm:t>
    </dgm:pt>
    <dgm:pt modelId="{10FD8C6D-3F4E-4807-8867-C4B21C8127B3}">
      <dgm:prSet custT="1"/>
      <dgm:spPr/>
      <dgm:t>
        <a:bodyPr/>
        <a:lstStyle/>
        <a:p>
          <a:pPr algn="just"/>
          <a:r>
            <a:rPr lang="es-CL" sz="1500" dirty="0">
              <a:latin typeface="Arial" panose="020B0604020202020204" pitchFamily="34" charset="0"/>
              <a:cs typeface="Arial" panose="020B0604020202020204" pitchFamily="34" charset="0"/>
            </a:rPr>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sz="1500" dirty="0">
            <a:latin typeface="Arial" panose="020B0604020202020204" pitchFamily="34" charset="0"/>
            <a:cs typeface="Arial" panose="020B0604020202020204" pitchFamily="34" charset="0"/>
          </a:endParaRPr>
        </a:p>
      </dgm:t>
    </dgm:pt>
    <dgm:pt modelId="{E6D5389C-27C2-4E6A-98F8-DBCF40F3C557}" type="parTrans" cxnId="{D61BE7D0-D85F-46CC-9602-3B337EE80826}">
      <dgm:prSet/>
      <dgm:spPr/>
      <dgm:t>
        <a:bodyPr/>
        <a:lstStyle/>
        <a:p>
          <a:endParaRPr lang="en-US"/>
        </a:p>
      </dgm:t>
    </dgm:pt>
    <dgm:pt modelId="{AD7746F9-BEB6-402B-8BF9-774263D3ADCE}" type="sibTrans" cxnId="{D61BE7D0-D85F-46CC-9602-3B337EE80826}">
      <dgm:prSet/>
      <dgm:spPr/>
      <dgm:t>
        <a:bodyPr/>
        <a:lstStyle/>
        <a:p>
          <a:endParaRPr lang="en-US"/>
        </a:p>
      </dgm:t>
    </dgm:pt>
    <dgm:pt modelId="{E538261B-F4EC-4AB1-A61C-E8700ED5F501}" type="pres">
      <dgm:prSet presAssocID="{56B162AD-8344-424C-B842-75CFEA1C178F}" presName="hierChild1" presStyleCnt="0">
        <dgm:presLayoutVars>
          <dgm:chPref val="1"/>
          <dgm:dir/>
          <dgm:animOne val="branch"/>
          <dgm:animLvl val="lvl"/>
          <dgm:resizeHandles/>
        </dgm:presLayoutVars>
      </dgm:prSet>
      <dgm:spPr/>
    </dgm:pt>
    <dgm:pt modelId="{12F2D133-A646-4DEC-BC6F-ED22DF8381B1}" type="pres">
      <dgm:prSet presAssocID="{C19EED65-2FA4-4E24-A41E-307610317AD7}" presName="hierRoot1" presStyleCnt="0"/>
      <dgm:spPr/>
    </dgm:pt>
    <dgm:pt modelId="{5386FCB0-F24D-4278-A586-A41E80FF8406}" type="pres">
      <dgm:prSet presAssocID="{C19EED65-2FA4-4E24-A41E-307610317AD7}" presName="composite" presStyleCnt="0"/>
      <dgm:spPr/>
    </dgm:pt>
    <dgm:pt modelId="{4FAD7289-A2C3-4375-AB9B-F22967778055}" type="pres">
      <dgm:prSet presAssocID="{C19EED65-2FA4-4E24-A41E-307610317AD7}" presName="background" presStyleLbl="node0" presStyleIdx="0" presStyleCnt="2"/>
      <dgm:spPr/>
    </dgm:pt>
    <dgm:pt modelId="{BDDE5FCB-392F-46A9-A119-AE9AC87654F2}" type="pres">
      <dgm:prSet presAssocID="{C19EED65-2FA4-4E24-A41E-307610317AD7}" presName="text" presStyleLbl="fgAcc0" presStyleIdx="0" presStyleCnt="2">
        <dgm:presLayoutVars>
          <dgm:chPref val="3"/>
        </dgm:presLayoutVars>
      </dgm:prSet>
      <dgm:spPr/>
    </dgm:pt>
    <dgm:pt modelId="{62664D1C-4A69-4BC5-A2ED-7B86BC7BB500}" type="pres">
      <dgm:prSet presAssocID="{C19EED65-2FA4-4E24-A41E-307610317AD7}" presName="hierChild2" presStyleCnt="0"/>
      <dgm:spPr/>
    </dgm:pt>
    <dgm:pt modelId="{403BADF9-DEBD-4719-8A45-278F45924725}" type="pres">
      <dgm:prSet presAssocID="{10FD8C6D-3F4E-4807-8867-C4B21C8127B3}" presName="hierRoot1" presStyleCnt="0"/>
      <dgm:spPr/>
    </dgm:pt>
    <dgm:pt modelId="{E8A3E86C-C226-43BF-BE1D-97B9FC5044EF}" type="pres">
      <dgm:prSet presAssocID="{10FD8C6D-3F4E-4807-8867-C4B21C8127B3}" presName="composite" presStyleCnt="0"/>
      <dgm:spPr/>
    </dgm:pt>
    <dgm:pt modelId="{D344F91E-8A14-440F-8A0F-6C1D7B23E699}" type="pres">
      <dgm:prSet presAssocID="{10FD8C6D-3F4E-4807-8867-C4B21C8127B3}" presName="background" presStyleLbl="node0" presStyleIdx="1" presStyleCnt="2"/>
      <dgm:spPr/>
    </dgm:pt>
    <dgm:pt modelId="{C1BE553A-7849-44A0-82A2-D804CAF9B09E}" type="pres">
      <dgm:prSet presAssocID="{10FD8C6D-3F4E-4807-8867-C4B21C8127B3}" presName="text" presStyleLbl="fgAcc0" presStyleIdx="1" presStyleCnt="2">
        <dgm:presLayoutVars>
          <dgm:chPref val="3"/>
        </dgm:presLayoutVars>
      </dgm:prSet>
      <dgm:spPr/>
    </dgm:pt>
    <dgm:pt modelId="{128B5AA5-1A8B-4A9D-94A0-3933DA9220B8}" type="pres">
      <dgm:prSet presAssocID="{10FD8C6D-3F4E-4807-8867-C4B21C8127B3}" presName="hierChild2" presStyleCnt="0"/>
      <dgm:spPr/>
    </dgm:pt>
  </dgm:ptLst>
  <dgm:cxnLst>
    <dgm:cxn modelId="{E5BDCC01-5E7C-49BD-B15A-4701C3BFEDDA}" type="presOf" srcId="{C19EED65-2FA4-4E24-A41E-307610317AD7}" destId="{BDDE5FCB-392F-46A9-A119-AE9AC87654F2}" srcOrd="0" destOrd="0" presId="urn:microsoft.com/office/officeart/2005/8/layout/hierarchy1"/>
    <dgm:cxn modelId="{56578A06-7A85-45C7-B0BD-2E62F314218A}" type="presOf" srcId="{10FD8C6D-3F4E-4807-8867-C4B21C8127B3}" destId="{C1BE553A-7849-44A0-82A2-D804CAF9B09E}" srcOrd="0" destOrd="0" presId="urn:microsoft.com/office/officeart/2005/8/layout/hierarchy1"/>
    <dgm:cxn modelId="{D61BE7D0-D85F-46CC-9602-3B337EE80826}" srcId="{56B162AD-8344-424C-B842-75CFEA1C178F}" destId="{10FD8C6D-3F4E-4807-8867-C4B21C8127B3}" srcOrd="1" destOrd="0" parTransId="{E6D5389C-27C2-4E6A-98F8-DBCF40F3C557}" sibTransId="{AD7746F9-BEB6-402B-8BF9-774263D3ADCE}"/>
    <dgm:cxn modelId="{4158A4D3-33DD-4F2C-AF00-E56F72E2B9CD}" srcId="{56B162AD-8344-424C-B842-75CFEA1C178F}" destId="{C19EED65-2FA4-4E24-A41E-307610317AD7}" srcOrd="0" destOrd="0" parTransId="{976F7000-C60D-4888-A862-5450143A314C}" sibTransId="{8665ABCC-DEEF-4A7D-8591-F9939C8C3C0A}"/>
    <dgm:cxn modelId="{745F50D7-CCFA-488E-B75C-AFDBE8163098}" type="presOf" srcId="{56B162AD-8344-424C-B842-75CFEA1C178F}" destId="{E538261B-F4EC-4AB1-A61C-E8700ED5F501}" srcOrd="0" destOrd="0" presId="urn:microsoft.com/office/officeart/2005/8/layout/hierarchy1"/>
    <dgm:cxn modelId="{BC140C00-950B-4056-9720-E40BBDA7FFC6}" type="presParOf" srcId="{E538261B-F4EC-4AB1-A61C-E8700ED5F501}" destId="{12F2D133-A646-4DEC-BC6F-ED22DF8381B1}" srcOrd="0" destOrd="0" presId="urn:microsoft.com/office/officeart/2005/8/layout/hierarchy1"/>
    <dgm:cxn modelId="{8D97340C-CCFA-4F87-8107-36F276D29102}" type="presParOf" srcId="{12F2D133-A646-4DEC-BC6F-ED22DF8381B1}" destId="{5386FCB0-F24D-4278-A586-A41E80FF8406}" srcOrd="0" destOrd="0" presId="urn:microsoft.com/office/officeart/2005/8/layout/hierarchy1"/>
    <dgm:cxn modelId="{71E3E0C7-7F16-4D91-BD6A-7ED94A648D83}" type="presParOf" srcId="{5386FCB0-F24D-4278-A586-A41E80FF8406}" destId="{4FAD7289-A2C3-4375-AB9B-F22967778055}" srcOrd="0" destOrd="0" presId="urn:microsoft.com/office/officeart/2005/8/layout/hierarchy1"/>
    <dgm:cxn modelId="{3E4BC19F-B4DE-4777-8DAE-ED1D33435D56}" type="presParOf" srcId="{5386FCB0-F24D-4278-A586-A41E80FF8406}" destId="{BDDE5FCB-392F-46A9-A119-AE9AC87654F2}" srcOrd="1" destOrd="0" presId="urn:microsoft.com/office/officeart/2005/8/layout/hierarchy1"/>
    <dgm:cxn modelId="{7DB56F1F-784C-49E3-BE80-7EB4A9FCFC9F}" type="presParOf" srcId="{12F2D133-A646-4DEC-BC6F-ED22DF8381B1}" destId="{62664D1C-4A69-4BC5-A2ED-7B86BC7BB500}" srcOrd="1" destOrd="0" presId="urn:microsoft.com/office/officeart/2005/8/layout/hierarchy1"/>
    <dgm:cxn modelId="{F2D85912-073D-4348-9AAE-DA173BA08E9C}" type="presParOf" srcId="{E538261B-F4EC-4AB1-A61C-E8700ED5F501}" destId="{403BADF9-DEBD-4719-8A45-278F45924725}" srcOrd="1" destOrd="0" presId="urn:microsoft.com/office/officeart/2005/8/layout/hierarchy1"/>
    <dgm:cxn modelId="{710602C0-7658-464E-9EAD-375A1C57D5FE}" type="presParOf" srcId="{403BADF9-DEBD-4719-8A45-278F45924725}" destId="{E8A3E86C-C226-43BF-BE1D-97B9FC5044EF}" srcOrd="0" destOrd="0" presId="urn:microsoft.com/office/officeart/2005/8/layout/hierarchy1"/>
    <dgm:cxn modelId="{2CF9D92E-9093-43D6-87E4-84FFB4796226}" type="presParOf" srcId="{E8A3E86C-C226-43BF-BE1D-97B9FC5044EF}" destId="{D344F91E-8A14-440F-8A0F-6C1D7B23E699}" srcOrd="0" destOrd="0" presId="urn:microsoft.com/office/officeart/2005/8/layout/hierarchy1"/>
    <dgm:cxn modelId="{43A83EC2-C199-4ACD-A367-E3AB183B882B}" type="presParOf" srcId="{E8A3E86C-C226-43BF-BE1D-97B9FC5044EF}" destId="{C1BE553A-7849-44A0-82A2-D804CAF9B09E}" srcOrd="1" destOrd="0" presId="urn:microsoft.com/office/officeart/2005/8/layout/hierarchy1"/>
    <dgm:cxn modelId="{9A88E454-86F0-41FC-B631-ED56DE79F174}" type="presParOf" srcId="{403BADF9-DEBD-4719-8A45-278F45924725}" destId="{128B5AA5-1A8B-4A9D-94A0-3933DA9220B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D7289-A2C3-4375-AB9B-F22967778055}">
      <dsp:nvSpPr>
        <dsp:cNvPr id="0" name=""/>
        <dsp:cNvSpPr/>
      </dsp:nvSpPr>
      <dsp:spPr>
        <a:xfrm>
          <a:off x="120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DDE5FCB-392F-46A9-A119-AE9AC87654F2}">
      <dsp:nvSpPr>
        <dsp:cNvPr id="0" name=""/>
        <dsp:cNvSpPr/>
      </dsp:nvSpPr>
      <dsp:spPr>
        <a:xfrm>
          <a:off x="47280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s-CL" sz="1500" kern="1200" dirty="0">
              <a:latin typeface="Arial" panose="020B0604020202020204" pitchFamily="34" charset="0"/>
              <a:cs typeface="Arial" panose="020B0604020202020204" pitchFamily="34" charset="0"/>
            </a:rPr>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sz="1500" kern="1200" dirty="0">
            <a:latin typeface="Arial" panose="020B0604020202020204" pitchFamily="34" charset="0"/>
            <a:cs typeface="Arial" panose="020B0604020202020204" pitchFamily="34" charset="0"/>
          </a:endParaRPr>
        </a:p>
      </dsp:txBody>
      <dsp:txXfrm>
        <a:off x="551747" y="747779"/>
        <a:ext cx="4086513" cy="2537310"/>
      </dsp:txXfrm>
    </dsp:sp>
    <dsp:sp modelId="{D344F91E-8A14-440F-8A0F-6C1D7B23E699}">
      <dsp:nvSpPr>
        <dsp:cNvPr id="0" name=""/>
        <dsp:cNvSpPr/>
      </dsp:nvSpPr>
      <dsp:spPr>
        <a:xfrm>
          <a:off x="518879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1BE553A-7849-44A0-82A2-D804CAF9B09E}">
      <dsp:nvSpPr>
        <dsp:cNvPr id="0" name=""/>
        <dsp:cNvSpPr/>
      </dsp:nvSpPr>
      <dsp:spPr>
        <a:xfrm>
          <a:off x="566039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s-CL" sz="1500" kern="1200" dirty="0">
              <a:latin typeface="Arial" panose="020B0604020202020204" pitchFamily="34" charset="0"/>
              <a:cs typeface="Arial" panose="020B0604020202020204" pitchFamily="34" charset="0"/>
            </a:rPr>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sz="1500" kern="1200" dirty="0">
            <a:latin typeface="Arial" panose="020B0604020202020204" pitchFamily="34" charset="0"/>
            <a:cs typeface="Arial" panose="020B0604020202020204" pitchFamily="34" charset="0"/>
          </a:endParaRPr>
        </a:p>
      </dsp:txBody>
      <dsp:txXfrm>
        <a:off x="5739337" y="747779"/>
        <a:ext cx="4086513" cy="25373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3D035-4724-41FE-8A60-14E6ECAC7F8F}" type="datetimeFigureOut">
              <a:rPr lang="es-CL" smtClean="0"/>
              <a:t>13-12-23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5932D-3FF5-4611-8C62-F66A721BBABA}" type="slidenum">
              <a:rPr lang="es-CL" smtClean="0"/>
              <a:t>‹Nº›</a:t>
            </a:fld>
            <a:endParaRPr lang="es-CL"/>
          </a:p>
        </p:txBody>
      </p:sp>
    </p:spTree>
    <p:extLst>
      <p:ext uri="{BB962C8B-B14F-4D97-AF65-F5344CB8AC3E}">
        <p14:creationId xmlns:p14="http://schemas.microsoft.com/office/powerpoint/2010/main" val="147630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D145F0F-ABEA-49D3-ADF5-B61D2DA89C31}" type="datetimeFigureOut">
              <a:rPr lang="es-CL" smtClean="0"/>
              <a:t>13-12-23</a:t>
            </a:fld>
            <a:endParaRPr lang="es-CL"/>
          </a:p>
        </p:txBody>
      </p:sp>
      <p:sp>
        <p:nvSpPr>
          <p:cNvPr id="5" name="Footer Placeholder 4"/>
          <p:cNvSpPr>
            <a:spLocks noGrp="1"/>
          </p:cNvSpPr>
          <p:nvPr>
            <p:ph type="ftr" sz="quarter" idx="11"/>
          </p:nvPr>
        </p:nvSpPr>
        <p:spPr>
          <a:xfrm>
            <a:off x="1876424" y="5410201"/>
            <a:ext cx="5124886" cy="365125"/>
          </a:xfrm>
        </p:spPr>
        <p:txBody>
          <a:bodyPr/>
          <a:lstStyle/>
          <a:p>
            <a:endParaRPr lang="es-CL"/>
          </a:p>
        </p:txBody>
      </p:sp>
      <p:sp>
        <p:nvSpPr>
          <p:cNvPr id="6" name="Slide Number Placeholder 5"/>
          <p:cNvSpPr>
            <a:spLocks noGrp="1"/>
          </p:cNvSpPr>
          <p:nvPr>
            <p:ph type="sldNum" sz="quarter" idx="12"/>
          </p:nvPr>
        </p:nvSpPr>
        <p:spPr>
          <a:xfrm>
            <a:off x="9896911" y="5410199"/>
            <a:ext cx="771089"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11674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84445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7967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580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13-12-23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1719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13-12-23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91462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13-12-23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7491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663593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55264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3641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68932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440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71273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13-12-23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7219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13-12-23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92033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71843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54560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145F0F-ABEA-49D3-ADF5-B61D2DA89C31}" type="datetimeFigureOut">
              <a:rPr lang="es-CL" smtClean="0"/>
              <a:t>13-12-23</a:t>
            </a:fld>
            <a:endParaRPr lang="es-CL"/>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1192813009"/>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omments" Target="../comments/comment5.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comments" Target="../comments/commen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title"/>
          </p:nvPr>
        </p:nvSpPr>
        <p:spPr>
          <a:xfrm>
            <a:off x="6438122" y="391886"/>
            <a:ext cx="4935893" cy="1705202"/>
          </a:xfrm>
        </p:spPr>
        <p:txBody>
          <a:bodyPr vert="horz" lIns="91440" tIns="45720" rIns="91440" bIns="45720" rtlCol="0" anchor="ctr">
            <a:normAutofit fontScale="90000"/>
          </a:bodyPr>
          <a:lstStyle/>
          <a:p>
            <a:pPr algn="ctr"/>
            <a:r>
              <a:rPr lang="en-US" sz="3100" u="sng" dirty="0">
                <a:latin typeface="Arial" panose="020B0604020202020204" pitchFamily="34" charset="0"/>
                <a:cs typeface="Arial" panose="020B0604020202020204" pitchFamily="34" charset="0"/>
              </a:rPr>
              <a:t>Microlattice, una nueva opción en la Seguridad Automotriz</a:t>
            </a:r>
          </a:p>
        </p:txBody>
      </p:sp>
      <p:sp>
        <p:nvSpPr>
          <p:cNvPr id="4" name="Subtítulo 3">
            <a:extLst>
              <a:ext uri="{FF2B5EF4-FFF2-40B4-BE49-F238E27FC236}">
                <a16:creationId xmlns:a16="http://schemas.microsoft.com/office/drawing/2014/main" id="{C83D2D36-CA3F-7BF5-C09A-90BABD52499F}"/>
              </a:ext>
            </a:extLst>
          </p:cNvPr>
          <p:cNvSpPr>
            <a:spLocks noGrp="1"/>
          </p:cNvSpPr>
          <p:nvPr>
            <p:ph idx="1"/>
          </p:nvPr>
        </p:nvSpPr>
        <p:spPr>
          <a:xfrm>
            <a:off x="6257924" y="2344737"/>
            <a:ext cx="5781676" cy="3541714"/>
          </a:xfrm>
          <a:ln>
            <a:solidFill>
              <a:srgbClr val="FF0000"/>
            </a:solidFill>
          </a:ln>
        </p:spPr>
        <p:txBody>
          <a:bodyPr vert="horz" lIns="91440" tIns="45720" rIns="91440" bIns="45720" rtlCol="0">
            <a:normAutofit/>
          </a:bodyPr>
          <a:lstStyle/>
          <a:p>
            <a:pPr>
              <a:lnSpc>
                <a:spcPct val="110000"/>
              </a:lnSpc>
            </a:pPr>
            <a:r>
              <a:rPr lang="en-US" sz="1800" dirty="0">
                <a:latin typeface="Arial" panose="020B0604020202020204" pitchFamily="34" charset="0"/>
                <a:cs typeface="Arial" panose="020B0604020202020204" pitchFamily="34" charset="0"/>
              </a:rPr>
              <a:t>Integrantes:	Kevin Briones, Matías Quiñonez, 			Daniel Toledo, Marco Ulloa</a:t>
            </a:r>
          </a:p>
          <a:p>
            <a:pPr>
              <a:lnSpc>
                <a:spcPct val="110000"/>
              </a:lnSpc>
            </a:pPr>
            <a:r>
              <a:rPr lang="en-US" sz="1800" dirty="0">
                <a:latin typeface="Arial" panose="020B0604020202020204" pitchFamily="34" charset="0"/>
                <a:cs typeface="Arial" panose="020B0604020202020204" pitchFamily="34" charset="0"/>
              </a:rPr>
              <a:t>Profesora: 	Lissette Andrea Salamanca Mella</a:t>
            </a:r>
          </a:p>
          <a:p>
            <a:pPr>
              <a:lnSpc>
                <a:spcPct val="110000"/>
              </a:lnSpc>
            </a:pPr>
            <a:r>
              <a:rPr lang="en-US" sz="1800" dirty="0">
                <a:latin typeface="Arial" panose="020B0604020202020204" pitchFamily="34" charset="0"/>
                <a:cs typeface="Arial" panose="020B0604020202020204" pitchFamily="34" charset="0"/>
              </a:rPr>
              <a:t>Asignatura:	Funciones y Geometría</a:t>
            </a:r>
          </a:p>
          <a:p>
            <a:pPr>
              <a:lnSpc>
                <a:spcPct val="110000"/>
              </a:lnSpc>
            </a:pPr>
            <a:r>
              <a:rPr lang="en-US" sz="1800" dirty="0">
                <a:latin typeface="Arial" panose="020B0604020202020204" pitchFamily="34" charset="0"/>
                <a:cs typeface="Arial" panose="020B0604020202020204" pitchFamily="34" charset="0"/>
              </a:rPr>
              <a:t>Carrera:	Técnico en Mecánica y 			               Electromovilidad Automotriz</a:t>
            </a:r>
          </a:p>
        </p:txBody>
      </p:sp>
      <p:pic>
        <p:nvPicPr>
          <p:cNvPr id="5" name="Imagen 4" descr="Cactus de color verde&#10;&#10;Descripción generada automáticamente con confianza media">
            <a:extLst>
              <a:ext uri="{FF2B5EF4-FFF2-40B4-BE49-F238E27FC236}">
                <a16:creationId xmlns:a16="http://schemas.microsoft.com/office/drawing/2014/main" id="{891F59D6-A463-8F20-3217-5F287FB3A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67536" cy="6858000"/>
          </a:xfrm>
          <a:prstGeom prst="rect">
            <a:avLst/>
          </a:prstGeom>
        </p:spPr>
      </p:pic>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1141413" y="1082673"/>
            <a:ext cx="2869416" cy="4708528"/>
          </a:xfrm>
        </p:spPr>
        <p:txBody>
          <a:bodyPr>
            <a:normAutofit/>
          </a:bodyPr>
          <a:lstStyle/>
          <a:p>
            <a:r>
              <a:rPr lang="es-ES" sz="3100" b="0" i="0" u="sng" dirty="0">
                <a:effectLst/>
                <a:latin typeface="Arial" panose="020B0604020202020204" pitchFamily="34" charset="0"/>
                <a:cs typeface="Arial" panose="020B0604020202020204" pitchFamily="34" charset="0"/>
              </a:rPr>
              <a:t>Definición del proyecto</a:t>
            </a:r>
            <a:endParaRPr lang="es-CL" sz="3100" u="sng"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096C6D7A-7F8D-5ED8-B3D0-0EE5A7B053F5}"/>
              </a:ext>
            </a:extLst>
          </p:cNvPr>
          <p:cNvSpPr>
            <a:spLocks noGrp="1"/>
          </p:cNvSpPr>
          <p:nvPr>
            <p:ph idx="1"/>
          </p:nvPr>
        </p:nvSpPr>
        <p:spPr>
          <a:xfrm>
            <a:off x="4469364" y="830746"/>
            <a:ext cx="6802016" cy="5028878"/>
          </a:xfrm>
          <a:ln>
            <a:solidFill>
              <a:srgbClr val="FF0000"/>
            </a:solidFill>
          </a:ln>
        </p:spPr>
        <p:txBody>
          <a:bodyPr anchor="ctr">
            <a:normAutofit/>
          </a:bodyPr>
          <a:lstStyle/>
          <a:p>
            <a:pPr algn="just">
              <a:lnSpc>
                <a:spcPct val="110000"/>
              </a:lnSpc>
            </a:pPr>
            <a:r>
              <a:rPr lang="es-ES" sz="1500" dirty="0">
                <a:latin typeface="Arial" panose="020B0604020202020204" pitchFamily="34" charset="0"/>
                <a:cs typeface="Arial" panose="020B0604020202020204" pitchFamily="34" charset="0"/>
              </a:rPr>
              <a:t>Durante el año 2022 se registraron 86.050 accidentes de tránsito en el cual 1.745 personas perdieron la vida en Chile, en donde las principales causas además de la conducción bajo el efecto de sustancias psicoactivas fueron la baja seguridad que existen en los automóviles. Por lo que nuestro proyecto está relacionado con equipar vehículos convencionales,  reforzándolos para brindar más seguridad y confiabilidad ocupando materiales como lo son el microlattice. El cual es un material de estructura metálica ultraligero que se asemeja a una red tridimensional. </a:t>
            </a:r>
            <a:r>
              <a:rPr lang="es-ES" sz="1500" dirty="0">
                <a:solidFill>
                  <a:srgbClr val="FF0000"/>
                </a:solidFill>
                <a:latin typeface="Arial" panose="020B0604020202020204" pitchFamily="34" charset="0"/>
                <a:cs typeface="Arial" panose="020B0604020202020204" pitchFamily="34" charset="0"/>
              </a:rPr>
              <a:t>El cual </a:t>
            </a:r>
            <a:r>
              <a:rPr lang="es-ES" sz="1500" dirty="0">
                <a:latin typeface="Arial" panose="020B0604020202020204" pitchFamily="34" charset="0"/>
                <a:cs typeface="Arial" panose="020B0604020202020204" pitchFamily="34" charset="0"/>
              </a:rPr>
              <a:t>se puede implementar en diversas aplicaciones en el área automotriz debido a sus características únicas como lo son:</a:t>
            </a:r>
          </a:p>
          <a:p>
            <a:pPr>
              <a:lnSpc>
                <a:spcPct val="110000"/>
              </a:lnSpc>
            </a:pPr>
            <a:r>
              <a:rPr lang="es-ES" sz="1500" dirty="0">
                <a:latin typeface="Arial" panose="020B0604020202020204" pitchFamily="34" charset="0"/>
                <a:cs typeface="Arial" panose="020B0604020202020204" pitchFamily="34" charset="0"/>
              </a:rPr>
              <a:t>-Reducción de peso </a:t>
            </a:r>
          </a:p>
          <a:p>
            <a:pPr>
              <a:lnSpc>
                <a:spcPct val="110000"/>
              </a:lnSpc>
            </a:pPr>
            <a:r>
              <a:rPr lang="es-ES" sz="1500" dirty="0">
                <a:latin typeface="Arial" panose="020B0604020202020204" pitchFamily="34" charset="0"/>
                <a:cs typeface="Arial" panose="020B0604020202020204" pitchFamily="34" charset="0"/>
              </a:rPr>
              <a:t>-Refuerzo estructural</a:t>
            </a:r>
          </a:p>
          <a:p>
            <a:pPr>
              <a:lnSpc>
                <a:spcPct val="110000"/>
              </a:lnSpc>
            </a:pPr>
            <a:r>
              <a:rPr lang="es-ES" sz="1500" dirty="0">
                <a:latin typeface="Arial" panose="020B0604020202020204" pitchFamily="34" charset="0"/>
                <a:cs typeface="Arial" panose="020B0604020202020204" pitchFamily="34" charset="0"/>
              </a:rPr>
              <a:t>-Absorción de impactos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5188787" y="323243"/>
            <a:ext cx="6050713" cy="1478570"/>
          </a:xfrm>
        </p:spPr>
        <p:txBody>
          <a:bodyPr>
            <a:normAutofit/>
          </a:bodyPr>
          <a:lstStyle/>
          <a:p>
            <a:pPr algn="ctr"/>
            <a:r>
              <a:rPr lang="es-ES" sz="3100" u="sng" dirty="0">
                <a:latin typeface="Calibri" panose="020F0502020204030204" pitchFamily="34" charset="0"/>
              </a:rPr>
              <a:t>Tema de investigación, nociones matemáticas y problemática a abordar</a:t>
            </a:r>
            <a:r>
              <a:rPr lang="es-ES" sz="3100" b="0" i="0" u="sng" dirty="0">
                <a:effectLst/>
                <a:latin typeface="Calibri" panose="020F0502020204030204" pitchFamily="34" charset="0"/>
              </a:rPr>
              <a:t> </a:t>
            </a:r>
            <a:endParaRPr lang="es-CL" sz="3100" u="sng" dirty="0"/>
          </a:p>
        </p:txBody>
      </p:sp>
      <p:pic>
        <p:nvPicPr>
          <p:cNvPr id="5" name="Picture 4" descr="Fórmulas matemáticas complejas en una pizarra">
            <a:extLst>
              <a:ext uri="{FF2B5EF4-FFF2-40B4-BE49-F238E27FC236}">
                <a16:creationId xmlns:a16="http://schemas.microsoft.com/office/drawing/2014/main" id="{9FC56D5B-0661-68AD-94F1-D55731095D02}"/>
              </a:ext>
            </a:extLst>
          </p:cNvPr>
          <p:cNvPicPr>
            <a:picLocks noChangeAspect="1"/>
          </p:cNvPicPr>
          <p:nvPr/>
        </p:nvPicPr>
        <p:blipFill rotWithShape="1">
          <a:blip r:embed="rId4"/>
          <a:srcRect l="32290" r="18366"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grpSp>
      <p:sp>
        <p:nvSpPr>
          <p:cNvPr id="3" name="Marcador de contenido 2">
            <a:extLst>
              <a:ext uri="{FF2B5EF4-FFF2-40B4-BE49-F238E27FC236}">
                <a16:creationId xmlns:a16="http://schemas.microsoft.com/office/drawing/2014/main" id="{01909937-29F9-6C26-B948-FFE0743EEB4F}"/>
              </a:ext>
            </a:extLst>
          </p:cNvPr>
          <p:cNvSpPr>
            <a:spLocks noGrp="1"/>
          </p:cNvSpPr>
          <p:nvPr>
            <p:ph idx="1"/>
          </p:nvPr>
        </p:nvSpPr>
        <p:spPr>
          <a:xfrm>
            <a:off x="4934785" y="1963676"/>
            <a:ext cx="6871451" cy="4367274"/>
          </a:xfrm>
          <a:ln>
            <a:solidFill>
              <a:srgbClr val="FF0000"/>
            </a:solidFill>
          </a:ln>
        </p:spPr>
        <p:txBody>
          <a:bodyPr>
            <a:noAutofit/>
          </a:bodyPr>
          <a:lstStyle/>
          <a:p>
            <a:pPr algn="just"/>
            <a:r>
              <a:rPr lang="es-CL" sz="1500" dirty="0">
                <a:latin typeface="Arial" panose="020B0604020202020204" pitchFamily="34" charset="0"/>
                <a:cs typeface="Arial" panose="020B0604020202020204" pitchFamily="34" charset="0"/>
              </a:rPr>
              <a:t>Nuestra investigación se basa en buscar una solución a los daños que sufren los vehículos al momento de chocar o volcar, lo cuales han provocado que muchas personas pierdan su vida.</a:t>
            </a:r>
          </a:p>
          <a:p>
            <a:pPr algn="just"/>
            <a:r>
              <a:rPr lang="es-CL" sz="1500" dirty="0">
                <a:latin typeface="Arial" panose="020B0604020202020204" pitchFamily="34" charset="0"/>
                <a:cs typeface="Arial" panose="020B0604020202020204" pitchFamily="34" charset="0"/>
              </a:rPr>
              <a:t>Nuestra idea es hacer un catastro a todos los daños que sufren los vehículos y los más perjudiciales para las vidas de las personas, después de hacer esa investigación se procederá a tomar un caso en donde se puedan ver las fallas de seguridad en lo que contempla el vehículo. Comúnmente se ven daños en la estructura del chasis del vehículo cuales se podrían encontrar soluciones con distintos componentes, como lo es el microlattice. Este material tiene una densidad de </a:t>
            </a:r>
            <a:r>
              <a:rPr lang="es-CL" sz="1500" b="0" i="0" dirty="0">
                <a:effectLst/>
                <a:latin typeface="Arial" panose="020B0604020202020204" pitchFamily="34" charset="0"/>
                <a:cs typeface="Arial" panose="020B0604020202020204" pitchFamily="34" charset="0"/>
              </a:rPr>
              <a:t>0,9 kg/m³ lo que hace que tenga un peso muy liviano y es igual de resistente que el metal, teniendo ese conocimiento se pueden tomar medidas de las estructuras del vehículo en donde se reforzaría con este material así provocando que el vehículo no adquiera un mayor peso y obtenga en recubrimiento para la seguridad de las personas.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4998132" y="0"/>
            <a:ext cx="6764660" cy="1005406"/>
          </a:xfrm>
        </p:spPr>
        <p:txBody>
          <a:bodyPr>
            <a:normAutofit/>
          </a:bodyPr>
          <a:lstStyle/>
          <a:p>
            <a:pPr algn="ctr"/>
            <a:r>
              <a:rPr lang="es-ES" sz="3100" b="0" i="0" u="sng" dirty="0">
                <a:effectLst/>
                <a:latin typeface="Arial" panose="020B0604020202020204" pitchFamily="34" charset="0"/>
                <a:cs typeface="Arial" panose="020B0604020202020204" pitchFamily="34" charset="0"/>
              </a:rPr>
              <a:t>Objetivos y preguntas de investigación </a:t>
            </a:r>
            <a:endParaRPr lang="es-CL" sz="3100" u="sng" dirty="0"/>
          </a:p>
        </p:txBody>
      </p:sp>
      <p:sp>
        <p:nvSpPr>
          <p:cNvPr id="3" name="CuadroTexto 2">
            <a:extLst>
              <a:ext uri="{FF2B5EF4-FFF2-40B4-BE49-F238E27FC236}">
                <a16:creationId xmlns:a16="http://schemas.microsoft.com/office/drawing/2014/main" id="{FD6C4F65-5BCB-7C9C-B93D-9FD1A66B9236}"/>
              </a:ext>
            </a:extLst>
          </p:cNvPr>
          <p:cNvSpPr txBox="1"/>
          <p:nvPr/>
        </p:nvSpPr>
        <p:spPr>
          <a:xfrm>
            <a:off x="1194317" y="709127"/>
            <a:ext cx="5284237" cy="5989216"/>
          </a:xfrm>
          <a:prstGeom prst="rect">
            <a:avLst/>
          </a:prstGeom>
          <a:noFill/>
          <a:ln>
            <a:solidFill>
              <a:srgbClr val="FF0000"/>
            </a:solidFill>
          </a:ln>
        </p:spPr>
        <p:txBody>
          <a:bodyPr wrap="square" rtlCol="0">
            <a:spAutoFit/>
          </a:bodyPr>
          <a:lstStyle/>
          <a:p>
            <a:pPr algn="just"/>
            <a:r>
              <a:rPr lang="es-CL" b="1" dirty="0">
                <a:latin typeface="Arial" panose="020B0604020202020204" pitchFamily="34" charset="0"/>
                <a:cs typeface="Arial" panose="020B0604020202020204" pitchFamily="34" charset="0"/>
              </a:rPr>
              <a:t>Objetivo General </a:t>
            </a:r>
          </a:p>
          <a:p>
            <a:pPr algn="just"/>
            <a:endParaRPr lang="es-CL" b="1" u="sng"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Realizar un prototipo de seguridad en vehículos convencionales utilizando el microlattice como material en la construcción de chasís y carrocerías, que permitan disminuir los daños a los usuarios, al momento de sufrir un accidente de tránsito.</a:t>
            </a:r>
          </a:p>
          <a:p>
            <a:pPr algn="just"/>
            <a:r>
              <a:rPr lang="es-CL" sz="1500" dirty="0">
                <a:latin typeface="Arial" panose="020B0604020202020204" pitchFamily="34" charset="0"/>
                <a:cs typeface="Arial" panose="020B0604020202020204" pitchFamily="34" charset="0"/>
              </a:rPr>
              <a:t>Para lograr este objetivo, necesitamos ejecutar una serie de objetivos específicos los cuales son:</a:t>
            </a:r>
          </a:p>
          <a:p>
            <a:pPr algn="just"/>
            <a:endParaRPr lang="es-CL" sz="1500" dirty="0">
              <a:latin typeface="Arial" panose="020B0604020202020204" pitchFamily="34" charset="0"/>
              <a:cs typeface="Arial" panose="020B0604020202020204" pitchFamily="34" charset="0"/>
            </a:endParaRPr>
          </a:p>
          <a:p>
            <a:pPr marL="342900" indent="-342900" algn="just">
              <a:buAutoNum type="alphaUcParenR"/>
            </a:pPr>
            <a:r>
              <a:rPr lang="es-CL" sz="1500" dirty="0">
                <a:latin typeface="Arial" panose="020B0604020202020204" pitchFamily="34" charset="0"/>
                <a:cs typeface="Arial" panose="020B0604020202020204" pitchFamily="34" charset="0"/>
              </a:rPr>
              <a:t>Conocer la composición del microlattice y los beneficios que pueda entregar a vehículos convencionales en el ámbito de seguridad.</a:t>
            </a:r>
          </a:p>
          <a:p>
            <a:pPr marL="342900" indent="-342900" algn="just">
              <a:buAutoNum type="alphaUcParenR"/>
            </a:pPr>
            <a:r>
              <a:rPr lang="es-CL" sz="1500" dirty="0">
                <a:latin typeface="Arial" panose="020B0604020202020204" pitchFamily="34" charset="0"/>
                <a:cs typeface="Arial" panose="020B0604020202020204" pitchFamily="34" charset="0"/>
              </a:rPr>
              <a:t>Analizar los puntos más vulnerables de un vehículo al momento de sufrir un impacto, o distintos tipos de impactos, tras un accidente de tránsito.</a:t>
            </a:r>
          </a:p>
          <a:p>
            <a:pPr marL="342900" indent="-342900" algn="just">
              <a:buAutoNum type="alphaUcParenR"/>
            </a:pPr>
            <a:r>
              <a:rPr lang="es-CL" sz="1500" dirty="0">
                <a:latin typeface="Arial" panose="020B0604020202020204" pitchFamily="34" charset="0"/>
                <a:cs typeface="Arial" panose="020B0604020202020204" pitchFamily="34" charset="0"/>
              </a:rPr>
              <a:t>Identificar de qué manera, como equipo de trabajo, podríamos reforzar una carrocería prototipo con microlattice y, analizar ventajas y desventajas de su uso dirigido a los pasajeros del automóvil.</a:t>
            </a:r>
          </a:p>
          <a:p>
            <a:pPr marL="342900" indent="-342900" algn="just">
              <a:buAutoNum type="alphaUcParenR"/>
            </a:pPr>
            <a:r>
              <a:rPr lang="es-CL" sz="1500" dirty="0">
                <a:latin typeface="Arial" panose="020B0604020202020204" pitchFamily="34" charset="0"/>
                <a:cs typeface="Arial" panose="020B0604020202020204" pitchFamily="34" charset="0"/>
              </a:rPr>
              <a:t>Crear una lista de materiales que usaremos para la fabricación de este prototipo.</a:t>
            </a:r>
          </a:p>
          <a:p>
            <a:pPr marL="342900" indent="-342900" algn="just">
              <a:buAutoNum type="alphaUcParenR"/>
            </a:pPr>
            <a:r>
              <a:rPr lang="es-CL" sz="1500" dirty="0">
                <a:latin typeface="Arial" panose="020B0604020202020204" pitchFamily="34" charset="0"/>
                <a:cs typeface="Arial" panose="020B0604020202020204" pitchFamily="34" charset="0"/>
              </a:rPr>
              <a:t>Realizar una carrocería a escala, simulando la ubicación del microlattice en los puntos más críticos del automóvil al sufrir un accidente vehicular.</a:t>
            </a:r>
          </a:p>
        </p:txBody>
      </p:sp>
      <p:sp>
        <p:nvSpPr>
          <p:cNvPr id="4" name="CuadroTexto 3">
            <a:extLst>
              <a:ext uri="{FF2B5EF4-FFF2-40B4-BE49-F238E27FC236}">
                <a16:creationId xmlns:a16="http://schemas.microsoft.com/office/drawing/2014/main" id="{A2ADADC6-0C02-3725-B448-9A675AB3C092}"/>
              </a:ext>
            </a:extLst>
          </p:cNvPr>
          <p:cNvSpPr txBox="1"/>
          <p:nvPr/>
        </p:nvSpPr>
        <p:spPr>
          <a:xfrm>
            <a:off x="6615404" y="1390261"/>
            <a:ext cx="4935894" cy="3416320"/>
          </a:xfrm>
          <a:prstGeom prst="rect">
            <a:avLst/>
          </a:prstGeom>
          <a:noFill/>
          <a:ln>
            <a:solidFill>
              <a:srgbClr val="FF0000"/>
            </a:solidFill>
          </a:ln>
        </p:spPr>
        <p:txBody>
          <a:bodyPr wrap="square" rtlCol="0">
            <a:spAutoFit/>
          </a:bodyPr>
          <a:lstStyle/>
          <a:p>
            <a:r>
              <a:rPr lang="es-CL" b="1" dirty="0">
                <a:latin typeface="Arial" panose="020B0604020202020204" pitchFamily="34" charset="0"/>
                <a:cs typeface="Arial" panose="020B0604020202020204" pitchFamily="34" charset="0"/>
              </a:rPr>
              <a:t>Preguntas de investigación:</a:t>
            </a:r>
          </a:p>
          <a:p>
            <a:endParaRPr lang="es-CL" b="1"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 ¿Que es el microlattice? </a:t>
            </a:r>
          </a:p>
          <a:p>
            <a:pPr algn="just"/>
            <a:r>
              <a:rPr lang="es-CL" sz="1500" dirty="0">
                <a:latin typeface="Arial" panose="020B0604020202020204" pitchFamily="34" charset="0"/>
                <a:cs typeface="Arial" panose="020B0604020202020204" pitchFamily="34" charset="0"/>
              </a:rPr>
              <a:t>- ¿Cuál es la composición del microlattice?</a:t>
            </a:r>
          </a:p>
          <a:p>
            <a:pPr algn="just"/>
            <a:r>
              <a:rPr lang="es-CL" sz="1500" dirty="0">
                <a:latin typeface="Arial" panose="020B0604020202020204" pitchFamily="34" charset="0"/>
                <a:cs typeface="Arial" panose="020B0604020202020204" pitchFamily="34" charset="0"/>
              </a:rPr>
              <a:t>- ¿Cuáles son sus características?</a:t>
            </a:r>
          </a:p>
          <a:p>
            <a:pPr algn="just"/>
            <a:r>
              <a:rPr lang="es-CL" sz="1500" dirty="0">
                <a:latin typeface="Arial" panose="020B0604020202020204" pitchFamily="34" charset="0"/>
                <a:cs typeface="Arial" panose="020B0604020202020204" pitchFamily="34" charset="0"/>
              </a:rPr>
              <a:t>- ¿Qué zonas de un automóvil se ven más afectadas tras un accidente vehicular?</a:t>
            </a:r>
          </a:p>
          <a:p>
            <a:pPr algn="just"/>
            <a:r>
              <a:rPr lang="es-CL" sz="1500" dirty="0">
                <a:latin typeface="Arial" panose="020B0604020202020204" pitchFamily="34" charset="0"/>
                <a:cs typeface="Arial" panose="020B0604020202020204" pitchFamily="34" charset="0"/>
              </a:rPr>
              <a:t>-¿Cuáles son las áreas del cuerpo humano que más deben ser resguardadas como método de prevención de accidentes vehiculares?</a:t>
            </a:r>
          </a:p>
          <a:p>
            <a:pPr algn="just"/>
            <a:r>
              <a:rPr lang="es-CL" sz="1500" dirty="0">
                <a:latin typeface="Arial" panose="020B0604020202020204" pitchFamily="34" charset="0"/>
                <a:cs typeface="Arial" panose="020B0604020202020204" pitchFamily="34" charset="0"/>
              </a:rPr>
              <a:t>-¿Qué relación peso-potencia es la adecuada para beneficiar a un vehículo en ámbitos de seguridad y autonomía? ¿Qué cálculos matemáticos debemos realizar?</a:t>
            </a:r>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Imagen que contiene interior, tabla, mostrador, plato&#10;&#10;Descripción generada automáticamente">
            <a:extLst>
              <a:ext uri="{FF2B5EF4-FFF2-40B4-BE49-F238E27FC236}">
                <a16:creationId xmlns:a16="http://schemas.microsoft.com/office/drawing/2014/main" id="{F6E03662-9D28-FB22-FDEF-C98D8FFBA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118236"/>
            <a:ext cx="3281968" cy="1843610"/>
          </a:xfrm>
          <a:prstGeom prst="rect">
            <a:avLst/>
          </a:prstGeom>
        </p:spPr>
      </p:pic>
      <p:pic>
        <p:nvPicPr>
          <p:cNvPr id="5" name="Imagen 4" descr="Coche en una calle&#10;&#10;Descripción generada automáticamente con confianza media">
            <a:extLst>
              <a:ext uri="{FF2B5EF4-FFF2-40B4-BE49-F238E27FC236}">
                <a16:creationId xmlns:a16="http://schemas.microsoft.com/office/drawing/2014/main" id="{E9709B90-2FFB-0282-776A-5437F9664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7189" y="3429000"/>
            <a:ext cx="3601754" cy="2024084"/>
          </a:xfrm>
          <a:prstGeom prst="rect">
            <a:avLst/>
          </a:prstGeom>
        </p:spPr>
      </p:pic>
      <p:pic>
        <p:nvPicPr>
          <p:cNvPr id="1026" name="Picture 2" descr="Montenbaik | Principal web del Mountain Bike en Español. Encuentra los  mejores videos y fotos de MTB, las tendencias, tecnología y test de los  productos actuales. · La nueva tecnología que se">
            <a:extLst>
              <a:ext uri="{FF2B5EF4-FFF2-40B4-BE49-F238E27FC236}">
                <a16:creationId xmlns:a16="http://schemas.microsoft.com/office/drawing/2014/main" id="{2F8E4A4B-04B1-718F-545B-8230F6DE7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2637" y="1622789"/>
            <a:ext cx="2890124" cy="192734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2377768" y="403913"/>
            <a:ext cx="7436464" cy="893041"/>
          </a:xfrm>
        </p:spPr>
        <p:txBody>
          <a:bodyPr>
            <a:normAutofit/>
          </a:bodyPr>
          <a:lstStyle/>
          <a:p>
            <a:pPr algn="ctr"/>
            <a:r>
              <a:rPr lang="es-ES" sz="3100" b="0" i="0" u="sng" dirty="0">
                <a:effectLst/>
                <a:latin typeface="Arial" panose="020B0604020202020204" pitchFamily="34" charset="0"/>
                <a:cs typeface="Arial" panose="020B0604020202020204" pitchFamily="34" charset="0"/>
              </a:rPr>
              <a:t>Temas iniciales involucrados</a:t>
            </a:r>
            <a:endParaRPr lang="es-CL" sz="3100" u="sng" dirty="0">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79351E19-55E3-71D6-7029-115D47381393}"/>
              </a:ext>
            </a:extLst>
          </p:cNvPr>
          <p:cNvSpPr txBox="1"/>
          <p:nvPr/>
        </p:nvSpPr>
        <p:spPr>
          <a:xfrm>
            <a:off x="1192747" y="1743923"/>
            <a:ext cx="8621485" cy="1685077"/>
          </a:xfrm>
          <a:prstGeom prst="rect">
            <a:avLst/>
          </a:prstGeom>
          <a:noFill/>
        </p:spPr>
        <p:txBody>
          <a:bodyPr wrap="square" rtlCol="0">
            <a:spAutoFit/>
          </a:bodyPr>
          <a:lstStyle/>
          <a:p>
            <a:pPr>
              <a:lnSpc>
                <a:spcPct val="150000"/>
              </a:lnSpc>
            </a:pPr>
            <a:r>
              <a:rPr lang="es-CL" sz="1500" dirty="0">
                <a:latin typeface="Arial" panose="020B0604020202020204" pitchFamily="34" charset="0"/>
                <a:cs typeface="Arial" panose="020B0604020202020204" pitchFamily="34" charset="0"/>
              </a:rPr>
              <a:t>-Características y composición del microlattice.</a:t>
            </a:r>
          </a:p>
          <a:p>
            <a:pPr>
              <a:lnSpc>
                <a:spcPct val="150000"/>
              </a:lnSpc>
            </a:pPr>
            <a:r>
              <a:rPr lang="es-CL" sz="1500" dirty="0">
                <a:latin typeface="Arial" panose="020B0604020202020204" pitchFamily="34" charset="0"/>
                <a:cs typeface="Arial" panose="020B0604020202020204" pitchFamily="34" charset="0"/>
              </a:rPr>
              <a:t>-Seguridad en infraestructura automotriz.</a:t>
            </a:r>
          </a:p>
          <a:p>
            <a:pPr>
              <a:lnSpc>
                <a:spcPct val="150000"/>
              </a:lnSpc>
            </a:pPr>
            <a:r>
              <a:rPr lang="es-CL" sz="1500" dirty="0">
                <a:latin typeface="Arial" panose="020B0604020202020204" pitchFamily="34" charset="0"/>
                <a:cs typeface="Arial" panose="020B0604020202020204" pitchFamily="34" charset="0"/>
              </a:rPr>
              <a:t>-Datos estadísticos sobre accidentes vehiculares.</a:t>
            </a:r>
          </a:p>
          <a:p>
            <a:endParaRPr lang="es-CL" dirty="0"/>
          </a:p>
          <a:p>
            <a:endParaRPr lang="es-CL" dirty="0"/>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141413" y="618518"/>
            <a:ext cx="9905998" cy="1478570"/>
          </a:xfrm>
        </p:spPr>
        <p:txBody>
          <a:bodyPr>
            <a:normAutofit/>
          </a:bodyPr>
          <a:lstStyle/>
          <a:p>
            <a:r>
              <a:rPr lang="es-ES" b="0" i="0">
                <a:effectLst/>
                <a:latin typeface="Calibri" panose="020F0502020204030204" pitchFamily="34" charset="0"/>
              </a:rPr>
              <a:t>Cronograma y materiales a utilizar</a:t>
            </a:r>
            <a:endParaRPr lang="es-CL"/>
          </a:p>
        </p:txBody>
      </p:sp>
      <p:graphicFrame>
        <p:nvGraphicFramePr>
          <p:cNvPr id="53" name="Marcador de contenido 2">
            <a:extLst>
              <a:ext uri="{FF2B5EF4-FFF2-40B4-BE49-F238E27FC236}">
                <a16:creationId xmlns:a16="http://schemas.microsoft.com/office/drawing/2014/main" id="{19624808-FB56-04AE-A4CD-277FADB359FC}"/>
              </a:ext>
            </a:extLst>
          </p:cNvPr>
          <p:cNvGraphicFramePr>
            <a:graphicFrameLocks noGrp="1"/>
          </p:cNvGraphicFramePr>
          <p:nvPr>
            <p:ph idx="1"/>
            <p:extLst>
              <p:ext uri="{D42A27DB-BD31-4B8C-83A1-F6EECF244321}">
                <p14:modId xmlns:p14="http://schemas.microsoft.com/office/powerpoint/2010/main" val="2729279619"/>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C12E43-C66F-2D3F-36A8-48C5B35BEA87}"/>
              </a:ext>
            </a:extLst>
          </p:cNvPr>
          <p:cNvSpPr>
            <a:spLocks noGrp="1"/>
          </p:cNvSpPr>
          <p:nvPr>
            <p:ph type="title"/>
          </p:nvPr>
        </p:nvSpPr>
        <p:spPr/>
        <p:txBody>
          <a:bodyPr/>
          <a:lstStyle/>
          <a:p>
            <a:pPr algn="ctr"/>
            <a:r>
              <a:rPr lang="es-CL" dirty="0"/>
              <a:t>¿Qué es el </a:t>
            </a:r>
            <a:r>
              <a:rPr lang="es-CL" dirty="0" err="1"/>
              <a:t>microlattice</a:t>
            </a:r>
            <a:r>
              <a:rPr lang="es-CL" dirty="0"/>
              <a:t>?</a:t>
            </a:r>
            <a:br>
              <a:rPr lang="es-CL" dirty="0"/>
            </a:br>
            <a:endParaRPr lang="es-CL" dirty="0"/>
          </a:p>
        </p:txBody>
      </p:sp>
      <p:sp>
        <p:nvSpPr>
          <p:cNvPr id="3" name="Marcador de contenido 2">
            <a:extLst>
              <a:ext uri="{FF2B5EF4-FFF2-40B4-BE49-F238E27FC236}">
                <a16:creationId xmlns:a16="http://schemas.microsoft.com/office/drawing/2014/main" id="{6DCDAB1C-432A-9B31-4A63-852F08DC5C84}"/>
              </a:ext>
            </a:extLst>
          </p:cNvPr>
          <p:cNvSpPr>
            <a:spLocks noGrp="1"/>
          </p:cNvSpPr>
          <p:nvPr>
            <p:ph idx="1"/>
          </p:nvPr>
        </p:nvSpPr>
        <p:spPr>
          <a:xfrm>
            <a:off x="1020642" y="1658143"/>
            <a:ext cx="9905999" cy="3541714"/>
          </a:xfrm>
        </p:spPr>
        <p:txBody>
          <a:bodyPr>
            <a:normAutofit/>
          </a:bodyPr>
          <a:lstStyle/>
          <a:p>
            <a:pPr algn="just"/>
            <a:r>
              <a:rPr lang="es-CL" sz="1600" dirty="0" err="1">
                <a:effectLst/>
                <a:latin typeface="Arial" panose="020B0604020202020204" pitchFamily="34" charset="0"/>
                <a:ea typeface="Calibri" panose="020F0502020204030204" pitchFamily="34" charset="0"/>
                <a:cs typeface="Arial" panose="020B0604020202020204" pitchFamily="34" charset="0"/>
              </a:rPr>
              <a:t>Microlattice</a:t>
            </a:r>
            <a:r>
              <a:rPr lang="es-CL" sz="1600" dirty="0">
                <a:effectLst/>
                <a:latin typeface="Arial" panose="020B0604020202020204" pitchFamily="34" charset="0"/>
                <a:ea typeface="Calibri" panose="020F0502020204030204" pitchFamily="34" charset="0"/>
                <a:cs typeface="Arial" panose="020B0604020202020204" pitchFamily="34" charset="0"/>
              </a:rPr>
              <a:t> es una estructura polimérica 3D abierta a nivel celular realizada con pequeños tubos metálicos huecos y que comparan con un hueso humano, ligero y al mismo tiempo resistente. </a:t>
            </a:r>
            <a:r>
              <a:rPr lang="es-CL" sz="1600" dirty="0" err="1">
                <a:effectLst/>
                <a:latin typeface="Arial" panose="020B0604020202020204" pitchFamily="34" charset="0"/>
                <a:ea typeface="Calibri" panose="020F0502020204030204" pitchFamily="34" charset="0"/>
                <a:cs typeface="Arial" panose="020B0604020202020204" pitchFamily="34" charset="0"/>
              </a:rPr>
              <a:t>Ranchel</a:t>
            </a:r>
            <a:r>
              <a:rPr lang="es-CL" sz="1600" dirty="0">
                <a:latin typeface="Arial" panose="020B0604020202020204" pitchFamily="34" charset="0"/>
                <a:ea typeface="Calibri" panose="020F0502020204030204" pitchFamily="34" charset="0"/>
                <a:cs typeface="Arial" panose="020B0604020202020204" pitchFamily="34" charset="0"/>
              </a:rPr>
              <a:t>, J(2015). </a:t>
            </a:r>
          </a:p>
          <a:p>
            <a:pPr algn="just"/>
            <a:r>
              <a:rPr lang="es-CL" sz="1600" dirty="0">
                <a:effectLst/>
                <a:latin typeface="Arial" panose="020B0604020202020204" pitchFamily="34" charset="0"/>
                <a:ea typeface="Calibri" panose="020F0502020204030204" pitchFamily="34" charset="0"/>
                <a:cs typeface="Arial" panose="020B0604020202020204" pitchFamily="34" charset="0"/>
              </a:rPr>
              <a:t>El </a:t>
            </a:r>
            <a:r>
              <a:rPr lang="es-CL" sz="1600" dirty="0" err="1">
                <a:effectLst/>
                <a:latin typeface="Arial" panose="020B0604020202020204" pitchFamily="34" charset="0"/>
                <a:ea typeface="Calibri" panose="020F0502020204030204" pitchFamily="34" charset="0"/>
                <a:cs typeface="Arial" panose="020B0604020202020204" pitchFamily="34" charset="0"/>
              </a:rPr>
              <a:t>Microlattice</a:t>
            </a:r>
            <a:r>
              <a:rPr lang="es-CL" sz="1600" dirty="0">
                <a:effectLst/>
                <a:latin typeface="Arial" panose="020B0604020202020204" pitchFamily="34" charset="0"/>
                <a:ea typeface="Calibri" panose="020F0502020204030204" pitchFamily="34" charset="0"/>
                <a:cs typeface="Arial" panose="020B0604020202020204" pitchFamily="34" charset="0"/>
              </a:rPr>
              <a:t> consiste en un material superligero, este material está compuesto mayormente por un 99,99% de aire, su composición mayormente consiste en tubos de </a:t>
            </a:r>
            <a:r>
              <a:rPr lang="es-CL" sz="1600" dirty="0" err="1">
                <a:effectLst/>
                <a:latin typeface="Arial" panose="020B0604020202020204" pitchFamily="34" charset="0"/>
                <a:ea typeface="Calibri" panose="020F0502020204030204" pitchFamily="34" charset="0"/>
                <a:cs typeface="Arial" panose="020B0604020202020204" pitchFamily="34" charset="0"/>
              </a:rPr>
              <a:t>niquel</a:t>
            </a:r>
            <a:r>
              <a:rPr lang="es-CL" sz="1600" dirty="0">
                <a:latin typeface="Arial" panose="020B0604020202020204" pitchFamily="34" charset="0"/>
                <a:ea typeface="Calibri" panose="020F0502020204030204" pitchFamily="34" charset="0"/>
                <a:cs typeface="Arial" panose="020B0604020202020204" pitchFamily="34" charset="0"/>
              </a:rPr>
              <a:t>-fosforo haciendo referencia a los huesos humanos, este material consiste en tener un 7% de átomos de fósforos disueltos, y no contiene precipitados, lo que hace que tenga una densidad de 2,1mg/cm3.</a:t>
            </a:r>
          </a:p>
          <a:p>
            <a:pPr algn="just"/>
            <a:r>
              <a:rPr lang="es-CL" sz="1600" dirty="0">
                <a:latin typeface="Arial" panose="020B0604020202020204" pitchFamily="34" charset="0"/>
                <a:ea typeface="Calibri" panose="020F0502020204030204" pitchFamily="34" charset="0"/>
                <a:cs typeface="Arial" panose="020B0604020202020204" pitchFamily="34" charset="0"/>
              </a:rPr>
              <a:t>Algunas de las características similares a este material es el elastómero que consiste en recuperar su forma después de una signicativa compresión, esto le da una ventaja significativa frente a los </a:t>
            </a:r>
            <a:r>
              <a:rPr lang="es-CL" sz="1600" dirty="0" err="1">
                <a:latin typeface="Arial" panose="020B0604020202020204" pitchFamily="34" charset="0"/>
                <a:ea typeface="Calibri" panose="020F0502020204030204" pitchFamily="34" charset="0"/>
                <a:cs typeface="Arial" panose="020B0604020202020204" pitchFamily="34" charset="0"/>
              </a:rPr>
              <a:t>aerogeles</a:t>
            </a:r>
            <a:r>
              <a:rPr lang="es-CL" sz="1600" dirty="0">
                <a:latin typeface="Arial" panose="020B0604020202020204" pitchFamily="34" charset="0"/>
                <a:ea typeface="Calibri" panose="020F0502020204030204" pitchFamily="34" charset="0"/>
                <a:cs typeface="Arial" panose="020B0604020202020204" pitchFamily="34" charset="0"/>
              </a:rPr>
              <a:t> actuales</a:t>
            </a:r>
            <a:r>
              <a:rPr lang="es-CL" sz="1800" dirty="0">
                <a:latin typeface="Calibri Light" panose="020F0302020204030204" pitchFamily="34" charset="0"/>
                <a:ea typeface="Calibri" panose="020F0502020204030204" pitchFamily="34" charset="0"/>
                <a:cs typeface="Arial" panose="020B0604020202020204" pitchFamily="34" charset="0"/>
              </a:rPr>
              <a:t>.</a:t>
            </a:r>
            <a:endParaRPr lang="es-CL" dirty="0"/>
          </a:p>
        </p:txBody>
      </p:sp>
      <p:pic>
        <p:nvPicPr>
          <p:cNvPr id="4" name="Imagen 3">
            <a:extLst>
              <a:ext uri="{FF2B5EF4-FFF2-40B4-BE49-F238E27FC236}">
                <a16:creationId xmlns:a16="http://schemas.microsoft.com/office/drawing/2014/main" id="{6D587CB8-3358-CE3F-49B7-DE6DA35CB75E}"/>
              </a:ext>
            </a:extLst>
          </p:cNvPr>
          <p:cNvPicPr>
            <a:picLocks noChangeAspect="1"/>
          </p:cNvPicPr>
          <p:nvPr/>
        </p:nvPicPr>
        <p:blipFill>
          <a:blip r:embed="rId2"/>
          <a:stretch>
            <a:fillRect/>
          </a:stretch>
        </p:blipFill>
        <p:spPr>
          <a:xfrm>
            <a:off x="2758865" y="4603444"/>
            <a:ext cx="3335547" cy="1876245"/>
          </a:xfrm>
          <a:prstGeom prst="rect">
            <a:avLst/>
          </a:prstGeom>
        </p:spPr>
      </p:pic>
      <p:pic>
        <p:nvPicPr>
          <p:cNvPr id="5" name="Imagen 4">
            <a:extLst>
              <a:ext uri="{FF2B5EF4-FFF2-40B4-BE49-F238E27FC236}">
                <a16:creationId xmlns:a16="http://schemas.microsoft.com/office/drawing/2014/main" id="{22610792-2B57-CC52-CA7A-6AEC0C89217E}"/>
              </a:ext>
            </a:extLst>
          </p:cNvPr>
          <p:cNvPicPr>
            <a:picLocks noChangeAspect="1"/>
          </p:cNvPicPr>
          <p:nvPr/>
        </p:nvPicPr>
        <p:blipFill>
          <a:blip r:embed="rId3"/>
          <a:stretch>
            <a:fillRect/>
          </a:stretch>
        </p:blipFill>
        <p:spPr>
          <a:xfrm>
            <a:off x="6891458" y="4603444"/>
            <a:ext cx="3376277" cy="1876245"/>
          </a:xfrm>
          <a:prstGeom prst="rect">
            <a:avLst/>
          </a:prstGeom>
        </p:spPr>
      </p:pic>
      <p:sp>
        <p:nvSpPr>
          <p:cNvPr id="7" name="Marcador de pie de página 6">
            <a:extLst>
              <a:ext uri="{FF2B5EF4-FFF2-40B4-BE49-F238E27FC236}">
                <a16:creationId xmlns:a16="http://schemas.microsoft.com/office/drawing/2014/main" id="{7C33C61E-954D-17F0-6D5F-860221F562D6}"/>
              </a:ext>
            </a:extLst>
          </p:cNvPr>
          <p:cNvSpPr>
            <a:spLocks noGrp="1"/>
          </p:cNvSpPr>
          <p:nvPr>
            <p:ph type="ftr" sz="quarter" idx="11"/>
          </p:nvPr>
        </p:nvSpPr>
        <p:spPr>
          <a:xfrm>
            <a:off x="1141413" y="6409487"/>
            <a:ext cx="6239309" cy="365125"/>
          </a:xfrm>
        </p:spPr>
        <p:txBody>
          <a:bodyPr/>
          <a:lstStyle/>
          <a:p>
            <a:r>
              <a:rPr lang="es-ES" dirty="0"/>
              <a:t>Muy </a:t>
            </a:r>
            <a:r>
              <a:rPr lang="es-ES" dirty="0" err="1"/>
              <a:t>Computer</a:t>
            </a:r>
            <a:r>
              <a:rPr lang="es-ES" dirty="0"/>
              <a:t>. https://www.muycomputer.com/2015/10/12/microlattice-materiales/.</a:t>
            </a:r>
            <a:endParaRPr lang="es-CL" dirty="0"/>
          </a:p>
        </p:txBody>
      </p:sp>
    </p:spTree>
    <p:extLst>
      <p:ext uri="{BB962C8B-B14F-4D97-AF65-F5344CB8AC3E}">
        <p14:creationId xmlns:p14="http://schemas.microsoft.com/office/powerpoint/2010/main" val="327083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88B3A4-7A66-A5E2-0A5A-0474FDC0F480}"/>
              </a:ext>
            </a:extLst>
          </p:cNvPr>
          <p:cNvSpPr>
            <a:spLocks noGrp="1"/>
          </p:cNvSpPr>
          <p:nvPr>
            <p:ph type="title"/>
          </p:nvPr>
        </p:nvSpPr>
        <p:spPr/>
        <p:txBody>
          <a:bodyPr>
            <a:normAutofit fontScale="90000"/>
          </a:bodyPr>
          <a:lstStyle/>
          <a:p>
            <a:r>
              <a:rPr lang="es-US" dirty="0"/>
              <a:t>¿Cuáles son las áreas del cuerpo humano que más deben ser resguardadas como método de prevención de accidentes vehiculares?</a:t>
            </a:r>
          </a:p>
        </p:txBody>
      </p:sp>
      <p:sp>
        <p:nvSpPr>
          <p:cNvPr id="3" name="Marcador de contenido 2">
            <a:extLst>
              <a:ext uri="{FF2B5EF4-FFF2-40B4-BE49-F238E27FC236}">
                <a16:creationId xmlns:a16="http://schemas.microsoft.com/office/drawing/2014/main" id="{6D03EF81-D989-983B-C30C-F2E0426F2489}"/>
              </a:ext>
            </a:extLst>
          </p:cNvPr>
          <p:cNvSpPr>
            <a:spLocks noGrp="1"/>
          </p:cNvSpPr>
          <p:nvPr>
            <p:ph idx="1"/>
          </p:nvPr>
        </p:nvSpPr>
        <p:spPr>
          <a:xfrm>
            <a:off x="1141412" y="2249486"/>
            <a:ext cx="9905999" cy="4072602"/>
          </a:xfrm>
        </p:spPr>
        <p:txBody>
          <a:bodyPr>
            <a:normAutofit fontScale="77500" lnSpcReduction="20000"/>
          </a:bodyPr>
          <a:lstStyle/>
          <a:p>
            <a:r>
              <a:rPr lang="es-US" dirty="0"/>
              <a:t>En un accidente de tránsito las partes del cuerpo que se ven más dañadas tienden a ser el tórax, los pulmones y costillas, o heridas en la cabeza debido al impacto con el parabrisas, volante o las paredes del vehículo 
Al tratarse de un impacto trasero las lesiones más frecuentes se producen en el raquis cervical. Ya que el vehículo al absorber la fuerza del impacto impulsa al conductor o los tripulantes del vehículo hacia adelante además las lesiones de espalda y columna vertebral son también frecuentes en los accidentes y pueden ir de leves y temporales a permanentes y debilitantes . 
Los órganos internos más comúnmente afectados son la vejiga, los riñones y los intestinos, que están situados cerca de los vasos sanguíneos. El impacto de un accidente de coche puede romper esos vasos sanguíneos, provocando una hemorragia interna.</a:t>
            </a:r>
          </a:p>
          <a:p>
            <a:r>
              <a:rPr lang="es-US" dirty="0"/>
              <a:t>Por ende, las áreas del cuerpo humano que más deben ser resguardadas serian la cabeza, cuello, tórax y abdomen.</a:t>
            </a:r>
          </a:p>
        </p:txBody>
      </p:sp>
    </p:spTree>
    <p:extLst>
      <p:ext uri="{BB962C8B-B14F-4D97-AF65-F5344CB8AC3E}">
        <p14:creationId xmlns:p14="http://schemas.microsoft.com/office/powerpoint/2010/main" val="3581703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BA98C-B0CB-3EE9-0A6E-2328DC7F6FF4}"/>
              </a:ext>
            </a:extLst>
          </p:cNvPr>
          <p:cNvSpPr>
            <a:spLocks noGrp="1"/>
          </p:cNvSpPr>
          <p:nvPr>
            <p:ph type="title"/>
          </p:nvPr>
        </p:nvSpPr>
        <p:spPr>
          <a:xfrm>
            <a:off x="1141412" y="618518"/>
            <a:ext cx="5894387" cy="1478570"/>
          </a:xfrm>
        </p:spPr>
        <p:txBody>
          <a:bodyPr anchor="b">
            <a:normAutofit/>
          </a:bodyPr>
          <a:lstStyle/>
          <a:p>
            <a:r>
              <a:rPr lang="es-ES" sz="3100"/>
              <a:t>¿ Que zonas de un automóvil se ven más afectadas tras un accidente vehicular?</a:t>
            </a:r>
            <a:endParaRPr lang="es-CL" sz="3100"/>
          </a:p>
        </p:txBody>
      </p:sp>
      <p:sp>
        <p:nvSpPr>
          <p:cNvPr id="3" name="Marcador de contenido 2">
            <a:extLst>
              <a:ext uri="{FF2B5EF4-FFF2-40B4-BE49-F238E27FC236}">
                <a16:creationId xmlns:a16="http://schemas.microsoft.com/office/drawing/2014/main" id="{F6D4C1C0-AB5E-1E63-B124-4860AFA1A884}"/>
              </a:ext>
            </a:extLst>
          </p:cNvPr>
          <p:cNvSpPr>
            <a:spLocks noGrp="1"/>
          </p:cNvSpPr>
          <p:nvPr>
            <p:ph idx="1"/>
          </p:nvPr>
        </p:nvSpPr>
        <p:spPr>
          <a:xfrm>
            <a:off x="1141412" y="2249487"/>
            <a:ext cx="5894388" cy="3541714"/>
          </a:xfrm>
        </p:spPr>
        <p:txBody>
          <a:bodyPr>
            <a:normAutofit/>
          </a:bodyPr>
          <a:lstStyle/>
          <a:p>
            <a:pPr>
              <a:lnSpc>
                <a:spcPct val="110000"/>
              </a:lnSpc>
            </a:pPr>
            <a:r>
              <a:rPr lang="es-ES" dirty="0"/>
              <a:t>Las zonas del vehículo más afectadas durante un siniestro son la zona delantera y trasera con el 42% y 31%, sumadas ambas zonas cubren el 73% de los siniestros ya que suelen ocurrir con más frecuencia los impactos en esas zonas, y el otro 27% se compone de las demás zonas del vehículo como lo son los laterales, techo, etc.</a:t>
            </a:r>
          </a:p>
          <a:p>
            <a:pPr marL="0" indent="0">
              <a:lnSpc>
                <a:spcPct val="110000"/>
              </a:lnSpc>
              <a:buNone/>
            </a:pPr>
            <a:endParaRPr lang="es-CL" dirty="0"/>
          </a:p>
        </p:txBody>
      </p:sp>
      <p:sp>
        <p:nvSpPr>
          <p:cNvPr id="10" name="Round Diagonal Corner Rectangle 8">
            <a:extLst>
              <a:ext uri="{FF2B5EF4-FFF2-40B4-BE49-F238E27FC236}">
                <a16:creationId xmlns:a16="http://schemas.microsoft.com/office/drawing/2014/main" id="{A0F3E2DF-E827-4D2A-A6D3-15B8451C87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9997" y="618518"/>
            <a:ext cx="3425200" cy="5172683"/>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Coche en una calle&#10;&#10;Descripción generada automáticamente con confianza media">
            <a:extLst>
              <a:ext uri="{FF2B5EF4-FFF2-40B4-BE49-F238E27FC236}">
                <a16:creationId xmlns:a16="http://schemas.microsoft.com/office/drawing/2014/main" id="{071277A6-B628-76BF-FB8F-53C2DB1585B7}"/>
              </a:ext>
            </a:extLst>
          </p:cNvPr>
          <p:cNvPicPr>
            <a:picLocks noChangeAspect="1"/>
          </p:cNvPicPr>
          <p:nvPr/>
        </p:nvPicPr>
        <p:blipFill rotWithShape="1">
          <a:blip r:embed="rId3"/>
          <a:srcRect l="21743" r="5972" b="-4"/>
          <a:stretch/>
        </p:blipFill>
        <p:spPr>
          <a:xfrm>
            <a:off x="7940036" y="940250"/>
            <a:ext cx="2798580" cy="2177855"/>
          </a:xfrm>
          <a:prstGeom prst="rect">
            <a:avLst/>
          </a:prstGeom>
        </p:spPr>
      </p:pic>
      <p:pic>
        <p:nvPicPr>
          <p:cNvPr id="4" name="Imagen 3" descr="Un grupo de personas alrededor de una camioneta&#10;&#10;Descripción generada automáticamente con confianza media">
            <a:extLst>
              <a:ext uri="{FF2B5EF4-FFF2-40B4-BE49-F238E27FC236}">
                <a16:creationId xmlns:a16="http://schemas.microsoft.com/office/drawing/2014/main" id="{32243392-CA9A-CA86-5B0C-C002E6B60077}"/>
              </a:ext>
            </a:extLst>
          </p:cNvPr>
          <p:cNvPicPr>
            <a:picLocks noChangeAspect="1"/>
          </p:cNvPicPr>
          <p:nvPr/>
        </p:nvPicPr>
        <p:blipFill rotWithShape="1">
          <a:blip r:embed="rId4"/>
          <a:srcRect l="6229" r="8522" b="2"/>
          <a:stretch/>
        </p:blipFill>
        <p:spPr>
          <a:xfrm>
            <a:off x="7940036" y="3278244"/>
            <a:ext cx="2798580" cy="2191225"/>
          </a:xfrm>
          <a:prstGeom prst="rect">
            <a:avLst/>
          </a:prstGeom>
        </p:spPr>
      </p:pic>
      <p:sp>
        <p:nvSpPr>
          <p:cNvPr id="6" name="Marcador de pie de página 5">
            <a:extLst>
              <a:ext uri="{FF2B5EF4-FFF2-40B4-BE49-F238E27FC236}">
                <a16:creationId xmlns:a16="http://schemas.microsoft.com/office/drawing/2014/main" id="{94944173-49CC-9941-E8EB-2E843919E090}"/>
              </a:ext>
            </a:extLst>
          </p:cNvPr>
          <p:cNvSpPr>
            <a:spLocks noGrp="1"/>
          </p:cNvSpPr>
          <p:nvPr>
            <p:ph type="ftr" sz="quarter" idx="11"/>
          </p:nvPr>
        </p:nvSpPr>
        <p:spPr/>
        <p:txBody>
          <a:bodyPr/>
          <a:lstStyle/>
          <a:p>
            <a:r>
              <a:rPr lang="fr-FR"/>
              <a:t>Carroya(2019), https://www.carroya.com/noticias/guia-para-conductores/como-identificar-los-danos-de-un-vehiculo-tras-un-accidente-3741</a:t>
            </a:r>
            <a:endParaRPr lang="es-CL"/>
          </a:p>
        </p:txBody>
      </p:sp>
    </p:spTree>
    <p:extLst>
      <p:ext uri="{BB962C8B-B14F-4D97-AF65-F5344CB8AC3E}">
        <p14:creationId xmlns:p14="http://schemas.microsoft.com/office/powerpoint/2010/main" val="266170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Imagen que contiene pizarrón, texto&#10;&#10;Descripción generada automáticamente">
            <a:extLst>
              <a:ext uri="{FF2B5EF4-FFF2-40B4-BE49-F238E27FC236}">
                <a16:creationId xmlns:a16="http://schemas.microsoft.com/office/drawing/2014/main" id="{57792112-44B3-843D-2ED9-5C6DCFB01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318" y="3765040"/>
            <a:ext cx="2102148" cy="1511929"/>
          </a:xfrm>
          <a:prstGeom prst="rect">
            <a:avLst/>
          </a:prstGeom>
        </p:spPr>
      </p:pic>
      <p:sp>
        <p:nvSpPr>
          <p:cNvPr id="2" name="Título 1">
            <a:extLst>
              <a:ext uri="{FF2B5EF4-FFF2-40B4-BE49-F238E27FC236}">
                <a16:creationId xmlns:a16="http://schemas.microsoft.com/office/drawing/2014/main" id="{18EF5A1D-F612-26B0-93D8-6279E0C5006B}"/>
              </a:ext>
            </a:extLst>
          </p:cNvPr>
          <p:cNvSpPr>
            <a:spLocks noGrp="1"/>
          </p:cNvSpPr>
          <p:nvPr>
            <p:ph type="title"/>
          </p:nvPr>
        </p:nvSpPr>
        <p:spPr>
          <a:xfrm>
            <a:off x="908148" y="80451"/>
            <a:ext cx="9905998" cy="1478570"/>
          </a:xfrm>
        </p:spPr>
        <p:txBody>
          <a:bodyPr/>
          <a:lstStyle/>
          <a:p>
            <a:pPr algn="ctr"/>
            <a:r>
              <a:rPr lang="es-CL" dirty="0"/>
              <a:t>Fuentes y conceptos matemáticos</a:t>
            </a:r>
          </a:p>
        </p:txBody>
      </p:sp>
      <p:sp>
        <p:nvSpPr>
          <p:cNvPr id="3" name="Marcador de contenido 2">
            <a:extLst>
              <a:ext uri="{FF2B5EF4-FFF2-40B4-BE49-F238E27FC236}">
                <a16:creationId xmlns:a16="http://schemas.microsoft.com/office/drawing/2014/main" id="{ED64E801-FDDE-8E10-325E-90BDCA583679}"/>
              </a:ext>
            </a:extLst>
          </p:cNvPr>
          <p:cNvSpPr>
            <a:spLocks noGrp="1"/>
          </p:cNvSpPr>
          <p:nvPr>
            <p:ph idx="1"/>
          </p:nvPr>
        </p:nvSpPr>
        <p:spPr>
          <a:xfrm>
            <a:off x="799322" y="1111223"/>
            <a:ext cx="7100562" cy="3889985"/>
          </a:xfrm>
        </p:spPr>
        <p:txBody>
          <a:bodyPr>
            <a:normAutofit fontScale="85000" lnSpcReduction="10000"/>
          </a:bodyPr>
          <a:lstStyle/>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s-CL" sz="2000" dirty="0"/>
              <a:t>Con el fin de conocer e indagar en la relación peso potencia de un vehículo para la integración del </a:t>
            </a:r>
            <a:r>
              <a:rPr lang="es-CL" sz="2000" dirty="0" err="1"/>
              <a:t>microlattice</a:t>
            </a:r>
            <a:r>
              <a:rPr lang="es-CL" sz="2000" dirty="0"/>
              <a:t>, tenemos como dato referencial que la relación peso potencia debería estar por debajo de los 10kg/CV (caballo de vapor). Con esa información nosotros podemos realizar una regla de 3 simples, para utilizar los valores de peso y potencia del vehículo, al momento de definir las zonas y cantidades de </a:t>
            </a:r>
            <a:r>
              <a:rPr lang="es-CL" sz="2000" dirty="0" err="1"/>
              <a:t>microlattice</a:t>
            </a:r>
            <a:r>
              <a:rPr lang="es-CL" sz="2000" dirty="0"/>
              <a:t> a utilizar. </a:t>
            </a:r>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s-CL" sz="2000" dirty="0"/>
              <a:t>Ejemplo: ¿ Cuanta potencia en caballos de vapor necesito, si el vehículo con integración de </a:t>
            </a:r>
            <a:r>
              <a:rPr lang="es-CL" sz="2000" dirty="0" err="1"/>
              <a:t>microlattice</a:t>
            </a:r>
            <a:r>
              <a:rPr lang="es-CL" sz="2000" dirty="0"/>
              <a:t> pesa 1500 kg? </a:t>
            </a:r>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s-CL" sz="2000" dirty="0"/>
          </a:p>
          <a:p>
            <a:pPr marL="228600" marR="0" lvl="0" indent="-228600" algn="just"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s-CL" sz="2000" dirty="0"/>
          </a:p>
          <a:p>
            <a:pPr marL="0" indent="0" algn="just">
              <a:buNone/>
            </a:pPr>
            <a:r>
              <a:rPr lang="es-CL" sz="2000" dirty="0"/>
              <a:t>                           </a:t>
            </a:r>
          </a:p>
          <a:p>
            <a:endParaRPr lang="es-CL" dirty="0"/>
          </a:p>
        </p:txBody>
      </p:sp>
      <p:sp>
        <p:nvSpPr>
          <p:cNvPr id="4" name="CuadroTexto 3">
            <a:extLst>
              <a:ext uri="{FF2B5EF4-FFF2-40B4-BE49-F238E27FC236}">
                <a16:creationId xmlns:a16="http://schemas.microsoft.com/office/drawing/2014/main" id="{065602DD-8E01-4AB8-0031-FE1DA40673E6}"/>
              </a:ext>
            </a:extLst>
          </p:cNvPr>
          <p:cNvSpPr txBox="1"/>
          <p:nvPr/>
        </p:nvSpPr>
        <p:spPr>
          <a:xfrm>
            <a:off x="8425545" y="2179052"/>
            <a:ext cx="3564294" cy="1754326"/>
          </a:xfrm>
          <a:prstGeom prst="rect">
            <a:avLst/>
          </a:prstGeom>
          <a:noFill/>
        </p:spPr>
        <p:txBody>
          <a:bodyPr wrap="square" rtlCol="0">
            <a:spAutoFit/>
          </a:bodyPr>
          <a:lstStyle/>
          <a:p>
            <a:pPr algn="just"/>
            <a:r>
              <a:rPr lang="es-CL" dirty="0"/>
              <a:t>Para conocer los valores entregados por el fabricante respecto al peso y potencia de un vehículo,  nosotros podemos utilizar como herramienta tecnológica la plataforma de datos automotrices “auto data”.</a:t>
            </a:r>
          </a:p>
        </p:txBody>
      </p:sp>
      <p:pic>
        <p:nvPicPr>
          <p:cNvPr id="6" name="Imagen 5" descr="Interfaz de usuario gráfica, Aplicación&#10;&#10;Descripción generada automáticamente">
            <a:extLst>
              <a:ext uri="{FF2B5EF4-FFF2-40B4-BE49-F238E27FC236}">
                <a16:creationId xmlns:a16="http://schemas.microsoft.com/office/drawing/2014/main" id="{2C301829-7352-C70E-F773-A15A7FA76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6353" y="4099802"/>
            <a:ext cx="3282678" cy="1629753"/>
          </a:xfrm>
          <a:prstGeom prst="rect">
            <a:avLst/>
          </a:prstGeom>
        </p:spPr>
      </p:pic>
      <p:sp>
        <p:nvSpPr>
          <p:cNvPr id="7" name="Marcador de pie de página 6">
            <a:extLst>
              <a:ext uri="{FF2B5EF4-FFF2-40B4-BE49-F238E27FC236}">
                <a16:creationId xmlns:a16="http://schemas.microsoft.com/office/drawing/2014/main" id="{87A33BDD-9141-A339-2CB4-136827DA21B3}"/>
              </a:ext>
            </a:extLst>
          </p:cNvPr>
          <p:cNvSpPr>
            <a:spLocks noGrp="1"/>
          </p:cNvSpPr>
          <p:nvPr>
            <p:ph type="ftr" sz="quarter" idx="11"/>
          </p:nvPr>
        </p:nvSpPr>
        <p:spPr/>
        <p:txBody>
          <a:bodyPr/>
          <a:lstStyle/>
          <a:p>
            <a:r>
              <a:rPr lang="nn-NO"/>
              <a:t>KM77(2020) https://www.km77.com/glosario/relapesopote</a:t>
            </a:r>
            <a:endParaRPr lang="es-CL" dirty="0"/>
          </a:p>
        </p:txBody>
      </p:sp>
    </p:spTree>
    <p:extLst>
      <p:ext uri="{BB962C8B-B14F-4D97-AF65-F5344CB8AC3E}">
        <p14:creationId xmlns:p14="http://schemas.microsoft.com/office/powerpoint/2010/main" val="3162224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5" name="Group 14">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7"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CL"/>
              </a:p>
            </p:txBody>
          </p:sp>
          <p:sp>
            <p:nvSpPr>
              <p:cNvPr id="28"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9"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0"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1"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2"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3"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4"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5"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6"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7"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38"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CL"/>
              </a:p>
            </p:txBody>
          </p:sp>
          <p:sp>
            <p:nvSpPr>
              <p:cNvPr id="39"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0"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1"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2"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3"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CL"/>
              </a:p>
            </p:txBody>
          </p:sp>
          <p:sp>
            <p:nvSpPr>
              <p:cNvPr id="44"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5"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6"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7"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8"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49"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50"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51"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52"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53"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grpSp>
        <p:grpSp>
          <p:nvGrpSpPr>
            <p:cNvPr id="16" name="Group 15">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7"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18"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19"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0"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1"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2"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3"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4"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5"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CL"/>
              </a:p>
            </p:txBody>
          </p:sp>
          <p:sp>
            <p:nvSpPr>
              <p:cNvPr id="26"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CL"/>
              </a:p>
            </p:txBody>
          </p:sp>
        </p:grpSp>
      </p:grpSp>
      <p:pic>
        <p:nvPicPr>
          <p:cNvPr id="55"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18BC4C82-A478-6A01-FB6D-FEC01D1B8A62}"/>
              </a:ext>
            </a:extLst>
          </p:cNvPr>
          <p:cNvSpPr>
            <a:spLocks noGrp="1"/>
          </p:cNvSpPr>
          <p:nvPr>
            <p:ph type="title"/>
          </p:nvPr>
        </p:nvSpPr>
        <p:spPr>
          <a:xfrm>
            <a:off x="8036041" y="618518"/>
            <a:ext cx="3281003" cy="1478570"/>
          </a:xfrm>
        </p:spPr>
        <p:txBody>
          <a:bodyPr anchor="b">
            <a:normAutofit/>
          </a:bodyPr>
          <a:lstStyle/>
          <a:p>
            <a:r>
              <a:rPr lang="es-CL" sz="2800">
                <a:solidFill>
                  <a:srgbClr val="FFFFFF"/>
                </a:solidFill>
              </a:rPr>
              <a:t>Bitacora</a:t>
            </a:r>
          </a:p>
        </p:txBody>
      </p:sp>
      <p:sp useBgFill="1">
        <p:nvSpPr>
          <p:cNvPr id="57"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Texto, Tabla&#10;&#10;Descripción generada automáticamente con confianza media">
            <a:extLst>
              <a:ext uri="{FF2B5EF4-FFF2-40B4-BE49-F238E27FC236}">
                <a16:creationId xmlns:a16="http://schemas.microsoft.com/office/drawing/2014/main" id="{E2ABF92D-F8F9-17B3-3DE9-77F54D4CE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988" y="1798848"/>
            <a:ext cx="6112382" cy="3254842"/>
          </a:xfrm>
          <a:prstGeom prst="rect">
            <a:avLst/>
          </a:prstGeom>
        </p:spPr>
      </p:pic>
      <p:sp>
        <p:nvSpPr>
          <p:cNvPr id="9" name="Content Placeholder 8">
            <a:extLst>
              <a:ext uri="{FF2B5EF4-FFF2-40B4-BE49-F238E27FC236}">
                <a16:creationId xmlns:a16="http://schemas.microsoft.com/office/drawing/2014/main" id="{8E114E55-555D-2F78-3FB0-3088728840D1}"/>
              </a:ext>
            </a:extLst>
          </p:cNvPr>
          <p:cNvSpPr>
            <a:spLocks noGrp="1"/>
          </p:cNvSpPr>
          <p:nvPr>
            <p:ph idx="1"/>
          </p:nvPr>
        </p:nvSpPr>
        <p:spPr>
          <a:xfrm>
            <a:off x="8036041" y="2249487"/>
            <a:ext cx="3281004" cy="3541714"/>
          </a:xfrm>
        </p:spPr>
        <p:txBody>
          <a:bodyPr>
            <a:normAutofit/>
          </a:bodyPr>
          <a:lstStyle/>
          <a:p>
            <a:endParaRPr lang="en-US" sz="1800">
              <a:solidFill>
                <a:srgbClr val="FFFFFF"/>
              </a:solidFill>
            </a:endParaRPr>
          </a:p>
        </p:txBody>
      </p:sp>
    </p:spTree>
    <p:extLst>
      <p:ext uri="{BB962C8B-B14F-4D97-AF65-F5344CB8AC3E}">
        <p14:creationId xmlns:p14="http://schemas.microsoft.com/office/powerpoint/2010/main" val="3830511040"/>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2.xml><?xml version="1.0" encoding="utf-8"?>
<ds:datastoreItem xmlns:ds="http://schemas.openxmlformats.org/officeDocument/2006/customXml" ds:itemID="{1E3AC9BC-3A48-41FB-89C8-97DFFCFF99CC}">
  <ds:schemaRefs>
    <ds:schemaRef ds:uri="http://schemas.microsoft.com/office/2006/metadata/properties"/>
    <ds:schemaRef ds:uri="http://www.w3.org/2000/xmlns/"/>
    <ds:schemaRef ds:uri="e18e1d99-ad59-48f1-b4b7-e09c670c4281"/>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0/xmlns/"/>
    <ds:schemaRef ds:uri="http://www.w3.org/2001/XMLSchema"/>
    <ds:schemaRef ds:uri="044690ba-3bcd-4bf0-9bed-6c935b699a1b"/>
    <ds:schemaRef ds:uri="e18e1d99-ad59-48f1-b4b7-e09c670c428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271</TotalTime>
  <Words>1386</Words>
  <Application>Microsoft Macintosh PowerPoint</Application>
  <PresentationFormat>Panorámica</PresentationFormat>
  <Paragraphs>59</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Calibri Light</vt:lpstr>
      <vt:lpstr>Trebuchet MS</vt:lpstr>
      <vt:lpstr>Tw Cen MT</vt:lpstr>
      <vt:lpstr>Circuito</vt:lpstr>
      <vt:lpstr>Microlattice, una nueva opción en la Seguridad Automotriz</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lpstr>¿Qué es el microlattice? </vt:lpstr>
      <vt:lpstr>¿Cuáles son las áreas del cuerpo humano que más deben ser resguardadas como método de prevención de accidentes vehiculares?</vt:lpstr>
      <vt:lpstr>¿ Que zonas de un automóvil se ven más afectadas tras un accidente vehicular?</vt:lpstr>
      <vt:lpstr>Fuentes y conceptos matemáticos</vt:lpstr>
      <vt:lpstr>Bitacora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17</cp:revision>
  <dcterms:created xsi:type="dcterms:W3CDTF">2023-08-31T16:26:40Z</dcterms:created>
  <dcterms:modified xsi:type="dcterms:W3CDTF">2023-12-13T15:04:09Z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