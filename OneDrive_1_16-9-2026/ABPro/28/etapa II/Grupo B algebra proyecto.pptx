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15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RARDO CONTRERAS" initials="GC" lastIdx="14" clrIdx="0">
    <p:extLst>
      <p:ext uri="{19B8F6BF-5375-455C-9EA6-DF929625EA0E}">
        <p15:presenceInfo xmlns:p15="http://schemas.microsoft.com/office/powerpoint/2012/main" userId="GERARDO CONTRERAS" providerId="None"/>
      </p:ext>
    </p:extLst>
  </p:cmAuthor>
  <p:cmAuthor id="2" name="LISSETTE ANDREA SALAMANCA MELLA" initials="LASM" lastIdx="6" clrIdx="1">
    <p:extLst>
      <p:ext uri="{19B8F6BF-5375-455C-9EA6-DF929625EA0E}">
        <p15:presenceInfo xmlns:p15="http://schemas.microsoft.com/office/powerpoint/2012/main" userId="S::lissette.salamanca@inacapmail.cl::e8cae1b9-6bd0-45e5-8679-6c0a2293f1a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4F2C16-2B88-4936-B772-490F15718C03}" v="23" dt="2023-12-07T02:29:12.5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98" autoAdjust="0"/>
    <p:restoredTop sz="94357" autoAdjust="0"/>
  </p:normalViewPr>
  <p:slideViewPr>
    <p:cSldViewPr snapToGrid="0">
      <p:cViewPr varScale="1">
        <p:scale>
          <a:sx n="85" d="100"/>
          <a:sy n="85" d="100"/>
        </p:scale>
        <p:origin x="200" y="576"/>
      </p:cViewPr>
      <p:guideLst/>
    </p:cSldViewPr>
  </p:slideViewPr>
  <p:outlineViewPr>
    <p:cViewPr>
      <p:scale>
        <a:sx n="33" d="100"/>
        <a:sy n="33" d="100"/>
      </p:scale>
      <p:origin x="0" y="-549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ovan caba" userId="1b07493a99fa393c" providerId="LiveId" clId="{134F2C16-2B88-4936-B772-490F15718C03}"/>
    <pc:docChg chg="undo custSel modSld">
      <pc:chgData name="milovan caba" userId="1b07493a99fa393c" providerId="LiveId" clId="{134F2C16-2B88-4936-B772-490F15718C03}" dt="2023-12-07T02:29:12.527" v="148" actId="20577"/>
      <pc:docMkLst>
        <pc:docMk/>
      </pc:docMkLst>
      <pc:sldChg chg="modSp mod delCm">
        <pc:chgData name="milovan caba" userId="1b07493a99fa393c" providerId="LiveId" clId="{134F2C16-2B88-4936-B772-490F15718C03}" dt="2023-12-06T20:32:23.055" v="4" actId="1592"/>
        <pc:sldMkLst>
          <pc:docMk/>
          <pc:sldMk cId="983587165" sldId="257"/>
        </pc:sldMkLst>
        <pc:spChg chg="mod">
          <ac:chgData name="milovan caba" userId="1b07493a99fa393c" providerId="LiveId" clId="{134F2C16-2B88-4936-B772-490F15718C03}" dt="2023-12-06T20:32:20.628" v="3" actId="1076"/>
          <ac:spMkLst>
            <pc:docMk/>
            <pc:sldMk cId="983587165" sldId="257"/>
            <ac:spMk id="3" creationId="{00000000-0000-0000-0000-000000000000}"/>
          </ac:spMkLst>
        </pc:spChg>
      </pc:sldChg>
      <pc:sldChg chg="modSp mod">
        <pc:chgData name="milovan caba" userId="1b07493a99fa393c" providerId="LiveId" clId="{134F2C16-2B88-4936-B772-490F15718C03}" dt="2023-12-06T20:32:57.136" v="5" actId="123"/>
        <pc:sldMkLst>
          <pc:docMk/>
          <pc:sldMk cId="266226141" sldId="259"/>
        </pc:sldMkLst>
        <pc:spChg chg="mod">
          <ac:chgData name="milovan caba" userId="1b07493a99fa393c" providerId="LiveId" clId="{134F2C16-2B88-4936-B772-490F15718C03}" dt="2023-12-06T20:32:57.136" v="5" actId="123"/>
          <ac:spMkLst>
            <pc:docMk/>
            <pc:sldMk cId="266226141" sldId="259"/>
            <ac:spMk id="3" creationId="{00000000-0000-0000-0000-000000000000}"/>
          </ac:spMkLst>
        </pc:spChg>
      </pc:sldChg>
      <pc:sldChg chg="modSp mod">
        <pc:chgData name="milovan caba" userId="1b07493a99fa393c" providerId="LiveId" clId="{134F2C16-2B88-4936-B772-490F15718C03}" dt="2023-12-06T21:20:36.754" v="57" actId="20577"/>
        <pc:sldMkLst>
          <pc:docMk/>
          <pc:sldMk cId="2680755313" sldId="263"/>
        </pc:sldMkLst>
        <pc:spChg chg="mod">
          <ac:chgData name="milovan caba" userId="1b07493a99fa393c" providerId="LiveId" clId="{134F2C16-2B88-4936-B772-490F15718C03}" dt="2023-12-06T21:18:25.115" v="55" actId="1076"/>
          <ac:spMkLst>
            <pc:docMk/>
            <pc:sldMk cId="2680755313" sldId="263"/>
            <ac:spMk id="2" creationId="{00000000-0000-0000-0000-000000000000}"/>
          </ac:spMkLst>
        </pc:spChg>
        <pc:spChg chg="mod">
          <ac:chgData name="milovan caba" userId="1b07493a99fa393c" providerId="LiveId" clId="{134F2C16-2B88-4936-B772-490F15718C03}" dt="2023-12-06T21:20:36.754" v="57" actId="20577"/>
          <ac:spMkLst>
            <pc:docMk/>
            <pc:sldMk cId="2680755313" sldId="263"/>
            <ac:spMk id="3" creationId="{00000000-0000-0000-0000-000000000000}"/>
          </ac:spMkLst>
        </pc:spChg>
      </pc:sldChg>
      <pc:sldChg chg="modSp mod">
        <pc:chgData name="milovan caba" userId="1b07493a99fa393c" providerId="LiveId" clId="{134F2C16-2B88-4936-B772-490F15718C03}" dt="2023-12-06T21:22:37.122" v="58" actId="20577"/>
        <pc:sldMkLst>
          <pc:docMk/>
          <pc:sldMk cId="2027751230" sldId="264"/>
        </pc:sldMkLst>
        <pc:spChg chg="mod">
          <ac:chgData name="milovan caba" userId="1b07493a99fa393c" providerId="LiveId" clId="{134F2C16-2B88-4936-B772-490F15718C03}" dt="2023-12-06T21:22:37.122" v="58" actId="20577"/>
          <ac:spMkLst>
            <pc:docMk/>
            <pc:sldMk cId="2027751230" sldId="264"/>
            <ac:spMk id="3" creationId="{00000000-0000-0000-0000-000000000000}"/>
          </ac:spMkLst>
        </pc:spChg>
      </pc:sldChg>
      <pc:sldChg chg="addSp delSp modSp mod">
        <pc:chgData name="milovan caba" userId="1b07493a99fa393c" providerId="LiveId" clId="{134F2C16-2B88-4936-B772-490F15718C03}" dt="2023-12-07T02:29:12.527" v="148" actId="20577"/>
        <pc:sldMkLst>
          <pc:docMk/>
          <pc:sldMk cId="2170700703" sldId="265"/>
        </pc:sldMkLst>
        <pc:spChg chg="mod">
          <ac:chgData name="milovan caba" userId="1b07493a99fa393c" providerId="LiveId" clId="{134F2C16-2B88-4936-B772-490F15718C03}" dt="2023-12-07T02:28:58.936" v="141" actId="14100"/>
          <ac:spMkLst>
            <pc:docMk/>
            <pc:sldMk cId="2170700703" sldId="265"/>
            <ac:spMk id="2" creationId="{00000000-0000-0000-0000-000000000000}"/>
          </ac:spMkLst>
        </pc:spChg>
        <pc:spChg chg="del">
          <ac:chgData name="milovan caba" userId="1b07493a99fa393c" providerId="LiveId" clId="{134F2C16-2B88-4936-B772-490F15718C03}" dt="2023-12-07T02:14:28.837" v="59"/>
          <ac:spMkLst>
            <pc:docMk/>
            <pc:sldMk cId="2170700703" sldId="265"/>
            <ac:spMk id="3" creationId="{00000000-0000-0000-0000-000000000000}"/>
          </ac:spMkLst>
        </pc:spChg>
        <pc:spChg chg="add mod">
          <ac:chgData name="milovan caba" userId="1b07493a99fa393c" providerId="LiveId" clId="{134F2C16-2B88-4936-B772-490F15718C03}" dt="2023-12-07T02:29:03.715" v="142" actId="1076"/>
          <ac:spMkLst>
            <pc:docMk/>
            <pc:sldMk cId="2170700703" sldId="265"/>
            <ac:spMk id="5" creationId="{0328C913-5744-C6FA-A4E0-236C7BCD8A24}"/>
          </ac:spMkLst>
        </pc:spChg>
        <pc:spChg chg="add del mod">
          <ac:chgData name="milovan caba" userId="1b07493a99fa393c" providerId="LiveId" clId="{134F2C16-2B88-4936-B772-490F15718C03}" dt="2023-12-07T02:25:00.752" v="67"/>
          <ac:spMkLst>
            <pc:docMk/>
            <pc:sldMk cId="2170700703" sldId="265"/>
            <ac:spMk id="6" creationId="{CE8C069C-9780-8E60-CDEA-AD955DA03868}"/>
          </ac:spMkLst>
        </pc:spChg>
        <pc:spChg chg="add mod">
          <ac:chgData name="milovan caba" userId="1b07493a99fa393c" providerId="LiveId" clId="{134F2C16-2B88-4936-B772-490F15718C03}" dt="2023-12-07T02:29:06.727" v="143" actId="1076"/>
          <ac:spMkLst>
            <pc:docMk/>
            <pc:sldMk cId="2170700703" sldId="265"/>
            <ac:spMk id="8" creationId="{EF10C872-5B72-1A19-F2EF-E38712569AE9}"/>
          </ac:spMkLst>
        </pc:spChg>
        <pc:spChg chg="add del mod">
          <ac:chgData name="milovan caba" userId="1b07493a99fa393c" providerId="LiveId" clId="{134F2C16-2B88-4936-B772-490F15718C03}" dt="2023-12-07T02:26:38.742" v="83" actId="478"/>
          <ac:spMkLst>
            <pc:docMk/>
            <pc:sldMk cId="2170700703" sldId="265"/>
            <ac:spMk id="9" creationId="{D8B84404-DC48-0D8B-DE52-C90FB48D4827}"/>
          </ac:spMkLst>
        </pc:spChg>
        <pc:spChg chg="add del mod">
          <ac:chgData name="milovan caba" userId="1b07493a99fa393c" providerId="LiveId" clId="{134F2C16-2B88-4936-B772-490F15718C03}" dt="2023-12-07T02:26:38.743" v="85"/>
          <ac:spMkLst>
            <pc:docMk/>
            <pc:sldMk cId="2170700703" sldId="265"/>
            <ac:spMk id="10" creationId="{11A24A08-2317-D5CA-90A4-3579288289B7}"/>
          </ac:spMkLst>
        </pc:spChg>
        <pc:spChg chg="add del mod">
          <ac:chgData name="milovan caba" userId="1b07493a99fa393c" providerId="LiveId" clId="{134F2C16-2B88-4936-B772-490F15718C03}" dt="2023-12-07T02:26:45.415" v="89"/>
          <ac:spMkLst>
            <pc:docMk/>
            <pc:sldMk cId="2170700703" sldId="265"/>
            <ac:spMk id="11" creationId="{C2F444D1-6D8F-C501-6CC3-7AA6B69E871F}"/>
          </ac:spMkLst>
        </pc:spChg>
        <pc:spChg chg="add del mod">
          <ac:chgData name="milovan caba" userId="1b07493a99fa393c" providerId="LiveId" clId="{134F2C16-2B88-4936-B772-490F15718C03}" dt="2023-12-07T02:27:02.912" v="94"/>
          <ac:spMkLst>
            <pc:docMk/>
            <pc:sldMk cId="2170700703" sldId="265"/>
            <ac:spMk id="12" creationId="{9F0EEC8C-B44F-7301-A390-50B1218EED4B}"/>
          </ac:spMkLst>
        </pc:spChg>
        <pc:spChg chg="add mod">
          <ac:chgData name="milovan caba" userId="1b07493a99fa393c" providerId="LiveId" clId="{134F2C16-2B88-4936-B772-490F15718C03}" dt="2023-12-07T02:29:12.527" v="148" actId="20577"/>
          <ac:spMkLst>
            <pc:docMk/>
            <pc:sldMk cId="2170700703" sldId="265"/>
            <ac:spMk id="13" creationId="{2FD656D4-F7F7-FB98-787A-157F1347C25F}"/>
          </ac:spMkLst>
        </pc:spChg>
        <pc:picChg chg="del">
          <ac:chgData name="milovan caba" userId="1b07493a99fa393c" providerId="LiveId" clId="{134F2C16-2B88-4936-B772-490F15718C03}" dt="2023-12-07T02:26:30.787" v="80" actId="478"/>
          <ac:picMkLst>
            <pc:docMk/>
            <pc:sldMk cId="2170700703" sldId="265"/>
            <ac:picMk id="7" creationId="{00000000-0000-0000-0000-000000000000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12-13T12:29:15.758" idx="1">
    <p:pos x="10" y="10"/>
    <p:text>mejorar redacción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12-13T12:29:58.362" idx="2">
    <p:pos x="2741" y="2211"/>
    <p:text>describir mayormente la problematica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02T10:34:28.326" idx="7">
    <p:pos x="10" y="10"/>
    <p:text>si agrega imagenes debe utilizae APA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12-13T12:32:35.865" idx="3">
    <p:pos x="10" y="10"/>
    <p:text>utilizar APA para las imagenes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02T10:43:19.436" idx="12">
    <p:pos x="10" y="10"/>
    <p:text>en las diap 8-9-10 agregar evidencias (fotos) del proceso; donde realizan mediciones, calculos matematicos, adecuaciones, crean maquetas, etc.</p:text>
    <p:extLst>
      <p:ext uri="{C676402C-5697-4E1C-873F-D02D1690AC5C}">
        <p15:threadingInfo xmlns:p15="http://schemas.microsoft.com/office/powerpoint/2012/main" timeZoneBias="180"/>
      </p:ext>
    </p:extLst>
  </p:cm>
  <p:cm authorId="1" dt="2023-12-02T10:49:11.937" idx="13">
    <p:pos x="10" y="146"/>
    <p:text>si no crean los cambios fisicos en el auto ni maquetas, lo pueden presnetar como planos e hipotesis fundadas en los calculos, es decir, realizar todos los calculos de las mejorar y en la etapa 3 decir que es lo que deberia suceder (conclusiones)</p:text>
    <p:extLst>
      <p:ext uri="{C676402C-5697-4E1C-873F-D02D1690AC5C}">
        <p15:threadingInfo xmlns:p15="http://schemas.microsoft.com/office/powerpoint/2012/main" timeZoneBias="180">
          <p15:parentCm authorId="1" idx="12"/>
        </p15:threadingInfo>
      </p:ext>
    </p:extLst>
  </p:cm>
  <p:cm authorId="1" dt="2023-12-02T10:50:35.358" idx="14">
    <p:pos x="10" y="282"/>
    <p:text>es obvio que todos los calculos no se podran incluir en 2-3 diapositivas, pero las puede agregar como un hipervinculo, otro documento, un link, etc.... lo mismo para agregar todas las fotos de evidencias</p:text>
    <p:extLst>
      <p:ext uri="{C676402C-5697-4E1C-873F-D02D1690AC5C}">
        <p15:threadingInfo xmlns:p15="http://schemas.microsoft.com/office/powerpoint/2012/main" timeZoneBias="180">
          <p15:parentCm authorId="1" idx="12"/>
        </p15:threadingInfo>
      </p:ext>
    </p:extLst>
  </p:cm>
  <p:cm authorId="2" dt="2023-12-13T12:33:07.207" idx="4">
    <p:pos x="146" y="146"/>
    <p:text>deben mejorar redacción, referencias, usar APA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12-13T12:33:28.926" idx="5">
    <p:pos x="10" y="10"/>
    <p:text>Fuentes y referencias debe usar APA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12-13T12:33:45.861" idx="6">
    <p:pos x="10" y="10"/>
    <p:text>buena idea de planteamiento, pero debe mejorar la redacción y utilizar APA</p:text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AB736-7282-4245-9510-59F241FEB36B}" type="datetimeFigureOut">
              <a:rPr lang="es-CL" smtClean="0"/>
              <a:t>13-12-23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416EF-5F52-4937-A387-C23812CB73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720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416EF-5F52-4937-A387-C23812CB7330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2532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3A0B-354F-4B67-AD8E-4B2D92EE6E0B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597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E2434-AB5A-43E6-930B-D82A60DE1BC4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8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B34C-8124-4525-B1D2-42868B3D9044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8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F2F10-AA93-4677-AAC8-9BDEE8FE7D25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91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D2C3-16D6-4302-AC12-594A6698FB1A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8FBF7-451A-4D36-8A57-283526424671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73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1A63-5871-46D0-882F-5293181247FC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38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5C5EB-3389-4DC3-AF60-F07AF4B13FC6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74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055D129-6659-4D7C-8DDB-F5513060EA97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862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EDD5-4811-4224-ACB2-67DC65113FA2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509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6655A-3074-4FB8-A341-DDDF0CA90C03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50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AA373-C296-416B-BF63-55276182E2EE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63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0D2A-6C95-42FD-8DB5-39A328C93D5C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973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695BD-56BA-4812-820D-A80B7F8BD3F0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701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26912-D496-4239-AB02-8D0709F23CB8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95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7094D-993E-4048-A2F0-963738E8E6BA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31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F491-0C11-4F80-B388-AEC94A6088BA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095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D96CFEE-A58A-4DC8-8480-E8A50C661DEE}" type="datetime1">
              <a:rPr lang="en-US" smtClean="0"/>
              <a:t>12/13/23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https://tinyurl.com/2c2njy74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384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3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omments" Target="../comments/comment4.xml"/><Relationship Id="rId2" Type="http://schemas.openxmlformats.org/officeDocument/2006/relationships/hyperlink" Target="https://phet.colorado.edu/sims/html/masses-and-springs/latest/masses-and-springs_e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tinyurl.com/2c2njy74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ivision.com/explora/que-es-la-aerodinamica" TargetMode="External"/><Relationship Id="rId7" Type="http://schemas.openxmlformats.org/officeDocument/2006/relationships/comments" Target="../comments/comment6.xml"/><Relationship Id="rId2" Type="http://schemas.openxmlformats.org/officeDocument/2006/relationships/hyperlink" Target="https://www.chileautos.cl/honda/civic/precio/2008/si-762676720080228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hyperlink" Target="https://www.elmundo.es/elmundomotor/2005/06/24/tecnica/1119624007.html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7.xml"/><Relationship Id="rId3" Type="http://schemas.openxmlformats.org/officeDocument/2006/relationships/hyperlink" Target="https://testcoches.es/conceptos/coeficiente-aerodinamico-cx/" TargetMode="External"/><Relationship Id="rId7" Type="http://schemas.openxmlformats.org/officeDocument/2006/relationships/hyperlink" Target="https://mundotuerca.cl/aerodinamica-en-un-coche-definicion-leyes-funcionamiento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.wikipedia.org/wiki/Aerodin%C3%A1mica_del_autom%C3%B3vil" TargetMode="External"/><Relationship Id="rId5" Type="http://schemas.openxmlformats.org/officeDocument/2006/relationships/hyperlink" Target="https://www.larazon.es/motor/20201207/5alrbtmbkrcabhyjdpmnrgxuvm.html" TargetMode="External"/><Relationship Id="rId4" Type="http://schemas.openxmlformats.org/officeDocument/2006/relationships/hyperlink" Target="https://www.seat-mediacenter.es/smc/stories-page/newstories/Las-matematicas-de-tu-coche-con-David-Cal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i="1" dirty="0">
                <a:solidFill>
                  <a:schemeClr val="tx1"/>
                </a:solidFill>
              </a:rPr>
              <a:t>CIvic  2008 </a:t>
            </a:r>
            <a:br>
              <a:rPr lang="es-ES" i="1" dirty="0">
                <a:solidFill>
                  <a:schemeClr val="tx1"/>
                </a:solidFill>
              </a:rPr>
            </a:br>
            <a:r>
              <a:rPr lang="es-ES" i="1" dirty="0">
                <a:solidFill>
                  <a:schemeClr val="tx1"/>
                </a:solidFill>
              </a:rPr>
              <a:t>MEJORA DE REDIMIENTO  PARA COMPETICION</a:t>
            </a:r>
            <a:br>
              <a:rPr lang="es-ES" dirty="0"/>
            </a:b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6328" y="3281216"/>
            <a:ext cx="7749308" cy="3186546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                                                                          </a:t>
            </a:r>
          </a:p>
          <a:p>
            <a:endParaRPr lang="es-ES" dirty="0"/>
          </a:p>
          <a:p>
            <a:pPr algn="l"/>
            <a:r>
              <a:rPr lang="es-ES" b="1" u="sng" dirty="0">
                <a:solidFill>
                  <a:schemeClr val="tx1"/>
                </a:solidFill>
              </a:rPr>
              <a:t>NOMBRES: </a:t>
            </a:r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Gerardo Contreras </a:t>
            </a:r>
          </a:p>
          <a:p>
            <a:pPr algn="l"/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             Sebastián Espinoza</a:t>
            </a:r>
          </a:p>
          <a:p>
            <a:pPr algn="l"/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             Milovan caba </a:t>
            </a:r>
          </a:p>
          <a:p>
            <a:pPr algn="l"/>
            <a:r>
              <a:rPr lang="es-ES" b="1" u="sng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SECCION: </a:t>
            </a:r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28</a:t>
            </a:r>
          </a:p>
          <a:p>
            <a:pPr algn="l"/>
            <a:r>
              <a:rPr lang="es-ES" b="1" i="1" u="sng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PROFESORA: </a:t>
            </a:r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Lissette</a:t>
            </a:r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Salamanca</a:t>
            </a:r>
          </a:p>
          <a:p>
            <a:pPr algn="l"/>
            <a:r>
              <a:rPr lang="es-ES" b="1" i="1" u="sng" dirty="0">
                <a:solidFill>
                  <a:schemeClr val="tx1"/>
                </a:solidFill>
              </a:rPr>
              <a:t>FECHA: </a:t>
            </a:r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17/11/2023</a:t>
            </a:r>
            <a:r>
              <a:rPr lang="es-ES" b="1" i="1" u="sng" dirty="0">
                <a:solidFill>
                  <a:schemeClr val="tx1"/>
                </a:solidFill>
              </a:rPr>
              <a:t>   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144463"/>
            <a:ext cx="1714500" cy="12858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802" y="4317389"/>
            <a:ext cx="2759214" cy="20694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30" y="609601"/>
            <a:ext cx="1419225" cy="14192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983" y="4424011"/>
            <a:ext cx="2916890" cy="164298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DDBFF0-72BB-32A5-92D1-F8095A657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https://tinyurl.com/2c2njy74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02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829" y="3976365"/>
            <a:ext cx="4480000" cy="2520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13484" y="532527"/>
            <a:ext cx="8610600" cy="912092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Definición del proyecto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22220" y="2009742"/>
            <a:ext cx="9905998" cy="1966623"/>
          </a:xfrm>
        </p:spPr>
        <p:txBody>
          <a:bodyPr/>
          <a:lstStyle/>
          <a:p>
            <a:r>
              <a:rPr lang="es-MX" b="0" i="0" dirty="0">
                <a:solidFill>
                  <a:schemeClr val="tx1"/>
                </a:solidFill>
                <a:effectLst/>
                <a:latin typeface="Poppins" panose="020B0502040204020203" pitchFamily="2" charset="0"/>
              </a:rPr>
              <a:t>Este proyecto se enfoca en optimizar el rendimiento del modelo HONDA CIVIC SI para competencias en circuitos pavimentados. Nuestro objetivo es superar las limitaciones de los ajustes y parámetros estándar de fábrica del vehículo, mediante modificaciones estratégicas para mejorar su rendimiento en la pista. Con estos ajustes personalizados, buscamos llevar el HONDA CIVIC SI a su máx. potencial, ofreciendo un rendimiento superior en cada vuelta del circuito.</a:t>
            </a: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608" y="71410"/>
            <a:ext cx="1719221" cy="128636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962" y="5075874"/>
            <a:ext cx="1414395" cy="14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8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14880" cy="221488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4765" y="-74363"/>
            <a:ext cx="9664838" cy="1905000"/>
          </a:xfrm>
        </p:spPr>
        <p:txBody>
          <a:bodyPr>
            <a:normAutofit/>
          </a:bodyPr>
          <a:lstStyle/>
          <a:p>
            <a:pPr algn="r"/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 de investigación, </a:t>
            </a:r>
            <a:b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nociones matemáticas y problemas </a:t>
            </a:r>
            <a:b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abordar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8769" y="2843033"/>
            <a:ext cx="10522267" cy="2783840"/>
          </a:xfrm>
        </p:spPr>
        <p:txBody>
          <a:bodyPr>
            <a:normAutofit fontScale="85000" lnSpcReduction="10000"/>
          </a:bodyPr>
          <a:lstStyle/>
          <a:p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 De Investigación: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comparar especificaciones técnicas a las requeridas para la competición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Problemática a abordar: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resistencia al viento y los ajustes que trae el vehículo para el uso cotidiano en ciudad</a:t>
            </a: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Nociones Matemáticas:</a:t>
            </a:r>
          </a:p>
          <a:p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1-Nocion de Forma</a:t>
            </a:r>
          </a:p>
          <a:p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2-Nocion de posición  </a:t>
            </a:r>
          </a:p>
          <a:p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3-Nocion de espacio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779" y="0"/>
            <a:ext cx="1719221" cy="12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79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0594" y="369454"/>
            <a:ext cx="9905998" cy="1206499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y preguntas de  investigación</a:t>
            </a:r>
            <a:b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8063" y="1225826"/>
            <a:ext cx="9905998" cy="4124367"/>
          </a:xfrm>
        </p:spPr>
        <p:txBody>
          <a:bodyPr>
            <a:normAutofit fontScale="92500"/>
          </a:bodyPr>
          <a:lstStyle/>
          <a:p>
            <a:pPr algn="just"/>
            <a:r>
              <a:rPr lang="es-CL" altLang="es-CL" sz="2200" dirty="0">
                <a:latin typeface="Arial" panose="020B0604020202020204" pitchFamily="34" charset="0"/>
                <a:cs typeface="Arial" panose="020B0604020202020204" pitchFamily="34" charset="0"/>
              </a:rPr>
              <a:t>El objetivo:  mejorar el rendimiento del Honda Civic Si 2008 en competición mediante la reducción de peso, el aumento de potencia y las mejoras aerodinámicas. Estas modificaciones deben ser realizadas por profesionales y respetando las regulaciones de tráfico y seguridad vial. Algunas pueden afectar la garantía del vehículo.</a:t>
            </a:r>
            <a:endParaRPr lang="es-ES" sz="2200" kern="100" dirty="0"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L" sz="21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¿Cuáles son los ajustes específicos del vehículo diseñados para mejorar la resistencia al viento y cómo impactan en la competición en circuito?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L" sz="21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3. ¿Cómo se relacionan las nociones matemáticas, como la noción de superficie y forma, con la optimización del rendimiento del vehículo en el proyecto de investigación?</a:t>
            </a:r>
          </a:p>
          <a:p>
            <a:pPr algn="just"/>
            <a:r>
              <a:rPr lang="es-CL" sz="2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¿Cuáles son los desafíos asociados con la adaptación de un vehículo modificado para circuito a un uso cotidiano en la ciudad, considerando las características técnicas y ajustes realizados?</a:t>
            </a:r>
            <a:endParaRPr lang="es-ES" sz="21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779" y="0"/>
            <a:ext cx="1719221" cy="128636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2" y="5350194"/>
            <a:ext cx="1414395" cy="14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6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4921" y="0"/>
            <a:ext cx="9905998" cy="1905000"/>
          </a:xfrm>
        </p:spPr>
        <p:txBody>
          <a:bodyPr/>
          <a:lstStyle/>
          <a:p>
            <a:pPr algn="just"/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Temas involucrados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10920" y="1386839"/>
            <a:ext cx="9905998" cy="1817469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altura vehículo, forma de la carrocería y medidas de componentes móviles y fijos del vehículo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Reducción de peso: Eliminar el peso innecesario es crucial para mejorar el rendimiento. Considera reemplazar partes de acero con componentes de fibra de carbono o aluminio, como capó, parachoques, y puertas.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 de escape ligero: Un sistema de escape más ligero puede reducir el peso</a:t>
            </a:r>
            <a:r>
              <a:rPr lang="es-CL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/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22" y="5080954"/>
            <a:ext cx="1414395" cy="142049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779" y="0"/>
            <a:ext cx="1719221" cy="128636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280D452-02FE-6ED3-420F-E61175B21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601" y="2961778"/>
            <a:ext cx="4456602" cy="261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ABD8750B-9C2E-EEAD-A8CF-6810A592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91117" y="5791199"/>
            <a:ext cx="7543800" cy="365125"/>
          </a:xfrm>
        </p:spPr>
        <p:txBody>
          <a:bodyPr/>
          <a:lstStyle/>
          <a:p>
            <a:r>
              <a:rPr lang="en-US" dirty="0"/>
              <a:t>https://suspensionsecrets.co.uk/anti-squat-dive-and-lift-geometry/</a:t>
            </a:r>
          </a:p>
        </p:txBody>
      </p:sp>
    </p:spTree>
    <p:extLst>
      <p:ext uri="{BB962C8B-B14F-4D97-AF65-F5344CB8AC3E}">
        <p14:creationId xmlns:p14="http://schemas.microsoft.com/office/powerpoint/2010/main" val="2185950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2146" y="175492"/>
            <a:ext cx="11620065" cy="1027044"/>
          </a:xfrm>
        </p:spPr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tx1"/>
                </a:solidFill>
              </a:rPr>
              <a:t>cronograma y materiales a utilizar</a:t>
            </a:r>
            <a:br>
              <a:rPr lang="es-ES" dirty="0">
                <a:solidFill>
                  <a:schemeClr val="tx1"/>
                </a:solidFill>
              </a:rPr>
            </a:br>
            <a:br>
              <a:rPr lang="es-ES" dirty="0">
                <a:solidFill>
                  <a:schemeClr val="tx1"/>
                </a:solidFill>
              </a:rPr>
            </a:b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671500" y="4535656"/>
            <a:ext cx="8598935" cy="2146852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s-MX" b="1" dirty="0">
                <a:solidFill>
                  <a:schemeClr val="tx1"/>
                </a:solidFill>
              </a:rPr>
              <a:t>Materiales a Utilizar: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1. Herramientas mecánicas y de ajuste.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2. Componentes específicos para mejoras técnicas (por ejemplo, suspensión, aerodinámica).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3. Equipos de medición y pruebas para evaluar el rendimiento.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4. Software de modelado matemático y simulación.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5. Instrumentos para medir resistencia al viento.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6. Documentación técnica del Honda </a:t>
            </a:r>
            <a:r>
              <a:rPr lang="es-MX" b="1" dirty="0" err="1">
                <a:solidFill>
                  <a:schemeClr val="tx1"/>
                </a:solidFill>
              </a:rPr>
              <a:t>Civic</a:t>
            </a:r>
            <a:r>
              <a:rPr lang="es-MX" b="1" dirty="0">
                <a:solidFill>
                  <a:schemeClr val="tx1"/>
                </a:solidFill>
              </a:rPr>
              <a:t> Si y modelos de competición.</a:t>
            </a:r>
          </a:p>
          <a:p>
            <a:pPr algn="just"/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37509"/>
            <a:ext cx="1414395" cy="142049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779" y="0"/>
            <a:ext cx="1719221" cy="1286367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537BC71-7520-0F9C-F582-1335477D4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699901"/>
              </p:ext>
            </p:extLst>
          </p:nvPr>
        </p:nvGraphicFramePr>
        <p:xfrm>
          <a:off x="309827" y="917565"/>
          <a:ext cx="10162952" cy="3444240"/>
        </p:xfrm>
        <a:graphic>
          <a:graphicData uri="http://schemas.openxmlformats.org/drawingml/2006/table">
            <a:tbl>
              <a:tblPr firstRow="1" lastCol="1" bandRow="1">
                <a:tableStyleId>{BC89EF96-8CEA-46FF-86C4-4CE0E7609802}</a:tableStyleId>
              </a:tblPr>
              <a:tblGrid>
                <a:gridCol w="1795633">
                  <a:extLst>
                    <a:ext uri="{9D8B030D-6E8A-4147-A177-3AD203B41FA5}">
                      <a16:colId xmlns:a16="http://schemas.microsoft.com/office/drawing/2014/main" val="3620369937"/>
                    </a:ext>
                  </a:extLst>
                </a:gridCol>
                <a:gridCol w="8367319">
                  <a:extLst>
                    <a:ext uri="{9D8B030D-6E8A-4147-A177-3AD203B41FA5}">
                      <a16:colId xmlns:a16="http://schemas.microsoft.com/office/drawing/2014/main" val="459546702"/>
                    </a:ext>
                  </a:extLst>
                </a:gridCol>
              </a:tblGrid>
              <a:tr h="369674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Investigación y Análisis (Semana 1-2) </a:t>
                      </a:r>
                      <a:endParaRPr lang="es-CL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solidFill>
                            <a:schemeClr val="tx1"/>
                          </a:solidFill>
                        </a:rPr>
                        <a:t>Revisión de las características técnicas del Honda </a:t>
                      </a:r>
                      <a:r>
                        <a:rPr lang="es-MX" sz="1100" b="1" dirty="0" err="1">
                          <a:solidFill>
                            <a:schemeClr val="tx1"/>
                          </a:solidFill>
                        </a:rPr>
                        <a:t>Civic</a:t>
                      </a:r>
                      <a:r>
                        <a:rPr lang="es-MX" sz="1100" b="1" dirty="0">
                          <a:solidFill>
                            <a:schemeClr val="tx1"/>
                          </a:solidFill>
                        </a:rPr>
                        <a:t> Si.   - Estudio detallado de especificaciones técnicas de modelos preparados para circuito.   - Análisis de la problemática de resistencia al viento y ajustes para uso en ciudad.</a:t>
                      </a:r>
                      <a:endParaRPr lang="es-C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0239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tx1"/>
                          </a:solidFill>
                        </a:rPr>
                        <a:t>Definición de Modificaciones (Semana 3-4) </a:t>
                      </a:r>
                      <a:endParaRPr lang="es-CL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>
                          <a:solidFill>
                            <a:schemeClr val="tx1"/>
                          </a:solidFill>
                        </a:rPr>
                        <a:t>Identificación de modificaciones necesarias para mejorar el rendimiento en circuito.   - Evaluación de ajustes requeridos para abordar la resistencia al viento.   Selección de componentes y tecnologías a implementar.</a:t>
                      </a:r>
                    </a:p>
                    <a:p>
                      <a:endParaRPr lang="es-C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7515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Nociones Matemáticas y Modelado (Semana 5-6) </a:t>
                      </a:r>
                      <a:endParaRPr lang="es-CL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solidFill>
                            <a:schemeClr val="tx1"/>
                          </a:solidFill>
                        </a:rPr>
                        <a:t>Aplicación de nociones matemáticas (superficie, forma, posición, espacio) al diseño.   - Modelado matemático para prever el impacto de las modificaciones en el rendimiento.</a:t>
                      </a:r>
                      <a:endParaRPr lang="es-C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1725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Implementación y Pruebas (Semana 7-10) </a:t>
                      </a:r>
                      <a:endParaRPr lang="es-CL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dirty="0">
                          <a:solidFill>
                            <a:schemeClr val="tx1"/>
                          </a:solidFill>
                        </a:rPr>
                        <a:t>Realización de las modificaciones planificadas en el vehículo.   - Pruebas iniciales en condiciones controladas para evaluar cambios.   - Ajustes iterativos según resultados obtenidos.</a:t>
                      </a:r>
                    </a:p>
                    <a:p>
                      <a:endParaRPr lang="es-C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8743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794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5961" y="64258"/>
            <a:ext cx="9905998" cy="19050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Herramientas tecnológicas que optimicen el proceso ab pro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9920" y="1539354"/>
            <a:ext cx="4722141" cy="3124201"/>
          </a:xfrm>
        </p:spPr>
        <p:txBody>
          <a:bodyPr/>
          <a:lstStyle/>
          <a:p>
            <a:r>
              <a:rPr lang="es-MX" dirty="0">
                <a:hlinkClick r:id="rId2"/>
              </a:rPr>
              <a:t>‪Masas y Resortes‬ (colorado.edu)</a:t>
            </a:r>
            <a:r>
              <a:rPr lang="es-ES" dirty="0">
                <a:solidFill>
                  <a:schemeClr val="tx1"/>
                </a:solidFill>
              </a:rPr>
              <a:t> :pagina que se utilizó para llevar a cabo distintas pruebas en una simulación online donde se pudo variar peso y resistencias físicas.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6508" y="0"/>
            <a:ext cx="1615492" cy="120875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8E8853E-2F5F-05C6-9A5D-4A866C25E745}"/>
              </a:ext>
            </a:extLst>
          </p:cNvPr>
          <p:cNvSpPr txBox="1"/>
          <p:nvPr/>
        </p:nvSpPr>
        <p:spPr>
          <a:xfrm>
            <a:off x="5257091" y="2362790"/>
            <a:ext cx="61271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hlinkClick r:id="rId4"/>
              </a:rPr>
              <a:t>https://tinyurl.com/2c2njy74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Pagina que permite llevar a cabo pruebas como la de recorrido de suspensión y otras pruebas motrices de componentes móviles del vehículo que se someten a mucho trabajo en una carrera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9DFD7DC-BDAC-4B3D-E16F-68BA55986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49" y="4233650"/>
            <a:ext cx="2548256" cy="108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0E60DF-1925-F1D7-8006-715B996BB7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6186" y="3978651"/>
            <a:ext cx="1105816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58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9026" y="46945"/>
            <a:ext cx="9905998" cy="19050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Presenten la integración de diversas fuentes las cuales permitan responder las preguntas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36285" y="2690734"/>
            <a:ext cx="9905998" cy="3862468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L" sz="20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¿Cuáles son los ajustes específicos del vehículo diseñados para mejorar la resistencia al viento y cómo impactan en la competición en circuito?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rgbClr val="FF0000"/>
                </a:solidFill>
              </a:rPr>
              <a:t> Los ajustes específicos son la altura del vehículo ,alerones , difusores de aire y el </a:t>
            </a:r>
            <a:r>
              <a:rPr lang="es-MX" dirty="0" err="1">
                <a:solidFill>
                  <a:srgbClr val="FF0000"/>
                </a:solidFill>
              </a:rPr>
              <a:t>body</a:t>
            </a:r>
            <a:r>
              <a:rPr lang="es-MX" dirty="0">
                <a:solidFill>
                  <a:srgbClr val="FF0000"/>
                </a:solidFill>
              </a:rPr>
              <a:t> kit que tenga el auto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solidFill>
                  <a:srgbClr val="FF0000"/>
                </a:solidFill>
              </a:rPr>
              <a:t>https://www.race.es/mejoras-aerodinamica-coche</a:t>
            </a:r>
            <a:endParaRPr lang="es-CL" sz="20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L" sz="20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3. ¿Cómo se relacionan las nociones matemáticas, como la noción de superficie y forma, con la optimización del rendimiento del vehículo en el proyecto de investigación?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20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R:Se relaciona con los ángulos y cálculos de tiempo de recorrido junto con alturas y formas.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L" sz="20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https://www.race.es/angulo-ataque-coche</a:t>
            </a:r>
          </a:p>
          <a:p>
            <a:pPr algn="just"/>
            <a:r>
              <a:rPr lang="es-CL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¿Cuáles son los desafíos asociados con la adaptación de un vehículo modificado para circuito a un uso cotidiano en la ciudad, considerando las características técnicas y ajustes realizados?</a:t>
            </a:r>
          </a:p>
          <a:p>
            <a:pPr algn="just"/>
            <a:r>
              <a:rPr lang="es-MX" sz="2000" dirty="0">
                <a:solidFill>
                  <a:srgbClr val="FF0000"/>
                </a:solidFill>
              </a:rPr>
              <a:t>4.R:Se presentan varios desafíos ya que un vehículo cotidiano cuenta con muchas piezas de confort que en competición restan potencia ya sea por peso o porque no permita al motor alcanzar su máximo potencial , tales como: tapiz, peso de anti-ruidos de la carrocería ,amortiguadores ,componentes más blandos y limitaciones electrónicas.</a:t>
            </a:r>
          </a:p>
          <a:p>
            <a:pPr algn="just"/>
            <a:r>
              <a:rPr lang="es-MX" sz="2000" dirty="0">
                <a:solidFill>
                  <a:srgbClr val="FF0000"/>
                </a:solidFill>
              </a:rPr>
              <a:t>https://solorace.cl/preguntas-frecuentes/</a:t>
            </a:r>
          </a:p>
          <a:p>
            <a:pPr algn="just"/>
            <a:endParaRPr lang="es-ES" sz="2000" dirty="0">
              <a:solidFill>
                <a:srgbClr val="FF0000"/>
              </a:solidFill>
            </a:endParaRPr>
          </a:p>
          <a:p>
            <a:endParaRPr lang="es-MX" dirty="0">
              <a:solidFill>
                <a:srgbClr val="FF0000"/>
              </a:solidFill>
            </a:endParaRPr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6420" y="6043"/>
            <a:ext cx="1615580" cy="120711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3" y="5360354"/>
            <a:ext cx="1414395" cy="14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55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5090" y="390913"/>
            <a:ext cx="9905998" cy="19050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Expliciten las fuentes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5407" y="2066497"/>
            <a:ext cx="9905998" cy="3124201"/>
          </a:xfrm>
        </p:spPr>
        <p:txBody>
          <a:bodyPr/>
          <a:lstStyle/>
          <a:p>
            <a:r>
              <a:rPr lang="es-MX" dirty="0">
                <a:hlinkClick r:id="rId2"/>
              </a:rPr>
              <a:t>https://www.chileautos.cl/honda/civic/precio/2008/si-762676720080228/</a:t>
            </a:r>
            <a:endParaRPr lang="es-MX" dirty="0"/>
          </a:p>
          <a:p>
            <a:r>
              <a:rPr lang="es-MX" dirty="0">
                <a:hlinkClick r:id="rId3"/>
              </a:rPr>
              <a:t>https://www.univision.com/explora/que-es-la-aerodinamica</a:t>
            </a:r>
            <a:endParaRPr lang="es-MX" dirty="0"/>
          </a:p>
          <a:p>
            <a:r>
              <a:rPr lang="es-MX" dirty="0">
                <a:hlinkClick r:id="rId4"/>
              </a:rPr>
              <a:t>https://www.elmundo.es/elmundomotor/2005/06/24/tecnica/1119624007.html</a:t>
            </a:r>
            <a:r>
              <a:rPr lang="es-MX" dirty="0"/>
              <a:t> 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6420" y="6043"/>
            <a:ext cx="1615580" cy="120711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93" y="5314172"/>
            <a:ext cx="1414395" cy="14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51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0598" y="0"/>
            <a:ext cx="9905998" cy="1050878"/>
          </a:xfrm>
        </p:spPr>
        <p:txBody>
          <a:bodyPr>
            <a:normAutofit/>
          </a:bodyPr>
          <a:lstStyle/>
          <a:p>
            <a:r>
              <a:rPr lang="es-ES" sz="2000" dirty="0">
                <a:solidFill>
                  <a:schemeClr val="tx1"/>
                </a:solidFill>
              </a:rPr>
              <a:t>ideas y soluciones en base de las diversas fuentes  y conceptos de la matemática mencionados para dar respuesta  a la problemática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6420" y="6043"/>
            <a:ext cx="1615580" cy="120711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328C913-5744-C6FA-A4E0-236C7BCD8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0598" y="1089779"/>
            <a:ext cx="687013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aerodinámica en un coche es el modo de lograr que el coche se mueva mejor por el aire, consumiendo menos y siendo más estable. Se evalúa con el coeficiente de resistencia aerodinámica (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Cx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que depende de la forma y el tamaño del coche. Se perfecciona con piezas como el alerón, que genera una fuerza hacia abajo; el difusor, que reduce las turbulencias; el fondo plano, que alisa el flujo de aire; o las entradas y salidas de aire, que refrigeran o generan fuerzas específicas.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F10C872-5B72-1A19-F2EF-E38712569AE9}"/>
              </a:ext>
            </a:extLst>
          </p:cNvPr>
          <p:cNvSpPr txBox="1"/>
          <p:nvPr/>
        </p:nvSpPr>
        <p:spPr>
          <a:xfrm rot="10800000" flipH="1" flipV="1">
            <a:off x="7188114" y="1305341"/>
            <a:ext cx="48332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b="0" i="0" dirty="0">
                <a:solidFill>
                  <a:srgbClr val="D2D0CE"/>
                </a:solidFill>
                <a:effectLst/>
                <a:latin typeface="-apple-system"/>
              </a:rPr>
              <a:t>Para mejorar la aerodinámica en un coche, se pueden usar conceptos y fórmulas matemáticas como: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D2D0CE"/>
                </a:solidFill>
                <a:effectLst/>
                <a:latin typeface="-apple-system"/>
              </a:rPr>
              <a:t>El coeficiente aerodinámico (</a:t>
            </a:r>
            <a:r>
              <a:rPr lang="es-MX" b="0" i="0" dirty="0" err="1">
                <a:solidFill>
                  <a:srgbClr val="D2D0CE"/>
                </a:solidFill>
                <a:effectLst/>
                <a:latin typeface="-apple-system"/>
              </a:rPr>
              <a:t>Cx</a:t>
            </a:r>
            <a:r>
              <a:rPr lang="es-MX" b="0" i="0" dirty="0">
                <a:solidFill>
                  <a:srgbClr val="D2D0CE"/>
                </a:solidFill>
                <a:effectLst/>
                <a:latin typeface="-apple-system"/>
              </a:rPr>
              <a:t>), que mide la forma del coche y su resistencia al aire.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D2D0CE"/>
                </a:solidFill>
                <a:effectLst/>
                <a:latin typeface="-apple-system"/>
              </a:rPr>
              <a:t>La integral de la velocidad en curva, que calcula la velocidad ideal para tomar una curva con estabilidad.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D2D0CE"/>
                </a:solidFill>
                <a:effectLst/>
                <a:latin typeface="-apple-system"/>
              </a:rPr>
              <a:t>El tiempo de reacción, que estima el tiempo que tarda el conductor en frenar o esquivar un obstáculo.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D2D0CE"/>
                </a:solidFill>
                <a:effectLst/>
                <a:latin typeface="-apple-system"/>
              </a:rPr>
              <a:t>Los programas de mecánica de fluidos, que simulan el flujo de aire alrededor del coche y ayudan a optimizar el diseño.</a:t>
            </a:r>
          </a:p>
          <a:p>
            <a:endParaRPr lang="es-CL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FD656D4-F7F7-FB98-787A-157F1347C25F}"/>
              </a:ext>
            </a:extLst>
          </p:cNvPr>
          <p:cNvSpPr txBox="1"/>
          <p:nvPr/>
        </p:nvSpPr>
        <p:spPr>
          <a:xfrm rot="10800000" flipH="1" flipV="1">
            <a:off x="228722" y="3991002"/>
            <a:ext cx="65473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latin typeface="-apple-system"/>
                <a:hlinkClick r:id="rId3"/>
              </a:rPr>
              <a:t>https://testcoches.es/conceptos/coeficiente-aerodinamico-cx/</a:t>
            </a:r>
            <a:r>
              <a:rPr lang="es-CL" dirty="0">
                <a:latin typeface="-apple-system"/>
              </a:rPr>
              <a:t>  </a:t>
            </a:r>
            <a:r>
              <a:rPr lang="es-CL" dirty="0">
                <a:latin typeface="-apple-system"/>
                <a:hlinkClick r:id="rId4"/>
              </a:rPr>
              <a:t>https://www.seat-mediacenter.es/smc/stories-page/newstories/Las-matematicas-de-tu-coche-con-David-Calle/</a:t>
            </a:r>
            <a:r>
              <a:rPr lang="es-CL" dirty="0">
                <a:latin typeface="-apple-system"/>
              </a:rPr>
              <a:t>  </a:t>
            </a:r>
            <a:r>
              <a:rPr lang="es-CL" dirty="0">
                <a:latin typeface="-apple-system"/>
                <a:hlinkClick r:id="rId5"/>
              </a:rPr>
              <a:t>https://www.larazon.es/motor/20201207/5alrbtmbkrcabhyjdpmnrgxuvm.html</a:t>
            </a:r>
            <a:r>
              <a:rPr lang="es-CL" dirty="0">
                <a:latin typeface="-apple-system"/>
              </a:rPr>
              <a:t>  </a:t>
            </a:r>
            <a:r>
              <a:rPr lang="es-CL" dirty="0">
                <a:latin typeface="-apple-system"/>
                <a:hlinkClick r:id="rId6"/>
              </a:rPr>
              <a:t>https://es.wikipedia.org/wiki/Aerodin%C3%A1mica_del_autom%C3%B3vil</a:t>
            </a:r>
            <a:r>
              <a:rPr lang="es-CL" dirty="0">
                <a:solidFill>
                  <a:srgbClr val="D2D0CE"/>
                </a:solidFill>
                <a:latin typeface="-apple-system"/>
              </a:rPr>
              <a:t> </a:t>
            </a:r>
            <a:endParaRPr lang="es-CL" b="0" i="0" dirty="0">
              <a:solidFill>
                <a:srgbClr val="D2D0CE"/>
              </a:solidFill>
              <a:effectLst/>
              <a:latin typeface="-apple-system"/>
            </a:endParaRPr>
          </a:p>
          <a:p>
            <a:r>
              <a:rPr lang="es-CL" b="0" i="0" dirty="0">
                <a:solidFill>
                  <a:srgbClr val="D2D0CE"/>
                </a:solidFill>
                <a:effectLst/>
                <a:latin typeface="-apple-system"/>
                <a:hlinkClick r:id="rId7"/>
              </a:rPr>
              <a:t>https://mundotuerca.cl/aerodinamica-en-un-coche-definicion-leyes-funcionamiento/</a:t>
            </a:r>
            <a:r>
              <a:rPr lang="es-CL" b="0" i="0" dirty="0">
                <a:solidFill>
                  <a:srgbClr val="D2D0CE"/>
                </a:solidFill>
                <a:effectLst/>
                <a:latin typeface="-apple-system"/>
              </a:rPr>
              <a:t>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707007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1139</TotalTime>
  <Words>1297</Words>
  <Application>Microsoft Macintosh PowerPoint</Application>
  <PresentationFormat>Panorámica</PresentationFormat>
  <Paragraphs>76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-apple-system</vt:lpstr>
      <vt:lpstr>Arial</vt:lpstr>
      <vt:lpstr>Calibri</vt:lpstr>
      <vt:lpstr>Century Gothic</vt:lpstr>
      <vt:lpstr>Poppins</vt:lpstr>
      <vt:lpstr>Times New Roman</vt:lpstr>
      <vt:lpstr>Malla</vt:lpstr>
      <vt:lpstr>CIvic  2008  MEJORA DE REDIMIENTO  PARA COMPETICION </vt:lpstr>
      <vt:lpstr>Definición del proyecto</vt:lpstr>
      <vt:lpstr>Tema de investigación,  nociones matemáticas y problemas  a abordar </vt:lpstr>
      <vt:lpstr>Objetivos y preguntas de  investigación </vt:lpstr>
      <vt:lpstr>Temas involucrados </vt:lpstr>
      <vt:lpstr>cronograma y materiales a utilizar  </vt:lpstr>
      <vt:lpstr>Herramientas tecnológicas que optimicen el proceso ab pro</vt:lpstr>
      <vt:lpstr>Presenten la integración de diversas fuentes las cuales permitan responder las preguntas </vt:lpstr>
      <vt:lpstr>Expliciten las fuentes</vt:lpstr>
      <vt:lpstr>ideas y soluciones en base de las diversas fuentes  y conceptos de la matemática mencionados para dar respuesta  a la problemática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</dc:title>
  <dc:creator>GERARDO CONTRERAS</dc:creator>
  <cp:lastModifiedBy>LISSETTE ANDREA SALAMANCA MELLA</cp:lastModifiedBy>
  <cp:revision>35</cp:revision>
  <dcterms:created xsi:type="dcterms:W3CDTF">2023-11-17T02:08:24Z</dcterms:created>
  <dcterms:modified xsi:type="dcterms:W3CDTF">2023-12-13T15:34:06Z</dcterms:modified>
</cp:coreProperties>
</file>