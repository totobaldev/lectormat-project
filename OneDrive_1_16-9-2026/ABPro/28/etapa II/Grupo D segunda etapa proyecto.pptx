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omments/modernComment_106_F6BB0D51.xml" ContentType="application/vnd.ms-powerpoint.comments+xml"/>
  <Override PartName="/ppt/comments/modernComment_107_8205C622.xml" ContentType="application/vnd.ms-powerpoint.comment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D3B1734-7CDB-49C8-5E64-AB131940C738}" name="FRANK ANIBAL ESPARZA SANDOVAL" initials="FAES" userId="S::frank.esparza@inacapmail.cl::99d3109e-5421-4fb0-856b-ca722249c56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0202"/>
    <a:srgbClr val="F4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autoAdjust="0"/>
    <p:restoredTop sz="50000" autoAdjust="0"/>
  </p:normalViewPr>
  <p:slideViewPr>
    <p:cSldViewPr snapToGrid="0" snapToObjects="1">
      <p:cViewPr varScale="1">
        <p:scale>
          <a:sx n="105" d="100"/>
          <a:sy n="105" d="100"/>
        </p:scale>
        <p:origin x="1760"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omments/modernComment_106_F6BB0D51.xml><?xml version="1.0" encoding="utf-8"?>
<p188:cmLst xmlns:a="http://schemas.openxmlformats.org/drawingml/2006/main" xmlns:r="http://schemas.openxmlformats.org/officeDocument/2006/relationships" xmlns:p188="http://schemas.microsoft.com/office/powerpoint/2018/8/main">
  <p188:cm id="{DF275667-0FF0-4A2C-878E-295529E239C7}" authorId="{8D3B1734-7CDB-49C8-5E64-AB131940C738}" created="2023-12-06T20:49:57.665">
    <pc:sldMkLst xmlns:pc="http://schemas.microsoft.com/office/powerpoint/2013/main/command">
      <pc:docMk/>
      <pc:sldMk cId="4139453777" sldId="262"/>
    </pc:sldMkLst>
    <p188:txBody>
      <a:bodyPr/>
      <a:lstStyle/>
      <a:p>
        <a:r>
          <a:rPr lang="es-CL"/>
          <a:t>https://inacapmailcl-my.sharepoint.com/:v:/g/personal/frank_esparza_inacapmail_cl/Eb9ZLqNHPotAjE2Z3QswD5MBWnrZtS5tbHOvK4DeqCB3zA?e=Skkn3D&amp;nav=eyJyZWZlcnJhbEluZm8iOnsicmVmZXJyYWxBcHAiOiJTdHJlYW1XZWJBcHAiLCJyZWZlcnJhbFZpZXciOiJTaGFyZURpYWxvZy1MaW5rIiwicmVmZXJyYWxBcHBQbGF0Zm9ybSI6IldlYiIsInJlZmVycmFsTW9kZSI6InZpZXcifX0%3D</a:t>
        </a:r>
      </a:p>
    </p188:txBody>
    <p188:extLst>
      <p:ext xmlns:p="http://schemas.openxmlformats.org/presentationml/2006/main" uri="{57CB4572-C831-44C2-8A1C-0ADB6CCDFE69}">
        <p223:reactions xmlns:p223="http://schemas.microsoft.com/office/powerpoint/2022/03/main">
          <p223:rxn type="👍">
            <p223:instance time="2023-12-07T02:01:24.861" authorId="{8D3B1734-7CDB-49C8-5E64-AB131940C738}"/>
          </p223:rxn>
        </p223:reactions>
      </p:ext>
    </p188:extLst>
  </p188:cm>
</p188:cmLst>
</file>

<file path=ppt/comments/modernComment_107_8205C622.xml><?xml version="1.0" encoding="utf-8"?>
<p188:cmLst xmlns:a="http://schemas.openxmlformats.org/drawingml/2006/main" xmlns:r="http://schemas.openxmlformats.org/officeDocument/2006/relationships" xmlns:p188="http://schemas.microsoft.com/office/powerpoint/2018/8/main">
  <p188:cm id="{F6DF5AE8-C457-4D21-917E-4304C338FBE8}" authorId="{8D3B1734-7CDB-49C8-5E64-AB131940C738}" created="2023-12-07T02:01:18.544">
    <pc:sldMkLst xmlns:pc="http://schemas.microsoft.com/office/powerpoint/2013/main/command">
      <pc:docMk/>
      <pc:sldMk cId="2181416482" sldId="263"/>
    </pc:sldMkLst>
    <p188:txBody>
      <a:bodyPr/>
      <a:lstStyle/>
      <a:p>
        <a:r>
          <a:rPr lang="es-CL"/>
          <a:t>https://inacapmailcl-my.sharepoint.com/:w:/g/personal/frank_esparza_inacapmail_cl/ESCKlVJKuiVLnQl0_8beiZkBrJsmO2jFO9rGHo-AzOfCKw?e=29sWue
Informe del carro de arrastre</a:t>
        </a:r>
      </a:p>
    </p188:txBody>
    <p188:extLst>
      <p:ext xmlns:p="http://schemas.openxmlformats.org/presentationml/2006/main" uri="{57CB4572-C831-44C2-8A1C-0ADB6CCDFE69}">
        <p223:reactions xmlns:p223="http://schemas.microsoft.com/office/powerpoint/2022/03/main">
          <p223:rxn type="👍">
            <p223:instance time="2023-12-07T02:01:21.754" authorId="{8D3B1734-7CDB-49C8-5E64-AB131940C738}"/>
          </p223:rxn>
        </p223:reactions>
      </p:ext>
    </p188:extLst>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a:t>Haga clic para modificar el estilo de subtítulo del patrón</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14/12/23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819009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14/12/23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6849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p:txBody>
          <a:bodyPr/>
          <a:lstStyle/>
          <a:p>
            <a:fld id="{11BFFDA3-703B-5A46-AEFC-E14C30159CAC}" type="datetimeFigureOut">
              <a:rPr lang="es-ES" smtClean="0"/>
              <a:t>14/12/23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310554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conteni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fecha 4"/>
          <p:cNvSpPr>
            <a:spLocks noGrp="1"/>
          </p:cNvSpPr>
          <p:nvPr>
            <p:ph type="dt" sz="half" idx="10"/>
          </p:nvPr>
        </p:nvSpPr>
        <p:spPr/>
        <p:txBody>
          <a:bodyPr/>
          <a:lstStyle/>
          <a:p>
            <a:fld id="{11BFFDA3-703B-5A46-AEFC-E14C30159CAC}" type="datetimeFigureOut">
              <a:rPr lang="es-ES" smtClean="0"/>
              <a:t>14/12/23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055683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Marcador de conteni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7" name="Marcador de fecha 6"/>
          <p:cNvSpPr>
            <a:spLocks noGrp="1"/>
          </p:cNvSpPr>
          <p:nvPr>
            <p:ph type="dt" sz="half" idx="10"/>
          </p:nvPr>
        </p:nvSpPr>
        <p:spPr/>
        <p:txBody>
          <a:bodyPr/>
          <a:lstStyle/>
          <a:p>
            <a:fld id="{11BFFDA3-703B-5A46-AEFC-E14C30159CAC}" type="datetimeFigureOut">
              <a:rPr lang="es-ES" smtClean="0"/>
              <a:t>14/12/23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737575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fecha 2"/>
          <p:cNvSpPr>
            <a:spLocks noGrp="1"/>
          </p:cNvSpPr>
          <p:nvPr>
            <p:ph type="dt" sz="half" idx="10"/>
          </p:nvPr>
        </p:nvSpPr>
        <p:spPr/>
        <p:txBody>
          <a:bodyPr/>
          <a:lstStyle/>
          <a:p>
            <a:fld id="{11BFFDA3-703B-5A46-AEFC-E14C30159CAC}" type="datetimeFigureOut">
              <a:rPr lang="es-ES" smtClean="0"/>
              <a:t>14/12/23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798476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1BFFDA3-703B-5A46-AEFC-E14C30159CAC}" type="datetimeFigureOut">
              <a:rPr lang="es-ES" smtClean="0"/>
              <a:t>14/12/23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733729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11BFFDA3-703B-5A46-AEFC-E14C30159CAC}" type="datetimeFigureOut">
              <a:rPr lang="es-ES" smtClean="0"/>
              <a:t>14/12/23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328048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es-ES_tradnl"/>
              <a:t>Clic para editar título</a:t>
            </a:r>
            <a:endParaRPr lang="es-ES"/>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11BFFDA3-703B-5A46-AEFC-E14C30159CAC}" type="datetimeFigureOut">
              <a:rPr lang="es-ES" smtClean="0"/>
              <a:t>14/12/23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067530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14/12/23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079421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457200" y="274638"/>
            <a:ext cx="6019800" cy="5851525"/>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14/12/23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342463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BFFDA3-703B-5A46-AEFC-E14C30159CAC}" type="datetimeFigureOut">
              <a:rPr lang="es-ES" smtClean="0"/>
              <a:t>14/12/23</a:t>
            </a:fld>
            <a:endParaRPr lang="es-ES"/>
          </a:p>
        </p:txBody>
      </p:sp>
      <p:sp>
        <p:nvSpPr>
          <p:cNvPr id="5" name="Marcador de pie de pá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BE25F8-CB20-F449-B4F4-A964C31BB732}" type="slidenum">
              <a:rPr lang="es-ES" smtClean="0"/>
              <a:t>‹Nº›</a:t>
            </a:fld>
            <a:endParaRPr lang="es-ES"/>
          </a:p>
        </p:txBody>
      </p:sp>
    </p:spTree>
    <p:extLst>
      <p:ext uri="{BB962C8B-B14F-4D97-AF65-F5344CB8AC3E}">
        <p14:creationId xmlns:p14="http://schemas.microsoft.com/office/powerpoint/2010/main" val="2875313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06_F6BB0D5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07_8205C62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ctrTitle"/>
          </p:nvPr>
        </p:nvSpPr>
        <p:spPr>
          <a:xfrm>
            <a:off x="611560" y="2947566"/>
            <a:ext cx="7772400" cy="685347"/>
          </a:xfrm>
        </p:spPr>
        <p:txBody>
          <a:bodyPr>
            <a:normAutofit fontScale="90000"/>
          </a:bodyPr>
          <a:lstStyle/>
          <a:p>
            <a:r>
              <a:rPr lang="es-CL" sz="3600" b="1" dirty="0">
                <a:solidFill>
                  <a:srgbClr val="D40202"/>
                </a:solidFill>
                <a:latin typeface="Myriad Pro"/>
                <a:cs typeface="Myriad Pro"/>
              </a:rPr>
              <a:t>Mejora de seguridad de un carro de arrastre </a:t>
            </a:r>
          </a:p>
        </p:txBody>
      </p:sp>
      <p:sp>
        <p:nvSpPr>
          <p:cNvPr id="10" name="Rectángulo 9"/>
          <p:cNvSpPr/>
          <p:nvPr/>
        </p:nvSpPr>
        <p:spPr>
          <a:xfrm>
            <a:off x="469608" y="1"/>
            <a:ext cx="1867756" cy="1867756"/>
          </a:xfrm>
          <a:prstGeom prst="rect">
            <a:avLst/>
          </a:prstGeom>
          <a:solidFill>
            <a:srgbClr val="D402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1" name="Título 1"/>
          <p:cNvSpPr txBox="1">
            <a:spLocks/>
          </p:cNvSpPr>
          <p:nvPr/>
        </p:nvSpPr>
        <p:spPr>
          <a:xfrm>
            <a:off x="469607" y="160081"/>
            <a:ext cx="1867757" cy="757701"/>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CL" sz="1400" kern="1400" dirty="0">
                <a:solidFill>
                  <a:schemeClr val="bg1"/>
                </a:solidFill>
                <a:latin typeface="Myriad Pro Light"/>
                <a:cs typeface="Myriad Pro Light"/>
              </a:rPr>
              <a:t>Funciones y Geometría </a:t>
            </a:r>
          </a:p>
        </p:txBody>
      </p:sp>
      <p:pic>
        <p:nvPicPr>
          <p:cNvPr id="12" name="Imagen 11" desc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447" y="1332361"/>
            <a:ext cx="1270076" cy="342346"/>
          </a:xfrm>
          <a:prstGeom prst="rect">
            <a:avLst/>
          </a:prstGeom>
        </p:spPr>
      </p:pic>
      <p:cxnSp>
        <p:nvCxnSpPr>
          <p:cNvPr id="14" name="Conector recto 13"/>
          <p:cNvCxnSpPr/>
          <p:nvPr/>
        </p:nvCxnSpPr>
        <p:spPr>
          <a:xfrm>
            <a:off x="615294" y="1077855"/>
            <a:ext cx="1576383" cy="0"/>
          </a:xfrm>
          <a:prstGeom prst="line">
            <a:avLst/>
          </a:prstGeom>
          <a:ln w="952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5" name="Subtítulo 2"/>
          <p:cNvSpPr>
            <a:spLocks noGrp="1"/>
          </p:cNvSpPr>
          <p:nvPr>
            <p:ph type="subTitle" idx="1"/>
          </p:nvPr>
        </p:nvSpPr>
        <p:spPr>
          <a:xfrm>
            <a:off x="1297360" y="3712724"/>
            <a:ext cx="6400800" cy="362194"/>
          </a:xfrm>
        </p:spPr>
        <p:txBody>
          <a:bodyPr>
            <a:normAutofit fontScale="62500" lnSpcReduction="20000"/>
          </a:bodyPr>
          <a:lstStyle/>
          <a:p>
            <a:pPr marL="0" indent="0" algn="ctr">
              <a:buNone/>
            </a:pPr>
            <a:endParaRPr lang="es-CL" dirty="0">
              <a:latin typeface="Myriad Pro"/>
              <a:cs typeface="Myriad Pro"/>
            </a:endParaRPr>
          </a:p>
        </p:txBody>
      </p:sp>
      <p:sp>
        <p:nvSpPr>
          <p:cNvPr id="16" name="CuadroTexto 15"/>
          <p:cNvSpPr txBox="1"/>
          <p:nvPr/>
        </p:nvSpPr>
        <p:spPr>
          <a:xfrm>
            <a:off x="469608" y="5331580"/>
            <a:ext cx="6456704" cy="1126462"/>
          </a:xfrm>
          <a:prstGeom prst="rect">
            <a:avLst/>
          </a:prstGeom>
          <a:noFill/>
        </p:spPr>
        <p:txBody>
          <a:bodyPr wrap="none" rtlCol="0">
            <a:spAutoFit/>
          </a:bodyPr>
          <a:lstStyle/>
          <a:p>
            <a:pPr>
              <a:lnSpc>
                <a:spcPct val="120000"/>
              </a:lnSpc>
            </a:pPr>
            <a:r>
              <a:rPr lang="es-CL" sz="1400" dirty="0">
                <a:latin typeface="Myriad Pro"/>
                <a:cs typeface="Myriad Pro"/>
              </a:rPr>
              <a:t>NOMBRE: Javiera Jiménez, Cesar Bascuñán, Yeison Ramírez, Frank Esparza </a:t>
            </a:r>
          </a:p>
          <a:p>
            <a:pPr>
              <a:lnSpc>
                <a:spcPct val="120000"/>
              </a:lnSpc>
            </a:pPr>
            <a:r>
              <a:rPr lang="es-CL" sz="1400" dirty="0">
                <a:latin typeface="Myriad Pro"/>
                <a:cs typeface="Myriad Pro"/>
              </a:rPr>
              <a:t>CARRERA: Tec. Mecánica y electromovilidad automotriz</a:t>
            </a:r>
          </a:p>
          <a:p>
            <a:pPr>
              <a:lnSpc>
                <a:spcPct val="120000"/>
              </a:lnSpc>
            </a:pPr>
            <a:r>
              <a:rPr lang="es-CL" sz="1400" dirty="0">
                <a:latin typeface="Myriad Pro"/>
                <a:cs typeface="Myriad Pro"/>
              </a:rPr>
              <a:t>ASIGNTATURA: Funciones y Geometría</a:t>
            </a:r>
          </a:p>
          <a:p>
            <a:pPr>
              <a:lnSpc>
                <a:spcPct val="120000"/>
              </a:lnSpc>
            </a:pPr>
            <a:r>
              <a:rPr lang="es-CL" sz="1400" dirty="0">
                <a:latin typeface="Myriad Pro"/>
                <a:cs typeface="Myriad Pro"/>
              </a:rPr>
              <a:t>PROFESOR: Lisette Salamanca</a:t>
            </a:r>
          </a:p>
        </p:txBody>
      </p:sp>
      <p:pic>
        <p:nvPicPr>
          <p:cNvPr id="18" name="Imagen 17"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Tree>
    <p:extLst>
      <p:ext uri="{BB962C8B-B14F-4D97-AF65-F5344CB8AC3E}">
        <p14:creationId xmlns:p14="http://schemas.microsoft.com/office/powerpoint/2010/main" val="808890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descr="Logo.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
        <p:nvSpPr>
          <p:cNvPr id="13" name="Título 1"/>
          <p:cNvSpPr txBox="1">
            <a:spLocks/>
          </p:cNvSpPr>
          <p:nvPr/>
        </p:nvSpPr>
        <p:spPr>
          <a:xfrm>
            <a:off x="307821" y="1332380"/>
            <a:ext cx="322196" cy="46775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lang="es-CL" sz="1800" b="1" dirty="0">
              <a:solidFill>
                <a:schemeClr val="bg1"/>
              </a:solidFill>
              <a:latin typeface="Myriad Pro"/>
              <a:cs typeface="Myriad Pro"/>
            </a:endParaRPr>
          </a:p>
        </p:txBody>
      </p:sp>
      <p:sp>
        <p:nvSpPr>
          <p:cNvPr id="4" name="Título 3">
            <a:extLst>
              <a:ext uri="{FF2B5EF4-FFF2-40B4-BE49-F238E27FC236}">
                <a16:creationId xmlns:a16="http://schemas.microsoft.com/office/drawing/2014/main" id="{BCC903CF-7382-C751-C8AB-628D248543A7}"/>
              </a:ext>
            </a:extLst>
          </p:cNvPr>
          <p:cNvSpPr>
            <a:spLocks noGrp="1"/>
          </p:cNvSpPr>
          <p:nvPr>
            <p:ph type="ctrTitle"/>
          </p:nvPr>
        </p:nvSpPr>
        <p:spPr>
          <a:xfrm>
            <a:off x="685800" y="69008"/>
            <a:ext cx="7772400" cy="1470025"/>
          </a:xfrm>
        </p:spPr>
        <p:txBody>
          <a:bodyPr>
            <a:normAutofit/>
          </a:bodyPr>
          <a:lstStyle/>
          <a:p>
            <a:r>
              <a:rPr lang="es-CL" sz="3200" b="1" dirty="0">
                <a:solidFill>
                  <a:srgbClr val="C00000"/>
                </a:solidFill>
                <a:latin typeface="Myriad Pro"/>
              </a:rPr>
              <a:t>Definición </a:t>
            </a:r>
            <a:br>
              <a:rPr lang="es-CL" sz="3200" b="1" dirty="0">
                <a:solidFill>
                  <a:srgbClr val="C00000"/>
                </a:solidFill>
                <a:latin typeface="Myriad Pro"/>
              </a:rPr>
            </a:br>
            <a:endParaRPr lang="es-CL" sz="3200" b="1" dirty="0">
              <a:solidFill>
                <a:srgbClr val="C00000"/>
              </a:solidFill>
              <a:latin typeface="Myriad Pro"/>
            </a:endParaRPr>
          </a:p>
        </p:txBody>
      </p:sp>
      <p:sp>
        <p:nvSpPr>
          <p:cNvPr id="2" name="CuadroTexto 1">
            <a:extLst>
              <a:ext uri="{FF2B5EF4-FFF2-40B4-BE49-F238E27FC236}">
                <a16:creationId xmlns:a16="http://schemas.microsoft.com/office/drawing/2014/main" id="{B00E6D2C-7A47-60C6-D326-D4B488898E3F}"/>
              </a:ext>
            </a:extLst>
          </p:cNvPr>
          <p:cNvSpPr txBox="1"/>
          <p:nvPr/>
        </p:nvSpPr>
        <p:spPr>
          <a:xfrm>
            <a:off x="457200" y="1613647"/>
            <a:ext cx="8229600" cy="3539430"/>
          </a:xfrm>
          <a:prstGeom prst="rect">
            <a:avLst/>
          </a:prstGeom>
          <a:noFill/>
        </p:spPr>
        <p:txBody>
          <a:bodyPr wrap="square" rtlCol="0">
            <a:spAutoFit/>
          </a:bodyPr>
          <a:lstStyle/>
          <a:p>
            <a:r>
              <a:rPr lang="es-CL" sz="2800" dirty="0">
                <a:solidFill>
                  <a:srgbClr val="FF0000"/>
                </a:solidFill>
              </a:rPr>
              <a:t>Objetivo: </a:t>
            </a:r>
            <a:r>
              <a:rPr lang="es-CL" sz="2800" dirty="0"/>
              <a:t>Implementar mayor seguridad a los carros de arrastre</a:t>
            </a:r>
            <a:r>
              <a:rPr lang="es-CL" sz="2800" dirty="0">
                <a:solidFill>
                  <a:srgbClr val="FF0000"/>
                </a:solidFill>
              </a:rPr>
              <a:t>… solo hast aquí ya que luego pasa a ser parte de la solución</a:t>
            </a:r>
            <a:r>
              <a:rPr lang="es-CL" sz="2800" dirty="0"/>
              <a:t> creando un carro de arrastre que tenga buena relación de peso, buena iluminación y buen acople para aguantar el peso de la carga.</a:t>
            </a:r>
          </a:p>
          <a:p>
            <a:r>
              <a:rPr lang="es-CL" sz="2800" dirty="0">
                <a:solidFill>
                  <a:srgbClr val="FF0000"/>
                </a:solidFill>
              </a:rPr>
              <a:t>En la definición del problema debe describir el detalle que presnetan hoy los carros de arrastre por lo cual “presnetan la problemática” (falta de seguridad)</a:t>
            </a:r>
          </a:p>
        </p:txBody>
      </p:sp>
    </p:spTree>
    <p:extLst>
      <p:ext uri="{BB962C8B-B14F-4D97-AF65-F5344CB8AC3E}">
        <p14:creationId xmlns:p14="http://schemas.microsoft.com/office/powerpoint/2010/main" val="91649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title"/>
          </p:nvPr>
        </p:nvSpPr>
        <p:spPr/>
        <p:txBody>
          <a:bodyPr>
            <a:normAutofit/>
          </a:bodyPr>
          <a:lstStyle/>
          <a:p>
            <a:pPr algn="l"/>
            <a:r>
              <a:rPr lang="es-CL" sz="3200" b="1" dirty="0">
                <a:solidFill>
                  <a:srgbClr val="D40202"/>
                </a:solidFill>
                <a:latin typeface="Myriad Pro"/>
                <a:cs typeface="Myriad Pro"/>
              </a:rPr>
              <a:t>Temas de investigación, nociones matemáticas y problemática a abordar</a:t>
            </a:r>
          </a:p>
        </p:txBody>
      </p:sp>
      <p:pic>
        <p:nvPicPr>
          <p:cNvPr id="18" name="Imagen 17" descr="Logo.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
        <p:nvSpPr>
          <p:cNvPr id="2" name="CuadroTexto 1">
            <a:extLst>
              <a:ext uri="{FF2B5EF4-FFF2-40B4-BE49-F238E27FC236}">
                <a16:creationId xmlns:a16="http://schemas.microsoft.com/office/drawing/2014/main" id="{74A6435D-DFBC-5482-D7C4-542922EF9983}"/>
              </a:ext>
            </a:extLst>
          </p:cNvPr>
          <p:cNvSpPr txBox="1"/>
          <p:nvPr/>
        </p:nvSpPr>
        <p:spPr>
          <a:xfrm>
            <a:off x="457200" y="1613647"/>
            <a:ext cx="8229600" cy="2246769"/>
          </a:xfrm>
          <a:prstGeom prst="rect">
            <a:avLst/>
          </a:prstGeom>
          <a:noFill/>
        </p:spPr>
        <p:txBody>
          <a:bodyPr wrap="square" rtlCol="0">
            <a:spAutoFit/>
          </a:bodyPr>
          <a:lstStyle/>
          <a:p>
            <a:r>
              <a:rPr lang="es-CL" sz="2800" dirty="0"/>
              <a:t>Pérdida de control de los carros de arrastre.</a:t>
            </a:r>
          </a:p>
          <a:p>
            <a:r>
              <a:rPr lang="es-CL" sz="2800" dirty="0">
                <a:solidFill>
                  <a:srgbClr val="FF0000"/>
                </a:solidFill>
              </a:rPr>
              <a:t>¿cuáles son las nociones matematicas involucradas?... De que manera?</a:t>
            </a:r>
          </a:p>
          <a:p>
            <a:r>
              <a:rPr lang="es-CL" sz="2800" dirty="0"/>
              <a:t> cuáles son las mejoras y medidas que uno debe implementar para evitar dichos accidentes</a:t>
            </a:r>
          </a:p>
        </p:txBody>
      </p:sp>
    </p:spTree>
    <p:extLst>
      <p:ext uri="{BB962C8B-B14F-4D97-AF65-F5344CB8AC3E}">
        <p14:creationId xmlns:p14="http://schemas.microsoft.com/office/powerpoint/2010/main" val="2557372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49F32B-B09B-2BF5-D03E-D814E884B816}"/>
              </a:ext>
            </a:extLst>
          </p:cNvPr>
          <p:cNvSpPr>
            <a:spLocks noGrp="1"/>
          </p:cNvSpPr>
          <p:nvPr>
            <p:ph type="title"/>
          </p:nvPr>
        </p:nvSpPr>
        <p:spPr/>
        <p:txBody>
          <a:bodyPr>
            <a:normAutofit/>
          </a:bodyPr>
          <a:lstStyle/>
          <a:p>
            <a:r>
              <a:rPr lang="es-CL" sz="3200" b="1" dirty="0">
                <a:solidFill>
                  <a:srgbClr val="C00000"/>
                </a:solidFill>
                <a:latin typeface="Myriad Pro"/>
              </a:rPr>
              <a:t>Objetivos y preguntas de investigación </a:t>
            </a:r>
          </a:p>
        </p:txBody>
      </p:sp>
      <p:sp>
        <p:nvSpPr>
          <p:cNvPr id="6" name="CuadroTexto 5">
            <a:extLst>
              <a:ext uri="{FF2B5EF4-FFF2-40B4-BE49-F238E27FC236}">
                <a16:creationId xmlns:a16="http://schemas.microsoft.com/office/drawing/2014/main" id="{912157C9-6468-8E08-AA6E-6B626B241DD5}"/>
              </a:ext>
            </a:extLst>
          </p:cNvPr>
          <p:cNvSpPr txBox="1"/>
          <p:nvPr/>
        </p:nvSpPr>
        <p:spPr>
          <a:xfrm>
            <a:off x="457201" y="1586753"/>
            <a:ext cx="8229600" cy="5693866"/>
          </a:xfrm>
          <a:prstGeom prst="rect">
            <a:avLst/>
          </a:prstGeom>
          <a:noFill/>
        </p:spPr>
        <p:txBody>
          <a:bodyPr wrap="square" rtlCol="0">
            <a:spAutoFit/>
          </a:bodyPr>
          <a:lstStyle/>
          <a:p>
            <a:r>
              <a:rPr lang="es-CL" sz="2800" dirty="0"/>
              <a:t>crear un carro de arrastre con todas las medidas de seguridad correspondientes (</a:t>
            </a:r>
            <a:r>
              <a:rPr lang="es-CL" sz="2800" dirty="0">
                <a:solidFill>
                  <a:srgbClr val="FF0000"/>
                </a:solidFill>
              </a:rPr>
              <a:t>según quien? Alguna normativa?, o según que?... Debe quedar claro a través de la busqueda la solución)</a:t>
            </a:r>
            <a:r>
              <a:rPr lang="es-CL" sz="2800" dirty="0"/>
              <a:t> para evitar accidentes por la pérdida de control de aquellos.</a:t>
            </a:r>
            <a:r>
              <a:rPr lang="es-MX" sz="2800" dirty="0"/>
              <a:t> </a:t>
            </a:r>
          </a:p>
          <a:p>
            <a:r>
              <a:rPr lang="es-MX" sz="2800" dirty="0"/>
              <a:t>¿Por qué surgen las pérdidas de control en los carros de arrastre?</a:t>
            </a:r>
          </a:p>
          <a:p>
            <a:r>
              <a:rPr lang="es-MX" sz="2800" dirty="0"/>
              <a:t>¿Como evitar accidentes por medio del carro de arrastre?</a:t>
            </a:r>
          </a:p>
          <a:p>
            <a:r>
              <a:rPr lang="es-MX" sz="2800" dirty="0"/>
              <a:t>¿Qué es la fuerza de arrastre de un vehículo?</a:t>
            </a:r>
          </a:p>
          <a:p>
            <a:r>
              <a:rPr lang="es-MX" sz="2800" dirty="0"/>
              <a:t>¿Qué mantenimientos necesita el carro de arrastre?</a:t>
            </a:r>
          </a:p>
          <a:p>
            <a:r>
              <a:rPr lang="es-MX" sz="2800" dirty="0">
                <a:solidFill>
                  <a:srgbClr val="FF0000"/>
                </a:solidFill>
              </a:rPr>
              <a:t>Estas preguntas sirven para dar solución a la problemática?</a:t>
            </a:r>
            <a:endParaRPr lang="es-CL" sz="2800" dirty="0">
              <a:solidFill>
                <a:srgbClr val="FF0000"/>
              </a:solidFill>
            </a:endParaRPr>
          </a:p>
        </p:txBody>
      </p:sp>
    </p:spTree>
    <p:extLst>
      <p:ext uri="{BB962C8B-B14F-4D97-AF65-F5344CB8AC3E}">
        <p14:creationId xmlns:p14="http://schemas.microsoft.com/office/powerpoint/2010/main" val="3194347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4FD695-4911-879E-8514-B8A3666F6CD0}"/>
              </a:ext>
            </a:extLst>
          </p:cNvPr>
          <p:cNvSpPr>
            <a:spLocks noGrp="1"/>
          </p:cNvSpPr>
          <p:nvPr>
            <p:ph type="title"/>
          </p:nvPr>
        </p:nvSpPr>
        <p:spPr/>
        <p:txBody>
          <a:bodyPr>
            <a:normAutofit/>
          </a:bodyPr>
          <a:lstStyle/>
          <a:p>
            <a:r>
              <a:rPr lang="es-CL" sz="3200" b="1" dirty="0">
                <a:solidFill>
                  <a:srgbClr val="C00000"/>
                </a:solidFill>
                <a:latin typeface="Myriad Pro"/>
              </a:rPr>
              <a:t>Tema inicial involucrado</a:t>
            </a:r>
          </a:p>
        </p:txBody>
      </p:sp>
      <p:sp>
        <p:nvSpPr>
          <p:cNvPr id="3" name="Marcador de contenido 2">
            <a:extLst>
              <a:ext uri="{FF2B5EF4-FFF2-40B4-BE49-F238E27FC236}">
                <a16:creationId xmlns:a16="http://schemas.microsoft.com/office/drawing/2014/main" id="{53519AEB-5F73-D024-D2F0-240B1204FF5F}"/>
              </a:ext>
            </a:extLst>
          </p:cNvPr>
          <p:cNvSpPr>
            <a:spLocks noGrp="1"/>
          </p:cNvSpPr>
          <p:nvPr>
            <p:ph sz="half" idx="1"/>
          </p:nvPr>
        </p:nvSpPr>
        <p:spPr>
          <a:xfrm>
            <a:off x="457200" y="1417638"/>
            <a:ext cx="8229600" cy="4525963"/>
          </a:xfrm>
        </p:spPr>
        <p:txBody>
          <a:bodyPr>
            <a:normAutofit/>
          </a:bodyPr>
          <a:lstStyle/>
          <a:p>
            <a:pPr marL="0" indent="0">
              <a:buNone/>
            </a:pPr>
            <a:r>
              <a:rPr lang="es-CL" dirty="0"/>
              <a:t>seguridad del carro de arrastre,</a:t>
            </a:r>
            <a:r>
              <a:rPr lang="es-CL" dirty="0">
                <a:solidFill>
                  <a:srgbClr val="FF0000"/>
                </a:solidFill>
              </a:rPr>
              <a:t> las variables involucradas en la seguridad del carro de arrastre</a:t>
            </a:r>
            <a:endParaRPr lang="es-CL" dirty="0"/>
          </a:p>
          <a:p>
            <a:pPr marL="0" indent="0">
              <a:buNone/>
            </a:pPr>
            <a:endParaRPr lang="es-CL" dirty="0"/>
          </a:p>
          <a:p>
            <a:pPr marL="0" indent="0">
              <a:buNone/>
            </a:pPr>
            <a:r>
              <a:rPr lang="es-CL" dirty="0"/>
              <a:t>creando desde cero un carro que cumpla con todas las normativas correspondientes y además, que tenga mayor seguridad a la hora de tener carga en su interior</a:t>
            </a:r>
          </a:p>
        </p:txBody>
      </p:sp>
    </p:spTree>
    <p:extLst>
      <p:ext uri="{BB962C8B-B14F-4D97-AF65-F5344CB8AC3E}">
        <p14:creationId xmlns:p14="http://schemas.microsoft.com/office/powerpoint/2010/main" val="3961406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9F57D4-F0B8-944B-3596-411DC48CB264}"/>
              </a:ext>
            </a:extLst>
          </p:cNvPr>
          <p:cNvSpPr>
            <a:spLocks noGrp="1"/>
          </p:cNvSpPr>
          <p:nvPr>
            <p:ph type="title"/>
          </p:nvPr>
        </p:nvSpPr>
        <p:spPr/>
        <p:txBody>
          <a:bodyPr/>
          <a:lstStyle/>
          <a:p>
            <a:endParaRPr lang="es-CL" dirty="0"/>
          </a:p>
        </p:txBody>
      </p:sp>
      <p:sp>
        <p:nvSpPr>
          <p:cNvPr id="4" name="Marcador de contenido 3">
            <a:extLst>
              <a:ext uri="{FF2B5EF4-FFF2-40B4-BE49-F238E27FC236}">
                <a16:creationId xmlns:a16="http://schemas.microsoft.com/office/drawing/2014/main" id="{139E3B57-0101-6B08-28A1-948D54A34FB9}"/>
              </a:ext>
            </a:extLst>
          </p:cNvPr>
          <p:cNvSpPr>
            <a:spLocks noGrp="1"/>
          </p:cNvSpPr>
          <p:nvPr>
            <p:ph sz="half" idx="2"/>
          </p:nvPr>
        </p:nvSpPr>
        <p:spPr/>
        <p:txBody>
          <a:bodyPr/>
          <a:lstStyle/>
          <a:p>
            <a:endParaRPr lang="es-CL"/>
          </a:p>
        </p:txBody>
      </p:sp>
      <p:graphicFrame>
        <p:nvGraphicFramePr>
          <p:cNvPr id="8" name="Marcador de contenido 7">
            <a:extLst>
              <a:ext uri="{FF2B5EF4-FFF2-40B4-BE49-F238E27FC236}">
                <a16:creationId xmlns:a16="http://schemas.microsoft.com/office/drawing/2014/main" id="{1DE1B05C-026C-FF6C-D692-93C89B038383}"/>
              </a:ext>
            </a:extLst>
          </p:cNvPr>
          <p:cNvGraphicFramePr>
            <a:graphicFrameLocks noGrp="1"/>
          </p:cNvGraphicFramePr>
          <p:nvPr>
            <p:ph sz="half" idx="1"/>
            <p:extLst>
              <p:ext uri="{D42A27DB-BD31-4B8C-83A1-F6EECF244321}">
                <p14:modId xmlns:p14="http://schemas.microsoft.com/office/powerpoint/2010/main" val="4067944463"/>
              </p:ext>
            </p:extLst>
          </p:nvPr>
        </p:nvGraphicFramePr>
        <p:xfrm>
          <a:off x="457200" y="526808"/>
          <a:ext cx="8229600" cy="5577840"/>
        </p:xfrm>
        <a:graphic>
          <a:graphicData uri="http://schemas.openxmlformats.org/drawingml/2006/table">
            <a:tbl>
              <a:tblPr firstRow="1" bandRow="1">
                <a:tableStyleId>{21E4AEA4-8DFA-4A89-87EB-49C32662AFE0}</a:tableStyleId>
              </a:tblPr>
              <a:tblGrid>
                <a:gridCol w="1645920">
                  <a:extLst>
                    <a:ext uri="{9D8B030D-6E8A-4147-A177-3AD203B41FA5}">
                      <a16:colId xmlns:a16="http://schemas.microsoft.com/office/drawing/2014/main" val="4237485858"/>
                    </a:ext>
                  </a:extLst>
                </a:gridCol>
                <a:gridCol w="1645920">
                  <a:extLst>
                    <a:ext uri="{9D8B030D-6E8A-4147-A177-3AD203B41FA5}">
                      <a16:colId xmlns:a16="http://schemas.microsoft.com/office/drawing/2014/main" val="2235569032"/>
                    </a:ext>
                  </a:extLst>
                </a:gridCol>
                <a:gridCol w="1645920">
                  <a:extLst>
                    <a:ext uri="{9D8B030D-6E8A-4147-A177-3AD203B41FA5}">
                      <a16:colId xmlns:a16="http://schemas.microsoft.com/office/drawing/2014/main" val="3282868674"/>
                    </a:ext>
                  </a:extLst>
                </a:gridCol>
                <a:gridCol w="1645920">
                  <a:extLst>
                    <a:ext uri="{9D8B030D-6E8A-4147-A177-3AD203B41FA5}">
                      <a16:colId xmlns:a16="http://schemas.microsoft.com/office/drawing/2014/main" val="344178912"/>
                    </a:ext>
                  </a:extLst>
                </a:gridCol>
                <a:gridCol w="1645920">
                  <a:extLst>
                    <a:ext uri="{9D8B030D-6E8A-4147-A177-3AD203B41FA5}">
                      <a16:colId xmlns:a16="http://schemas.microsoft.com/office/drawing/2014/main" val="2054209063"/>
                    </a:ext>
                  </a:extLst>
                </a:gridCol>
              </a:tblGrid>
              <a:tr h="773206">
                <a:tc>
                  <a:txBody>
                    <a:bodyPr/>
                    <a:lstStyle/>
                    <a:p>
                      <a:r>
                        <a:rPr lang="es-CL" dirty="0"/>
                        <a:t>1. ¿Qué haremos?</a:t>
                      </a:r>
                    </a:p>
                  </a:txBody>
                  <a:tcPr/>
                </a:tc>
                <a:tc>
                  <a:txBody>
                    <a:bodyPr/>
                    <a:lstStyle/>
                    <a:p>
                      <a:r>
                        <a:rPr lang="es-CL" dirty="0"/>
                        <a:t>2. ¿Qué resultados obtendremos?</a:t>
                      </a:r>
                    </a:p>
                  </a:txBody>
                  <a:tcPr/>
                </a:tc>
                <a:tc>
                  <a:txBody>
                    <a:bodyPr/>
                    <a:lstStyle/>
                    <a:p>
                      <a:r>
                        <a:rPr lang="es-CL" dirty="0"/>
                        <a:t>3. ¿Para cuándo estará hecho?</a:t>
                      </a:r>
                    </a:p>
                  </a:txBody>
                  <a:tcPr/>
                </a:tc>
                <a:tc>
                  <a:txBody>
                    <a:bodyPr/>
                    <a:lstStyle/>
                    <a:p>
                      <a:r>
                        <a:rPr lang="es-CL" dirty="0"/>
                        <a:t>¿Quiénes o quienes lo harán?</a:t>
                      </a:r>
                    </a:p>
                  </a:txBody>
                  <a:tcPr/>
                </a:tc>
                <a:tc>
                  <a:txBody>
                    <a:bodyPr/>
                    <a:lstStyle/>
                    <a:p>
                      <a:r>
                        <a:rPr lang="es-CL" dirty="0"/>
                        <a:t>¿Qué necesitamos para hacerlo?</a:t>
                      </a:r>
                    </a:p>
                  </a:txBody>
                  <a:tcPr/>
                </a:tc>
                <a:extLst>
                  <a:ext uri="{0D108BD9-81ED-4DB2-BD59-A6C34878D82A}">
                    <a16:rowId xmlns:a16="http://schemas.microsoft.com/office/drawing/2014/main" val="2073435000"/>
                  </a:ext>
                </a:extLst>
              </a:tr>
              <a:tr h="773206">
                <a:tc>
                  <a:txBody>
                    <a:bodyPr/>
                    <a:lstStyle/>
                    <a:p>
                      <a:r>
                        <a:rPr lang="es-CL" dirty="0"/>
                        <a:t>1. Mejora de acople</a:t>
                      </a:r>
                    </a:p>
                  </a:txBody>
                  <a:tcPr/>
                </a:tc>
                <a:tc>
                  <a:txBody>
                    <a:bodyPr/>
                    <a:lstStyle/>
                    <a:p>
                      <a:r>
                        <a:rPr lang="es-CL" dirty="0"/>
                        <a:t>Un menor esfuerzo cortante</a:t>
                      </a:r>
                    </a:p>
                  </a:txBody>
                  <a:tcPr/>
                </a:tc>
                <a:tc>
                  <a:txBody>
                    <a:bodyPr/>
                    <a:lstStyle/>
                    <a:p>
                      <a:r>
                        <a:rPr lang="es-CL" dirty="0"/>
                        <a:t>14-12</a:t>
                      </a:r>
                    </a:p>
                  </a:txBody>
                  <a:tcPr/>
                </a:tc>
                <a:tc>
                  <a:txBody>
                    <a:bodyPr/>
                    <a:lstStyle/>
                    <a:p>
                      <a:r>
                        <a:rPr lang="es-CL" dirty="0"/>
                        <a:t>Mecánico</a:t>
                      </a:r>
                    </a:p>
                  </a:txBody>
                  <a:tcPr/>
                </a:tc>
                <a:tc>
                  <a:txBody>
                    <a:bodyPr/>
                    <a:lstStyle/>
                    <a:p>
                      <a:r>
                        <a:rPr lang="es-CL" dirty="0"/>
                        <a:t>Cálculo de esfuerzo cortante, el peso del carro de arrastre, fierro grueso.</a:t>
                      </a:r>
                    </a:p>
                  </a:txBody>
                  <a:tcPr/>
                </a:tc>
                <a:extLst>
                  <a:ext uri="{0D108BD9-81ED-4DB2-BD59-A6C34878D82A}">
                    <a16:rowId xmlns:a16="http://schemas.microsoft.com/office/drawing/2014/main" val="2675747369"/>
                  </a:ext>
                </a:extLst>
              </a:tr>
              <a:tr h="773206">
                <a:tc>
                  <a:txBody>
                    <a:bodyPr/>
                    <a:lstStyle/>
                    <a:p>
                      <a:r>
                        <a:rPr lang="es-CL" dirty="0"/>
                        <a:t>2. Incorporar tecnología led a las luces</a:t>
                      </a:r>
                    </a:p>
                  </a:txBody>
                  <a:tcPr/>
                </a:tc>
                <a:tc>
                  <a:txBody>
                    <a:bodyPr/>
                    <a:lstStyle/>
                    <a:p>
                      <a:r>
                        <a:rPr lang="es-CL" dirty="0"/>
                        <a:t>Mayor visibilidad para los vehículos que lo ven </a:t>
                      </a:r>
                    </a:p>
                  </a:txBody>
                  <a:tcPr/>
                </a:tc>
                <a:tc>
                  <a:txBody>
                    <a:bodyPr/>
                    <a:lstStyle/>
                    <a:p>
                      <a:r>
                        <a:rPr lang="es-CL" dirty="0"/>
                        <a:t>14-12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CL" dirty="0"/>
                        <a:t>Mecánico</a:t>
                      </a:r>
                    </a:p>
                    <a:p>
                      <a:endParaRPr lang="es-CL" dirty="0"/>
                    </a:p>
                  </a:txBody>
                  <a:tcPr/>
                </a:tc>
                <a:tc>
                  <a:txBody>
                    <a:bodyPr/>
                    <a:lstStyle/>
                    <a:p>
                      <a:r>
                        <a:rPr lang="es-CL" dirty="0"/>
                        <a:t>Luces led, cálculo de la resistencia y cálculo de voltaje</a:t>
                      </a:r>
                    </a:p>
                  </a:txBody>
                  <a:tcPr/>
                </a:tc>
                <a:extLst>
                  <a:ext uri="{0D108BD9-81ED-4DB2-BD59-A6C34878D82A}">
                    <a16:rowId xmlns:a16="http://schemas.microsoft.com/office/drawing/2014/main" val="1422634127"/>
                  </a:ext>
                </a:extLst>
              </a:tr>
              <a:tr h="773206">
                <a:tc>
                  <a:txBody>
                    <a:bodyPr/>
                    <a:lstStyle/>
                    <a:p>
                      <a:r>
                        <a:rPr lang="es-CL" dirty="0"/>
                        <a:t>3. Mejorar el centro de gravedad</a:t>
                      </a:r>
                    </a:p>
                  </a:txBody>
                  <a:tcPr/>
                </a:tc>
                <a:tc>
                  <a:txBody>
                    <a:bodyPr/>
                    <a:lstStyle/>
                    <a:p>
                      <a:r>
                        <a:rPr lang="es-CL" dirty="0"/>
                        <a:t>Evitar las pérdidas de control del carro de arrastre</a:t>
                      </a:r>
                    </a:p>
                  </a:txBody>
                  <a:tcPr/>
                </a:tc>
                <a:tc>
                  <a:txBody>
                    <a:bodyPr/>
                    <a:lstStyle/>
                    <a:p>
                      <a:r>
                        <a:rPr lang="es-CL" dirty="0"/>
                        <a:t>14-12</a:t>
                      </a:r>
                    </a:p>
                  </a:txBody>
                  <a:tcPr/>
                </a:tc>
                <a:tc>
                  <a:txBody>
                    <a:bodyPr/>
                    <a:lstStyle/>
                    <a:p>
                      <a:r>
                        <a:rPr lang="es-CL" dirty="0"/>
                        <a:t>Mecánico</a:t>
                      </a:r>
                    </a:p>
                  </a:txBody>
                  <a:tcPr/>
                </a:tc>
                <a:tc>
                  <a:txBody>
                    <a:bodyPr/>
                    <a:lstStyle/>
                    <a:p>
                      <a:r>
                        <a:rPr lang="es-CL" dirty="0"/>
                        <a:t>Cables, módulo de control independiente, ley de pascal</a:t>
                      </a:r>
                    </a:p>
                  </a:txBody>
                  <a:tcPr/>
                </a:tc>
                <a:extLst>
                  <a:ext uri="{0D108BD9-81ED-4DB2-BD59-A6C34878D82A}">
                    <a16:rowId xmlns:a16="http://schemas.microsoft.com/office/drawing/2014/main" val="392936539"/>
                  </a:ext>
                </a:extLst>
              </a:tr>
            </a:tbl>
          </a:graphicData>
        </a:graphic>
      </p:graphicFrame>
    </p:spTree>
    <p:extLst>
      <p:ext uri="{BB962C8B-B14F-4D97-AF65-F5344CB8AC3E}">
        <p14:creationId xmlns:p14="http://schemas.microsoft.com/office/powerpoint/2010/main" val="2072017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normAutofit/>
          </a:bodyPr>
          <a:lstStyle/>
          <a:p>
            <a:r>
              <a:rPr lang="es-CL" sz="3200" b="1" dirty="0" err="1">
                <a:solidFill>
                  <a:srgbClr val="C00000"/>
                </a:solidFill>
                <a:latin typeface="Myriad Pro"/>
              </a:rPr>
              <a:t>Algodoo</a:t>
            </a:r>
            <a:r>
              <a:rPr lang="es-CL" sz="3200" b="1" dirty="0">
                <a:solidFill>
                  <a:srgbClr val="C00000"/>
                </a:solidFill>
                <a:latin typeface="Myriad Pro"/>
              </a:rPr>
              <a:t> y su utilización </a:t>
            </a:r>
          </a:p>
        </p:txBody>
      </p:sp>
      <p:sp>
        <p:nvSpPr>
          <p:cNvPr id="6" name="5 Marcador de contenido"/>
          <p:cNvSpPr>
            <a:spLocks noGrp="1"/>
          </p:cNvSpPr>
          <p:nvPr>
            <p:ph idx="1"/>
          </p:nvPr>
        </p:nvSpPr>
        <p:spPr/>
        <p:txBody>
          <a:bodyPr>
            <a:normAutofit fontScale="92500"/>
          </a:bodyPr>
          <a:lstStyle/>
          <a:p>
            <a:pPr marL="0" indent="0">
              <a:buNone/>
            </a:pPr>
            <a:r>
              <a:rPr lang="es-CL" dirty="0"/>
              <a:t>Debido a la falta de recursos, implementamos un sistema que permita verificar el centro de gravedad en diferentes situaciones y pesos para así poder verificar la influencia e importancia de este.</a:t>
            </a:r>
          </a:p>
          <a:p>
            <a:pPr marL="0" indent="0">
              <a:buNone/>
            </a:pPr>
            <a:r>
              <a:rPr lang="es-CL" dirty="0">
                <a:solidFill>
                  <a:srgbClr val="FF0000"/>
                </a:solidFill>
              </a:rPr>
              <a:t>El uso y justificación de la aplicación debe ser a traves de una imagen usando la la app, donde pueden agregar una pequeña descripción del proceso mostrado en la imagen.</a:t>
            </a:r>
          </a:p>
          <a:p>
            <a:pPr marL="0" indent="0">
              <a:buNone/>
            </a:pPr>
            <a:r>
              <a:rPr lang="es-CL" dirty="0">
                <a:solidFill>
                  <a:srgbClr val="FF0000"/>
                </a:solidFill>
              </a:rPr>
              <a:t>Use APA en las imágenes.</a:t>
            </a:r>
          </a:p>
        </p:txBody>
      </p:sp>
    </p:spTree>
    <p:extLst>
      <p:ext uri="{BB962C8B-B14F-4D97-AF65-F5344CB8AC3E}">
        <p14:creationId xmlns:p14="http://schemas.microsoft.com/office/powerpoint/2010/main" val="4139453777"/>
      </p:ext>
    </p:extLst>
  </p:cSld>
  <p:clrMapOvr>
    <a:masterClrMapping/>
  </p:clrMapOvr>
  <p:extLst mod="1">
    <p:ext uri="{6950BFC3-D8DA-4A85-94F7-54DA5524770B}">
      <p188:commentRel xmlns=""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L" sz="3200" b="1" dirty="0">
                <a:solidFill>
                  <a:srgbClr val="C00000"/>
                </a:solidFill>
                <a:latin typeface="Myriad Pro"/>
              </a:rPr>
              <a:t>Respuestas</a:t>
            </a:r>
          </a:p>
        </p:txBody>
      </p:sp>
      <p:sp>
        <p:nvSpPr>
          <p:cNvPr id="3" name="2 Marcador de contenido"/>
          <p:cNvSpPr>
            <a:spLocks noGrp="1"/>
          </p:cNvSpPr>
          <p:nvPr>
            <p:ph idx="1"/>
          </p:nvPr>
        </p:nvSpPr>
        <p:spPr/>
        <p:txBody>
          <a:bodyPr>
            <a:normAutofit/>
          </a:bodyPr>
          <a:lstStyle/>
          <a:p>
            <a:pPr marL="0" indent="0" algn="just">
              <a:buNone/>
            </a:pPr>
            <a:r>
              <a:rPr lang="es-MX" sz="2400" dirty="0"/>
              <a:t>¿Por qué surgen las pérdidas de control en los carros de arrastre?</a:t>
            </a:r>
          </a:p>
          <a:p>
            <a:pPr marL="0" indent="0" algn="just">
              <a:buNone/>
            </a:pPr>
            <a:r>
              <a:rPr lang="es-MX" sz="1800" dirty="0">
                <a:effectLst/>
                <a:ea typeface="Calibri" panose="020F0502020204030204" pitchFamily="34" charset="0"/>
                <a:cs typeface="Times New Roman" panose="02020603050405020304" pitchFamily="18" charset="0"/>
              </a:rPr>
              <a:t>Los accidentes por perdidas de control son muy habituales, tanto dentro del país como fuera, y esto ocurre habitualmente debido a las pérdidas de control que sufren los vehículos en el carro de arrastre</a:t>
            </a:r>
            <a:endParaRPr lang="es-CL" sz="1800" dirty="0">
              <a:effectLst/>
              <a:ea typeface="Calibri" panose="020F0502020204030204" pitchFamily="34" charset="0"/>
              <a:cs typeface="Times New Roman" panose="02020603050405020304" pitchFamily="18" charset="0"/>
            </a:endParaRPr>
          </a:p>
          <a:p>
            <a:pPr marL="0" indent="0" algn="just">
              <a:buNone/>
            </a:pPr>
            <a:r>
              <a:rPr lang="es-MX" sz="1800" dirty="0">
                <a:cs typeface="Arial" panose="020B0604020202020204" pitchFamily="34" charset="0"/>
              </a:rPr>
              <a:t>“Más antecedentes del siniestro entregó el capitán Jaime Aros, de la unidad de Rescate de la Primera Compañía del Cuerpo de Bomberos de Los Ángeles, dijo que "en camino a María Dolores se registró un accidente que involucró dos vehículos quienes colisionaron resultando cuatro personas lesionadas, a baja energía, debido a que uno de los vehículos llevaba un carro que se descontroló y produjo la colisión. También hay un paciente pediátrico que no registró lesiones considerables, por lo que no fue trasladado hasta el complejo asistencial“ (Ahumada2023).</a:t>
            </a:r>
            <a:endParaRPr lang="es-CL" sz="1800" dirty="0">
              <a:cs typeface="Arial" panose="020B0604020202020204" pitchFamily="34" charset="0"/>
            </a:endParaRPr>
          </a:p>
        </p:txBody>
      </p:sp>
    </p:spTree>
    <p:extLst>
      <p:ext uri="{BB962C8B-B14F-4D97-AF65-F5344CB8AC3E}">
        <p14:creationId xmlns:p14="http://schemas.microsoft.com/office/powerpoint/2010/main" val="2181416482"/>
      </p:ext>
    </p:extLst>
  </p:cSld>
  <p:clrMapOvr>
    <a:masterClrMapping/>
  </p:clrMapOvr>
  <p:extLst>
    <p:ext uri="{6950BFC3-D8DA-4A85-94F7-54DA5524770B}">
      <p188:commentRel xmlns=""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34C303-6EF9-4DA3-9167-3AD1437A6972}"/>
              </a:ext>
            </a:extLst>
          </p:cNvPr>
          <p:cNvSpPr>
            <a:spLocks noGrp="1"/>
          </p:cNvSpPr>
          <p:nvPr>
            <p:ph type="title"/>
          </p:nvPr>
        </p:nvSpPr>
        <p:spPr>
          <a:xfrm>
            <a:off x="457200" y="858837"/>
            <a:ext cx="8229600" cy="1143000"/>
          </a:xfrm>
        </p:spPr>
        <p:txBody>
          <a:bodyPr>
            <a:normAutofit fontScale="90000"/>
          </a:bodyPr>
          <a:lstStyle/>
          <a:p>
            <a:r>
              <a:rPr lang="es-MX" sz="4000" b="1" dirty="0">
                <a:solidFill>
                  <a:srgbClr val="C00000"/>
                </a:solidFill>
                <a:latin typeface="Myriad Pro"/>
              </a:rPr>
              <a:t>¿Como evitar accidentes por medio del carro de arrastre?</a:t>
            </a:r>
            <a:br>
              <a:rPr lang="es-MX" sz="4400" dirty="0"/>
            </a:br>
            <a:endParaRPr lang="es-CL"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6238278-D80E-998C-C9F2-6969B53645B6}"/>
                  </a:ext>
                </a:extLst>
              </p:cNvPr>
              <p:cNvSpPr>
                <a:spLocks noGrp="1"/>
              </p:cNvSpPr>
              <p:nvPr>
                <p:ph idx="1"/>
              </p:nvPr>
            </p:nvSpPr>
            <p:spPr>
              <a:xfrm>
                <a:off x="457200" y="2001837"/>
                <a:ext cx="8229600" cy="4525963"/>
              </a:xfrm>
            </p:spPr>
            <p:txBody>
              <a:bodyPr>
                <a:normAutofit/>
              </a:bodyPr>
              <a:lstStyle/>
              <a:p>
                <a:pPr marL="0" indent="0" algn="just">
                  <a:buNone/>
                </a:pPr>
                <a:r>
                  <a:rPr lang="es-MX" sz="1800" dirty="0">
                    <a:effectLst/>
                    <a:ea typeface="Calibri" panose="020F0502020204030204" pitchFamily="34" charset="0"/>
                    <a:cs typeface="Times New Roman" panose="02020603050405020304" pitchFamily="18" charset="0"/>
                  </a:rPr>
                  <a:t>Para evitar accidentes del carro de arrastre existen diferentes conceptos para mejorarlo, el primero es mejorar el enganche del carro de arrastre, cambiar el acople por uno que tenga un menor esfuerzo cortante a una mayor cantidad de kilogramos.</a:t>
                </a:r>
                <a:endParaRPr lang="es-MX" sz="1800" dirty="0"/>
              </a:p>
              <a:p>
                <a:pPr marL="0" indent="0">
                  <a:buNone/>
                </a:pPr>
                <a:r>
                  <a:rPr lang="es-CL" sz="1800" dirty="0"/>
                  <a:t>Además, se puede evitar buscando el centro de masa ideal para cada tipo de peso, esto se haría de la forma en que el eje se pueda mover de un lado hacia otro dependiendo del centro de masa para cada tipo de situación, este disminuiría considerablemente los accidentes, perdidas de control, poca seguridad. </a:t>
                </a:r>
              </a:p>
              <a:p>
                <a:pPr marL="0" indent="0">
                  <a:buNone/>
                </a:pPr>
                <a:r>
                  <a:rPr lang="es-CL" sz="1800" dirty="0"/>
                  <a:t>Fórmula del centro de masa</a:t>
                </a:r>
              </a:p>
              <a:p>
                <a:pPr marL="0" indent="0">
                  <a:buNone/>
                </a:pPr>
                <a14:m>
                  <m:oMathPara xmlns:m="http://schemas.openxmlformats.org/officeDocument/2006/math">
                    <m:oMathParaPr>
                      <m:jc m:val="centerGroup"/>
                    </m:oMathParaPr>
                    <m:oMath xmlns:m="http://schemas.openxmlformats.org/officeDocument/2006/math">
                      <m:r>
                        <a:rPr lang="es-MX" sz="1800" i="1" smtClean="0">
                          <a:effectLst/>
                          <a:latin typeface="Cambria Math" panose="02040503050406030204" pitchFamily="18" charset="0"/>
                          <a:ea typeface="Calibri" panose="020F0502020204030204" pitchFamily="34" charset="0"/>
                          <a:cs typeface="Times New Roman" panose="02020603050405020304" pitchFamily="18" charset="0"/>
                        </a:rPr>
                        <m:t>𝐶𝐷𝑀𝑥</m:t>
                      </m:r>
                      <m:r>
                        <a:rPr lang="es-MX" sz="1800" i="1" smtClean="0">
                          <a:effectLst/>
                          <a:latin typeface="Cambria Math" panose="02040503050406030204" pitchFamily="18" charset="0"/>
                          <a:ea typeface="Calibri" panose="020F0502020204030204" pitchFamily="34" charset="0"/>
                          <a:cs typeface="Times New Roman" panose="02020603050405020304" pitchFamily="18" charset="0"/>
                        </a:rPr>
                        <m:t>=</m:t>
                      </m:r>
                      <m:f>
                        <m:fPr>
                          <m:ctrlPr>
                            <a:rPr lang="es-CL"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MX" sz="1800" i="1">
                              <a:effectLst/>
                              <a:latin typeface="Cambria Math" panose="02040503050406030204" pitchFamily="18" charset="0"/>
                              <a:ea typeface="Calibri" panose="020F0502020204030204" pitchFamily="34" charset="0"/>
                              <a:cs typeface="Times New Roman" panose="02020603050405020304" pitchFamily="18" charset="0"/>
                            </a:rPr>
                            <m:t>𝑚</m:t>
                          </m:r>
                          <m:r>
                            <a:rPr lang="es-MX" sz="1800" i="1">
                              <a:effectLst/>
                              <a:latin typeface="Cambria Math" panose="02040503050406030204" pitchFamily="18" charset="0"/>
                              <a:ea typeface="Calibri" panose="020F0502020204030204" pitchFamily="34" charset="0"/>
                              <a:cs typeface="Times New Roman" panose="02020603050405020304" pitchFamily="18" charset="0"/>
                            </a:rPr>
                            <m:t>1∙</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𝑥</m:t>
                          </m:r>
                          <m:r>
                            <a:rPr lang="es-MX" sz="1800" i="1">
                              <a:effectLst/>
                              <a:latin typeface="Cambria Math" panose="02040503050406030204" pitchFamily="18" charset="0"/>
                              <a:ea typeface="Calibri" panose="020F0502020204030204" pitchFamily="34" charset="0"/>
                              <a:cs typeface="Times New Roman" panose="02020603050405020304" pitchFamily="18" charset="0"/>
                            </a:rPr>
                            <m:t>2+</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𝑚</m:t>
                          </m:r>
                          <m:r>
                            <a:rPr lang="es-MX" sz="1800" i="1">
                              <a:effectLst/>
                              <a:latin typeface="Cambria Math" panose="02040503050406030204" pitchFamily="18" charset="0"/>
                              <a:ea typeface="Calibri" panose="020F0502020204030204" pitchFamily="34" charset="0"/>
                              <a:cs typeface="Times New Roman" panose="02020603050405020304" pitchFamily="18" charset="0"/>
                            </a:rPr>
                            <m:t>2∙</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𝑥</m:t>
                          </m:r>
                          <m:r>
                            <a:rPr lang="es-MX" sz="1800" i="1">
                              <a:effectLst/>
                              <a:latin typeface="Cambria Math" panose="02040503050406030204" pitchFamily="18" charset="0"/>
                              <a:ea typeface="Calibri" panose="020F0502020204030204" pitchFamily="34" charset="0"/>
                              <a:cs typeface="Times New Roman" panose="02020603050405020304" pitchFamily="18" charset="0"/>
                            </a:rPr>
                            <m:t>2+</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𝑚</m:t>
                          </m:r>
                          <m:r>
                            <a:rPr lang="es-MX" sz="1800" i="1">
                              <a:effectLst/>
                              <a:latin typeface="Cambria Math" panose="02040503050406030204" pitchFamily="18" charset="0"/>
                              <a:ea typeface="Calibri" panose="020F0502020204030204" pitchFamily="34" charset="0"/>
                              <a:cs typeface="Times New Roman" panose="02020603050405020304" pitchFamily="18" charset="0"/>
                            </a:rPr>
                            <m:t>3∙</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𝑥</m:t>
                          </m:r>
                          <m:r>
                            <a:rPr lang="es-MX" sz="18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MX" sz="1800" i="1">
                              <a:effectLst/>
                              <a:latin typeface="Cambria Math" panose="02040503050406030204" pitchFamily="18" charset="0"/>
                              <a:ea typeface="Calibri" panose="020F0502020204030204" pitchFamily="34" charset="0"/>
                              <a:cs typeface="Times New Roman" panose="02020603050405020304" pitchFamily="18" charset="0"/>
                            </a:rPr>
                            <m:t>𝑚</m:t>
                          </m:r>
                          <m:r>
                            <a:rPr lang="es-MX" sz="1800" i="1">
                              <a:effectLst/>
                              <a:latin typeface="Cambria Math" panose="02040503050406030204" pitchFamily="18" charset="0"/>
                              <a:ea typeface="Calibri" panose="020F0502020204030204" pitchFamily="34" charset="0"/>
                              <a:cs typeface="Times New Roman" panose="02020603050405020304" pitchFamily="18" charset="0"/>
                            </a:rPr>
                            <m:t>1+</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𝑚</m:t>
                          </m:r>
                          <m:r>
                            <a:rPr lang="es-MX" sz="1800" i="1">
                              <a:effectLst/>
                              <a:latin typeface="Cambria Math" panose="02040503050406030204" pitchFamily="18" charset="0"/>
                              <a:ea typeface="Calibri" panose="020F0502020204030204" pitchFamily="34" charset="0"/>
                              <a:cs typeface="Times New Roman" panose="02020603050405020304" pitchFamily="18" charset="0"/>
                            </a:rPr>
                            <m:t>2+</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𝑚</m:t>
                          </m:r>
                          <m:r>
                            <a:rPr lang="es-MX" sz="1800" i="1">
                              <a:effectLst/>
                              <a:latin typeface="Cambria Math" panose="02040503050406030204" pitchFamily="18" charset="0"/>
                              <a:ea typeface="Calibri" panose="020F0502020204030204" pitchFamily="34" charset="0"/>
                              <a:cs typeface="Times New Roman" panose="02020603050405020304" pitchFamily="18" charset="0"/>
                            </a:rPr>
                            <m:t>3+...</m:t>
                          </m:r>
                        </m:den>
                      </m:f>
                    </m:oMath>
                  </m:oMathPara>
                </a14:m>
                <a:endParaRPr lang="es-CL" sz="1800" dirty="0">
                  <a:effectLst/>
                  <a:latin typeface="Arial" panose="020B0604020202020204" pitchFamily="34" charset="0"/>
                  <a:ea typeface="Calibri" panose="020F0502020204030204" pitchFamily="34" charset="0"/>
                  <a:cs typeface="Times New Roman" panose="02020603050405020304" pitchFamily="18" charset="0"/>
                </a:endParaRPr>
              </a:p>
              <a:p>
                <a:pPr marL="0" indent="0">
                  <a:buNone/>
                </a:pPr>
                <a:endParaRPr lang="es-CL" sz="1800" dirty="0"/>
              </a:p>
              <a:p>
                <a:pPr marL="0" indent="0">
                  <a:buNone/>
                </a:pPr>
                <a:r>
                  <a:rPr lang="es-CL" sz="1800" dirty="0">
                    <a:solidFill>
                      <a:srgbClr val="FF0000"/>
                    </a:solidFill>
                  </a:rPr>
                  <a:t>Falta incorporar el calculo matematico con su ejemplo del carro</a:t>
                </a:r>
              </a:p>
              <a:p>
                <a:pPr marL="0" indent="0">
                  <a:buNone/>
                </a:pPr>
                <a:r>
                  <a:rPr lang="es-CL" sz="1800" dirty="0">
                    <a:solidFill>
                      <a:srgbClr val="FF0000"/>
                    </a:solidFill>
                  </a:rPr>
                  <a:t>Ademas falta referencia de donde se obtuvo la formula</a:t>
                </a:r>
              </a:p>
              <a:p>
                <a:pPr marL="0" indent="0">
                  <a:buNone/>
                </a:pPr>
                <a:endParaRPr lang="es-CL" sz="1800" dirty="0">
                  <a:solidFill>
                    <a:srgbClr val="FF0000"/>
                  </a:solidFill>
                </a:endParaRPr>
              </a:p>
            </p:txBody>
          </p:sp>
        </mc:Choice>
        <mc:Fallback xmlns="">
          <p:sp>
            <p:nvSpPr>
              <p:cNvPr id="3" name="Marcador de contenido 2">
                <a:extLst>
                  <a:ext uri="{FF2B5EF4-FFF2-40B4-BE49-F238E27FC236}">
                    <a16:creationId xmlns:a16="http://schemas.microsoft.com/office/drawing/2014/main" id="{46238278-D80E-998C-C9F2-6969B53645B6}"/>
                  </a:ext>
                </a:extLst>
              </p:cNvPr>
              <p:cNvSpPr>
                <a:spLocks noGrp="1" noRot="1" noChangeAspect="1" noMove="1" noResize="1" noEditPoints="1" noAdjustHandles="1" noChangeArrowheads="1" noChangeShapeType="1" noTextEdit="1"/>
              </p:cNvSpPr>
              <p:nvPr>
                <p:ph idx="1"/>
              </p:nvPr>
            </p:nvSpPr>
            <p:spPr>
              <a:xfrm>
                <a:off x="457200" y="2001837"/>
                <a:ext cx="8229600" cy="4525963"/>
              </a:xfrm>
              <a:blipFill>
                <a:blip r:embed="rId2"/>
                <a:stretch>
                  <a:fillRect l="-617" t="-560" r="-463"/>
                </a:stretch>
              </a:blipFill>
            </p:spPr>
            <p:txBody>
              <a:bodyPr/>
              <a:lstStyle/>
              <a:p>
                <a:r>
                  <a:rPr lang="es-CL">
                    <a:noFill/>
                  </a:rPr>
                  <a:t> </a:t>
                </a:r>
              </a:p>
            </p:txBody>
          </p:sp>
        </mc:Fallback>
      </mc:AlternateContent>
    </p:spTree>
    <p:extLst>
      <p:ext uri="{BB962C8B-B14F-4D97-AF65-F5344CB8AC3E}">
        <p14:creationId xmlns:p14="http://schemas.microsoft.com/office/powerpoint/2010/main" val="1257214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932C2E-B9B7-3ECA-8DC9-3175A74F6CD7}"/>
              </a:ext>
            </a:extLst>
          </p:cNvPr>
          <p:cNvSpPr>
            <a:spLocks noGrp="1"/>
          </p:cNvSpPr>
          <p:nvPr>
            <p:ph type="title"/>
          </p:nvPr>
        </p:nvSpPr>
        <p:spPr/>
        <p:txBody>
          <a:bodyPr/>
          <a:lstStyle/>
          <a:p>
            <a:endParaRPr lang="es-CL" dirty="0"/>
          </a:p>
        </p:txBody>
      </p:sp>
      <p:sp>
        <p:nvSpPr>
          <p:cNvPr id="3" name="Marcador de contenido 2">
            <a:extLst>
              <a:ext uri="{FF2B5EF4-FFF2-40B4-BE49-F238E27FC236}">
                <a16:creationId xmlns:a16="http://schemas.microsoft.com/office/drawing/2014/main" id="{D7FC7B3F-1FCC-DCCF-CE73-A0839FDA8F29}"/>
              </a:ext>
            </a:extLst>
          </p:cNvPr>
          <p:cNvSpPr>
            <a:spLocks noGrp="1"/>
          </p:cNvSpPr>
          <p:nvPr>
            <p:ph idx="1"/>
          </p:nvPr>
        </p:nvSpPr>
        <p:spPr>
          <a:xfrm>
            <a:off x="457200" y="1166018"/>
            <a:ext cx="8229600" cy="4525963"/>
          </a:xfrm>
        </p:spPr>
        <p:txBody>
          <a:bodyPr>
            <a:normAutofit fontScale="92500" lnSpcReduction="20000"/>
          </a:bodyPr>
          <a:lstStyle/>
          <a:p>
            <a:pPr marL="0" indent="0" algn="just">
              <a:buNone/>
            </a:pPr>
            <a:r>
              <a:rPr lang="es-MX" sz="2600" b="1" dirty="0"/>
              <a:t>¿Qué es la fuerza de arrastre de un vehículo?</a:t>
            </a:r>
          </a:p>
          <a:p>
            <a:pPr marL="0" indent="0" algn="just">
              <a:buNone/>
            </a:pPr>
            <a:endParaRPr lang="es-MX" sz="2600" b="1" dirty="0"/>
          </a:p>
          <a:p>
            <a:pPr marL="0" indent="0" algn="just">
              <a:buNone/>
            </a:pPr>
            <a:r>
              <a:rPr lang="es-MX" sz="1900" dirty="0">
                <a:effectLst/>
                <a:ea typeface="Calibri" panose="020F0502020204030204" pitchFamily="34" charset="0"/>
                <a:cs typeface="Times New Roman" panose="02020603050405020304" pitchFamily="18" charset="0"/>
              </a:rPr>
              <a:t>La fuerza de arrastre de un carro de arrastre es la fuerza que se opone al movimiento del carro a través del aire cuando es remolcado por otro vehículo, esta fuerza depende de varios factores como el tamaño, la densidad del aire, velocidad, a forma del carro de arrastre</a:t>
            </a:r>
            <a:endParaRPr lang="es-MX" sz="1900" dirty="0"/>
          </a:p>
          <a:p>
            <a:pPr marL="0" indent="0" algn="just">
              <a:buNone/>
            </a:pPr>
            <a:endParaRPr lang="es-MX" sz="3200" dirty="0"/>
          </a:p>
          <a:p>
            <a:pPr marL="0" indent="0" algn="just">
              <a:buNone/>
            </a:pPr>
            <a:r>
              <a:rPr lang="es-MX" sz="2600" b="1" dirty="0"/>
              <a:t>¿Qué mantenimientos necesita el carro de arrastre?</a:t>
            </a:r>
            <a:r>
              <a:rPr lang="es-MX" sz="2800" dirty="0"/>
              <a:t> </a:t>
            </a:r>
          </a:p>
          <a:p>
            <a:pPr marL="0" indent="0" algn="just">
              <a:buNone/>
            </a:pPr>
            <a:endParaRPr lang="es-MX" sz="2800" dirty="0"/>
          </a:p>
          <a:p>
            <a:pPr marL="0" indent="0" algn="just">
              <a:buNone/>
            </a:pPr>
            <a:r>
              <a:rPr lang="es-MX" sz="2100" dirty="0"/>
              <a:t>Inspeccionar regularmente los neumáticos, verificar las luces  y conexiones eléctricas, asegurarse de que la estructura este en buen estado y seguir según el fabricante para cada tipo de remolque las instrucciones recomendadas </a:t>
            </a:r>
          </a:p>
          <a:p>
            <a:pPr marL="0" indent="0" algn="just">
              <a:buNone/>
            </a:pPr>
            <a:endParaRPr lang="es-MX" sz="2600" b="1" dirty="0"/>
          </a:p>
          <a:p>
            <a:pPr marL="0" indent="0" algn="just">
              <a:buNone/>
            </a:pPr>
            <a:r>
              <a:rPr lang="es-MX" sz="3200"/>
              <a:t> </a:t>
            </a:r>
            <a:r>
              <a:rPr lang="es-MX" sz="3200">
                <a:solidFill>
                  <a:srgbClr val="FF0000"/>
                </a:solidFill>
              </a:rPr>
              <a:t>faltan referencias</a:t>
            </a:r>
          </a:p>
          <a:p>
            <a:pPr marL="0" indent="0" algn="just">
              <a:buNone/>
            </a:pPr>
            <a:endParaRPr lang="es-CL" dirty="0"/>
          </a:p>
        </p:txBody>
      </p:sp>
    </p:spTree>
    <p:extLst>
      <p:ext uri="{BB962C8B-B14F-4D97-AF65-F5344CB8AC3E}">
        <p14:creationId xmlns:p14="http://schemas.microsoft.com/office/powerpoint/2010/main" val="101488588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9341</TotalTime>
  <Words>910</Words>
  <Application>Microsoft Macintosh PowerPoint</Application>
  <PresentationFormat>Presentación en pantalla (4:3)</PresentationFormat>
  <Paragraphs>69</Paragraphs>
  <Slides>10</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10</vt:i4>
      </vt:variant>
    </vt:vector>
  </HeadingPairs>
  <TitlesOfParts>
    <vt:vector size="17" baseType="lpstr">
      <vt:lpstr>Arial</vt:lpstr>
      <vt:lpstr>Calibri</vt:lpstr>
      <vt:lpstr>Cambria Math</vt:lpstr>
      <vt:lpstr>Myriad Pro</vt:lpstr>
      <vt:lpstr>Myriad Pro Light</vt:lpstr>
      <vt:lpstr>Times New Roman</vt:lpstr>
      <vt:lpstr>Tema de Office</vt:lpstr>
      <vt:lpstr>Mejora de seguridad de un carro de arrastre </vt:lpstr>
      <vt:lpstr>Definición  </vt:lpstr>
      <vt:lpstr>Temas de investigación, nociones matemáticas y problemática a abordar</vt:lpstr>
      <vt:lpstr>Objetivos y preguntas de investigación </vt:lpstr>
      <vt:lpstr>Tema inicial involucrado</vt:lpstr>
      <vt:lpstr>Presentación de PowerPoint</vt:lpstr>
      <vt:lpstr>Algodoo y su utilización </vt:lpstr>
      <vt:lpstr>Respuestas</vt:lpstr>
      <vt:lpstr>¿Como evitar accidentes por medio del carro de arrastre? </vt:lpstr>
      <vt:lpstr>Presentación de PowerPoint</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 de la Presentación</dc:title>
  <dc:creator>agencia</dc:creator>
  <cp:lastModifiedBy>LISSETTE ANDREA SALAMANCA MELLA</cp:lastModifiedBy>
  <cp:revision>28</cp:revision>
  <dcterms:created xsi:type="dcterms:W3CDTF">2015-06-26T15:52:47Z</dcterms:created>
  <dcterms:modified xsi:type="dcterms:W3CDTF">2023-12-14T19:24:22Z</dcterms:modified>
</cp:coreProperties>
</file>