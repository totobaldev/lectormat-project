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60" r:id="rId4"/>
    <p:sldId id="261" r:id="rId5"/>
    <p:sldId id="262" r:id="rId6"/>
    <p:sldId id="258" r:id="rId7"/>
    <p:sldId id="263" r:id="rId8"/>
    <p:sldId id="267" r:id="rId9"/>
    <p:sldId id="265" r:id="rId10"/>
    <p:sldId id="266" r:id="rId11"/>
    <p:sldId id="27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a:p>
        </p:txBody>
      </p:sp>
      <p:sp>
        <p:nvSpPr>
          <p:cNvPr id="3" name="Subtitle 2"/>
          <p:cNvSpPr>
            <a:spLocks noGrp="1"/>
          </p:cNvSpPr>
          <p:nvPr>
            <p:ph type="subTitle" idx="1" hasCustomPrompt="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a:p>
        </p:txBody>
      </p:sp>
      <p:sp>
        <p:nvSpPr>
          <p:cNvPr id="4" name="Date Placeholder 3"/>
          <p:cNvSpPr>
            <a:spLocks noGrp="1"/>
          </p:cNvSpPr>
          <p:nvPr>
            <p:ph type="dt" sz="half" idx="10"/>
          </p:nvPr>
        </p:nvSpPr>
        <p:spPr/>
        <p:txBody>
          <a:bodyPr/>
          <a:lstStyle/>
          <a:p>
            <a:fld id="{87B0CA04-1199-4870-BF4D-4B0A1630597E}" type="datetimeFigureOut">
              <a:rPr lang="es-ES" smtClean="0"/>
              <a:t>06/12/2023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a:p>
        </p:txBody>
      </p:sp>
      <p:sp>
        <p:nvSpPr>
          <p:cNvPr id="3" name="Content Placeholder 2"/>
          <p:cNvSpPr>
            <a:spLocks noGrp="1"/>
          </p:cNvSpPr>
          <p:nvPr>
            <p:ph idx="1" hasCustomPrompt="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87B0CA04-1199-4870-BF4D-4B0A1630597E}" type="datetimeFigureOut">
              <a:rPr lang="es-ES" smtClean="0"/>
              <a:t>06/12/2023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a:p>
        </p:txBody>
      </p:sp>
      <p:sp>
        <p:nvSpPr>
          <p:cNvPr id="3" name="Text Placeholder 2"/>
          <p:cNvSpPr>
            <a:spLocks noGrp="1"/>
          </p:cNvSpPr>
          <p:nvPr>
            <p:ph type="body" idx="1" hasCustomPrompt="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B0CA04-1199-4870-BF4D-4B0A1630597E}" type="datetimeFigureOut">
              <a:rPr lang="es-ES" smtClean="0"/>
              <a:t>06/12/2023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sz="half" idx="1" hasCustomPrompt="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hasCustomPrompt="1"/>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Date Placeholder 4"/>
          <p:cNvSpPr>
            <a:spLocks noGrp="1"/>
          </p:cNvSpPr>
          <p:nvPr>
            <p:ph type="dt" sz="half" idx="10"/>
          </p:nvPr>
        </p:nvSpPr>
        <p:spPr/>
        <p:txBody>
          <a:bodyPr/>
          <a:lstStyle/>
          <a:p>
            <a:fld id="{87B0CA04-1199-4870-BF4D-4B0A1630597E}" type="datetimeFigureOut">
              <a:rPr lang="es-ES" smtClean="0"/>
              <a:t>06/12/2023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hasCustomPrompt="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hasCustomPrompt="1"/>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hasCustomPrompt="1"/>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hasCustomPrompt="1"/>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87B0CA04-1199-4870-BF4D-4B0A1630597E}" type="datetimeFigureOut">
              <a:rPr lang="es-ES" smtClean="0"/>
              <a:t>06/12/2023</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87B0CA04-1199-4870-BF4D-4B0A1630597E}" type="datetimeFigureOut">
              <a:rPr lang="es-ES" smtClean="0"/>
              <a:t>06/12/2023</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B0CA04-1199-4870-BF4D-4B0A1630597E}" type="datetimeFigureOut">
              <a:rPr lang="es-ES" smtClean="0"/>
              <a:t>06/12/2023</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a:p>
        </p:txBody>
      </p:sp>
      <p:sp>
        <p:nvSpPr>
          <p:cNvPr id="3" name="Content Placeholder 2"/>
          <p:cNvSpPr>
            <a:spLocks noGrp="1"/>
          </p:cNvSpPr>
          <p:nvPr>
            <p:ph idx="1" hasCustomPrompt="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hasCustomPrompt="1"/>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B0CA04-1199-4870-BF4D-4B0A1630597E}" type="datetimeFigureOut">
              <a:rPr lang="es-ES" smtClean="0"/>
              <a:t>06/12/2023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a:p>
        </p:txBody>
      </p:sp>
      <p:sp>
        <p:nvSpPr>
          <p:cNvPr id="4" name="Text Placeholder 3"/>
          <p:cNvSpPr>
            <a:spLocks noGrp="1"/>
          </p:cNvSpPr>
          <p:nvPr>
            <p:ph type="body" sz="half" idx="2" hasCustomPrompt="1"/>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B0CA04-1199-4870-BF4D-4B0A1630597E}" type="datetimeFigureOut">
              <a:rPr lang="es-ES" smtClean="0"/>
              <a:t>06/12/2023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a:p>
        </p:txBody>
      </p:sp>
      <p:sp>
        <p:nvSpPr>
          <p:cNvPr id="3" name="Text Placeholder 2"/>
          <p:cNvSpPr>
            <a:spLocks noGrp="1"/>
          </p:cNvSpPr>
          <p:nvPr>
            <p:ph type="body" idx="1" hasCustomPrompt="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B0CA04-1199-4870-BF4D-4B0A1630597E}" type="datetimeFigureOut">
              <a:rPr lang="es-ES" smtClean="0"/>
              <a:t>06/12/2023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a:p>
        </p:txBody>
      </p:sp>
      <p:sp>
        <p:nvSpPr>
          <p:cNvPr id="23" name="Text Placeholder 9"/>
          <p:cNvSpPr>
            <a:spLocks noGrp="1"/>
          </p:cNvSpPr>
          <p:nvPr>
            <p:ph type="body" sz="quarter" idx="13" hasCustomPrompt="1"/>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hasCustomPrompt="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B0CA04-1199-4870-BF4D-4B0A1630597E}" type="datetimeFigureOut">
              <a:rPr lang="es-ES" smtClean="0"/>
              <a:t>06/12/2023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panose="020B0604020202020204"/>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panose="020B0604020202020204"/>
              </a:rPr>
              <a:t>”</a:t>
            </a:r>
            <a:endParaRPr lang="en-US">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a:p>
        </p:txBody>
      </p:sp>
      <p:sp>
        <p:nvSpPr>
          <p:cNvPr id="3" name="Text Placeholder 2"/>
          <p:cNvSpPr>
            <a:spLocks noGrp="1"/>
          </p:cNvSpPr>
          <p:nvPr>
            <p:ph type="body" idx="1" hasCustomPrompt="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B0CA04-1199-4870-BF4D-4B0A1630597E}" type="datetimeFigureOut">
              <a:rPr lang="es-ES" smtClean="0"/>
              <a:t>06/12/2023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a:p>
        </p:txBody>
      </p:sp>
      <p:sp>
        <p:nvSpPr>
          <p:cNvPr id="23" name="Text Placeholder 9"/>
          <p:cNvSpPr>
            <a:spLocks noGrp="1"/>
          </p:cNvSpPr>
          <p:nvPr>
            <p:ph type="body" sz="quarter" idx="13" hasCustomPrompt="1"/>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hasCustomPrompt="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B0CA04-1199-4870-BF4D-4B0A1630597E}" type="datetimeFigureOut">
              <a:rPr lang="es-ES" smtClean="0"/>
              <a:t>06/12/2023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a:p>
        </p:txBody>
      </p:sp>
      <p:sp>
        <p:nvSpPr>
          <p:cNvPr id="23" name="Text Placeholder 9"/>
          <p:cNvSpPr>
            <a:spLocks noGrp="1"/>
          </p:cNvSpPr>
          <p:nvPr>
            <p:ph type="body" sz="quarter" idx="13" hasCustomPrompt="1"/>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hasCustomPrompt="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B0CA04-1199-4870-BF4D-4B0A1630597E}" type="datetimeFigureOut">
              <a:rPr lang="es-ES" smtClean="0"/>
              <a:t>06/12/2023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hasCustomPrompt="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87B0CA04-1199-4870-BF4D-4B0A1630597E}" type="datetimeFigureOut">
              <a:rPr lang="es-ES" smtClean="0"/>
              <a:t>06/12/2023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a:p>
        </p:txBody>
      </p:sp>
      <p:sp>
        <p:nvSpPr>
          <p:cNvPr id="3" name="Vertical Text Placeholder 2"/>
          <p:cNvSpPr>
            <a:spLocks noGrp="1"/>
          </p:cNvSpPr>
          <p:nvPr>
            <p:ph type="body" orient="vert" idx="1" hasCustomPrompt="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87B0CA04-1199-4870-BF4D-4B0A1630597E}" type="datetimeFigureOut">
              <a:rPr lang="es-ES" smtClean="0"/>
              <a:t>06/12/2023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577A308-E4E3-4014-B099-126DBA5C08ED}"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7B0CA04-1199-4870-BF4D-4B0A1630597E}" type="datetimeFigureOut">
              <a:rPr lang="es-ES" smtClean="0"/>
              <a:t>06/12/2023</a:t>
            </a:fld>
            <a:endParaRPr lang="es-E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577A308-E4E3-4014-B099-126DBA5C08ED}"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3394603" y="-216480"/>
            <a:ext cx="9144173" cy="1433819"/>
          </a:xfrm>
        </p:spPr>
        <p:txBody>
          <a:bodyPr/>
          <a:lstStyle/>
          <a:p>
            <a:pPr algn="just"/>
            <a:r>
              <a:rPr lang="es-CL" sz="2400"/>
              <a:t>GRUA PLUMA DE PARED </a:t>
            </a:r>
          </a:p>
        </p:txBody>
      </p:sp>
      <p:sp>
        <p:nvSpPr>
          <p:cNvPr id="3" name="Subtítulo 2"/>
          <p:cNvSpPr>
            <a:spLocks noGrp="1"/>
          </p:cNvSpPr>
          <p:nvPr>
            <p:ph type="subTitle" idx="1"/>
          </p:nvPr>
        </p:nvSpPr>
        <p:spPr>
          <a:xfrm>
            <a:off x="157057" y="5419258"/>
            <a:ext cx="7766936" cy="1096899"/>
          </a:xfrm>
        </p:spPr>
        <p:txBody>
          <a:bodyPr>
            <a:normAutofit fontScale="62500" lnSpcReduction="20000"/>
          </a:bodyPr>
          <a:lstStyle/>
          <a:p>
            <a:r>
              <a:rPr lang="es-ES" b="1"/>
              <a:t>Integrantes:</a:t>
            </a:r>
            <a:r>
              <a:rPr lang="es-ES"/>
              <a:t> Ángel Nicolas Rebolledo Vega- Matías José Cruz Vásquez</a:t>
            </a:r>
            <a:endParaRPr lang="en-US"/>
          </a:p>
          <a:p>
            <a:r>
              <a:rPr lang="en-US" err="1"/>
              <a:t>Docente</a:t>
            </a:r>
            <a:r>
              <a:rPr lang="en-US"/>
              <a:t>: Lissette Andrea Salamanca </a:t>
            </a:r>
            <a:r>
              <a:rPr lang="en-US" err="1"/>
              <a:t>Mella</a:t>
            </a:r>
            <a:r>
              <a:rPr lang="en-US"/>
              <a:t> </a:t>
            </a:r>
          </a:p>
          <a:p>
            <a:r>
              <a:rPr lang="en-US" err="1"/>
              <a:t>Asignatura</a:t>
            </a:r>
            <a:r>
              <a:rPr lang="en-US"/>
              <a:t>: </a:t>
            </a:r>
            <a:r>
              <a:rPr lang="en-US" err="1"/>
              <a:t>Funciones</a:t>
            </a:r>
            <a:r>
              <a:rPr lang="en-US"/>
              <a:t> y </a:t>
            </a:r>
            <a:r>
              <a:rPr lang="en-US" err="1"/>
              <a:t>geometría</a:t>
            </a:r>
            <a:endParaRPr lang="en-US"/>
          </a:p>
          <a:p>
            <a:r>
              <a:rPr lang="en-US"/>
              <a:t>Carrera: Tec. </a:t>
            </a:r>
            <a:r>
              <a:rPr lang="en-US" err="1"/>
              <a:t>Mantenimiento</a:t>
            </a:r>
            <a:r>
              <a:rPr lang="en-US"/>
              <a:t> Industrial   </a:t>
            </a:r>
          </a:p>
        </p:txBody>
      </p:sp>
      <p:pic>
        <p:nvPicPr>
          <p:cNvPr id="100" name="Picture 99"/>
          <p:cNvPicPr/>
          <p:nvPr/>
        </p:nvPicPr>
        <p:blipFill>
          <a:blip r:embed="rId2"/>
          <a:stretch>
            <a:fillRect/>
          </a:stretch>
        </p:blipFill>
        <p:spPr>
          <a:xfrm>
            <a:off x="2193290" y="1308735"/>
            <a:ext cx="6068695" cy="364871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a:t>Definición </a:t>
            </a:r>
            <a:endParaRPr lang="es-ES"/>
          </a:p>
        </p:txBody>
      </p:sp>
      <p:sp>
        <p:nvSpPr>
          <p:cNvPr id="3" name="Marcador de contenido 2"/>
          <p:cNvSpPr>
            <a:spLocks noGrp="1"/>
          </p:cNvSpPr>
          <p:nvPr>
            <p:ph idx="1"/>
          </p:nvPr>
        </p:nvSpPr>
        <p:spPr/>
        <p:txBody>
          <a:bodyPr vert="horz" lIns="91440" tIns="45720" rIns="91440" bIns="45720" rtlCol="0" anchor="t">
            <a:normAutofit/>
          </a:bodyPr>
          <a:lstStyle/>
          <a:p>
            <a:pPr algn="just"/>
            <a:r>
              <a:rPr lang="es-ES" sz="1600"/>
              <a:t>Una grúa pluma de pared es un tipo de grúa que se fija a una pared o a otro tipo de soporte, cuenta con un brazo y un radio de giro de 180 grados, se pueden utilizar para diversos trabajos  en los que  se requiera  levantar cualquier tipo de cargas pesadas, son fáciles de instalar y requieren de poco mantenimiento.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a:t>Tema de investigación </a:t>
            </a:r>
            <a:endParaRPr lang="es-ES"/>
          </a:p>
        </p:txBody>
      </p:sp>
      <p:sp>
        <p:nvSpPr>
          <p:cNvPr id="3" name="Marcador de contenido 2"/>
          <p:cNvSpPr>
            <a:spLocks noGrp="1"/>
          </p:cNvSpPr>
          <p:nvPr>
            <p:ph sz="half" idx="1"/>
          </p:nvPr>
        </p:nvSpPr>
        <p:spPr>
          <a:xfrm>
            <a:off x="677545" y="1489075"/>
            <a:ext cx="7678420" cy="1023620"/>
          </a:xfrm>
        </p:spPr>
        <p:txBody>
          <a:bodyPr/>
          <a:lstStyle/>
          <a:p>
            <a:pPr algn="just"/>
            <a:r>
              <a:rPr lang="es-CL" sz="1600"/>
              <a:t>la problemática que se abordará  se centra en  los sistemas de anclajes, estabilidad del equipo y como calcular sus puntos criticos, para realizar un correcto monateje y el equipo pueda cumplir su funcion de forma correcta.</a:t>
            </a:r>
          </a:p>
        </p:txBody>
      </p:sp>
      <p:pic>
        <p:nvPicPr>
          <p:cNvPr id="101" name="Content Placeholder 100"/>
          <p:cNvPicPr>
            <a:picLocks noGrp="1" noChangeAspect="1"/>
          </p:cNvPicPr>
          <p:nvPr>
            <p:ph sz="half" idx="2"/>
          </p:nvPr>
        </p:nvPicPr>
        <p:blipFill>
          <a:blip r:embed="rId2"/>
          <a:stretch>
            <a:fillRect/>
          </a:stretch>
        </p:blipFill>
        <p:spPr>
          <a:xfrm>
            <a:off x="2140585" y="2644140"/>
            <a:ext cx="5671185" cy="338645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a:t>Objetivo</a:t>
            </a:r>
            <a:endParaRPr lang="es-ES"/>
          </a:p>
        </p:txBody>
      </p:sp>
      <p:sp>
        <p:nvSpPr>
          <p:cNvPr id="3" name="Marcador de contenido 2"/>
          <p:cNvSpPr>
            <a:spLocks noGrp="1"/>
          </p:cNvSpPr>
          <p:nvPr>
            <p:ph idx="1"/>
          </p:nvPr>
        </p:nvSpPr>
        <p:spPr>
          <a:xfrm>
            <a:off x="305193" y="1476561"/>
            <a:ext cx="10241227" cy="4771839"/>
          </a:xfrm>
        </p:spPr>
        <p:txBody>
          <a:bodyPr vert="horz" lIns="91440" tIns="45720" rIns="91440" bIns="45720" rtlCol="0" anchor="t">
            <a:noAutofit/>
          </a:bodyPr>
          <a:lstStyle/>
          <a:p>
            <a:pPr algn="just"/>
            <a:r>
              <a:rPr lang="es-CL" sz="1600"/>
              <a:t>El objetivo abordado en este proyecto se centrará en  mejorar  la estructura (soporte  y estabilidad) de la grúa pivotante mural modelo MTL fabricado en Alemania, ya que al momento de realizar las mejoras en el equipo abra más seguridad y fiabilidad al momento de utilizarla.</a:t>
            </a:r>
          </a:p>
          <a:p>
            <a:pPr algn="just"/>
            <a:endParaRPr lang="es-ES" sz="1900"/>
          </a:p>
          <a:p>
            <a:pPr algn="just"/>
            <a:endParaRPr lang="es-ES" sz="1900"/>
          </a:p>
          <a:p>
            <a:pPr algn="just"/>
            <a:r>
              <a:rPr lang="es-ES" sz="1600"/>
              <a:t>¿Cuáles son los indicadores de una grúa </a:t>
            </a:r>
            <a:r>
              <a:rPr lang="es-CL" sz="1600"/>
              <a:t>pivotante mural modelo MTL</a:t>
            </a:r>
            <a:r>
              <a:rPr lang="es-ES" sz="1600"/>
              <a:t>, para hacer la implementación de una mejora en su estructura y soporte?</a:t>
            </a:r>
          </a:p>
          <a:p>
            <a:pPr algn="just"/>
            <a:r>
              <a:rPr lang="es-ES" sz="1600"/>
              <a:t>¿</a:t>
            </a:r>
            <a:r>
              <a:rPr lang="es-ES" sz="1600">
                <a:ea typeface="+mn-lt"/>
                <a:cs typeface="+mn-lt"/>
              </a:rPr>
              <a:t>Cuál es la resistencia que tiene los pernos de sujeción para soportar el peso de las cargas</a:t>
            </a:r>
            <a:r>
              <a:rPr lang="es-ES" sz="1600"/>
              <a:t>?</a:t>
            </a:r>
          </a:p>
          <a:p>
            <a:pPr algn="just"/>
            <a:r>
              <a:rPr lang="es-ES" sz="1600"/>
              <a:t>¿Cuál será el presupuesto destinado a la compra de materiales ?</a:t>
            </a:r>
          </a:p>
          <a:p>
            <a:pPr algn="just"/>
            <a:r>
              <a:rPr lang="es-ES" sz="1600"/>
              <a:t>¿</a:t>
            </a:r>
            <a:r>
              <a:rPr lang="es-ES" sz="1600">
                <a:ea typeface="+mn-lt"/>
                <a:cs typeface="+mn-lt"/>
              </a:rPr>
              <a:t>Cuál es la resistencia del cable de sujeción en este equipo</a:t>
            </a:r>
            <a:r>
              <a:rPr lang="es-ES" sz="1600"/>
              <a:t>?</a:t>
            </a:r>
          </a:p>
        </p:txBody>
      </p:sp>
      <p:sp>
        <p:nvSpPr>
          <p:cNvPr id="4" name="Título 1"/>
          <p:cNvSpPr txBox="1"/>
          <p:nvPr/>
        </p:nvSpPr>
        <p:spPr>
          <a:xfrm>
            <a:off x="598594" y="2430145"/>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L"/>
              <a:t>Preguntas </a:t>
            </a:r>
          </a:p>
          <a:p>
            <a:endParaRPr lang="es-E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altLang="es-ES"/>
              <a:t>Temas iniciales involucrados</a:t>
            </a:r>
          </a:p>
        </p:txBody>
      </p:sp>
      <p:sp>
        <p:nvSpPr>
          <p:cNvPr id="3" name="Marcador de contenido 2"/>
          <p:cNvSpPr>
            <a:spLocks noGrp="1"/>
          </p:cNvSpPr>
          <p:nvPr>
            <p:ph sz="half" idx="1"/>
          </p:nvPr>
        </p:nvSpPr>
        <p:spPr>
          <a:xfrm>
            <a:off x="677545" y="1223645"/>
            <a:ext cx="8940165" cy="3880485"/>
          </a:xfrm>
        </p:spPr>
        <p:txBody>
          <a:bodyPr/>
          <a:lstStyle/>
          <a:p>
            <a:pPr marL="0" indent="0" algn="just">
              <a:buNone/>
            </a:pPr>
            <a:r>
              <a:rPr lang="es-CL" altLang="es-ES" sz="1600"/>
              <a:t>Los temas iniciales involucrados dan referencia al problema que presenta un taller para poder movilizar objetos pesados y aumentar la seguridad de los trabajadores dando la certesa que podran cuidar mejor su salud.</a:t>
            </a:r>
          </a:p>
          <a:p>
            <a:pPr marL="0" indent="0" algn="just">
              <a:buNone/>
            </a:pPr>
            <a:endParaRPr lang="es-CL" altLang="es-ES" sz="1600"/>
          </a:p>
        </p:txBody>
      </p:sp>
      <p:pic>
        <p:nvPicPr>
          <p:cNvPr id="4" name="Content Placeholder 3"/>
          <p:cNvPicPr>
            <a:picLocks noGrp="1" noChangeAspect="1"/>
          </p:cNvPicPr>
          <p:nvPr>
            <p:ph sz="half" idx="2"/>
          </p:nvPr>
        </p:nvPicPr>
        <p:blipFill>
          <a:blip r:embed="rId2"/>
          <a:stretch>
            <a:fillRect/>
          </a:stretch>
        </p:blipFill>
        <p:spPr>
          <a:xfrm>
            <a:off x="677545" y="2420620"/>
            <a:ext cx="4184015" cy="3347085"/>
          </a:xfrm>
          <a:prstGeom prst="rect">
            <a:avLst/>
          </a:prstGeom>
        </p:spPr>
      </p:pic>
      <p:pic>
        <p:nvPicPr>
          <p:cNvPr id="5" name="Picture 4"/>
          <p:cNvPicPr>
            <a:picLocks noChangeAspect="1"/>
          </p:cNvPicPr>
          <p:nvPr/>
        </p:nvPicPr>
        <p:blipFill>
          <a:blip r:embed="rId3"/>
          <a:stretch>
            <a:fillRect/>
          </a:stretch>
        </p:blipFill>
        <p:spPr>
          <a:xfrm>
            <a:off x="4946650" y="2420620"/>
            <a:ext cx="4453255" cy="29711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74870" y="828166"/>
            <a:ext cx="8596668" cy="1320800"/>
          </a:xfrm>
        </p:spPr>
        <p:txBody>
          <a:bodyPr/>
          <a:lstStyle/>
          <a:p>
            <a:r>
              <a:rPr lang="es-CL" altLang="es-ES"/>
              <a:t>Cronograma y materiales a utilizar</a:t>
            </a:r>
          </a:p>
        </p:txBody>
      </p:sp>
      <p:pic>
        <p:nvPicPr>
          <p:cNvPr id="4" name="Content Placeholder 3"/>
          <p:cNvPicPr>
            <a:picLocks noGrp="1" noChangeAspect="1"/>
          </p:cNvPicPr>
          <p:nvPr>
            <p:ph idx="1"/>
          </p:nvPr>
        </p:nvPicPr>
        <p:blipFill>
          <a:blip r:embed="rId2"/>
          <a:srcRect r="8681"/>
          <a:stretch>
            <a:fillRect/>
          </a:stretch>
        </p:blipFill>
        <p:spPr>
          <a:xfrm>
            <a:off x="677334" y="2148966"/>
            <a:ext cx="8596668" cy="27786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3182371" y="225649"/>
            <a:ext cx="5827644" cy="860712"/>
          </a:xfrm>
        </p:spPr>
        <p:txBody>
          <a:bodyPr anchor="b">
            <a:normAutofit/>
          </a:bodyPr>
          <a:lstStyle/>
          <a:p>
            <a:r>
              <a:rPr lang="es-CL"/>
              <a:t>Herramientas tecnológicas </a:t>
            </a:r>
          </a:p>
        </p:txBody>
      </p:sp>
      <p:sp>
        <p:nvSpPr>
          <p:cNvPr id="3" name="Marcador de contenido 2"/>
          <p:cNvSpPr>
            <a:spLocks noGrp="1"/>
          </p:cNvSpPr>
          <p:nvPr>
            <p:ph idx="1"/>
          </p:nvPr>
        </p:nvSpPr>
        <p:spPr>
          <a:xfrm>
            <a:off x="4122501" y="1298575"/>
            <a:ext cx="6195037" cy="4978399"/>
          </a:xfrm>
        </p:spPr>
        <p:txBody>
          <a:bodyPr vert="horz" lIns="91440" tIns="45720" rIns="91440" bIns="45720" rtlCol="0" anchor="t">
            <a:normAutofit/>
          </a:bodyPr>
          <a:lstStyle/>
          <a:p>
            <a:pPr marL="0" indent="0" algn="just">
              <a:lnSpc>
                <a:spcPct val="90000"/>
              </a:lnSpc>
              <a:buNone/>
            </a:pPr>
            <a:r>
              <a:rPr lang="es-ES" sz="1400"/>
              <a:t>    Las herramientas tecnológicas que facilitarían el desarrollo del trabajo son:  </a:t>
            </a:r>
            <a:endParaRPr lang="en-US" sz="1400"/>
          </a:p>
          <a:p>
            <a:pPr algn="just">
              <a:lnSpc>
                <a:spcPct val="90000"/>
              </a:lnSpc>
              <a:buFont typeface="Wingdings" panose="05000000000000000000" pitchFamily="2" charset="2"/>
              <a:buChar char="q"/>
            </a:pPr>
            <a:r>
              <a:rPr lang="es-ES" sz="1400"/>
              <a:t> </a:t>
            </a:r>
            <a:r>
              <a:rPr lang="es-ES" sz="1400" u="sng"/>
              <a:t>AutoCAD</a:t>
            </a:r>
            <a:r>
              <a:rPr lang="es-ES" sz="1400"/>
              <a:t>: Lo que permite  Dibujar</a:t>
            </a:r>
            <a:r>
              <a:rPr lang="es-ES" sz="1400" i="0">
                <a:effectLst/>
              </a:rPr>
              <a:t> y </a:t>
            </a:r>
            <a:r>
              <a:rPr lang="es-ES" sz="1400"/>
              <a:t>anotar </a:t>
            </a:r>
            <a:r>
              <a:rPr lang="es-ES" sz="1400" i="0">
                <a:effectLst/>
              </a:rPr>
              <a:t>geometría 2D y modelos 3D con sólidos, superficies y objetos de malla, Automatiza tareas como, por ejemplo, la comparación de dibujos, la sustitución de bloques, el recuento de objetos, la creación de planificaciones. Permite Crear un espacio de trabajo personalizado para maximizar la productividad.</a:t>
            </a:r>
          </a:p>
          <a:p>
            <a:pPr marL="361950" indent="0" algn="just">
              <a:lnSpc>
                <a:spcPct val="90000"/>
              </a:lnSpc>
              <a:buNone/>
            </a:pPr>
            <a:r>
              <a:rPr lang="es-ES" sz="1400"/>
              <a:t>Lo  que permitirá desarrollar un  modelo  realista  y más exacto del soporte de la grúa </a:t>
            </a:r>
            <a:r>
              <a:rPr lang="es-CL" sz="1400"/>
              <a:t>pivotante mural modelo MTL.</a:t>
            </a:r>
            <a:r>
              <a:rPr lang="es-ES" sz="1400"/>
              <a:t>  </a:t>
            </a:r>
          </a:p>
          <a:p>
            <a:pPr algn="just">
              <a:lnSpc>
                <a:spcPct val="90000"/>
              </a:lnSpc>
              <a:buFont typeface="Wingdings" panose="05000000000000000000" pitchFamily="2" charset="2"/>
              <a:buChar char="q"/>
            </a:pPr>
            <a:r>
              <a:rPr lang="es-ES" sz="1400"/>
              <a:t> </a:t>
            </a:r>
            <a:r>
              <a:rPr lang="es-ES" sz="1400" u="sng"/>
              <a:t>Excel</a:t>
            </a:r>
            <a:r>
              <a:rPr lang="es-ES" sz="1400"/>
              <a:t> : Con  el fin de poder tabular  plazos de trabajos , presupuestos de gastos, realizar catastros de material, etc. Ya que este programa  cuenta con calculadora integrada y facilita el orden de datos.</a:t>
            </a:r>
          </a:p>
          <a:p>
            <a:pPr algn="just">
              <a:lnSpc>
                <a:spcPct val="90000"/>
              </a:lnSpc>
              <a:buFont typeface="Wingdings" panose="05000000000000000000" pitchFamily="2" charset="2"/>
              <a:buChar char="q"/>
            </a:pPr>
            <a:r>
              <a:rPr lang="es-ES" sz="1400" u="sng"/>
              <a:t>GeoGebra</a:t>
            </a:r>
            <a:r>
              <a:rPr lang="es-ES" sz="1400"/>
              <a:t>:</a:t>
            </a:r>
            <a:r>
              <a:rPr lang="es-ES" sz="1400">
                <a:ea typeface="+mn-lt"/>
                <a:cs typeface="+mn-lt"/>
              </a:rPr>
              <a:t> Es un software matemático dinámico para todos los niveles educativos que reúne geometría, álgebra, hojas de cálculo, gráficas, estadísticas y cálculo en un solo motor.</a:t>
            </a:r>
          </a:p>
          <a:p>
            <a:pPr algn="just">
              <a:lnSpc>
                <a:spcPct val="90000"/>
              </a:lnSpc>
              <a:buFont typeface="Wingdings" panose="05000000000000000000" pitchFamily="2" charset="2"/>
              <a:buChar char="q"/>
            </a:pPr>
            <a:r>
              <a:rPr lang="es-ES" sz="1400"/>
              <a:t>En esta aplicación trabajaremos los problemas matemáticos ya se para calcular tensión, resistencia de materiales, ángulos, entre otros cálculos.</a:t>
            </a:r>
          </a:p>
          <a:p>
            <a:pPr marL="0" indent="0" algn="just">
              <a:lnSpc>
                <a:spcPct val="90000"/>
              </a:lnSpc>
              <a:buNone/>
            </a:pPr>
            <a:r>
              <a:rPr lang="es-ES" sz="1400"/>
              <a:t>     </a:t>
            </a:r>
          </a:p>
        </p:txBody>
      </p:sp>
      <p:pic>
        <p:nvPicPr>
          <p:cNvPr id="6" name="Imagen 5"/>
          <p:cNvPicPr>
            <a:picLocks noChangeAspect="1"/>
          </p:cNvPicPr>
          <p:nvPr/>
        </p:nvPicPr>
        <p:blipFill>
          <a:blip r:embed="rId2"/>
          <a:stretch>
            <a:fillRect/>
          </a:stretch>
        </p:blipFill>
        <p:spPr>
          <a:xfrm>
            <a:off x="901584" y="2777294"/>
            <a:ext cx="2992317" cy="1683178"/>
          </a:xfrm>
          <a:prstGeom prst="rect">
            <a:avLst/>
          </a:prstGeom>
        </p:spPr>
      </p:pic>
      <p:pic>
        <p:nvPicPr>
          <p:cNvPr id="8" name="Imagen 7"/>
          <p:cNvPicPr>
            <a:picLocks noChangeAspect="1"/>
          </p:cNvPicPr>
          <p:nvPr/>
        </p:nvPicPr>
        <p:blipFill>
          <a:blip r:embed="rId3"/>
          <a:stretch>
            <a:fillRect/>
          </a:stretch>
        </p:blipFill>
        <p:spPr>
          <a:xfrm>
            <a:off x="1582615" y="1100649"/>
            <a:ext cx="1872317" cy="1676645"/>
          </a:xfrm>
          <a:prstGeom prst="rect">
            <a:avLst/>
          </a:prstGeom>
        </p:spPr>
      </p:pic>
      <p:pic>
        <p:nvPicPr>
          <p:cNvPr id="10" name="Imagen 9"/>
          <p:cNvPicPr>
            <a:picLocks noChangeAspect="1"/>
          </p:cNvPicPr>
          <p:nvPr/>
        </p:nvPicPr>
        <p:blipFill>
          <a:blip r:embed="rId4"/>
          <a:stretch>
            <a:fillRect/>
          </a:stretch>
        </p:blipFill>
        <p:spPr>
          <a:xfrm>
            <a:off x="901584" y="4497583"/>
            <a:ext cx="3049781" cy="16538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600"/>
              <a:t>Información de preguntas </a:t>
            </a:r>
            <a:endParaRPr lang="es-ES"/>
          </a:p>
        </p:txBody>
      </p:sp>
      <p:sp>
        <p:nvSpPr>
          <p:cNvPr id="3" name="Marcador de contenido 2"/>
          <p:cNvSpPr>
            <a:spLocks noGrp="1"/>
          </p:cNvSpPr>
          <p:nvPr>
            <p:ph idx="1"/>
          </p:nvPr>
        </p:nvSpPr>
        <p:spPr>
          <a:xfrm>
            <a:off x="677334" y="1682124"/>
            <a:ext cx="8596668" cy="3880773"/>
          </a:xfrm>
        </p:spPr>
        <p:txBody>
          <a:bodyPr vert="horz" lIns="91440" tIns="45720" rIns="91440" bIns="45720" rtlCol="0" anchor="t">
            <a:normAutofit lnSpcReduction="10000"/>
          </a:bodyPr>
          <a:lstStyle/>
          <a:p>
            <a:pPr>
              <a:lnSpc>
                <a:spcPct val="90000"/>
              </a:lnSpc>
            </a:pPr>
            <a:r>
              <a:rPr lang="es-ES" sz="1700">
                <a:ea typeface="+mn-lt"/>
                <a:cs typeface="+mn-lt"/>
              </a:rPr>
              <a:t>¿Cuáles son los indicadores de una grúa pluma, para hacer la implementación de una mejora en su estructura y soporte?                         </a:t>
            </a:r>
            <a:endParaRPr lang="es-ES" sz="1700"/>
          </a:p>
          <a:p>
            <a:pPr marL="0" indent="0">
              <a:lnSpc>
                <a:spcPct val="90000"/>
              </a:lnSpc>
              <a:buNone/>
            </a:pPr>
            <a:r>
              <a:rPr lang="es-ES" sz="1700"/>
              <a:t>Los  indicadores serán dados luego de realizar el respectivo testeo, los que nos permitirá tener una idea de cuáles serán los  materiales que requieran la mejora en cuanto a soporte y estructuras, estos pueden ser  que al momento de aplicar una carga el equipo  se tambalee  y tenga un sonido poco habitual.</a:t>
            </a:r>
          </a:p>
          <a:p>
            <a:pPr marL="0" indent="0">
              <a:lnSpc>
                <a:spcPct val="90000"/>
              </a:lnSpc>
              <a:buNone/>
            </a:pPr>
            <a:endParaRPr lang="es-ES" sz="1700"/>
          </a:p>
          <a:p>
            <a:pPr>
              <a:lnSpc>
                <a:spcPct val="90000"/>
              </a:lnSpc>
            </a:pPr>
            <a:r>
              <a:rPr lang="es-ES" sz="1700"/>
              <a:t>¿</a:t>
            </a:r>
            <a:r>
              <a:rPr lang="es-ES" sz="1700">
                <a:ea typeface="+mn-lt"/>
                <a:cs typeface="+mn-lt"/>
              </a:rPr>
              <a:t>Cómo se calcula la resistencia que tienen los pernos de sujeción para soportar el peso de las cargas</a:t>
            </a:r>
            <a:r>
              <a:rPr lang="es-ES" sz="1700"/>
              <a:t>?</a:t>
            </a:r>
          </a:p>
          <a:p>
            <a:pPr marL="0" indent="0">
              <a:lnSpc>
                <a:spcPct val="90000"/>
              </a:lnSpc>
              <a:buNone/>
            </a:pPr>
            <a:r>
              <a:rPr lang="es-ES" sz="1700"/>
              <a:t>¿Cómo se calcula la resistencia que </a:t>
            </a:r>
            <a:r>
              <a:rPr lang="es-ES" sz="1700">
                <a:ea typeface="+mn-lt"/>
                <a:cs typeface="+mn-lt"/>
              </a:rPr>
              <a:t>tienen los </a:t>
            </a:r>
            <a:r>
              <a:rPr lang="es-ES" sz="1700"/>
              <a:t>pernos de </a:t>
            </a:r>
            <a:r>
              <a:rPr lang="es-ES" sz="1700">
                <a:ea typeface="+mn-lt"/>
                <a:cs typeface="+mn-lt"/>
              </a:rPr>
              <a:t>sujeción para soportar </a:t>
            </a:r>
            <a:r>
              <a:rPr lang="es-ES" sz="1700"/>
              <a:t>el </a:t>
            </a:r>
            <a:r>
              <a:rPr lang="es-ES" sz="1700">
                <a:ea typeface="+mn-lt"/>
                <a:cs typeface="+mn-lt"/>
              </a:rPr>
              <a:t>peso de las cargas?</a:t>
            </a:r>
          </a:p>
          <a:p>
            <a:pPr marL="0" indent="0">
              <a:lnSpc>
                <a:spcPct val="90000"/>
              </a:lnSpc>
              <a:buNone/>
            </a:pPr>
            <a:r>
              <a:rPr lang="es-ES" sz="1700"/>
              <a:t>Por lo cual el perno se selecciona al tipo de ambiente donde se  utilizará y para el tipo de proyecto,  siendo la  fórmula para calcular la resistencia de los pernos de sujeción las siguientes:</a:t>
            </a:r>
          </a:p>
          <a:p>
            <a:pPr>
              <a:lnSpc>
                <a:spcPct val="90000"/>
              </a:lnSpc>
            </a:pPr>
            <a:endParaRPr lang="es-ES" sz="1800"/>
          </a:p>
          <a:p>
            <a:pPr>
              <a:lnSpc>
                <a:spcPct val="90000"/>
              </a:lnSpc>
            </a:pPr>
            <a:endParaRPr lang="es-CL" sz="1800"/>
          </a:p>
          <a:p>
            <a:pPr>
              <a:lnSpc>
                <a:spcPct val="90000"/>
              </a:lnSpc>
              <a:buNone/>
            </a:pPr>
            <a:endParaRPr lang="es-ES" sz="1800"/>
          </a:p>
          <a:p>
            <a:endParaRPr lang="es-E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68720" y="1129231"/>
            <a:ext cx="8596668" cy="3880773"/>
          </a:xfrm>
        </p:spPr>
        <p:txBody>
          <a:bodyPr vert="horz" lIns="91440" tIns="45720" rIns="91440" bIns="45720" rtlCol="0" anchor="t">
            <a:noAutofit/>
          </a:bodyPr>
          <a:lstStyle/>
          <a:p>
            <a:pPr algn="just"/>
            <a:r>
              <a:rPr lang="es-ES" sz="1600"/>
              <a:t>¿Cuál será el presupuesto destinado a la compra de materiales ?</a:t>
            </a:r>
          </a:p>
          <a:p>
            <a:pPr marL="0" indent="0" algn="just">
              <a:buNone/>
            </a:pPr>
            <a:r>
              <a:rPr lang="es-ES" sz="1600"/>
              <a:t>Luego de hacer la revisión de la grúa </a:t>
            </a:r>
            <a:r>
              <a:rPr lang="es-CL" sz="1600"/>
              <a:t>pivotante mural modelo MTL, </a:t>
            </a:r>
            <a:r>
              <a:rPr lang="es-ES" sz="1600"/>
              <a:t>Para poder realizar el cálculo del presupuesto, hay que tener en cuenta la cantidad de  ingresos con la que se cuenta  para así tener claridad de cuanto se destinará para la  compra de materiales. Una vez  realizando  esto hay que calcular el costo de los materiales,  para luego tabular todo y tener un registro, para esto se realizarán  unos cálculos y se implementará el uso de  Excel  para llevar a cabo el registro.</a:t>
            </a:r>
          </a:p>
          <a:p>
            <a:pPr marL="0" indent="0" algn="just">
              <a:buNone/>
            </a:pPr>
            <a:r>
              <a:rPr lang="es-ES" sz="1600"/>
              <a:t> Esto se realizará implementando diversas sumatorias que permitirán obtener el valor total de los materiales. </a:t>
            </a:r>
          </a:p>
          <a:p>
            <a:pPr marL="0" indent="0" algn="just">
              <a:buNone/>
            </a:pPr>
            <a:endParaRPr lang="en-US" sz="1600"/>
          </a:p>
          <a:p>
            <a:pPr algn="just"/>
            <a:r>
              <a:rPr lang="es-ES" sz="1600"/>
              <a:t>¿Cuál es la resistencia del cable de sujeción en este equipo?</a:t>
            </a:r>
          </a:p>
          <a:p>
            <a:pPr marL="0" indent="0" algn="just">
              <a:buNone/>
            </a:pPr>
            <a:r>
              <a:rPr lang="es-ES" sz="1600">
                <a:ea typeface="+mn-lt"/>
                <a:cs typeface="+mn-lt"/>
              </a:rPr>
              <a:t>El Alambre de acero es el componente básico del cable. Es fabricado con acero de alto contenido de carbono y posee distintos grados o calidades, que dependen exclusivamente de los requerimientos finales del cable. Los alambres no sólo se refieren a la resistencia a la tracción, sino también a la resistencia a las torsiones y flexiones.  </a:t>
            </a:r>
            <a:endParaRPr lang="es-ES" sz="1600"/>
          </a:p>
          <a:p>
            <a:pPr algn="just"/>
            <a:endParaRPr lang="es-E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CL"/>
              <a:t>Formulas a utilizar </a:t>
            </a:r>
            <a:endParaRPr lang="es-ES"/>
          </a:p>
        </p:txBody>
      </p:sp>
      <p:sp>
        <p:nvSpPr>
          <p:cNvPr id="8" name="Text Box 7"/>
          <p:cNvSpPr txBox="1"/>
          <p:nvPr/>
        </p:nvSpPr>
        <p:spPr>
          <a:xfrm>
            <a:off x="520700" y="1285240"/>
            <a:ext cx="4064000" cy="645160"/>
          </a:xfrm>
          <a:prstGeom prst="rect">
            <a:avLst/>
          </a:prstGeom>
          <a:noFill/>
        </p:spPr>
        <p:txBody>
          <a:bodyPr wrap="square" rtlCol="0">
            <a:spAutoFit/>
          </a:bodyPr>
          <a:lstStyle/>
          <a:p>
            <a:r>
              <a:rPr lang="es-CL" altLang="en-US"/>
              <a:t>Primera ley de Newton - Ley de inercia</a:t>
            </a:r>
          </a:p>
        </p:txBody>
      </p:sp>
      <p:pic>
        <p:nvPicPr>
          <p:cNvPr id="9" name="Picture 8"/>
          <p:cNvPicPr>
            <a:picLocks noChangeAspect="1"/>
          </p:cNvPicPr>
          <p:nvPr/>
        </p:nvPicPr>
        <p:blipFill>
          <a:blip r:embed="rId2"/>
          <a:stretch>
            <a:fillRect/>
          </a:stretch>
        </p:blipFill>
        <p:spPr>
          <a:xfrm>
            <a:off x="3583305" y="2117725"/>
            <a:ext cx="2124075" cy="2230755"/>
          </a:xfrm>
          <a:prstGeom prst="rect">
            <a:avLst/>
          </a:prstGeom>
          <a:effectLst>
            <a:glow rad="63500">
              <a:schemeClr val="accent1">
                <a:satMod val="175000"/>
                <a:alpha val="40000"/>
              </a:schemeClr>
            </a:glow>
          </a:effectLst>
        </p:spPr>
      </p:pic>
      <p:pic>
        <p:nvPicPr>
          <p:cNvPr id="10" name="Picture 9"/>
          <p:cNvPicPr>
            <a:picLocks noChangeAspect="1"/>
          </p:cNvPicPr>
          <p:nvPr/>
        </p:nvPicPr>
        <p:blipFill>
          <a:blip r:embed="rId3"/>
          <a:stretch>
            <a:fillRect/>
          </a:stretch>
        </p:blipFill>
        <p:spPr>
          <a:xfrm>
            <a:off x="5908675" y="2117725"/>
            <a:ext cx="1866900" cy="981075"/>
          </a:xfrm>
          <a:prstGeom prst="rect">
            <a:avLst/>
          </a:prstGeom>
          <a:effectLst>
            <a:glow rad="63500">
              <a:schemeClr val="accent1">
                <a:satMod val="175000"/>
                <a:alpha val="40000"/>
              </a:schemeClr>
            </a:glow>
          </a:effectLst>
        </p:spPr>
      </p:pic>
      <p:pic>
        <p:nvPicPr>
          <p:cNvPr id="11" name="Picture 10"/>
          <p:cNvPicPr>
            <a:picLocks noChangeAspect="1"/>
          </p:cNvPicPr>
          <p:nvPr/>
        </p:nvPicPr>
        <p:blipFill>
          <a:blip r:embed="rId4"/>
          <a:stretch>
            <a:fillRect/>
          </a:stretch>
        </p:blipFill>
        <p:spPr>
          <a:xfrm>
            <a:off x="520700" y="2117725"/>
            <a:ext cx="2989580" cy="2231390"/>
          </a:xfrm>
          <a:prstGeom prst="rect">
            <a:avLst/>
          </a:prstGeom>
          <a:effectLst>
            <a:glow rad="63500">
              <a:schemeClr val="accent1">
                <a:satMod val="175000"/>
                <a:alpha val="40000"/>
              </a:schemeClr>
            </a:glow>
          </a:effectLst>
        </p:spPr>
      </p:pic>
      <p:pic>
        <p:nvPicPr>
          <p:cNvPr id="12" name="Picture 11"/>
          <p:cNvPicPr>
            <a:picLocks noChangeAspect="1"/>
          </p:cNvPicPr>
          <p:nvPr/>
        </p:nvPicPr>
        <p:blipFill>
          <a:blip r:embed="rId5"/>
          <a:stretch>
            <a:fillRect/>
          </a:stretch>
        </p:blipFill>
        <p:spPr>
          <a:xfrm>
            <a:off x="5908675" y="3286125"/>
            <a:ext cx="1866900" cy="1059180"/>
          </a:xfrm>
          <a:prstGeom prst="rect">
            <a:avLst/>
          </a:prstGeom>
          <a:effectLst>
            <a:glow rad="63500">
              <a:schemeClr val="accent1">
                <a:satMod val="175000"/>
                <a:alpha val="40000"/>
              </a:schemeClr>
            </a:glow>
          </a:effectLst>
        </p:spPr>
      </p:pic>
      <p:pic>
        <p:nvPicPr>
          <p:cNvPr id="13" name="Picture 12"/>
          <p:cNvPicPr>
            <a:picLocks noChangeAspect="1"/>
          </p:cNvPicPr>
          <p:nvPr/>
        </p:nvPicPr>
        <p:blipFill>
          <a:blip r:embed="rId6"/>
          <a:stretch>
            <a:fillRect/>
          </a:stretch>
        </p:blipFill>
        <p:spPr>
          <a:xfrm>
            <a:off x="7976870" y="2117725"/>
            <a:ext cx="1476375" cy="552450"/>
          </a:xfrm>
          <a:prstGeom prst="rect">
            <a:avLst/>
          </a:prstGeom>
          <a:effectLst>
            <a:glow rad="63500">
              <a:schemeClr val="accent1">
                <a:satMod val="175000"/>
                <a:alpha val="40000"/>
              </a:schemeClr>
            </a:glow>
          </a:effectLst>
        </p:spPr>
      </p:pic>
      <p:pic>
        <p:nvPicPr>
          <p:cNvPr id="14" name="Picture 13"/>
          <p:cNvPicPr>
            <a:picLocks noChangeAspect="1"/>
          </p:cNvPicPr>
          <p:nvPr/>
        </p:nvPicPr>
        <p:blipFill>
          <a:blip r:embed="rId7"/>
          <a:stretch>
            <a:fillRect/>
          </a:stretch>
        </p:blipFill>
        <p:spPr>
          <a:xfrm>
            <a:off x="8011795" y="2731135"/>
            <a:ext cx="1440815" cy="495935"/>
          </a:xfrm>
          <a:prstGeom prst="rect">
            <a:avLst/>
          </a:prstGeom>
          <a:effectLst>
            <a:glow rad="63500">
              <a:schemeClr val="accent1">
                <a:satMod val="175000"/>
                <a:alpha val="40000"/>
              </a:schemeClr>
            </a:glow>
          </a:effectLst>
        </p:spPr>
      </p:pic>
      <p:sp>
        <p:nvSpPr>
          <p:cNvPr id="15" name="Text Box 14"/>
          <p:cNvSpPr txBox="1"/>
          <p:nvPr/>
        </p:nvSpPr>
        <p:spPr>
          <a:xfrm>
            <a:off x="520700" y="4535805"/>
            <a:ext cx="1723390" cy="1322070"/>
          </a:xfrm>
          <a:prstGeom prst="rect">
            <a:avLst/>
          </a:prstGeom>
          <a:noFill/>
        </p:spPr>
        <p:txBody>
          <a:bodyPr wrap="square" rtlCol="0">
            <a:spAutoFit/>
          </a:bodyPr>
          <a:lstStyle/>
          <a:p>
            <a:r>
              <a:rPr lang="es-CL" altLang="en-US" sz="1600"/>
              <a:t>T= Tension</a:t>
            </a:r>
          </a:p>
          <a:p>
            <a:r>
              <a:rPr lang="es-CL" altLang="en-US" sz="1600"/>
              <a:t>    = Sumatoria</a:t>
            </a:r>
          </a:p>
          <a:p>
            <a:r>
              <a:rPr lang="es-CL" altLang="en-US" sz="1600"/>
              <a:t>F= Fuerza</a:t>
            </a:r>
          </a:p>
          <a:p>
            <a:r>
              <a:rPr lang="es-CL" altLang="en-US" sz="1600"/>
              <a:t>W= Peso</a:t>
            </a:r>
          </a:p>
          <a:p>
            <a:r>
              <a:rPr lang="es-CL" altLang="en-US" sz="1600"/>
              <a:t>N= Newton</a:t>
            </a:r>
          </a:p>
        </p:txBody>
      </p:sp>
      <p:pic>
        <p:nvPicPr>
          <p:cNvPr id="100" name="Content Placeholder 99"/>
          <p:cNvPicPr>
            <a:picLocks noGrp="1" noChangeAspect="1"/>
          </p:cNvPicPr>
          <p:nvPr>
            <p:ph idx="1"/>
          </p:nvPr>
        </p:nvPicPr>
        <p:blipFill>
          <a:blip r:embed="rId8">
            <a:extLst>
              <a:ext uri="{96DAC541-7B7A-43D3-8B79-37D633B846F1}">
                <asvg:svgBlip xmlns:asvg="http://schemas.microsoft.com/office/drawing/2016/SVG/main" xmlns="" r:embed="rId9"/>
              </a:ext>
            </a:extLst>
          </a:blip>
          <a:stretch>
            <a:fillRect/>
          </a:stretch>
        </p:blipFill>
        <p:spPr>
          <a:xfrm>
            <a:off x="650240" y="4836160"/>
            <a:ext cx="193675" cy="252095"/>
          </a:xfrm>
          <a:prstGeom prst="rect">
            <a:avLst/>
          </a:prstGeom>
          <a:noFill/>
        </p:spPr>
      </p:pic>
      <p:sp>
        <p:nvSpPr>
          <p:cNvPr id="17" name="Text Box 16"/>
          <p:cNvSpPr txBox="1"/>
          <p:nvPr/>
        </p:nvSpPr>
        <p:spPr>
          <a:xfrm>
            <a:off x="2894330" y="4536440"/>
            <a:ext cx="5269230" cy="1076325"/>
          </a:xfrm>
          <a:prstGeom prst="rect">
            <a:avLst/>
          </a:prstGeom>
          <a:noFill/>
        </p:spPr>
        <p:txBody>
          <a:bodyPr wrap="square" rtlCol="0">
            <a:spAutoFit/>
          </a:bodyPr>
          <a:lstStyle/>
          <a:p>
            <a:pPr algn="just"/>
            <a:r>
              <a:rPr lang="es-CL" altLang="en-US" sz="1600"/>
              <a:t>La primera ley de Newton, también conocida como ley de la inercia, establece que un cuerpo no cambia su estado de reposo o movimiento a menos que se le aplique una fuerza externa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L">
                <a:sym typeface="+mn-ea"/>
              </a:rPr>
              <a:t>Formulas a utilizar </a:t>
            </a:r>
            <a:endParaRPr lang="en-US"/>
          </a:p>
        </p:txBody>
      </p:sp>
      <p:sp>
        <p:nvSpPr>
          <p:cNvPr id="3" name="Content Placeholder 2"/>
          <p:cNvSpPr>
            <a:spLocks noGrp="1"/>
          </p:cNvSpPr>
          <p:nvPr>
            <p:ph idx="1"/>
          </p:nvPr>
        </p:nvSpPr>
        <p:spPr>
          <a:xfrm>
            <a:off x="677545" y="1225550"/>
            <a:ext cx="8780145" cy="5169535"/>
          </a:xfrm>
        </p:spPr>
        <p:txBody>
          <a:bodyPr>
            <a:noAutofit/>
          </a:bodyPr>
          <a:lstStyle/>
          <a:p>
            <a:pPr>
              <a:lnSpc>
                <a:spcPct val="0"/>
              </a:lnSpc>
            </a:pPr>
            <a:endParaRPr lang="es-CL" altLang="en-US" sz="1400"/>
          </a:p>
          <a:p>
            <a:pPr>
              <a:lnSpc>
                <a:spcPct val="0"/>
              </a:lnSpc>
            </a:pPr>
            <a:endParaRPr lang="es-CL" altLang="en-US" sz="1400"/>
          </a:p>
          <a:p>
            <a:pPr>
              <a:lnSpc>
                <a:spcPct val="60000"/>
              </a:lnSpc>
            </a:pPr>
            <a:r>
              <a:rPr lang="es-CL" altLang="en-US" sz="1600"/>
              <a:t>Calculo de resistencia de pernos</a:t>
            </a:r>
          </a:p>
          <a:p>
            <a:pPr marL="0" indent="0">
              <a:lnSpc>
                <a:spcPct val="60000"/>
              </a:lnSpc>
              <a:buNone/>
            </a:pPr>
            <a:r>
              <a:rPr lang="es-CL" altLang="en-US" sz="1600"/>
              <a:t>π • r² = calcular la resistencia de un perno</a:t>
            </a:r>
          </a:p>
          <a:p>
            <a:pPr marL="0" indent="0">
              <a:lnSpc>
                <a:spcPct val="60000"/>
              </a:lnSpc>
              <a:buNone/>
            </a:pPr>
            <a:r>
              <a:rPr lang="es-CL" altLang="en-US" sz="1600"/>
              <a:t>Estos se calculan segun su calidad:</a:t>
            </a:r>
          </a:p>
          <a:p>
            <a:pPr marL="0" indent="0">
              <a:lnSpc>
                <a:spcPct val="60000"/>
              </a:lnSpc>
              <a:buNone/>
            </a:pPr>
            <a:endParaRPr lang="es-CL" altLang="en-US" sz="1600"/>
          </a:p>
          <a:p>
            <a:pPr marL="0" indent="0">
              <a:lnSpc>
                <a:spcPct val="20000"/>
              </a:lnSpc>
              <a:buNone/>
            </a:pPr>
            <a:r>
              <a:rPr lang="es-CL" altLang="en-US" sz="1600"/>
              <a:t>Clases de calidad</a:t>
            </a:r>
          </a:p>
          <a:p>
            <a:pPr marL="0" indent="0">
              <a:lnSpc>
                <a:spcPct val="20000"/>
              </a:lnSpc>
              <a:buNone/>
            </a:pPr>
            <a:endParaRPr lang="es-CL" altLang="en-US" sz="1600"/>
          </a:p>
          <a:p>
            <a:pPr marL="0" indent="0">
              <a:lnSpc>
                <a:spcPct val="0"/>
              </a:lnSpc>
              <a:buNone/>
            </a:pPr>
            <a:r>
              <a:rPr lang="es-CL" altLang="en-US" sz="1400"/>
              <a:t>3.6    Acero al carbono.</a:t>
            </a:r>
          </a:p>
          <a:p>
            <a:pPr marL="0" indent="0">
              <a:lnSpc>
                <a:spcPct val="0"/>
              </a:lnSpc>
              <a:buNone/>
            </a:pPr>
            <a:endParaRPr lang="es-CL" altLang="en-US" sz="1400"/>
          </a:p>
          <a:p>
            <a:pPr marL="0" indent="0">
              <a:lnSpc>
                <a:spcPct val="0"/>
              </a:lnSpc>
              <a:buNone/>
            </a:pPr>
            <a:r>
              <a:rPr lang="es-CL" altLang="en-US" sz="1400"/>
              <a:t>4.6    Acero al carbono.</a:t>
            </a:r>
          </a:p>
          <a:p>
            <a:pPr marL="0" indent="0">
              <a:lnSpc>
                <a:spcPct val="0"/>
              </a:lnSpc>
              <a:buNone/>
            </a:pPr>
            <a:endParaRPr lang="es-CL" altLang="en-US" sz="1400"/>
          </a:p>
          <a:p>
            <a:pPr marL="0" indent="0">
              <a:lnSpc>
                <a:spcPct val="0"/>
              </a:lnSpc>
              <a:buNone/>
            </a:pPr>
            <a:r>
              <a:rPr lang="es-CL" altLang="en-US" sz="1400"/>
              <a:t>4.8    Acero al carbono.</a:t>
            </a:r>
          </a:p>
          <a:p>
            <a:pPr marL="0" indent="0">
              <a:lnSpc>
                <a:spcPct val="0"/>
              </a:lnSpc>
              <a:buNone/>
            </a:pPr>
            <a:endParaRPr lang="es-CL" altLang="en-US" sz="1400"/>
          </a:p>
          <a:p>
            <a:pPr marL="0" indent="0">
              <a:lnSpc>
                <a:spcPct val="0"/>
              </a:lnSpc>
              <a:buNone/>
            </a:pPr>
            <a:r>
              <a:rPr lang="es-CL" altLang="en-US" sz="1400"/>
              <a:t>5.6    Acero al carbono.</a:t>
            </a:r>
          </a:p>
          <a:p>
            <a:pPr marL="0" indent="0">
              <a:lnSpc>
                <a:spcPct val="0"/>
              </a:lnSpc>
              <a:buNone/>
            </a:pPr>
            <a:endParaRPr lang="es-CL" altLang="en-US" sz="1400"/>
          </a:p>
          <a:p>
            <a:pPr marL="0" indent="0">
              <a:lnSpc>
                <a:spcPct val="0"/>
              </a:lnSpc>
              <a:buNone/>
            </a:pPr>
            <a:r>
              <a:rPr lang="es-CL" altLang="en-US" sz="1400"/>
              <a:t>5.8    Acero al carbono.</a:t>
            </a:r>
          </a:p>
          <a:p>
            <a:pPr marL="0" indent="0">
              <a:lnSpc>
                <a:spcPct val="0"/>
              </a:lnSpc>
              <a:buNone/>
            </a:pPr>
            <a:endParaRPr lang="es-CL" altLang="en-US" sz="1400"/>
          </a:p>
          <a:p>
            <a:pPr marL="0" indent="0">
              <a:lnSpc>
                <a:spcPct val="0"/>
              </a:lnSpc>
              <a:buNone/>
            </a:pPr>
            <a:r>
              <a:rPr lang="es-CL" altLang="en-US" sz="1400"/>
              <a:t>6.8    Acero al carbono.</a:t>
            </a:r>
          </a:p>
          <a:p>
            <a:pPr marL="0" indent="0">
              <a:lnSpc>
                <a:spcPct val="0"/>
              </a:lnSpc>
              <a:buNone/>
            </a:pPr>
            <a:endParaRPr lang="es-CL" altLang="en-US" sz="1400"/>
          </a:p>
          <a:p>
            <a:pPr marL="0" indent="0">
              <a:lnSpc>
                <a:spcPct val="0"/>
              </a:lnSpc>
              <a:buNone/>
            </a:pPr>
            <a:r>
              <a:rPr lang="es-CL" altLang="en-US" sz="1400"/>
              <a:t>8.8    Acero al carbono con o sin aditivos templado y revenido.</a:t>
            </a:r>
          </a:p>
          <a:p>
            <a:pPr marL="0" indent="0">
              <a:lnSpc>
                <a:spcPct val="0"/>
              </a:lnSpc>
              <a:buNone/>
            </a:pPr>
            <a:endParaRPr lang="es-CL" altLang="en-US" sz="1400"/>
          </a:p>
          <a:p>
            <a:pPr marL="0" indent="0">
              <a:lnSpc>
                <a:spcPct val="0"/>
              </a:lnSpc>
              <a:buNone/>
            </a:pPr>
            <a:r>
              <a:rPr lang="es-CL" altLang="en-US" sz="1400"/>
              <a:t>10.9  Acero al carbono con o sin aditivos templado y revenido o acero aleado templado</a:t>
            </a:r>
          </a:p>
          <a:p>
            <a:pPr marL="0" indent="0">
              <a:lnSpc>
                <a:spcPct val="0"/>
              </a:lnSpc>
              <a:buNone/>
            </a:pPr>
            <a:endParaRPr lang="es-CL" altLang="en-US" sz="1400"/>
          </a:p>
          <a:p>
            <a:pPr marL="0" indent="0">
              <a:lnSpc>
                <a:spcPct val="0"/>
              </a:lnSpc>
              <a:buNone/>
            </a:pPr>
            <a:r>
              <a:rPr lang="es-CL" altLang="en-US" sz="1400"/>
              <a:t>12.9  Acero aleado templado y revenido.</a:t>
            </a:r>
          </a:p>
          <a:p>
            <a:pPr marL="0" indent="0">
              <a:lnSpc>
                <a:spcPct val="30000"/>
              </a:lnSpc>
              <a:buNone/>
            </a:pPr>
            <a:endParaRPr lang="es-CL" altLang="en-US" sz="1400"/>
          </a:p>
          <a:p>
            <a:pPr marL="0" indent="0">
              <a:lnSpc>
                <a:spcPct val="30000"/>
              </a:lnSpc>
              <a:buNone/>
            </a:pPr>
            <a:r>
              <a:rPr lang="es-CL" altLang="en-US" sz="1400"/>
              <a:t>En el caso de un tornillo de calidad 10.9, tendría un resistencia a la rotura de 10 • 100 = 1000 N/mm².</a:t>
            </a:r>
          </a:p>
          <a:p>
            <a:pPr marL="0" indent="0">
              <a:lnSpc>
                <a:spcPct val="80000"/>
              </a:lnSpc>
              <a:buNone/>
            </a:pPr>
            <a:r>
              <a:rPr lang="es-CL" altLang="en-US" sz="1400"/>
              <a:t>Como teníamos una resistencia de 1000 N/mm² lo multiplicamos por la sección resultando en 1000 • 50.24 = 50240N/mm².</a:t>
            </a:r>
          </a:p>
          <a:p>
            <a:pPr marL="0" indent="0">
              <a:lnSpc>
                <a:spcPct val="80000"/>
              </a:lnSpc>
              <a:buNone/>
            </a:pPr>
            <a:r>
              <a:rPr lang="es-CL" altLang="en-US" sz="1400"/>
              <a:t>Dado que 10 N son aproximadamente 1 Kg, tenemos como resultado que un tornillo de calidad 10.9, métrica 8 soporta 5024 kg.</a:t>
            </a:r>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1179</Words>
  <Application>Microsoft Office PowerPoint</Application>
  <PresentationFormat>Panorámica</PresentationFormat>
  <Paragraphs>82</Paragraphs>
  <Slides>11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Trebuchet MS</vt:lpstr>
      <vt:lpstr>Wingdings</vt:lpstr>
      <vt:lpstr>Wingdings 3</vt:lpstr>
      <vt:lpstr>Faceta</vt:lpstr>
      <vt:lpstr>GRUA PLUMA DE PARED </vt:lpstr>
      <vt:lpstr>Definición </vt:lpstr>
      <vt:lpstr>Tema de investigación </vt:lpstr>
      <vt:lpstr>Objetivo</vt:lpstr>
      <vt:lpstr>Temas iniciales involucrados</vt:lpstr>
      <vt:lpstr>Cronograma y materiales a utilizar</vt:lpstr>
      <vt:lpstr>Herramientas tecnológicas </vt:lpstr>
      <vt:lpstr>Información de preguntas </vt:lpstr>
      <vt:lpstr>Presentación de PowerPoint</vt:lpstr>
      <vt:lpstr>Formulas a utilizar </vt:lpstr>
      <vt:lpstr>Formulas a utilizar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katherine chandia</dc:creator>
  <cp:lastModifiedBy>pacademicos</cp:lastModifiedBy>
  <cp:revision>7</cp:revision>
  <dcterms:created xsi:type="dcterms:W3CDTF">2023-11-17T19:33:00Z</dcterms:created>
  <dcterms:modified xsi:type="dcterms:W3CDTF">2023-12-06T16:52:55Z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9DD422261BB94059A5C716EDAB735C3D_12</vt:lpwstr>
  </property>
  <property fmtid="{D5CDD505-2E9C-101B-9397-08002B2CF9AE}" pid="3" name="KSOProductBuildVer">
    <vt:lpwstr>1033-12.2.0.13306</vt:lpwstr>
  </property>
</Properties>
</file>