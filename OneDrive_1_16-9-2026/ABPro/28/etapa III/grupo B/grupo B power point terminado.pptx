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5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RARDO CONTRERAS" initials="GC" lastIdx="14" clrIdx="0">
    <p:extLst>
      <p:ext uri="{19B8F6BF-5375-455C-9EA6-DF929625EA0E}">
        <p15:presenceInfo xmlns:p15="http://schemas.microsoft.com/office/powerpoint/2012/main" userId="GERARDO CONTRERAS" providerId="None"/>
      </p:ext>
    </p:extLst>
  </p:cmAuthor>
  <p:cmAuthor id="2" name="LISSETTE ANDREA SALAMANCA MELLA" initials="LASM" lastIdx="6" clrIdx="1">
    <p:extLst>
      <p:ext uri="{19B8F6BF-5375-455C-9EA6-DF929625EA0E}">
        <p15:presenceInfo xmlns:p15="http://schemas.microsoft.com/office/powerpoint/2012/main" userId="S::lissette.salamanca@inacapmail.cl::e8cae1b9-6bd0-45e5-8679-6c0a2293f1a4" providerId="AD"/>
      </p:ext>
    </p:extLst>
  </p:cmAuthor>
  <p:cmAuthor id="3" name="Microsoft Office User" initials="MOU" lastIdx="8" clrIdx="2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Estilo medio 3 - 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Estilo medio 3 - Énfasis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Estilo claro 3 - Acento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24" autoAdjust="0"/>
    <p:restoredTop sz="94357" autoAdjust="0"/>
  </p:normalViewPr>
  <p:slideViewPr>
    <p:cSldViewPr snapToGrid="0">
      <p:cViewPr varScale="1">
        <p:scale>
          <a:sx n="88" d="100"/>
          <a:sy n="88" d="100"/>
        </p:scale>
        <p:origin x="200" y="520"/>
      </p:cViewPr>
      <p:guideLst/>
    </p:cSldViewPr>
  </p:slideViewPr>
  <p:outlineViewPr>
    <p:cViewPr>
      <p:scale>
        <a:sx n="33" d="100"/>
        <a:sy n="33" d="100"/>
      </p:scale>
      <p:origin x="0" y="-5496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3-12-27T11:50:44.232" idx="1">
    <p:pos x="10" y="10"/>
    <p:text>FALTA APA EN IMAGEN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3-12-27T11:51:01.953" idx="2">
    <p:pos x="10" y="10"/>
    <p:text>MEJORAR DESCRIPCION DEL PROBLEMA O SITUACION PROBLEMATICA</p:text>
    <p:extLst>
      <p:ext uri="{C676402C-5697-4E1C-873F-D02D1690AC5C}">
        <p15:threadingInfo xmlns:p15="http://schemas.microsoft.com/office/powerpoint/2012/main" timeZoneBias="180"/>
      </p:ext>
    </p:extLst>
  </p:cm>
  <p:cm authorId="3" dt="2023-12-27T11:51:21.778" idx="3">
    <p:pos x="146" y="146"/>
    <p:text/>
    <p:extLst>
      <p:ext uri="{C676402C-5697-4E1C-873F-D02D1690AC5C}">
        <p15:threadingInfo xmlns:p15="http://schemas.microsoft.com/office/powerpoint/2012/main" timeZoneBias="180"/>
      </p:ext>
    </p:extLst>
  </p:cm>
  <p:cm authorId="3" dt="2023-12-27T11:51:28.207" idx="4">
    <p:pos x="2405" y="2587"/>
    <p:text>ESPECIFICAR LAS NOCIONES DE FORMA, POSICIÓN Y ESPACIO... NO SE ENTIENDE A QUE SE REFIERE... ¿?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3-12-27T11:52:18.269" idx="5">
    <p:pos x="6848" y="823"/>
    <p:text>ESE ES EL OBJETIVO.</p:text>
    <p:extLst>
      <p:ext uri="{C676402C-5697-4E1C-873F-D02D1690AC5C}">
        <p15:threadingInfo xmlns:p15="http://schemas.microsoft.com/office/powerpoint/2012/main" timeZoneBias="180"/>
      </p:ext>
    </p:extLst>
  </p:cm>
  <p:cm authorId="3" dt="2023-12-27T11:52:51.133" idx="6">
    <p:pos x="6848" y="1829"/>
    <p:text>TODAS LAS PREGUNTAS DE INVESTIGACION SON BASE PARA LA BUSQUEDA DE SOLUCION A LA PROBLEMATICA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3-12-27T11:54:43.765" idx="7">
    <p:pos x="3136" y="1253"/>
    <p:text>FALTAN LAS EVIDENCIAS, ES DECIR, NO BASTA CON DECIR QUE REALIZARON PRUEBAS SI NO ENTREGAN EVIDENCIAS DE AQUELLO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" dt="2023-12-27T11:55:42.432" idx="8">
    <p:pos x="5641" y="2432"/>
    <p:text>DONDE O COMO UTILIZARON DICHA FORMULA?</p:text>
    <p:extLst>
      <p:ext uri="{C676402C-5697-4E1C-873F-D02D1690AC5C}">
        <p15:threadingInfo xmlns:p15="http://schemas.microsoft.com/office/powerpoint/2012/main" timeZoneBias="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0AB736-7282-4245-9510-59F241FEB36B}" type="datetimeFigureOut">
              <a:rPr lang="es-CL" smtClean="0"/>
              <a:t>27-12-23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416EF-5F52-4937-A387-C23812CB733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772060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416EF-5F52-4937-A387-C23812CB7330}" type="slidenum">
              <a:rPr lang="es-CL" smtClean="0"/>
              <a:t>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925327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B3884-0E2F-404B-8145-1E1436928F33}" type="datetime1">
              <a:rPr lang="en-US" smtClean="0"/>
              <a:t>12/27/23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4597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6B101-1D33-4ECD-8095-A021056E1C4F}" type="datetime1">
              <a:rPr lang="en-US" smtClean="0"/>
              <a:t>12/27/23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085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FBBCC-92AC-4215-B26F-389C384238BA}" type="datetime1">
              <a:rPr lang="en-US" smtClean="0"/>
              <a:t>12/27/23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386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61C70-26DC-464F-9A6D-2DC7A20369B0}" type="datetime1">
              <a:rPr lang="en-US" smtClean="0"/>
              <a:t>12/27/23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491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AFFF1-BA6E-4B12-8158-929999F7899B}" type="datetime1">
              <a:rPr lang="en-US" smtClean="0"/>
              <a:t>12/27/23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71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BF7AD-6B6F-49C4-ACBA-59EC2787217B}" type="datetime1">
              <a:rPr lang="en-US" smtClean="0"/>
              <a:t>12/27/23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27348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9FBA31-4218-4B44-B11E-D85A10F9FD44}" type="datetime1">
              <a:rPr lang="en-US" smtClean="0"/>
              <a:t>12/27/23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384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674B3-90BA-480A-86A8-1BFA0CC43913}" type="datetime1">
              <a:rPr lang="en-US" smtClean="0"/>
              <a:t>12/27/23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746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2A7E0858-51E4-449B-9962-003FCF07A918}" type="datetime1">
              <a:rPr lang="en-US" smtClean="0"/>
              <a:t>12/27/23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862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73907-FAA9-4275-A1FE-423755199767}" type="datetime1">
              <a:rPr lang="en-US" smtClean="0"/>
              <a:t>12/27/23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509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1800B-8C2F-4E83-92EC-C551469556EB}" type="datetime1">
              <a:rPr lang="en-US" smtClean="0"/>
              <a:t>12/27/23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5013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FCD7D-E023-499C-93B9-A1C8F32C27B7}" type="datetime1">
              <a:rPr lang="en-US" smtClean="0"/>
              <a:t>12/27/23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863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3EE11-5C23-48F1-8F46-16AFCAC72A6C}" type="datetime1">
              <a:rPr lang="en-US" smtClean="0"/>
              <a:t>12/27/23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09736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719DFC-4A21-4A44-9157-CC0D4B4B964B}" type="datetime1">
              <a:rPr lang="en-US" smtClean="0"/>
              <a:t>12/27/23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701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49716-8EE3-413E-B4F0-75CFFDE66772}" type="datetime1">
              <a:rPr lang="en-US" smtClean="0"/>
              <a:t>12/27/23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995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755D0-29ED-4C6B-BEB3-F94A9C46E8C8}" type="datetime1">
              <a:rPr lang="en-US" smtClean="0"/>
              <a:t>12/27/23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31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CF066-49AD-4F15-9D90-24F22EDCAE98}" type="datetime1">
              <a:rPr lang="en-US" smtClean="0"/>
              <a:t>12/27/23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3095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9D1A43EA-7B62-43B6-AC75-FBF26D451249}" type="datetime1">
              <a:rPr lang="en-US" smtClean="0"/>
              <a:t>12/27/23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5384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comments" Target="../comments/commen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uspensionsecrets.co.uk/anti-squat-dive-and-lift-geometry/" TargetMode="Externa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4.xml"/><Relationship Id="rId3" Type="http://schemas.openxmlformats.org/officeDocument/2006/relationships/image" Target="../media/image7.png"/><Relationship Id="rId7" Type="http://schemas.openxmlformats.org/officeDocument/2006/relationships/hyperlink" Target="https://n9.cl/1butd" TargetMode="External"/><Relationship Id="rId2" Type="http://schemas.openxmlformats.org/officeDocument/2006/relationships/hyperlink" Target="https://phet.colorado.edu/sims/html/masses-and-springs/latest/masses-and-springs_e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hyperlink" Target="https://tinyurl.com/2c2njy74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lmundo.es/elmundomotor/2005/06/24/tecnica/1119624007.html" TargetMode="External"/><Relationship Id="rId2" Type="http://schemas.openxmlformats.org/officeDocument/2006/relationships/hyperlink" Target="https://www.race.es/mejoras-aerodinamica-coch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hyperlink" Target="https://solorace.cl/preguntas-frecuentes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ivision.com/explora/que-es-la-aerodinamica" TargetMode="External"/><Relationship Id="rId2" Type="http://schemas.openxmlformats.org/officeDocument/2006/relationships/hyperlink" Target="https://www.chileautos.cl/honda/civic/precio/2008/si-762676720080228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hyperlink" Target="https://www.elmundo.es/elmundomotor/2005/06/24/tecnica/1119624007.html" TargetMode="Externa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5.xml"/><Relationship Id="rId3" Type="http://schemas.openxmlformats.org/officeDocument/2006/relationships/hyperlink" Target="https://testcoches.es/conceptos/coeficiente-aerodinamico-cx/" TargetMode="External"/><Relationship Id="rId7" Type="http://schemas.openxmlformats.org/officeDocument/2006/relationships/hyperlink" Target="https://mundotuerca.cl/aerodinamica-en-un-coche-definicion-leyes-funcionamiento/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s.wikipedia.org/wiki/Aerodin%C3%A1mica_del_autom%C3%B3vil" TargetMode="External"/><Relationship Id="rId5" Type="http://schemas.openxmlformats.org/officeDocument/2006/relationships/hyperlink" Target="https://www.larazon.es/motor/20201207/5alrbtmbkrcabhyjdpmnrgxuvm.html" TargetMode="External"/><Relationship Id="rId4" Type="http://schemas.openxmlformats.org/officeDocument/2006/relationships/hyperlink" Target="https://www.seat-mediacenter.es/smc/stories-page/newstories/Las-matematicas-de-tu-coche-con-David-Calle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eat-mediacenter.es/smc/stories-page/newstories/Las-matematicas-de-tu-coche-con-David-Calle/" TargetMode="External"/><Relationship Id="rId3" Type="http://schemas.openxmlformats.org/officeDocument/2006/relationships/hyperlink" Target="https://www.elmundo.es/elmundomotor/2005/06/24/tecnica/1119624007.html" TargetMode="External"/><Relationship Id="rId7" Type="http://schemas.openxmlformats.org/officeDocument/2006/relationships/hyperlink" Target="https://testcoches.es/conceptos/coeficiente-aerodinamico-cx/" TargetMode="External"/><Relationship Id="rId2" Type="http://schemas.openxmlformats.org/officeDocument/2006/relationships/hyperlink" Target="https://www.race.es/mejoras-aerodinamica-coch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univision.com/explora/que-es-la-aerodinamica" TargetMode="External"/><Relationship Id="rId11" Type="http://schemas.openxmlformats.org/officeDocument/2006/relationships/hyperlink" Target="https://mundotuerca.cl/aerodinamica-en-un-coche-definicion-leyes-funcionamiento/" TargetMode="External"/><Relationship Id="rId5" Type="http://schemas.openxmlformats.org/officeDocument/2006/relationships/hyperlink" Target="https://www.chileautos.cl/honda/civic/precio/2008/si-762676720080228/" TargetMode="External"/><Relationship Id="rId10" Type="http://schemas.openxmlformats.org/officeDocument/2006/relationships/hyperlink" Target="https://es.wikipedia.org/wiki/Aerodin%C3%A1mica_del_autom%C3%B3vil" TargetMode="External"/><Relationship Id="rId4" Type="http://schemas.openxmlformats.org/officeDocument/2006/relationships/hyperlink" Target="https://solorace.cl/preguntas-frecuentes/" TargetMode="External"/><Relationship Id="rId9" Type="http://schemas.openxmlformats.org/officeDocument/2006/relationships/hyperlink" Target="https://www.larazon.es/motor/20201207/5alrbtmbkrcabhyjdpmnrgxuvm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i="1" dirty="0">
                <a:solidFill>
                  <a:schemeClr val="tx1"/>
                </a:solidFill>
              </a:rPr>
              <a:t>CIvic  2008 </a:t>
            </a:r>
            <a:br>
              <a:rPr lang="es-ES" i="1" dirty="0">
                <a:solidFill>
                  <a:schemeClr val="tx1"/>
                </a:solidFill>
              </a:rPr>
            </a:br>
            <a:r>
              <a:rPr lang="es-ES" i="1" dirty="0">
                <a:solidFill>
                  <a:schemeClr val="tx1"/>
                </a:solidFill>
              </a:rPr>
              <a:t>MEJORA DE REDIMIENTO  PARA COMPETICION</a:t>
            </a:r>
            <a:br>
              <a:rPr lang="es-ES" dirty="0"/>
            </a:b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86328" y="3281216"/>
            <a:ext cx="7749308" cy="3186546"/>
          </a:xfrm>
        </p:spPr>
        <p:txBody>
          <a:bodyPr>
            <a:normAutofit fontScale="92500" lnSpcReduction="10000"/>
          </a:bodyPr>
          <a:lstStyle/>
          <a:p>
            <a:r>
              <a:rPr lang="es-ES" dirty="0"/>
              <a:t>                                                                          </a:t>
            </a:r>
          </a:p>
          <a:p>
            <a:endParaRPr lang="es-ES" dirty="0"/>
          </a:p>
          <a:p>
            <a:pPr algn="l"/>
            <a:r>
              <a:rPr lang="es-ES" b="1" u="sng" dirty="0">
                <a:solidFill>
                  <a:schemeClr val="tx1"/>
                </a:solidFill>
              </a:rPr>
              <a:t>NOMBRES:</a:t>
            </a:r>
            <a:r>
              <a:rPr lang="es-ES" dirty="0">
                <a:solidFill>
                  <a:schemeClr val="tx1"/>
                </a:solidFill>
              </a:rPr>
              <a:t> Gerardo</a:t>
            </a:r>
            <a:r>
              <a:rPr lang="es-ES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Contreras </a:t>
            </a:r>
          </a:p>
          <a:p>
            <a:pPr algn="l"/>
            <a:r>
              <a:rPr lang="es-ES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                Sebastián Espinoza</a:t>
            </a:r>
          </a:p>
          <a:p>
            <a:pPr algn="l"/>
            <a:r>
              <a:rPr lang="es-ES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                Milovan Caba </a:t>
            </a:r>
          </a:p>
          <a:p>
            <a:pPr algn="l"/>
            <a:r>
              <a:rPr lang="es-ES" b="1" u="sng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SECCION:</a:t>
            </a:r>
            <a:r>
              <a:rPr lang="es-ES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28</a:t>
            </a:r>
          </a:p>
          <a:p>
            <a:pPr algn="l"/>
            <a:r>
              <a:rPr lang="es-ES" b="1" i="1" u="sng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PROFESORA</a:t>
            </a:r>
            <a:r>
              <a:rPr lang="es-ES" b="1" u="sng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r>
              <a:rPr lang="es-ES" b="1" i="1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s-ES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Lissette</a:t>
            </a:r>
            <a:r>
              <a:rPr lang="es-ES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</a:rPr>
              <a:t> Salamanca</a:t>
            </a:r>
          </a:p>
          <a:p>
            <a:pPr algn="l"/>
            <a:r>
              <a:rPr lang="es-ES" b="1" i="1" u="sng" dirty="0">
                <a:solidFill>
                  <a:schemeClr val="tx1"/>
                </a:solidFill>
              </a:rPr>
              <a:t>FECHA:</a:t>
            </a:r>
            <a:r>
              <a:rPr lang="es-ES" b="1" i="1" dirty="0">
                <a:solidFill>
                  <a:schemeClr val="tx1"/>
                </a:solidFill>
              </a:rPr>
              <a:t> </a:t>
            </a:r>
            <a:r>
              <a:rPr lang="es-ES" dirty="0">
                <a:solidFill>
                  <a:schemeClr val="tx1"/>
                </a:solidFill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17/11/2023</a:t>
            </a:r>
            <a:r>
              <a:rPr lang="es-ES" b="1" i="1" dirty="0">
                <a:solidFill>
                  <a:schemeClr val="tx1"/>
                </a:solidFill>
              </a:rPr>
              <a:t>    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150" y="144463"/>
            <a:ext cx="1714500" cy="1285875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802" y="4317389"/>
            <a:ext cx="2759214" cy="206941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30" y="609601"/>
            <a:ext cx="1419225" cy="141922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3983" y="4424011"/>
            <a:ext cx="2916890" cy="164298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872026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829" y="4201448"/>
            <a:ext cx="4480000" cy="252000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13484" y="532527"/>
            <a:ext cx="8610600" cy="912092"/>
          </a:xfrm>
        </p:spPr>
        <p:txBody>
          <a:bodyPr/>
          <a:lstStyle/>
          <a:p>
            <a:r>
              <a:rPr lang="es-ES" b="1" dirty="0">
                <a:solidFill>
                  <a:schemeClr val="tx1"/>
                </a:solidFill>
              </a:rPr>
              <a:t>Definición del proyecto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22220" y="2009742"/>
            <a:ext cx="9905998" cy="1966623"/>
          </a:xfrm>
        </p:spPr>
        <p:txBody>
          <a:bodyPr>
            <a:normAutofit fontScale="92500" lnSpcReduction="10000"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es-MX" dirty="0"/>
              <a:t>Este proyecto está dedicado a la optimización del rendimiento del modelo HONDA CIVIC SI, específicamente para competencias en circuitos pavimentados. Nuestra meta es trascender las restricciones inherentes a los ajustes y parámetros de fábrica del vehículo. Para ello, planeamos implementar modificaciones estratégicas que potencien su desempeño en la pista. Mediante estos ajustes personalizados, aspiramos a desbloquear el máximo potencial del HONDA CIVIC SI, garantizando así un rendimiento superior en cada vuelta del circuito.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608" y="71410"/>
            <a:ext cx="1719221" cy="1286367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962" y="5075874"/>
            <a:ext cx="1414395" cy="14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587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214880" cy="2214880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54765" y="-74363"/>
            <a:ext cx="9664838" cy="1905000"/>
          </a:xfrm>
        </p:spPr>
        <p:txBody>
          <a:bodyPr>
            <a:normAutofit/>
          </a:bodyPr>
          <a:lstStyle/>
          <a:p>
            <a:pPr algn="r"/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Tema de investigación, </a:t>
            </a:r>
            <a:b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nociones matemáticas y problemas </a:t>
            </a:r>
            <a:b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abordar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28769" y="2843033"/>
            <a:ext cx="10522267" cy="2783840"/>
          </a:xfrm>
        </p:spPr>
        <p:txBody>
          <a:bodyPr>
            <a:normAutofit fontScale="85000"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Tema De Investigación: </a:t>
            </a:r>
            <a:r>
              <a:rPr lang="es-MX" dirty="0">
                <a:latin typeface="Arial" panose="020B0604020202020204" pitchFamily="34" charset="0"/>
                <a:cs typeface="Arial" panose="020B0604020202020204" pitchFamily="34" charset="0"/>
              </a:rPr>
              <a:t>comparar especificaciones técnicas a las requeridas para la competición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Problemática a abordar: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 resistencia al aire, el peso del vehículo, el motor, la carrocería y los componentes dentro del vehículo. Ya que el vehículo en sí pesa 1305 kg y nosotros queremos lograr que pese menos de eso para obtener mayor potencia y agilidad en competencia.</a:t>
            </a: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Nociones Matemáticas: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1-Nocion de Forma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2-Nocion de posición 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3-Nocion de espacio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779" y="0"/>
            <a:ext cx="1719221" cy="12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779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90594" y="369454"/>
            <a:ext cx="9905998" cy="1206499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Objetivos y preguntas de  investigación</a:t>
            </a:r>
            <a:b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08063" y="1225826"/>
            <a:ext cx="9905998" cy="4124367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s-CL" altLang="es-CL" dirty="0">
                <a:latin typeface="Arial" panose="020B0604020202020204" pitchFamily="34" charset="0"/>
                <a:cs typeface="Arial" panose="020B0604020202020204" pitchFamily="34" charset="0"/>
              </a:rPr>
              <a:t>El objetivo:  </a:t>
            </a:r>
            <a:r>
              <a:rPr lang="es-CL" altLang="es-CL" dirty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mejorar el rendimiento del Honda Civic Si 2008 en competición </a:t>
            </a:r>
            <a:r>
              <a:rPr lang="es-CL" altLang="es-CL" dirty="0">
                <a:latin typeface="Arial" panose="020B0604020202020204" pitchFamily="34" charset="0"/>
                <a:cs typeface="Arial" panose="020B0604020202020204" pitchFamily="34" charset="0"/>
              </a:rPr>
              <a:t>mediante la reducción de peso, el aumento de potencia y las mejoras aerodinámicas.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CL" altLang="es-CL" dirty="0">
                <a:latin typeface="Arial" panose="020B0604020202020204" pitchFamily="34" charset="0"/>
                <a:cs typeface="Arial" panose="020B0604020202020204" pitchFamily="34" charset="0"/>
              </a:rPr>
              <a:t>Estas modificaciones deben ser realizadas por profesionales y respetando las regulaciones de tráfico y seguridad vial. Algunas pueden afectar la garantía del vehículo.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2. ¿Cuáles son los ajustes específicos del vehículo diseñados para mejorar la resistencia al viento y cómo impactan en la competición en circuito?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 3. ¿Cómo se relacionan las nociones matemáticas, como la noción de superficie y forma, con la optimización del rendimiento del vehículo en el proyecto de investigación?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CL" dirty="0">
                <a:latin typeface="Arial" panose="020B0604020202020204" pitchFamily="34" charset="0"/>
                <a:cs typeface="Arial" panose="020B0604020202020204" pitchFamily="34" charset="0"/>
              </a:rPr>
              <a:t>4. ¿Cuáles son los desafíos asociados con la adaptación de un vehículo modificado para circuito a un uso cotidiano en la ciudad, considerando las características técnicas y ajustes realizados?</a:t>
            </a: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2779" y="0"/>
            <a:ext cx="1719221" cy="1286367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42" y="5350194"/>
            <a:ext cx="1414395" cy="14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26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84921" y="0"/>
            <a:ext cx="9905998" cy="1905000"/>
          </a:xfrm>
        </p:spPr>
        <p:txBody>
          <a:bodyPr/>
          <a:lstStyle/>
          <a:p>
            <a:pPr algn="just"/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Temas involucrados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10920" y="1386839"/>
            <a:ext cx="9905998" cy="1817469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es-E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altura vehículo, forma de la carrocería y medidas de componentes móviles y fijos del vehículo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Reducción de peso: Eliminar el peso innecesario es crucial para mejorar el rendimiento. Considera reemplazar partes de acero con componentes de fibra de carbono o aluminio, como capó, parachoques, y puertas.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s-ES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Sistema de escape ligero: Un sistema de escape más ligero puede reducir el peso</a:t>
            </a:r>
            <a:r>
              <a:rPr lang="es-CL" kern="1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just"/>
            <a:endParaRPr lang="es-E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22" y="5080954"/>
            <a:ext cx="1414395" cy="142049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779" y="0"/>
            <a:ext cx="1719221" cy="1286367"/>
          </a:xfrm>
          <a:prstGeom prst="rect">
            <a:avLst/>
          </a:prstGeom>
        </p:spPr>
      </p:pic>
      <p:grpSp>
        <p:nvGrpSpPr>
          <p:cNvPr id="7" name="Grupo 6">
            <a:extLst>
              <a:ext uri="{FF2B5EF4-FFF2-40B4-BE49-F238E27FC236}">
                <a16:creationId xmlns:a16="http://schemas.microsoft.com/office/drawing/2014/main" id="{1C0B6A7B-1371-4C5F-F70F-E4E51DC1296C}"/>
              </a:ext>
            </a:extLst>
          </p:cNvPr>
          <p:cNvGrpSpPr/>
          <p:nvPr/>
        </p:nvGrpSpPr>
        <p:grpSpPr>
          <a:xfrm>
            <a:off x="3738973" y="2992372"/>
            <a:ext cx="4456602" cy="4142627"/>
            <a:chOff x="3738973" y="3067286"/>
            <a:chExt cx="4456602" cy="4142627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8280D452-02FE-6ED3-420F-E61175B213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8973" y="3067286"/>
              <a:ext cx="4456602" cy="26129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49C8AE76-CACA-6B20-13A8-C60673284C86}"/>
                </a:ext>
              </a:extLst>
            </p:cNvPr>
            <p:cNvSpPr txBox="1"/>
            <p:nvPr/>
          </p:nvSpPr>
          <p:spPr>
            <a:xfrm>
              <a:off x="3738973" y="5732585"/>
              <a:ext cx="425851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800" dirty="0">
                  <a:effectLst/>
                  <a:latin typeface="Times New Roman" panose="02020603050405020304" pitchFamily="18" charset="0"/>
                </a:rPr>
                <a:t>Secrets, S. (2023, 13 </a:t>
              </a:r>
              <a:r>
                <a:rPr lang="en-US" sz="1800" dirty="0" err="1">
                  <a:effectLst/>
                  <a:latin typeface="Times New Roman" panose="02020603050405020304" pitchFamily="18" charset="0"/>
                </a:rPr>
                <a:t>enero</a:t>
              </a:r>
              <a:r>
                <a:rPr lang="en-US" sz="1800" dirty="0">
                  <a:effectLst/>
                  <a:latin typeface="Times New Roman" panose="02020603050405020304" pitchFamily="18" charset="0"/>
                </a:rPr>
                <a:t>). </a:t>
              </a:r>
              <a:r>
                <a:rPr lang="en-US" sz="1800" i="1" dirty="0">
                  <a:effectLst/>
                  <a:latin typeface="Times New Roman" panose="02020603050405020304" pitchFamily="18" charset="0"/>
                </a:rPr>
                <a:t>Anti squat, dive and lift geometry</a:t>
              </a:r>
              <a:r>
                <a:rPr lang="en-US" sz="1800" dirty="0">
                  <a:effectLst/>
                  <a:latin typeface="Times New Roman" panose="02020603050405020304" pitchFamily="18" charset="0"/>
                </a:rPr>
                <a:t>. Suspension Secrets. </a:t>
              </a:r>
              <a:r>
                <a:rPr lang="en-US" sz="1800" dirty="0">
                  <a:effectLst/>
                  <a:latin typeface="Times New Roman" panose="02020603050405020304" pitchFamily="18" charset="0"/>
                  <a:hlinkClick r:id="rId5"/>
                </a:rPr>
                <a:t>https://suspensionsecrets.co.uk/anti-squat-dive-and-lift-geometry/</a:t>
              </a:r>
              <a:r>
                <a:rPr lang="en-US" sz="1800" dirty="0">
                  <a:effectLst/>
                  <a:latin typeface="Times New Roman" panose="02020603050405020304" pitchFamily="18" charset="0"/>
                </a:rPr>
                <a:t> </a:t>
              </a:r>
            </a:p>
            <a:p>
              <a:endParaRPr lang="es-CL" dirty="0"/>
            </a:p>
          </p:txBody>
        </p:sp>
      </p:grpSp>
    </p:spTree>
    <p:extLst>
      <p:ext uri="{BB962C8B-B14F-4D97-AF65-F5344CB8AC3E}">
        <p14:creationId xmlns:p14="http://schemas.microsoft.com/office/powerpoint/2010/main" val="2185950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72146" y="175492"/>
            <a:ext cx="11620065" cy="1027044"/>
          </a:xfrm>
        </p:spPr>
        <p:txBody>
          <a:bodyPr>
            <a:normAutofit fontScale="90000"/>
          </a:bodyPr>
          <a:lstStyle/>
          <a:p>
            <a:r>
              <a:rPr lang="es-ES" dirty="0">
                <a:solidFill>
                  <a:schemeClr val="tx1"/>
                </a:solidFill>
              </a:rPr>
              <a:t>cronograma y materiales a utilizar</a:t>
            </a:r>
            <a:br>
              <a:rPr lang="es-ES" dirty="0">
                <a:solidFill>
                  <a:schemeClr val="tx1"/>
                </a:solidFill>
              </a:rPr>
            </a:br>
            <a:br>
              <a:rPr lang="es-ES" dirty="0">
                <a:solidFill>
                  <a:schemeClr val="tx1"/>
                </a:solidFill>
              </a:rPr>
            </a:br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671500" y="4535656"/>
            <a:ext cx="8598935" cy="2146852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es-MX" b="1" dirty="0">
                <a:solidFill>
                  <a:schemeClr val="tx1"/>
                </a:solidFill>
              </a:rPr>
              <a:t>Materiales a Utilizar: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1. Herramientas mecánicas y de ajuste.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2. Componentes específicos para mejoras técnicas (por ejemplo, suspensión, aerodinámica).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3. Equipos de medición y pruebas para evaluar el rendimiento.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4. Software de modelado matemático y simulación.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5. Instrumentos para medir resistencia al viento.</a:t>
            </a:r>
          </a:p>
          <a:p>
            <a:pPr algn="just"/>
            <a:r>
              <a:rPr lang="es-MX" b="1" dirty="0">
                <a:solidFill>
                  <a:schemeClr val="tx1"/>
                </a:solidFill>
              </a:rPr>
              <a:t>6. Documentación técnica del Honda </a:t>
            </a:r>
            <a:r>
              <a:rPr lang="es-MX" b="1" dirty="0" err="1">
                <a:solidFill>
                  <a:schemeClr val="tx1"/>
                </a:solidFill>
              </a:rPr>
              <a:t>Civic</a:t>
            </a:r>
            <a:r>
              <a:rPr lang="es-MX" b="1" dirty="0">
                <a:solidFill>
                  <a:schemeClr val="tx1"/>
                </a:solidFill>
              </a:rPr>
              <a:t> Si y modelos de competición.</a:t>
            </a:r>
          </a:p>
          <a:p>
            <a:pPr algn="just"/>
            <a:endParaRPr lang="es-ES" sz="1600" dirty="0">
              <a:solidFill>
                <a:srgbClr val="FF0000"/>
              </a:solidFill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37509"/>
            <a:ext cx="1414395" cy="1420491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2779" y="0"/>
            <a:ext cx="1719221" cy="1286367"/>
          </a:xfrm>
          <a:prstGeom prst="rect">
            <a:avLst/>
          </a:prstGeom>
        </p:spPr>
      </p:pic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8537BC71-7520-0F9C-F582-1335477D43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8699901"/>
              </p:ext>
            </p:extLst>
          </p:nvPr>
        </p:nvGraphicFramePr>
        <p:xfrm>
          <a:off x="309827" y="917565"/>
          <a:ext cx="10162952" cy="3444240"/>
        </p:xfrm>
        <a:graphic>
          <a:graphicData uri="http://schemas.openxmlformats.org/drawingml/2006/table">
            <a:tbl>
              <a:tblPr firstRow="1" lastCol="1" bandRow="1">
                <a:tableStyleId>{BC89EF96-8CEA-46FF-86C4-4CE0E7609802}</a:tableStyleId>
              </a:tblPr>
              <a:tblGrid>
                <a:gridCol w="1795633">
                  <a:extLst>
                    <a:ext uri="{9D8B030D-6E8A-4147-A177-3AD203B41FA5}">
                      <a16:colId xmlns:a16="http://schemas.microsoft.com/office/drawing/2014/main" val="3620369937"/>
                    </a:ext>
                  </a:extLst>
                </a:gridCol>
                <a:gridCol w="8367319">
                  <a:extLst>
                    <a:ext uri="{9D8B030D-6E8A-4147-A177-3AD203B41FA5}">
                      <a16:colId xmlns:a16="http://schemas.microsoft.com/office/drawing/2014/main" val="459546702"/>
                    </a:ext>
                  </a:extLst>
                </a:gridCol>
              </a:tblGrid>
              <a:tr h="369674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tx1"/>
                          </a:solidFill>
                        </a:rPr>
                        <a:t>Investigación y Análisis (Semana 1-2) </a:t>
                      </a:r>
                      <a:endParaRPr lang="es-CL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100" b="1" dirty="0">
                          <a:solidFill>
                            <a:schemeClr val="tx1"/>
                          </a:solidFill>
                        </a:rPr>
                        <a:t>Revisión de las características técnicas del Honda </a:t>
                      </a:r>
                      <a:r>
                        <a:rPr lang="es-MX" sz="1100" b="1" dirty="0" err="1">
                          <a:solidFill>
                            <a:schemeClr val="tx1"/>
                          </a:solidFill>
                        </a:rPr>
                        <a:t>Civic</a:t>
                      </a:r>
                      <a:r>
                        <a:rPr lang="es-MX" sz="1100" b="1" dirty="0">
                          <a:solidFill>
                            <a:schemeClr val="tx1"/>
                          </a:solidFill>
                        </a:rPr>
                        <a:t> Si.   - Estudio detallado de especificaciones técnicas de modelos preparados para circuito.   - Análisis de la problemática de resistencia al viento y ajustes para uso en ciudad.</a:t>
                      </a:r>
                      <a:endParaRPr lang="es-CL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254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80239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400" b="1" dirty="0">
                          <a:solidFill>
                            <a:schemeClr val="tx1"/>
                          </a:solidFill>
                        </a:rPr>
                        <a:t>Definición de Modificaciones (Semana 3-4) </a:t>
                      </a:r>
                      <a:endParaRPr lang="es-CL" sz="14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b="1" dirty="0">
                          <a:solidFill>
                            <a:schemeClr val="tx1"/>
                          </a:solidFill>
                        </a:rPr>
                        <a:t>Identificación de modificaciones necesarias para mejorar el rendimiento en circuito.   - Evaluación de ajustes requeridos para abordar la resistencia al viento.   Selección de componentes y tecnologías a implementar.</a:t>
                      </a:r>
                    </a:p>
                    <a:p>
                      <a:endParaRPr lang="es-CL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254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7515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tx1"/>
                          </a:solidFill>
                        </a:rPr>
                        <a:t>Nociones Matemáticas y Modelado (Semana 5-6) </a:t>
                      </a:r>
                      <a:endParaRPr lang="es-CL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s-MX" sz="1200" b="1" dirty="0">
                          <a:solidFill>
                            <a:schemeClr val="tx1"/>
                          </a:solidFill>
                        </a:rPr>
                        <a:t>Aplicación de nociones matemáticas (superficie, forma, posición, espacio) al diseño.   - Modelado matemático para prever el impacto de las modificaciones en el rendimiento.</a:t>
                      </a:r>
                      <a:endParaRPr lang="es-CL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1725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sz="1600" b="1" dirty="0">
                          <a:solidFill>
                            <a:schemeClr val="tx1"/>
                          </a:solidFill>
                        </a:rPr>
                        <a:t>Implementación y Pruebas (Semana 7-10) </a:t>
                      </a:r>
                      <a:endParaRPr lang="es-CL" sz="16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200" b="1" dirty="0">
                          <a:solidFill>
                            <a:schemeClr val="tx1"/>
                          </a:solidFill>
                        </a:rPr>
                        <a:t>Realización de las modificaciones planificadas en el vehículo.   - Pruebas iniciales en condiciones controladas para evaluar cambios.   - Ajustes iterativos según resultados obtenidos.</a:t>
                      </a:r>
                    </a:p>
                    <a:p>
                      <a:endParaRPr lang="es-CL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8743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6794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5961" y="64258"/>
            <a:ext cx="9905998" cy="1905000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Herramientas tecnológicas que optimicen el proceso ab pro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289920" y="1426192"/>
            <a:ext cx="4722141" cy="2053987"/>
          </a:xfrm>
        </p:spPr>
        <p:txBody>
          <a:bodyPr/>
          <a:lstStyle/>
          <a:p>
            <a:pPr marL="0" indent="0" algn="just">
              <a:buNone/>
            </a:pPr>
            <a:r>
              <a:rPr lang="es-MX" dirty="0">
                <a:hlinkClick r:id="rId2"/>
              </a:rPr>
              <a:t>Masas y Resortes‬ (colorado.edu)</a:t>
            </a:r>
            <a:r>
              <a:rPr lang="es-ES" dirty="0">
                <a:solidFill>
                  <a:schemeClr val="tx1"/>
                </a:solidFill>
              </a:rPr>
              <a:t> página que se utilizó para llevar a cabo distintas pruebas en una simulación online donde se pudo variar peso y resistencias físicas.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6508" y="0"/>
            <a:ext cx="1615492" cy="120875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8E8853E-2F5F-05C6-9A5D-4A866C25E745}"/>
              </a:ext>
            </a:extLst>
          </p:cNvPr>
          <p:cNvSpPr txBox="1"/>
          <p:nvPr/>
        </p:nvSpPr>
        <p:spPr>
          <a:xfrm>
            <a:off x="5618756" y="1631308"/>
            <a:ext cx="612716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hlinkClick r:id="rId4"/>
              </a:rPr>
              <a:t>https://tinyurl.com/2c2njy74</a:t>
            </a:r>
            <a:endParaRPr lang="es-MX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MX" dirty="0"/>
              <a:t>Pagina que permite llevar a cabo pruebas como la de recorrido de suspensión y otras pruebas motrices de componentes móviles del vehículo que se someten a mucho trabajo en una carrera 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E46F63BA-6867-2788-C0AD-8AC228556548}"/>
              </a:ext>
            </a:extLst>
          </p:cNvPr>
          <p:cNvGrpSpPr/>
          <p:nvPr/>
        </p:nvGrpSpPr>
        <p:grpSpPr>
          <a:xfrm>
            <a:off x="754574" y="3331192"/>
            <a:ext cx="3671668" cy="3744732"/>
            <a:chOff x="548640" y="3978651"/>
            <a:chExt cx="3671668" cy="3744732"/>
          </a:xfrm>
        </p:grpSpPr>
        <p:pic>
          <p:nvPicPr>
            <p:cNvPr id="11" name="Imagen 10">
              <a:extLst>
                <a:ext uri="{FF2B5EF4-FFF2-40B4-BE49-F238E27FC236}">
                  <a16:creationId xmlns:a16="http://schemas.microsoft.com/office/drawing/2014/main" id="{0B0E60DF-1925-F1D7-8006-715B996BB75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626186" y="3978651"/>
              <a:ext cx="1105816" cy="2160000"/>
            </a:xfrm>
            <a:prstGeom prst="rect">
              <a:avLst/>
            </a:prstGeom>
          </p:spPr>
        </p:pic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F9705CCA-4824-7B7D-83BA-0BC2836C94D2}"/>
                </a:ext>
              </a:extLst>
            </p:cNvPr>
            <p:cNvSpPr txBox="1"/>
            <p:nvPr/>
          </p:nvSpPr>
          <p:spPr>
            <a:xfrm>
              <a:off x="548640" y="6246055"/>
              <a:ext cx="3671668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MX" sz="1800" i="1" dirty="0">
                  <a:effectLst/>
                  <a:latin typeface="Times New Roman" panose="02020603050405020304" pitchFamily="18" charset="0"/>
                </a:rPr>
                <a:t>‪Masas y resortes‬</a:t>
              </a:r>
              <a:r>
                <a:rPr lang="es-MX" sz="1800" dirty="0">
                  <a:effectLst/>
                  <a:latin typeface="Times New Roman" panose="02020603050405020304" pitchFamily="18" charset="0"/>
                </a:rPr>
                <a:t>. (s. f.). </a:t>
              </a:r>
              <a:r>
                <a:rPr lang="es-MX" sz="1800" dirty="0">
                  <a:effectLst/>
                  <a:latin typeface="Times New Roman" panose="02020603050405020304" pitchFamily="18" charset="0"/>
                  <a:hlinkClick r:id="rId2"/>
                </a:rPr>
                <a:t>https://phet.colorado.edu/sims/html/masses-and-springs/latest/masses-and-springs_es.html</a:t>
              </a:r>
              <a:r>
                <a:rPr lang="es-MX" sz="1800" dirty="0">
                  <a:effectLst/>
                  <a:latin typeface="Times New Roman" panose="02020603050405020304" pitchFamily="18" charset="0"/>
                </a:rPr>
                <a:t> </a:t>
              </a:r>
            </a:p>
            <a:p>
              <a:pPr algn="ctr"/>
              <a:endParaRPr lang="es-CL" dirty="0"/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D9B02235-B0DD-17A2-4CE6-1299D0D17A60}"/>
              </a:ext>
            </a:extLst>
          </p:cNvPr>
          <p:cNvGrpSpPr/>
          <p:nvPr/>
        </p:nvGrpSpPr>
        <p:grpSpPr>
          <a:xfrm>
            <a:off x="7251149" y="3331192"/>
            <a:ext cx="2651760" cy="2835586"/>
            <a:chOff x="7251149" y="4233650"/>
            <a:chExt cx="2651760" cy="2835586"/>
          </a:xfrm>
        </p:grpSpPr>
        <p:pic>
          <p:nvPicPr>
            <p:cNvPr id="9" name="Imagen 8">
              <a:extLst>
                <a:ext uri="{FF2B5EF4-FFF2-40B4-BE49-F238E27FC236}">
                  <a16:creationId xmlns:a16="http://schemas.microsoft.com/office/drawing/2014/main" id="{B9DFD7DC-BDAC-4B3D-E16F-68BA5598657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251149" y="4233650"/>
              <a:ext cx="2548256" cy="1080000"/>
            </a:xfrm>
            <a:prstGeom prst="rect">
              <a:avLst/>
            </a:prstGeom>
          </p:spPr>
        </p:pic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DEFDED20-2B58-B408-0A33-0D9CF26168DB}"/>
                </a:ext>
              </a:extLst>
            </p:cNvPr>
            <p:cNvSpPr txBox="1"/>
            <p:nvPr/>
          </p:nvSpPr>
          <p:spPr>
            <a:xfrm>
              <a:off x="7251149" y="5591908"/>
              <a:ext cx="2651760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800" i="1" dirty="0" err="1">
                  <a:effectLst/>
                  <a:latin typeface="Times New Roman" panose="02020603050405020304" pitchFamily="18" charset="0"/>
                </a:rPr>
                <a:t>Vehicle</a:t>
              </a:r>
              <a:r>
                <a:rPr lang="es-CL" sz="1800" i="1" dirty="0">
                  <a:effectLst/>
                  <a:latin typeface="Times New Roman" panose="02020603050405020304" pitchFamily="18" charset="0"/>
                </a:rPr>
                <a:t> </a:t>
              </a:r>
              <a:r>
                <a:rPr lang="es-CL" sz="1800" i="1" dirty="0" err="1">
                  <a:effectLst/>
                  <a:latin typeface="Times New Roman" panose="02020603050405020304" pitchFamily="18" charset="0"/>
                </a:rPr>
                <a:t>suspension</a:t>
              </a:r>
              <a:r>
                <a:rPr lang="es-CL" sz="1800" i="1" dirty="0">
                  <a:effectLst/>
                  <a:latin typeface="Times New Roman" panose="02020603050405020304" pitchFamily="18" charset="0"/>
                </a:rPr>
                <a:t>: Front View Online </a:t>
              </a:r>
              <a:r>
                <a:rPr lang="es-CL" sz="1800" i="1" dirty="0" err="1">
                  <a:effectLst/>
                  <a:latin typeface="Times New Roman" panose="02020603050405020304" pitchFamily="18" charset="0"/>
                </a:rPr>
                <a:t>Suspension</a:t>
              </a:r>
              <a:r>
                <a:rPr lang="es-CL" sz="1800" i="1" dirty="0">
                  <a:effectLst/>
                  <a:latin typeface="Times New Roman" panose="02020603050405020304" pitchFamily="18" charset="0"/>
                </a:rPr>
                <a:t> Simulator</a:t>
              </a:r>
              <a:r>
                <a:rPr lang="es-CL" sz="1800" dirty="0">
                  <a:effectLst/>
                  <a:latin typeface="Times New Roman" panose="02020603050405020304" pitchFamily="18" charset="0"/>
                </a:rPr>
                <a:t>. (s. f.-b). </a:t>
              </a:r>
              <a:r>
                <a:rPr lang="es-CL" sz="1800" dirty="0">
                  <a:effectLst/>
                  <a:latin typeface="Times New Roman" panose="02020603050405020304" pitchFamily="18" charset="0"/>
                  <a:hlinkClick r:id="rId7"/>
                </a:rPr>
                <a:t>https://n9.cl/1butd</a:t>
              </a:r>
              <a:r>
                <a:rPr lang="es-CL" sz="1800" dirty="0">
                  <a:effectLst/>
                  <a:latin typeface="Times New Roman" panose="02020603050405020304" pitchFamily="18" charset="0"/>
                </a:rPr>
                <a:t> </a:t>
              </a:r>
            </a:p>
            <a:p>
              <a:pPr algn="ctr"/>
              <a:endParaRPr lang="es-CL" dirty="0"/>
            </a:p>
          </p:txBody>
        </p:sp>
      </p:grpSp>
    </p:spTree>
    <p:extLst>
      <p:ext uri="{BB962C8B-B14F-4D97-AF65-F5344CB8AC3E}">
        <p14:creationId xmlns:p14="http://schemas.microsoft.com/office/powerpoint/2010/main" val="2707058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9026" y="46945"/>
            <a:ext cx="9905998" cy="1905000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Presenten la integración de diversas fuentes las cuales permitan responder las preguntas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627514" y="1951945"/>
            <a:ext cx="9905998" cy="4360984"/>
          </a:xfrm>
        </p:spPr>
        <p:txBody>
          <a:bodyPr>
            <a:normAutofit fontScale="55000" lnSpcReduction="20000"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CL" sz="20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1. ¿Cuáles son los ajustes específicos del vehículo diseñados para mejorar la resistencia al viento y cómo impactan en la competición en circuito?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MX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Para mejorar la resistencia al viento los ajustes específicos que se llevan a cabo son tanto desde la altura del vehículo hasta difusores y la forma de la carrocería Impactan mejorando la aceleración y velocidad punta del vehículo también notándose un poco en la estabilidad de 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s-MX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 sz="18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Race</a:t>
            </a:r>
            <a:r>
              <a:rPr lang="es-MX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(2023a, noviembre 10). </a:t>
            </a:r>
            <a:r>
              <a:rPr lang="es-MX" sz="18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¿Qué mejoras en la aerodinámica del coche consiguen que un vehículo sea más eficiente y seguro?</a:t>
            </a:r>
            <a:r>
              <a:rPr lang="es-MX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RACE. </a:t>
            </a:r>
            <a:r>
              <a:rPr lang="es-MX" sz="18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https://www.race.es/mejoras-aerodinamica-coche</a:t>
            </a:r>
            <a:r>
              <a:rPr lang="es-MX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CL" sz="2000" kern="1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2. ¿Cómo se relacionan las nociones matemáticas, como la noción de superficie y forma, con la optimización del rendimiento del vehículo en el proyecto de investigación?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s-MX" sz="2000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R:se relaciona la noción de forma con el diseño y tras ella la resistencia al viento y por lo mismo la noción de superficie con cómo difusa el mismo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s-MX" sz="18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(El </a:t>
            </a:r>
            <a:r>
              <a:rPr lang="es-MX" sz="180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dise</a:t>
            </a:r>
            <a:r>
              <a:rPr lang="es-MX" sz="18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 de un circuito - elmundo.es Motor</a:t>
            </a:r>
            <a:r>
              <a:rPr lang="es-MX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(2005, 24 junio). </a:t>
            </a:r>
            <a:r>
              <a:rPr lang="es-MX" sz="18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https://www.elmundo.es/elmundomotor/2005/06/24/tecnica/1119624007.html</a:t>
            </a:r>
            <a:r>
              <a:rPr lang="es-MX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CL" sz="20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4. ¿Cuáles son los desafíos asociados con la adaptación de un vehículo modificado para circuito a un uso cotidiano en la ciudad, considerando las características técnicas y ajustes realizados?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s-MX" sz="2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4.R:Se presentan varios desafíos ya que un vehículo cotidiano cuenta con muchas piezas de confort que en competición restan potencia ya sea por peso o porque no permita al motor alcanzar su máximo potencial , tales como: tapiz, peso de anti-ruidos de la carrocería ,amortiguadores ,componentes más blandos y limitaciones electrónicas.</a:t>
            </a:r>
          </a:p>
          <a:p>
            <a:pPr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s-MX" sz="18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(Preguntas frecuentes – </a:t>
            </a:r>
            <a:r>
              <a:rPr lang="es-MX" sz="180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SoloRace</a:t>
            </a:r>
            <a:r>
              <a:rPr lang="es-MX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(s. f.). </a:t>
            </a:r>
            <a:r>
              <a:rPr lang="es-MX" sz="18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https://solorace.cl/preguntas-frecuentes/</a:t>
            </a:r>
            <a:r>
              <a:rPr lang="es-MX" sz="18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6420" y="6043"/>
            <a:ext cx="1615580" cy="1207113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93" y="5360354"/>
            <a:ext cx="1414395" cy="14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755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5090" y="390913"/>
            <a:ext cx="9905998" cy="1905000"/>
          </a:xfrm>
        </p:spPr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Expliciten las fuentes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25407" y="1772529"/>
            <a:ext cx="9905998" cy="3418169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s-MX" sz="1800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Honda </a:t>
            </a:r>
            <a:r>
              <a:rPr lang="es-MX" sz="1800" b="1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Civic</a:t>
            </a:r>
            <a:r>
              <a:rPr lang="es-MX" sz="1800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SI 2008 - Precios y especificaciones | chileautos.cl</a:t>
            </a:r>
            <a:r>
              <a:rPr lang="es-MX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 (s. f.). </a:t>
            </a:r>
            <a:r>
              <a:rPr lang="es-MX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hlinkClick r:id="rId2"/>
              </a:rPr>
              <a:t>https://www.chileautos.cl/honda/civic/precio/2008/si-762676720080228/</a:t>
            </a:r>
            <a:r>
              <a:rPr lang="es-MX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s-MX" sz="18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Univision</a:t>
            </a:r>
            <a:r>
              <a:rPr lang="es-MX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 (s. f.). </a:t>
            </a:r>
            <a:r>
              <a:rPr lang="es-MX" sz="1800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¿Qué es la aerodinámica?</a:t>
            </a:r>
            <a:r>
              <a:rPr lang="es-MX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s-MX" sz="18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Univision</a:t>
            </a:r>
            <a:r>
              <a:rPr lang="es-MX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 </a:t>
            </a:r>
            <a:r>
              <a:rPr lang="es-MX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hlinkClick r:id="rId3"/>
              </a:rPr>
              <a:t>https://www.univision.com/explora/que-es-la-aerodinamica</a:t>
            </a:r>
            <a:r>
              <a:rPr lang="es-MX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s-MX" sz="1800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El </a:t>
            </a:r>
            <a:r>
              <a:rPr lang="es-MX" sz="1800" b="1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dise</a:t>
            </a:r>
            <a:r>
              <a:rPr lang="es-MX" sz="1800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o de un circuito - elmundo.es Motor</a:t>
            </a:r>
            <a:r>
              <a:rPr lang="es-MX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 (2005, 24 junio). </a:t>
            </a:r>
            <a:r>
              <a:rPr lang="es-MX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hlinkClick r:id="rId4"/>
              </a:rPr>
              <a:t>https://www.elmundo.es/elmundomotor/2005/06/24/tecnica/1119624007.html</a:t>
            </a:r>
            <a:r>
              <a:rPr lang="es-MX" sz="18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6420" y="6043"/>
            <a:ext cx="1615580" cy="120711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93" y="5314172"/>
            <a:ext cx="1414395" cy="14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751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0598" y="0"/>
            <a:ext cx="9905998" cy="1050878"/>
          </a:xfrm>
        </p:spPr>
        <p:txBody>
          <a:bodyPr>
            <a:normAutofit/>
          </a:bodyPr>
          <a:lstStyle/>
          <a:p>
            <a:r>
              <a:rPr lang="es-ES" sz="2000" dirty="0">
                <a:solidFill>
                  <a:schemeClr val="tx1"/>
                </a:solidFill>
              </a:rPr>
              <a:t>ideas y soluciones en base de las diversas fuentes  y conceptos de la matemática mencionados para dar respuesta  a la problemática</a:t>
            </a: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6420" y="6043"/>
            <a:ext cx="1615580" cy="1207113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0328C913-5744-C6FA-A4E0-236C7BCD8A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910" y="971759"/>
            <a:ext cx="6870138" cy="2662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s-MX" sz="14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La aerodinámica en un vehículo es la estrategia para optimizar su movimiento a través del aire, lo que resulta en un menor consumo de combustible y una mayor estabilidad. Esta se cuantifica mediante el coeficiente de resistencia aerodinámica (</a:t>
            </a:r>
            <a:r>
              <a:rPr lang="es-MX" sz="1400" dirty="0" err="1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Cx</a:t>
            </a:r>
            <a:r>
              <a:rPr lang="es-MX" sz="1400" dirty="0">
                <a:effectLst>
                  <a:glow rad="38100">
                    <a:schemeClr val="bg1">
                      <a:lumMod val="50000"/>
                      <a:lumOff val="50000"/>
                      <a:alpha val="20000"/>
                    </a:schemeClr>
                  </a:glow>
                </a:effectLst>
                <a:latin typeface="Arial" panose="020B0604020202020204" pitchFamily="34" charset="0"/>
                <a:cs typeface="Arial" panose="020B0604020202020204" pitchFamily="34" charset="0"/>
              </a:rPr>
              <a:t>), que está influenciado por la forma y el tamaño del vehículo. La aerodinámica se puede mejorar mediante la incorporación de componentes específicos, como el alerón, que genera una fuerza descendente; el difusor, que atenúa las turbulencias; el fondo plano, que suaviza el flujo de aire; y las entradas y salidas de aire, que sirven para refrigerar el vehículo o generar fuerzas específicas.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F10C872-5B72-1A19-F2EF-E38712569AE9}"/>
              </a:ext>
            </a:extLst>
          </p:cNvPr>
          <p:cNvSpPr txBox="1"/>
          <p:nvPr/>
        </p:nvSpPr>
        <p:spPr>
          <a:xfrm rot="10800000" flipH="1" flipV="1">
            <a:off x="7040734" y="1320840"/>
            <a:ext cx="4833288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Para mejorar la aerodinámica en un coche, se pueden usar conceptos y fórmulas matemáticas como: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El coeficiente aerodinámico (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Cx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), que mide la forma del coche y su resistencia al aire.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La integral de la velocidad en curva, que calcula la velocidad ideal para tomar una curva con estabilidad.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El tiempo de reacción, que estima el tiempo que tarda el conductor en frenar o esquivar un obstáculo.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Los programas de mecánica de fluidos, que simulan el flujo de aire alrededor del coche y ayudan a optimizar el diseño.</a:t>
            </a:r>
          </a:p>
          <a:p>
            <a:endParaRPr lang="es-CL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FD656D4-F7F7-FB98-787A-157F1347C25F}"/>
              </a:ext>
            </a:extLst>
          </p:cNvPr>
          <p:cNvSpPr txBox="1"/>
          <p:nvPr/>
        </p:nvSpPr>
        <p:spPr>
          <a:xfrm rot="10800000" flipH="1" flipV="1">
            <a:off x="252941" y="3287044"/>
            <a:ext cx="654739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s-MX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González, C. (2022, 1 febrero). ¿Qué es el coeficiente aerodinámico (CX)? </a:t>
            </a:r>
            <a:r>
              <a:rPr lang="es-MX" sz="120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TestCoches</a:t>
            </a:r>
            <a:r>
              <a:rPr lang="es-MX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MX" sz="12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https://testcoches.es/conceptos/coeficiente-aerodinamico-cx/</a:t>
            </a:r>
            <a:r>
              <a:rPr lang="es-MX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s-MX" sz="12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Las matemáticas de tu coche con David Calle</a:t>
            </a:r>
            <a:r>
              <a:rPr lang="es-MX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(s. f.). </a:t>
            </a:r>
            <a:r>
              <a:rPr lang="es-MX" sz="12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https://www.seat-mediacenter.es/smc/stories-page/newstories/Las-matematicas-de-tu-coche-con-David-Calle/</a:t>
            </a:r>
            <a:r>
              <a:rPr lang="es-MX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s-MX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Castro, F. (2020, 7 diciembre). Las matemáticas de tu coche. </a:t>
            </a:r>
            <a:r>
              <a:rPr lang="es-MX" sz="12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Razón</a:t>
            </a:r>
            <a:r>
              <a:rPr lang="es-MX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Castro, F. (2020b, diciembre 7). Las matemáticas de tu coche. </a:t>
            </a:r>
            <a:r>
              <a:rPr lang="es-MX" sz="12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Razón</a:t>
            </a:r>
            <a:r>
              <a:rPr lang="es-MX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MX" sz="12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https://www.larazon.es/motor/20201207/5alrbtmbkrcabhyjdpmnrgxuvm.html</a:t>
            </a:r>
            <a:r>
              <a:rPr lang="es-MX" sz="12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 colaboradores de Wikipedia. (2023, 17 octubre). Aerodinámica del automóvil. Wikipedia, la     enciclopedia libre.  </a:t>
            </a:r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https://es.wikipedia.org/wiki/Aerodin%C3%A1mica_del_autom%C3%B3vil</a:t>
            </a:r>
            <a:r>
              <a:rPr lang="es-CL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Cortez, C. (2023, 11 junio). Aerodinámica en un coche: definición, leyes, funcionamiento. Mundo Tuerca. 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https://mundotuerca.cl/aerodinamica-en-un-coche-definicion-leyes-funcionamiento/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5FD244B-5382-0D2C-4415-C385A84BF1DF}"/>
              </a:ext>
            </a:extLst>
          </p:cNvPr>
          <p:cNvSpPr txBox="1"/>
          <p:nvPr/>
        </p:nvSpPr>
        <p:spPr>
          <a:xfrm>
            <a:off x="7538601" y="3815389"/>
            <a:ext cx="4416107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 err="1"/>
              <a:t>Cx</a:t>
            </a:r>
            <a:r>
              <a:rPr lang="es-MX" dirty="0"/>
              <a:t> = 2*FD</a:t>
            </a:r>
          </a:p>
          <a:p>
            <a:r>
              <a:rPr lang="es-MX" dirty="0"/>
              <a:t>      P*a*v^2</a:t>
            </a:r>
          </a:p>
          <a:p>
            <a:endParaRPr lang="es-MX" dirty="0"/>
          </a:p>
          <a:p>
            <a:r>
              <a:rPr lang="es-MX" dirty="0"/>
              <a:t>Donde: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 err="1"/>
              <a:t>Fd</a:t>
            </a:r>
            <a:r>
              <a:rPr lang="es-MX" dirty="0"/>
              <a:t>: es la fuerza de resistencia aerodinámica.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l-GR" dirty="0"/>
              <a:t>Ρ</a:t>
            </a:r>
            <a:r>
              <a:rPr lang="es-MX" dirty="0"/>
              <a:t>: es la densidad del aire.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A: es el área frontal del vehículo.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MX" dirty="0"/>
              <a:t>V: es la velocidad del vehículo </a:t>
            </a:r>
          </a:p>
        </p:txBody>
      </p: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3362B4B8-E031-E6DB-4668-E0D178E75426}"/>
              </a:ext>
            </a:extLst>
          </p:cNvPr>
          <p:cNvCxnSpPr/>
          <p:nvPr/>
        </p:nvCxnSpPr>
        <p:spPr>
          <a:xfrm>
            <a:off x="7972454" y="4128868"/>
            <a:ext cx="89722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0700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B83622-963C-FE62-062E-FE9DE1BF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748352"/>
          </a:xfrm>
        </p:spPr>
        <p:txBody>
          <a:bodyPr/>
          <a:lstStyle/>
          <a:p>
            <a:r>
              <a:rPr lang="es-CL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20A8F1E-2A7B-3293-0A59-B5C4691A36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30907"/>
            <a:ext cx="9905998" cy="4160293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s-MX" dirty="0"/>
              <a:t>En este proyecto podemos concluir que con la investigación a fondo de las respectivas modificaciones que se realizarán en el vehículo nos damos cuenta de los muchos factores que afectan tanto como matemáticamente a cómo físicamente con el rendimiento del vehículo ya que una modificación tras otra que sea bien vista y calculada nos puede beneficiar bastante al momento de la competición de cualquier vehículo de circuito.</a:t>
            </a:r>
          </a:p>
        </p:txBody>
      </p:sp>
    </p:spTree>
    <p:extLst>
      <p:ext uri="{BB962C8B-B14F-4D97-AF65-F5344CB8AC3E}">
        <p14:creationId xmlns:p14="http://schemas.microsoft.com/office/powerpoint/2010/main" val="273067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44CA99-2143-DB1C-12B0-03421E3D2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6668" y="77372"/>
            <a:ext cx="9905998" cy="1557997"/>
          </a:xfrm>
        </p:spPr>
        <p:txBody>
          <a:bodyPr/>
          <a:lstStyle/>
          <a:p>
            <a:r>
              <a:rPr lang="es-CL" dirty="0"/>
              <a:t>Bibliografía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7BA68E-E198-84AE-9C4A-0AC9003D2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779563"/>
            <a:ext cx="9905998" cy="4011637"/>
          </a:xfrm>
        </p:spPr>
        <p:txBody>
          <a:bodyPr>
            <a:normAutofit fontScale="55000" lnSpcReduction="2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s-MX" sz="200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Race</a:t>
            </a: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(2023a, noviembre 10). </a:t>
            </a:r>
            <a:r>
              <a:rPr lang="es-MX" sz="20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¿Qué mejoras en la aerodinámica del coche consiguen que un vehículo sea más eficiente y seguro?</a:t>
            </a: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RACE. </a:t>
            </a: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https://www.race.es/mejoras-aerodinamica-coche</a:t>
            </a: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sz="20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(El </a:t>
            </a:r>
            <a:r>
              <a:rPr lang="es-MX" sz="200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dise</a:t>
            </a:r>
            <a:r>
              <a:rPr lang="es-MX" sz="20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 de un circuito - elmundo.es Motor</a:t>
            </a: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(2005, 24 junio). </a:t>
            </a: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https://www.elmundo.es/elmundomotor/2005/06/24/tecnica/1119624007.html</a:t>
            </a: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s-MX" sz="20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(Preguntas frecuentes – </a:t>
            </a:r>
            <a:r>
              <a:rPr lang="es-MX" sz="200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SoloRace</a:t>
            </a: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(s. f.). </a:t>
            </a: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https://solorace.cl/preguntas-frecuentes/</a:t>
            </a: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)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s-MX" sz="2000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Honda </a:t>
            </a:r>
            <a:r>
              <a:rPr lang="es-MX" sz="2000" b="1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Civic</a:t>
            </a:r>
            <a:r>
              <a:rPr lang="es-MX" sz="2000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SI 2008 - Precios y especificaciones | chileautos.cl</a:t>
            </a:r>
            <a:r>
              <a:rPr lang="es-MX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 (s. f.). </a:t>
            </a:r>
            <a:r>
              <a:rPr lang="es-MX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hlinkClick r:id="rId5"/>
              </a:rPr>
              <a:t>https://www.chileautos.cl/honda/civic/precio/2008/si-762676720080228/</a:t>
            </a:r>
            <a:r>
              <a:rPr lang="es-MX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s-MX" sz="20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Univision</a:t>
            </a:r>
            <a:r>
              <a:rPr lang="es-MX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 (s. f.). </a:t>
            </a:r>
            <a:r>
              <a:rPr lang="es-MX" sz="2000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¿Qué es la aerodinámica?</a:t>
            </a:r>
            <a:r>
              <a:rPr lang="es-MX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s-MX" sz="2000" b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Univision</a:t>
            </a:r>
            <a:r>
              <a:rPr lang="es-MX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 </a:t>
            </a:r>
            <a:r>
              <a:rPr lang="es-MX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hlinkClick r:id="rId6"/>
              </a:rPr>
              <a:t>https://www.univision.com/explora/que-es-la-aerodinamica</a:t>
            </a:r>
            <a:r>
              <a:rPr lang="es-MX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s-MX" sz="2000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El </a:t>
            </a:r>
            <a:r>
              <a:rPr lang="es-MX" sz="2000" b="1" i="1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dise</a:t>
            </a:r>
            <a:r>
              <a:rPr lang="es-MX" sz="2000" b="1" i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o de un circuito - elmundo.es Motor</a:t>
            </a:r>
            <a:r>
              <a:rPr lang="es-MX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. (2005, 24 junio). </a:t>
            </a:r>
            <a:r>
              <a:rPr lang="es-MX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hlinkClick r:id="rId3"/>
              </a:rPr>
              <a:t>https://www.elmundo.es/elmundomotor/2005/06/24/tecnica/1119624007.html</a:t>
            </a:r>
            <a:r>
              <a:rPr lang="es-MX" sz="2000" b="1" dirty="0">
                <a:solidFill>
                  <a:schemeClr val="tx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González, C. (2022, 1 febrero). ¿Qué es el coeficiente aerodinámico (CX)? </a:t>
            </a:r>
            <a:r>
              <a:rPr lang="es-MX" sz="2000" i="1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TestCoches</a:t>
            </a: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7"/>
              </a:rPr>
              <a:t>https://testcoches.es/conceptos/coeficiente-aerodinamico-cx/</a:t>
            </a: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s-MX" sz="20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Las matemáticas de tu coche con David Calle</a:t>
            </a: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(s. f.). </a:t>
            </a: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8"/>
              </a:rPr>
              <a:t>https://www.seat-mediacenter.es/smc/stories-page/newstories/Las-matematicas-de-tu-coche-con-David-Calle/</a:t>
            </a: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Castro, F. (2020, 7 diciembre). Las matemáticas de tu coche. </a:t>
            </a:r>
            <a:r>
              <a:rPr lang="es-MX" sz="20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Razón</a:t>
            </a: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Castro, F. (2020b, diciembre 7). Las matemáticas de tu coche. </a:t>
            </a:r>
            <a:r>
              <a:rPr lang="es-MX" sz="2000" i="1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La Razón</a:t>
            </a: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  <a:hlinkClick r:id="rId9"/>
              </a:rPr>
              <a:t>https://www.larazon.es/motor/20201207/5alrbtmbkrcabhyjdpmnrgxuvm.html</a:t>
            </a:r>
            <a:r>
              <a:rPr lang="es-MX" sz="200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s-CL" sz="2000" dirty="0">
                <a:latin typeface="Arial" panose="020B0604020202020204" pitchFamily="34" charset="0"/>
                <a:cs typeface="Arial" panose="020B0604020202020204" pitchFamily="34" charset="0"/>
              </a:rPr>
              <a:t> colaboradores de Wikipedia. (2023, 17 octubre). Aerodinámica del automóvil. Wikipedia, la     enciclopedia libre.  </a:t>
            </a:r>
            <a:r>
              <a:rPr lang="es-CL" sz="2000" dirty="0">
                <a:latin typeface="Arial" panose="020B0604020202020204" pitchFamily="34" charset="0"/>
                <a:cs typeface="Arial" panose="020B0604020202020204" pitchFamily="34" charset="0"/>
                <a:hlinkClick r:id="rId10"/>
              </a:rPr>
              <a:t>https://es.wikipedia.org/wiki/Aerodin%C3%A1mica_del_autom%C3%B3vil</a:t>
            </a:r>
            <a:r>
              <a:rPr lang="es-CL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171450" indent="-171450" algn="just">
              <a:buFont typeface="Wingdings" panose="05000000000000000000" pitchFamily="2" charset="2"/>
              <a:buChar char="Ø"/>
            </a:pP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Cortez, C. (2023, 11 junio). Aerodinámica en un coche: definición, leyes, funcionamiento. Mundo Tuerca. 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  <a:hlinkClick r:id="rId11"/>
              </a:rPr>
              <a:t>https://mundotuerca.cl/aerodinamica-en-un-coche-definicion-leyes-funcionamiento/</a:t>
            </a:r>
            <a:r>
              <a:rPr lang="es-MX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s-MX" sz="2000" b="1" dirty="0">
              <a:solidFill>
                <a:schemeClr val="tx1"/>
              </a:solidFill>
              <a:effectLst/>
              <a:latin typeface="Times New Roman" panose="02020603050405020304" pitchFamily="18" charset="0"/>
            </a:endParaRPr>
          </a:p>
          <a:p>
            <a:endParaRPr lang="es-MX" sz="20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MX" sz="200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848096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all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l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TM03457485[[fn=Malla]]</Template>
  <TotalTime>3248</TotalTime>
  <Words>2204</Words>
  <Application>Microsoft Macintosh PowerPoint</Application>
  <PresentationFormat>Panorámica</PresentationFormat>
  <Paragraphs>102</Paragraphs>
  <Slides>12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Calibri</vt:lpstr>
      <vt:lpstr>Century Gothic</vt:lpstr>
      <vt:lpstr>Times New Roman</vt:lpstr>
      <vt:lpstr>Wingdings</vt:lpstr>
      <vt:lpstr>Malla</vt:lpstr>
      <vt:lpstr>CIvic  2008  MEJORA DE REDIMIENTO  PARA COMPETICION </vt:lpstr>
      <vt:lpstr>Definición del proyecto</vt:lpstr>
      <vt:lpstr>Tema de investigación,  nociones matemáticas y problemas  a abordar </vt:lpstr>
      <vt:lpstr>Objetivos y preguntas de  investigación </vt:lpstr>
      <vt:lpstr>Temas involucrados </vt:lpstr>
      <vt:lpstr>cronograma y materiales a utilizar  </vt:lpstr>
      <vt:lpstr>Herramientas tecnológicas que optimicen el proceso ab pro</vt:lpstr>
      <vt:lpstr>Presenten la integración de diversas fuentes las cuales permitan responder las preguntas </vt:lpstr>
      <vt:lpstr>Expliciten las fuentes</vt:lpstr>
      <vt:lpstr>ideas y soluciones en base de las diversas fuentes  y conceptos de la matemática mencionados para dar respuesta  a la problemática</vt:lpstr>
      <vt:lpstr>Conclusión </vt:lpstr>
      <vt:lpstr>Bibliografía 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</dc:title>
  <dc:creator>GERARDO CONTRERAS</dc:creator>
  <cp:lastModifiedBy>Microsoft Office User</cp:lastModifiedBy>
  <cp:revision>39</cp:revision>
  <dcterms:created xsi:type="dcterms:W3CDTF">2023-11-17T02:08:24Z</dcterms:created>
  <dcterms:modified xsi:type="dcterms:W3CDTF">2023-12-27T14:56:22Z</dcterms:modified>
</cp:coreProperties>
</file>