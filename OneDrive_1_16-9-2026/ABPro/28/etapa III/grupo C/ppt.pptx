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9"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62" autoAdjust="0"/>
    <p:restoredTop sz="94201" autoAdjust="0"/>
  </p:normalViewPr>
  <p:slideViewPr>
    <p:cSldViewPr snapToGrid="0">
      <p:cViewPr varScale="1">
        <p:scale>
          <a:sx n="87" d="100"/>
          <a:sy n="87" d="100"/>
        </p:scale>
        <p:origin x="200"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27T12:20:27.460" idx="1">
    <p:pos x="1284" y="981"/>
    <p:text>BIEN DEFINIDO EL OBJETIVO</p:text>
    <p:extLst>
      <p:ext uri="{C676402C-5697-4E1C-873F-D02D1690AC5C}">
        <p15:threadingInfo xmlns:p15="http://schemas.microsoft.com/office/powerpoint/2012/main" timeZoneBias="180"/>
      </p:ext>
    </p:extLst>
  </p:cm>
  <p:cm authorId="1" dt="2023-12-27T12:21:02.938" idx="2">
    <p:pos x="2007" y="2388"/>
    <p:text>FALTA 1 PREGUNTA</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27T12:21:24.764" idx="3">
    <p:pos x="3591" y="855"/>
    <p:text>¿QUE DICE EL CRONOGRAMA?</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27T12:25:58.206" idx="4">
    <p:pos x="6971" y="1039"/>
    <p:text>NO SE LOGRA VER QUE INFORMACIÓN ENTREGA LA IMAGEN NI SU RELEVANCIA</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27T12:28:46.585" idx="5">
    <p:pos x="3140" y="2350"/>
    <p:text>¿QUE INFORMACIÓN?... EN GOOGLE, TODA LA INFORMACION EN CONFIABLE?</p:text>
    <p:extLst>
      <p:ext uri="{C676402C-5697-4E1C-873F-D02D1690AC5C}">
        <p15:threadingInfo xmlns:p15="http://schemas.microsoft.com/office/powerpoint/2012/main" timeZoneBias="180"/>
      </p:ext>
    </p:extLst>
  </p:cm>
  <p:cm authorId="1" dt="2023-12-27T12:29:52.476" idx="6">
    <p:pos x="3140" y="1059"/>
    <p:text>AL COMIENZO NO ESPECIFICARON EL TIPO DE VEHICULO</p:text>
    <p:extLst>
      <p:ext uri="{C676402C-5697-4E1C-873F-D02D1690AC5C}">
        <p15:threadingInfo xmlns:p15="http://schemas.microsoft.com/office/powerpoint/2012/main" timeZoneBias="180"/>
      </p:ext>
    </p:extLst>
  </p:cm>
  <p:cm authorId="1" dt="2023-12-27T12:31:28.235" idx="7">
    <p:pos x="5974" y="1078"/>
    <p:text>A QUE SE REFIERE CON LA GEOMETRIA DEL VEHICULO?</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27T12:35:36.090" idx="8">
    <p:pos x="5760" y="2703"/>
    <p:text/>
    <p:extLst>
      <p:ext uri="{C676402C-5697-4E1C-873F-D02D1690AC5C}">
        <p15:threadingInfo xmlns:p15="http://schemas.microsoft.com/office/powerpoint/2012/main" timeZoneBias="180"/>
      </p:ext>
    </p:extLst>
  </p:cm>
  <p:cm authorId="1" dt="2023-12-27T12:35:44.838" idx="9">
    <p:pos x="5788" y="2703"/>
    <p:text>NO PUEDE UTILIZAR WIKIPEDIA COMO REFERENCIA PARA NINGUN TIPO DE INVESTIGACION</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4B51F3-ED9D-004A-8374-5CA4E685772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956ECA83-786B-3F4E-AB94-EC7ED5FC5C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E38A5F57-B473-D845-9512-F1AD5C585C25}"/>
              </a:ext>
            </a:extLst>
          </p:cNvPr>
          <p:cNvSpPr>
            <a:spLocks noGrp="1"/>
          </p:cNvSpPr>
          <p:nvPr>
            <p:ph type="dt" sz="half" idx="10"/>
          </p:nvPr>
        </p:nvSpPr>
        <p:spPr/>
        <p:txBody>
          <a:bodyPr/>
          <a:lstStyle/>
          <a:p>
            <a:fld id="{583A0BE0-3D73-4F25-BEA6-1ADEEEB5FE1E}" type="datetimeFigureOut">
              <a:rPr lang="es-CL" smtClean="0"/>
              <a:t>27-12-23</a:t>
            </a:fld>
            <a:endParaRPr lang="es-CL"/>
          </a:p>
        </p:txBody>
      </p:sp>
      <p:sp>
        <p:nvSpPr>
          <p:cNvPr id="5" name="Marcador de pie de página 4">
            <a:extLst>
              <a:ext uri="{FF2B5EF4-FFF2-40B4-BE49-F238E27FC236}">
                <a16:creationId xmlns:a16="http://schemas.microsoft.com/office/drawing/2014/main" id="{343C8F26-7067-2340-9EC3-D7FA7D68F03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B798C79-C57F-F247-B5EF-B55F3285931A}"/>
              </a:ext>
            </a:extLst>
          </p:cNvPr>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1879417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D287DE-15D2-334F-A509-88F93141EAA3}"/>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5806401-4C87-8F43-ABB0-AB0434BCCB92}"/>
              </a:ext>
            </a:extLst>
          </p:cNvPr>
          <p:cNvSpPr>
            <a:spLocks noGrp="1"/>
          </p:cNvSpPr>
          <p:nvPr>
            <p:ph idx="1"/>
          </p:nvPr>
        </p:nvSpPr>
        <p:spPr/>
        <p:txBody>
          <a:bodyPr/>
          <a:lstStyle/>
          <a:p>
            <a:r>
              <a:rPr lang="es-ES"/>
              <a:t>Editar los estilos de texto del patrón
Segundo nivel
Tercer nivel
Cuarto nivel
Quinto nivel</a:t>
            </a:r>
            <a:endParaRPr lang="es-CL"/>
          </a:p>
        </p:txBody>
      </p:sp>
      <p:sp>
        <p:nvSpPr>
          <p:cNvPr id="4" name="Marcador de fecha 3">
            <a:extLst>
              <a:ext uri="{FF2B5EF4-FFF2-40B4-BE49-F238E27FC236}">
                <a16:creationId xmlns:a16="http://schemas.microsoft.com/office/drawing/2014/main" id="{DE55FE28-AB83-CF41-A6CF-59F787711849}"/>
              </a:ext>
            </a:extLst>
          </p:cNvPr>
          <p:cNvSpPr>
            <a:spLocks noGrp="1"/>
          </p:cNvSpPr>
          <p:nvPr>
            <p:ph type="dt" sz="half" idx="10"/>
          </p:nvPr>
        </p:nvSpPr>
        <p:spPr/>
        <p:txBody>
          <a:bodyPr/>
          <a:lstStyle/>
          <a:p>
            <a:fld id="{583A0BE0-3D73-4F25-BEA6-1ADEEEB5FE1E}" type="datetimeFigureOut">
              <a:rPr lang="es-CL" smtClean="0"/>
              <a:t>27-12-23</a:t>
            </a:fld>
            <a:endParaRPr lang="es-CL"/>
          </a:p>
        </p:txBody>
      </p:sp>
      <p:sp>
        <p:nvSpPr>
          <p:cNvPr id="5" name="Marcador de pie de página 4">
            <a:extLst>
              <a:ext uri="{FF2B5EF4-FFF2-40B4-BE49-F238E27FC236}">
                <a16:creationId xmlns:a16="http://schemas.microsoft.com/office/drawing/2014/main" id="{4598D30B-CCC7-C840-BB65-FA62B37A0E0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D2B2DB5B-A7D6-D541-BF60-95B3BDB29D34}"/>
              </a:ext>
            </a:extLst>
          </p:cNvPr>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3023359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9B0F13-1F18-BD4F-8D15-D7F0BDE7C6F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D89DB60A-EB6B-C845-973B-A997ED8779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s-ES"/>
              <a:t>Editar los estilos de texto del patrón
Segundo nivel
Tercer nivel
Cuarto nivel
Quinto nivel</a:t>
            </a:r>
            <a:endParaRPr lang="es-CL"/>
          </a:p>
        </p:txBody>
      </p:sp>
      <p:sp>
        <p:nvSpPr>
          <p:cNvPr id="4" name="Marcador de fecha 3">
            <a:extLst>
              <a:ext uri="{FF2B5EF4-FFF2-40B4-BE49-F238E27FC236}">
                <a16:creationId xmlns:a16="http://schemas.microsoft.com/office/drawing/2014/main" id="{94EF5727-D68E-0D48-B8F2-73F9C97DDB17}"/>
              </a:ext>
            </a:extLst>
          </p:cNvPr>
          <p:cNvSpPr>
            <a:spLocks noGrp="1"/>
          </p:cNvSpPr>
          <p:nvPr>
            <p:ph type="dt" sz="half" idx="10"/>
          </p:nvPr>
        </p:nvSpPr>
        <p:spPr/>
        <p:txBody>
          <a:bodyPr/>
          <a:lstStyle/>
          <a:p>
            <a:fld id="{583A0BE0-3D73-4F25-BEA6-1ADEEEB5FE1E}" type="datetimeFigureOut">
              <a:rPr lang="es-CL" smtClean="0"/>
              <a:t>27-12-23</a:t>
            </a:fld>
            <a:endParaRPr lang="es-CL"/>
          </a:p>
        </p:txBody>
      </p:sp>
      <p:sp>
        <p:nvSpPr>
          <p:cNvPr id="5" name="Marcador de pie de página 4">
            <a:extLst>
              <a:ext uri="{FF2B5EF4-FFF2-40B4-BE49-F238E27FC236}">
                <a16:creationId xmlns:a16="http://schemas.microsoft.com/office/drawing/2014/main" id="{65B363BA-C161-E94E-84C0-57D54349A38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A7BCC7A-F453-1842-B2E1-EAB91D9DE388}"/>
              </a:ext>
            </a:extLst>
          </p:cNvPr>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2907281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12FC37-E0B4-F640-9CDB-7451F240306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B8F8595-3C6F-F746-81ED-10184279311D}"/>
              </a:ext>
            </a:extLst>
          </p:cNvPr>
          <p:cNvSpPr>
            <a:spLocks noGrp="1"/>
          </p:cNvSpPr>
          <p:nvPr>
            <p:ph sz="half" idx="1"/>
          </p:nvPr>
        </p:nvSpPr>
        <p:spPr>
          <a:xfrm>
            <a:off x="838200" y="1825625"/>
            <a:ext cx="5181600" cy="4351338"/>
          </a:xfrm>
        </p:spPr>
        <p:txBody>
          <a:bodyPr/>
          <a:lstStyle/>
          <a:p>
            <a:r>
              <a:rPr lang="es-ES"/>
              <a:t>Editar los estilos de texto del patrón
Segundo nivel
Tercer nivel
Cuarto nivel
Quinto nivel</a:t>
            </a:r>
            <a:endParaRPr lang="es-CL"/>
          </a:p>
        </p:txBody>
      </p:sp>
      <p:sp>
        <p:nvSpPr>
          <p:cNvPr id="4" name="Marcador de contenido 3">
            <a:extLst>
              <a:ext uri="{FF2B5EF4-FFF2-40B4-BE49-F238E27FC236}">
                <a16:creationId xmlns:a16="http://schemas.microsoft.com/office/drawing/2014/main" id="{AB77D3F6-40B9-174D-A799-B536478F3202}"/>
              </a:ext>
            </a:extLst>
          </p:cNvPr>
          <p:cNvSpPr>
            <a:spLocks noGrp="1"/>
          </p:cNvSpPr>
          <p:nvPr>
            <p:ph sz="half" idx="2"/>
          </p:nvPr>
        </p:nvSpPr>
        <p:spPr>
          <a:xfrm>
            <a:off x="6172200" y="1825625"/>
            <a:ext cx="5181600" cy="4351338"/>
          </a:xfrm>
        </p:spPr>
        <p:txBody>
          <a:bodyPr/>
          <a:lstStyle/>
          <a:p>
            <a:r>
              <a:rPr lang="es-ES"/>
              <a:t>Editar los estilos de texto del patrón
Segundo nivel
Tercer nivel
Cuarto nivel
Quinto nivel</a:t>
            </a:r>
            <a:endParaRPr lang="es-CL"/>
          </a:p>
        </p:txBody>
      </p:sp>
      <p:sp>
        <p:nvSpPr>
          <p:cNvPr id="5" name="Marcador de fecha 4">
            <a:extLst>
              <a:ext uri="{FF2B5EF4-FFF2-40B4-BE49-F238E27FC236}">
                <a16:creationId xmlns:a16="http://schemas.microsoft.com/office/drawing/2014/main" id="{51DEC5AF-6B04-8241-9F0F-BDF7962E6EF8}"/>
              </a:ext>
            </a:extLst>
          </p:cNvPr>
          <p:cNvSpPr>
            <a:spLocks noGrp="1"/>
          </p:cNvSpPr>
          <p:nvPr>
            <p:ph type="dt" sz="half" idx="10"/>
          </p:nvPr>
        </p:nvSpPr>
        <p:spPr/>
        <p:txBody>
          <a:bodyPr/>
          <a:lstStyle/>
          <a:p>
            <a:fld id="{583A0BE0-3D73-4F25-BEA6-1ADEEEB5FE1E}" type="datetimeFigureOut">
              <a:rPr lang="es-CL" smtClean="0"/>
              <a:t>27-12-23</a:t>
            </a:fld>
            <a:endParaRPr lang="es-CL"/>
          </a:p>
        </p:txBody>
      </p:sp>
      <p:sp>
        <p:nvSpPr>
          <p:cNvPr id="6" name="Marcador de pie de página 5">
            <a:extLst>
              <a:ext uri="{FF2B5EF4-FFF2-40B4-BE49-F238E27FC236}">
                <a16:creationId xmlns:a16="http://schemas.microsoft.com/office/drawing/2014/main" id="{902629AD-82B4-6740-8A66-329F555279E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EF1436F-AF99-9F42-943C-426DD31BC2DE}"/>
              </a:ext>
            </a:extLst>
          </p:cNvPr>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2395078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7A0165-E956-E14F-99F7-8297E036237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E3F35462-20D3-024D-9E0C-CD8F1FE702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s-ES"/>
              <a:t>Editar los estilos de texto del patrón
Segundo nivel
Tercer nivel
Cuarto nivel
Quinto nivel</a:t>
            </a:r>
            <a:endParaRPr lang="es-CL"/>
          </a:p>
        </p:txBody>
      </p:sp>
      <p:sp>
        <p:nvSpPr>
          <p:cNvPr id="4" name="Marcador de contenido 3">
            <a:extLst>
              <a:ext uri="{FF2B5EF4-FFF2-40B4-BE49-F238E27FC236}">
                <a16:creationId xmlns:a16="http://schemas.microsoft.com/office/drawing/2014/main" id="{B3BD58BE-B1A9-CA48-BA4A-B3BE30015BC1}"/>
              </a:ext>
            </a:extLst>
          </p:cNvPr>
          <p:cNvSpPr>
            <a:spLocks noGrp="1"/>
          </p:cNvSpPr>
          <p:nvPr>
            <p:ph sz="half" idx="2"/>
          </p:nvPr>
        </p:nvSpPr>
        <p:spPr>
          <a:xfrm>
            <a:off x="839788" y="2505075"/>
            <a:ext cx="5157787" cy="3684588"/>
          </a:xfrm>
        </p:spPr>
        <p:txBody>
          <a:bodyPr/>
          <a:lstStyle/>
          <a:p>
            <a:r>
              <a:rPr lang="es-ES"/>
              <a:t>Editar los estilos de texto del patrón
Segundo nivel
Tercer nivel
Cuarto nivel
Quinto nivel</a:t>
            </a:r>
            <a:endParaRPr lang="es-CL"/>
          </a:p>
        </p:txBody>
      </p:sp>
      <p:sp>
        <p:nvSpPr>
          <p:cNvPr id="5" name="Marcador de texto 4">
            <a:extLst>
              <a:ext uri="{FF2B5EF4-FFF2-40B4-BE49-F238E27FC236}">
                <a16:creationId xmlns:a16="http://schemas.microsoft.com/office/drawing/2014/main" id="{80B22083-2D27-434C-97C8-866277E976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s-ES"/>
              <a:t>Editar los estilos de texto del patrón
Segundo nivel
Tercer nivel
Cuarto nivel
Quinto nivel</a:t>
            </a:r>
            <a:endParaRPr lang="es-CL"/>
          </a:p>
        </p:txBody>
      </p:sp>
      <p:sp>
        <p:nvSpPr>
          <p:cNvPr id="6" name="Marcador de contenido 5">
            <a:extLst>
              <a:ext uri="{FF2B5EF4-FFF2-40B4-BE49-F238E27FC236}">
                <a16:creationId xmlns:a16="http://schemas.microsoft.com/office/drawing/2014/main" id="{7D755B40-1395-6545-9D9C-04A3484AB927}"/>
              </a:ext>
            </a:extLst>
          </p:cNvPr>
          <p:cNvSpPr>
            <a:spLocks noGrp="1"/>
          </p:cNvSpPr>
          <p:nvPr>
            <p:ph sz="quarter" idx="4"/>
          </p:nvPr>
        </p:nvSpPr>
        <p:spPr>
          <a:xfrm>
            <a:off x="6172200" y="2505075"/>
            <a:ext cx="5183188" cy="3684588"/>
          </a:xfrm>
        </p:spPr>
        <p:txBody>
          <a:bodyPr/>
          <a:lstStyle/>
          <a:p>
            <a:r>
              <a:rPr lang="es-ES"/>
              <a:t>Editar los estilos de texto del patrón
Segundo nivel
Tercer nivel
Cuarto nivel
Quinto nivel</a:t>
            </a:r>
            <a:endParaRPr lang="es-CL"/>
          </a:p>
        </p:txBody>
      </p:sp>
      <p:sp>
        <p:nvSpPr>
          <p:cNvPr id="7" name="Marcador de fecha 6">
            <a:extLst>
              <a:ext uri="{FF2B5EF4-FFF2-40B4-BE49-F238E27FC236}">
                <a16:creationId xmlns:a16="http://schemas.microsoft.com/office/drawing/2014/main" id="{D8A7C760-C790-474A-A383-4C6816B64897}"/>
              </a:ext>
            </a:extLst>
          </p:cNvPr>
          <p:cNvSpPr>
            <a:spLocks noGrp="1"/>
          </p:cNvSpPr>
          <p:nvPr>
            <p:ph type="dt" sz="half" idx="10"/>
          </p:nvPr>
        </p:nvSpPr>
        <p:spPr/>
        <p:txBody>
          <a:bodyPr/>
          <a:lstStyle/>
          <a:p>
            <a:fld id="{583A0BE0-3D73-4F25-BEA6-1ADEEEB5FE1E}" type="datetimeFigureOut">
              <a:rPr lang="es-CL" smtClean="0"/>
              <a:t>27-12-23</a:t>
            </a:fld>
            <a:endParaRPr lang="es-CL"/>
          </a:p>
        </p:txBody>
      </p:sp>
      <p:sp>
        <p:nvSpPr>
          <p:cNvPr id="8" name="Marcador de pie de página 7">
            <a:extLst>
              <a:ext uri="{FF2B5EF4-FFF2-40B4-BE49-F238E27FC236}">
                <a16:creationId xmlns:a16="http://schemas.microsoft.com/office/drawing/2014/main" id="{7C472678-42A8-8446-B992-06005D81B61B}"/>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7D44678F-E38A-634B-AB0E-24B7D7CD254F}"/>
              </a:ext>
            </a:extLst>
          </p:cNvPr>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2079329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FE60E3-AB97-0143-BAFE-B6A7359A0552}"/>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8587E80-8DFA-8244-A6A2-F6D3A1F83564}"/>
              </a:ext>
            </a:extLst>
          </p:cNvPr>
          <p:cNvSpPr>
            <a:spLocks noGrp="1"/>
          </p:cNvSpPr>
          <p:nvPr>
            <p:ph type="dt" sz="half" idx="10"/>
          </p:nvPr>
        </p:nvSpPr>
        <p:spPr/>
        <p:txBody>
          <a:bodyPr/>
          <a:lstStyle/>
          <a:p>
            <a:fld id="{583A0BE0-3D73-4F25-BEA6-1ADEEEB5FE1E}" type="datetimeFigureOut">
              <a:rPr lang="es-CL" smtClean="0"/>
              <a:t>27-12-23</a:t>
            </a:fld>
            <a:endParaRPr lang="es-CL"/>
          </a:p>
        </p:txBody>
      </p:sp>
      <p:sp>
        <p:nvSpPr>
          <p:cNvPr id="4" name="Marcador de pie de página 3">
            <a:extLst>
              <a:ext uri="{FF2B5EF4-FFF2-40B4-BE49-F238E27FC236}">
                <a16:creationId xmlns:a16="http://schemas.microsoft.com/office/drawing/2014/main" id="{BD84EDC0-08A7-AB45-A78B-802BB57C0C08}"/>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58E3C591-B7DC-1F4A-B3CE-5073B3EC389F}"/>
              </a:ext>
            </a:extLst>
          </p:cNvPr>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3957492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5DED94A-478D-DB4C-96F9-3036EE94DA7B}"/>
              </a:ext>
            </a:extLst>
          </p:cNvPr>
          <p:cNvSpPr>
            <a:spLocks noGrp="1"/>
          </p:cNvSpPr>
          <p:nvPr>
            <p:ph type="dt" sz="half" idx="10"/>
          </p:nvPr>
        </p:nvSpPr>
        <p:spPr/>
        <p:txBody>
          <a:bodyPr/>
          <a:lstStyle/>
          <a:p>
            <a:fld id="{583A0BE0-3D73-4F25-BEA6-1ADEEEB5FE1E}" type="datetimeFigureOut">
              <a:rPr lang="es-CL" smtClean="0"/>
              <a:t>27-12-23</a:t>
            </a:fld>
            <a:endParaRPr lang="es-CL"/>
          </a:p>
        </p:txBody>
      </p:sp>
      <p:sp>
        <p:nvSpPr>
          <p:cNvPr id="3" name="Marcador de pie de página 2">
            <a:extLst>
              <a:ext uri="{FF2B5EF4-FFF2-40B4-BE49-F238E27FC236}">
                <a16:creationId xmlns:a16="http://schemas.microsoft.com/office/drawing/2014/main" id="{319A2ACB-E1CD-7F4A-88E6-55872314244C}"/>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C8F6DA38-0EDB-E34A-983B-7CC97A44DBE9}"/>
              </a:ext>
            </a:extLst>
          </p:cNvPr>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1110808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2BB5D1-0CDA-234F-8C53-E802EB4AB01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726E0DC-BA62-4549-BA30-62854FEF36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s-ES"/>
              <a:t>Editar los estilos de texto del patrón
Segundo nivel
Tercer nivel
Cuarto nivel
Quinto nivel</a:t>
            </a:r>
            <a:endParaRPr lang="es-CL"/>
          </a:p>
        </p:txBody>
      </p:sp>
      <p:sp>
        <p:nvSpPr>
          <p:cNvPr id="4" name="Marcador de texto 3">
            <a:extLst>
              <a:ext uri="{FF2B5EF4-FFF2-40B4-BE49-F238E27FC236}">
                <a16:creationId xmlns:a16="http://schemas.microsoft.com/office/drawing/2014/main" id="{6D7ECD82-A2DE-D942-AAD9-09C24FD8FE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s-ES"/>
              <a:t>Editar los estilos de texto del patrón
Segundo nivel
Tercer nivel
Cuarto nivel
Quinto nivel</a:t>
            </a:r>
            <a:endParaRPr lang="es-CL"/>
          </a:p>
        </p:txBody>
      </p:sp>
      <p:sp>
        <p:nvSpPr>
          <p:cNvPr id="5" name="Marcador de fecha 4">
            <a:extLst>
              <a:ext uri="{FF2B5EF4-FFF2-40B4-BE49-F238E27FC236}">
                <a16:creationId xmlns:a16="http://schemas.microsoft.com/office/drawing/2014/main" id="{D1B60239-ADAD-E846-997A-77CB605E7E0D}"/>
              </a:ext>
            </a:extLst>
          </p:cNvPr>
          <p:cNvSpPr>
            <a:spLocks noGrp="1"/>
          </p:cNvSpPr>
          <p:nvPr>
            <p:ph type="dt" sz="half" idx="10"/>
          </p:nvPr>
        </p:nvSpPr>
        <p:spPr/>
        <p:txBody>
          <a:bodyPr/>
          <a:lstStyle/>
          <a:p>
            <a:fld id="{583A0BE0-3D73-4F25-BEA6-1ADEEEB5FE1E}" type="datetimeFigureOut">
              <a:rPr lang="es-CL" smtClean="0"/>
              <a:t>27-12-23</a:t>
            </a:fld>
            <a:endParaRPr lang="es-CL"/>
          </a:p>
        </p:txBody>
      </p:sp>
      <p:sp>
        <p:nvSpPr>
          <p:cNvPr id="6" name="Marcador de pie de página 5">
            <a:extLst>
              <a:ext uri="{FF2B5EF4-FFF2-40B4-BE49-F238E27FC236}">
                <a16:creationId xmlns:a16="http://schemas.microsoft.com/office/drawing/2014/main" id="{627B225B-38C6-9C43-BD08-3517BC1B774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19D62FB9-C6E0-9941-A6FC-0B8D2E26BAF5}"/>
              </a:ext>
            </a:extLst>
          </p:cNvPr>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4037381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49A60-D7E0-A644-8F32-C08D388D99B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E1FD073F-D506-5443-9CB2-054C91D4C3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758D02F8-6C13-A34C-8612-F1C23193BD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es-ES"/>
              <a:t>Editar los estilos de texto del patrón
Segundo nivel
Tercer nivel
Cuarto nivel
Quinto nivel</a:t>
            </a:r>
            <a:endParaRPr lang="es-CL"/>
          </a:p>
        </p:txBody>
      </p:sp>
      <p:sp>
        <p:nvSpPr>
          <p:cNvPr id="5" name="Marcador de fecha 4">
            <a:extLst>
              <a:ext uri="{FF2B5EF4-FFF2-40B4-BE49-F238E27FC236}">
                <a16:creationId xmlns:a16="http://schemas.microsoft.com/office/drawing/2014/main" id="{71586A83-055E-5047-9EA9-ED75499908D3}"/>
              </a:ext>
            </a:extLst>
          </p:cNvPr>
          <p:cNvSpPr>
            <a:spLocks noGrp="1"/>
          </p:cNvSpPr>
          <p:nvPr>
            <p:ph type="dt" sz="half" idx="10"/>
          </p:nvPr>
        </p:nvSpPr>
        <p:spPr/>
        <p:txBody>
          <a:bodyPr/>
          <a:lstStyle/>
          <a:p>
            <a:fld id="{583A0BE0-3D73-4F25-BEA6-1ADEEEB5FE1E}" type="datetimeFigureOut">
              <a:rPr lang="es-CL" smtClean="0"/>
              <a:t>27-12-23</a:t>
            </a:fld>
            <a:endParaRPr lang="es-CL"/>
          </a:p>
        </p:txBody>
      </p:sp>
      <p:sp>
        <p:nvSpPr>
          <p:cNvPr id="6" name="Marcador de pie de página 5">
            <a:extLst>
              <a:ext uri="{FF2B5EF4-FFF2-40B4-BE49-F238E27FC236}">
                <a16:creationId xmlns:a16="http://schemas.microsoft.com/office/drawing/2014/main" id="{66584B90-7152-DB4A-BCE8-70DCE57DF1B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14FF119A-1703-2D4B-B65B-DAA4CE6CF83F}"/>
              </a:ext>
            </a:extLst>
          </p:cNvPr>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3292663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B50F78-D2A2-3E46-9614-9DE412439E61}"/>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627AB36D-A3FD-DF49-8491-08A790747887}"/>
              </a:ext>
            </a:extLst>
          </p:cNvPr>
          <p:cNvSpPr>
            <a:spLocks noGrp="1"/>
          </p:cNvSpPr>
          <p:nvPr>
            <p:ph type="body" orient="vert" idx="1"/>
          </p:nvPr>
        </p:nvSpPr>
        <p:spPr/>
        <p:txBody>
          <a:bodyPr vert="eaVert"/>
          <a:lstStyle/>
          <a:p>
            <a:r>
              <a:rPr lang="es-ES"/>
              <a:t>Editar los estilos de texto del patrón
Segundo nivel
Tercer nivel
Cuarto nivel
Quinto nivel</a:t>
            </a:r>
            <a:endParaRPr lang="es-CL"/>
          </a:p>
        </p:txBody>
      </p:sp>
      <p:sp>
        <p:nvSpPr>
          <p:cNvPr id="4" name="Marcador de fecha 3">
            <a:extLst>
              <a:ext uri="{FF2B5EF4-FFF2-40B4-BE49-F238E27FC236}">
                <a16:creationId xmlns:a16="http://schemas.microsoft.com/office/drawing/2014/main" id="{BAFE5DAF-98E3-7743-9749-95A751CAB328}"/>
              </a:ext>
            </a:extLst>
          </p:cNvPr>
          <p:cNvSpPr>
            <a:spLocks noGrp="1"/>
          </p:cNvSpPr>
          <p:nvPr>
            <p:ph type="dt" sz="half" idx="10"/>
          </p:nvPr>
        </p:nvSpPr>
        <p:spPr/>
        <p:txBody>
          <a:bodyPr/>
          <a:lstStyle/>
          <a:p>
            <a:fld id="{583A0BE0-3D73-4F25-BEA6-1ADEEEB5FE1E}" type="datetimeFigureOut">
              <a:rPr lang="es-CL" smtClean="0"/>
              <a:t>27-12-23</a:t>
            </a:fld>
            <a:endParaRPr lang="es-CL"/>
          </a:p>
        </p:txBody>
      </p:sp>
      <p:sp>
        <p:nvSpPr>
          <p:cNvPr id="5" name="Marcador de pie de página 4">
            <a:extLst>
              <a:ext uri="{FF2B5EF4-FFF2-40B4-BE49-F238E27FC236}">
                <a16:creationId xmlns:a16="http://schemas.microsoft.com/office/drawing/2014/main" id="{F0377B7D-A6B2-A745-B776-7DCAFF946C2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7CB09148-7D20-8C4C-B04D-1B43C76C4664}"/>
              </a:ext>
            </a:extLst>
          </p:cNvPr>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2468314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AE1A1D6-C001-3647-95A7-6EEA81F0918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3BA37F43-E3FA-9045-B7E3-27E792687B8C}"/>
              </a:ext>
            </a:extLst>
          </p:cNvPr>
          <p:cNvSpPr>
            <a:spLocks noGrp="1"/>
          </p:cNvSpPr>
          <p:nvPr>
            <p:ph type="body" orient="vert" idx="1"/>
          </p:nvPr>
        </p:nvSpPr>
        <p:spPr>
          <a:xfrm>
            <a:off x="838200" y="365125"/>
            <a:ext cx="7734300" cy="5811838"/>
          </a:xfrm>
        </p:spPr>
        <p:txBody>
          <a:bodyPr vert="eaVert"/>
          <a:lstStyle/>
          <a:p>
            <a:r>
              <a:rPr lang="es-ES"/>
              <a:t>Editar los estilos de texto del patrón
Segundo nivel
Tercer nivel
Cuarto nivel
Quinto nivel</a:t>
            </a:r>
            <a:endParaRPr lang="es-CL"/>
          </a:p>
        </p:txBody>
      </p:sp>
      <p:sp>
        <p:nvSpPr>
          <p:cNvPr id="4" name="Marcador de fecha 3">
            <a:extLst>
              <a:ext uri="{FF2B5EF4-FFF2-40B4-BE49-F238E27FC236}">
                <a16:creationId xmlns:a16="http://schemas.microsoft.com/office/drawing/2014/main" id="{7F6A9819-F399-964D-90E6-FBBA7F08E8A3}"/>
              </a:ext>
            </a:extLst>
          </p:cNvPr>
          <p:cNvSpPr>
            <a:spLocks noGrp="1"/>
          </p:cNvSpPr>
          <p:nvPr>
            <p:ph type="dt" sz="half" idx="10"/>
          </p:nvPr>
        </p:nvSpPr>
        <p:spPr/>
        <p:txBody>
          <a:bodyPr/>
          <a:lstStyle/>
          <a:p>
            <a:fld id="{583A0BE0-3D73-4F25-BEA6-1ADEEEB5FE1E}" type="datetimeFigureOut">
              <a:rPr lang="es-CL" smtClean="0"/>
              <a:t>27-12-23</a:t>
            </a:fld>
            <a:endParaRPr lang="es-CL"/>
          </a:p>
        </p:txBody>
      </p:sp>
      <p:sp>
        <p:nvSpPr>
          <p:cNvPr id="5" name="Marcador de pie de página 4">
            <a:extLst>
              <a:ext uri="{FF2B5EF4-FFF2-40B4-BE49-F238E27FC236}">
                <a16:creationId xmlns:a16="http://schemas.microsoft.com/office/drawing/2014/main" id="{D8354772-FDC4-6742-A75F-E951496330C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3528273E-AE06-F54F-95B0-D6323B2F3719}"/>
              </a:ext>
            </a:extLst>
          </p:cNvPr>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481247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9B1DD96-155C-C24F-9AF0-8DDA97B074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948B51A0-0104-4F43-AC5A-8E213CC09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lang="es-ES"/>
              <a:t>Editar los estilos de texto del patrón
Segundo nivel
Tercer nivel
Cuarto nivel
Quinto nivel</a:t>
            </a:r>
            <a:endParaRPr lang="es-CL"/>
          </a:p>
        </p:txBody>
      </p:sp>
      <p:sp>
        <p:nvSpPr>
          <p:cNvPr id="4" name="Marcador de fecha 3">
            <a:extLst>
              <a:ext uri="{FF2B5EF4-FFF2-40B4-BE49-F238E27FC236}">
                <a16:creationId xmlns:a16="http://schemas.microsoft.com/office/drawing/2014/main" id="{CF4DBF6B-B75E-7540-B3AD-430DA4C76D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3A0BE0-3D73-4F25-BEA6-1ADEEEB5FE1E}" type="datetimeFigureOut">
              <a:rPr lang="es-CL" smtClean="0"/>
              <a:t>27-12-23</a:t>
            </a:fld>
            <a:endParaRPr lang="es-CL"/>
          </a:p>
        </p:txBody>
      </p:sp>
      <p:sp>
        <p:nvSpPr>
          <p:cNvPr id="5" name="Marcador de pie de página 4">
            <a:extLst>
              <a:ext uri="{FF2B5EF4-FFF2-40B4-BE49-F238E27FC236}">
                <a16:creationId xmlns:a16="http://schemas.microsoft.com/office/drawing/2014/main" id="{3EB45165-3F71-8B44-A9BC-93A6DA2468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B859D713-6DE9-4B4A-8B29-1A54259697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0DA473-0601-47E1-9BED-DB8C1D5546F0}" type="slidenum">
              <a:rPr lang="es-CL" smtClean="0"/>
              <a:t>‹Nº›</a:t>
            </a:fld>
            <a:endParaRPr lang="es-CL"/>
          </a:p>
        </p:txBody>
      </p:sp>
    </p:spTree>
    <p:extLst>
      <p:ext uri="{BB962C8B-B14F-4D97-AF65-F5344CB8AC3E}">
        <p14:creationId xmlns:p14="http://schemas.microsoft.com/office/powerpoint/2010/main" val="2488490837"/>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334E94-E9C5-BE51-FD35-34D5D289628C}"/>
              </a:ext>
            </a:extLst>
          </p:cNvPr>
          <p:cNvPicPr>
            <a:picLocks noChangeAspect="1"/>
          </p:cNvPicPr>
          <p:nvPr/>
        </p:nvPicPr>
        <p:blipFill rotWithShape="1">
          <a:blip r:embed="rId2"/>
          <a:srcRect t="29"/>
          <a:stretch/>
        </p:blipFill>
        <p:spPr>
          <a:xfrm>
            <a:off x="20" y="2030"/>
            <a:ext cx="12191980" cy="6855970"/>
          </a:xfrm>
          <a:prstGeom prst="rect">
            <a:avLst/>
          </a:prstGeom>
        </p:spPr>
      </p:pic>
      <p:sp>
        <p:nvSpPr>
          <p:cNvPr id="2" name="Título 1">
            <a:extLst>
              <a:ext uri="{FF2B5EF4-FFF2-40B4-BE49-F238E27FC236}">
                <a16:creationId xmlns:a16="http://schemas.microsoft.com/office/drawing/2014/main" id="{14F9DF43-D903-8008-DB45-68F8253CF7E1}"/>
              </a:ext>
            </a:extLst>
          </p:cNvPr>
          <p:cNvSpPr>
            <a:spLocks noGrp="1"/>
          </p:cNvSpPr>
          <p:nvPr>
            <p:ph type="ctrTitle"/>
          </p:nvPr>
        </p:nvSpPr>
        <p:spPr>
          <a:xfrm>
            <a:off x="1595269" y="868362"/>
            <a:ext cx="9001462" cy="2387600"/>
          </a:xfrm>
        </p:spPr>
        <p:txBody>
          <a:bodyPr>
            <a:normAutofit/>
          </a:bodyPr>
          <a:lstStyle/>
          <a:p>
            <a:r>
              <a:rPr lang="es-CL" dirty="0">
                <a:latin typeface="Arial" panose="020B0604020202020204" pitchFamily="34" charset="0"/>
                <a:cs typeface="Arial" panose="020B0604020202020204" pitchFamily="34" charset="0"/>
              </a:rPr>
              <a:t>Jaula Antivuelco</a:t>
            </a:r>
          </a:p>
        </p:txBody>
      </p:sp>
      <p:sp>
        <p:nvSpPr>
          <p:cNvPr id="3" name="Subtítulo 2">
            <a:extLst>
              <a:ext uri="{FF2B5EF4-FFF2-40B4-BE49-F238E27FC236}">
                <a16:creationId xmlns:a16="http://schemas.microsoft.com/office/drawing/2014/main" id="{A6DF3E30-3054-6308-8B00-C399EEA2FC12}"/>
              </a:ext>
            </a:extLst>
          </p:cNvPr>
          <p:cNvSpPr>
            <a:spLocks noGrp="1"/>
          </p:cNvSpPr>
          <p:nvPr>
            <p:ph type="subTitle" idx="1"/>
          </p:nvPr>
        </p:nvSpPr>
        <p:spPr/>
        <p:txBody>
          <a:bodyPr>
            <a:normAutofit/>
          </a:bodyPr>
          <a:lstStyle/>
          <a:p>
            <a:pPr>
              <a:lnSpc>
                <a:spcPct val="110000"/>
              </a:lnSpc>
            </a:pPr>
            <a:r>
              <a:rPr lang="es-CL" sz="1400" dirty="0">
                <a:latin typeface="Arial" panose="020B0604020202020204" pitchFamily="34" charset="0"/>
                <a:cs typeface="Arial" panose="020B0604020202020204" pitchFamily="34" charset="0"/>
              </a:rPr>
              <a:t>Integrantes: Fabian Cerda, Pedro Escobar, Jeison Mayorga y Jonathan Pavez</a:t>
            </a:r>
          </a:p>
          <a:p>
            <a:pPr>
              <a:lnSpc>
                <a:spcPct val="110000"/>
              </a:lnSpc>
            </a:pPr>
            <a:r>
              <a:rPr lang="es-CL" sz="1400" dirty="0">
                <a:latin typeface="Arial" panose="020B0604020202020204" pitchFamily="34" charset="0"/>
                <a:cs typeface="Arial" panose="020B0604020202020204" pitchFamily="34" charset="0"/>
              </a:rPr>
              <a:t>Profesor: Lissette Salamanca</a:t>
            </a:r>
          </a:p>
          <a:p>
            <a:pPr>
              <a:lnSpc>
                <a:spcPct val="110000"/>
              </a:lnSpc>
            </a:pPr>
            <a:r>
              <a:rPr lang="es-CL" sz="1400" dirty="0">
                <a:latin typeface="Arial" panose="020B0604020202020204" pitchFamily="34" charset="0"/>
                <a:cs typeface="Arial" panose="020B0604020202020204" pitchFamily="34" charset="0"/>
              </a:rPr>
              <a:t>Asignatura: Funciones y Geometría</a:t>
            </a:r>
          </a:p>
          <a:p>
            <a:pPr>
              <a:lnSpc>
                <a:spcPct val="110000"/>
              </a:lnSpc>
            </a:pPr>
            <a:r>
              <a:rPr lang="es-CL" sz="1400" dirty="0">
                <a:latin typeface="Arial" panose="020B0604020202020204" pitchFamily="34" charset="0"/>
                <a:cs typeface="Arial" panose="020B0604020202020204" pitchFamily="34" charset="0"/>
              </a:rPr>
              <a:t>Carrera: Electromovilidad y Mecánica Automotriz</a:t>
            </a:r>
          </a:p>
        </p:txBody>
      </p:sp>
    </p:spTree>
    <p:extLst>
      <p:ext uri="{BB962C8B-B14F-4D97-AF65-F5344CB8AC3E}">
        <p14:creationId xmlns:p14="http://schemas.microsoft.com/office/powerpoint/2010/main" val="3309829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EC665F-F226-7421-278D-4D1374F2C005}"/>
              </a:ext>
            </a:extLst>
          </p:cNvPr>
          <p:cNvSpPr>
            <a:spLocks noGrp="1"/>
          </p:cNvSpPr>
          <p:nvPr>
            <p:ph type="title"/>
          </p:nvPr>
        </p:nvSpPr>
        <p:spPr>
          <a:xfrm>
            <a:off x="1828800" y="545123"/>
            <a:ext cx="8534400" cy="1507067"/>
          </a:xfrm>
        </p:spPr>
        <p:txBody>
          <a:bodyPr>
            <a:normAutofit/>
          </a:bodyPr>
          <a:lstStyle/>
          <a:p>
            <a:pPr algn="just"/>
            <a:r>
              <a:rPr lang="es-CL" sz="1600" dirty="0">
                <a:latin typeface="Arial" panose="020B0604020202020204" pitchFamily="34" charset="0"/>
                <a:cs typeface="Arial" panose="020B0604020202020204" pitchFamily="34" charset="0"/>
              </a:rPr>
              <a:t>Definición del Proyecto</a:t>
            </a:r>
          </a:p>
        </p:txBody>
      </p:sp>
      <p:sp>
        <p:nvSpPr>
          <p:cNvPr id="3" name="Marcador de contenido 2">
            <a:extLst>
              <a:ext uri="{FF2B5EF4-FFF2-40B4-BE49-F238E27FC236}">
                <a16:creationId xmlns:a16="http://schemas.microsoft.com/office/drawing/2014/main" id="{A1388BAE-F3CA-D52E-4D56-B94B60C9AEDB}"/>
              </a:ext>
            </a:extLst>
          </p:cNvPr>
          <p:cNvSpPr>
            <a:spLocks noGrp="1"/>
          </p:cNvSpPr>
          <p:nvPr>
            <p:ph idx="1"/>
          </p:nvPr>
        </p:nvSpPr>
        <p:spPr>
          <a:xfrm>
            <a:off x="1454727" y="1621366"/>
            <a:ext cx="9296400" cy="3615267"/>
          </a:xfrm>
        </p:spPr>
        <p:txBody>
          <a:bodyPr>
            <a:normAutofit/>
          </a:bodyPr>
          <a:lstStyle/>
          <a:p>
            <a:pPr marL="0" indent="0" algn="just">
              <a:lnSpc>
                <a:spcPct val="150000"/>
              </a:lnSpc>
              <a:buNone/>
            </a:pPr>
            <a:r>
              <a:rPr lang="es-ES" sz="1200" dirty="0">
                <a:latin typeface="Arial" panose="020B0604020202020204" pitchFamily="34" charset="0"/>
                <a:cs typeface="Arial" panose="020B0604020202020204" pitchFamily="34" charset="0"/>
              </a:rPr>
              <a:t>Un proyecto de creación de una jaula antivuelco básica se refiere al diseño, construcción e instalación de una estructura de seguridad diseñada para proteger a los ocupantes de un vehículo en caso de un vuelco. La jaula antivuelco es comúnmente utilizada en vehículos todoterreno, vehículos utilitarios o incluso en vehículos de competición. La definición del proyecto implicaría varios aspectos como diseño, especificaciones, requisitos de seguridad, dimensiones y forma de la jaula. </a:t>
            </a:r>
            <a:endParaRPr lang="es-CL"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4078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8A032C1-4820-ADC6-ABDE-3E455ECFB01C}"/>
              </a:ext>
            </a:extLst>
          </p:cNvPr>
          <p:cNvSpPr>
            <a:spLocks noGrp="1"/>
          </p:cNvSpPr>
          <p:nvPr>
            <p:ph idx="1"/>
          </p:nvPr>
        </p:nvSpPr>
        <p:spPr>
          <a:xfrm>
            <a:off x="540327" y="256309"/>
            <a:ext cx="11111346" cy="6345381"/>
          </a:xfrm>
        </p:spPr>
        <p:txBody>
          <a:bodyPr>
            <a:normAutofit/>
          </a:bodyPr>
          <a:lstStyle/>
          <a:p>
            <a:pPr marL="0" indent="0">
              <a:lnSpc>
                <a:spcPct val="150000"/>
              </a:lnSpc>
              <a:buNone/>
            </a:pPr>
            <a:r>
              <a:rPr lang="es-ES" sz="1600" b="1" dirty="0">
                <a:latin typeface="Arial" panose="020B0604020202020204" pitchFamily="34" charset="0"/>
                <a:cs typeface="Arial" panose="020B0604020202020204" pitchFamily="34" charset="0"/>
              </a:rPr>
              <a:t>Tema de Investigación:</a:t>
            </a:r>
            <a:br>
              <a:rPr lang="es-ES" sz="1600" dirty="0">
                <a:latin typeface="Arial" panose="020B0604020202020204" pitchFamily="34" charset="0"/>
                <a:cs typeface="Arial" panose="020B0604020202020204" pitchFamily="34" charset="0"/>
              </a:rPr>
            </a:br>
            <a:r>
              <a:rPr lang="es-ES" sz="1200" b="0" i="0" dirty="0">
                <a:effectLst/>
                <a:latin typeface="Arial" panose="020B0604020202020204" pitchFamily="34" charset="0"/>
                <a:cs typeface="Arial" panose="020B0604020202020204" pitchFamily="34" charset="0"/>
              </a:rPr>
              <a:t>El presente proyecto de investigación tiene como objetivo principal la optimización y evaluación de materiales compuestos en la fabricación de jaulas antivuelco, además de brindar seguridad y protección al conductor o quien se encuentre en el vehículo.</a:t>
            </a:r>
            <a:br>
              <a:rPr lang="es-ES" sz="1200" dirty="0">
                <a:latin typeface="Arial" panose="020B0604020202020204" pitchFamily="34" charset="0"/>
                <a:cs typeface="Arial" panose="020B0604020202020204" pitchFamily="34" charset="0"/>
              </a:rPr>
            </a:br>
            <a:br>
              <a:rPr lang="es-ES" sz="1200" dirty="0">
                <a:latin typeface="Arial" panose="020B0604020202020204" pitchFamily="34" charset="0"/>
                <a:cs typeface="Arial" panose="020B0604020202020204" pitchFamily="34" charset="0"/>
              </a:rPr>
            </a:br>
            <a:r>
              <a:rPr lang="es-ES" sz="1600" b="1" dirty="0">
                <a:latin typeface="Arial" panose="020B0604020202020204" pitchFamily="34" charset="0"/>
                <a:cs typeface="Arial" panose="020B0604020202020204" pitchFamily="34" charset="0"/>
              </a:rPr>
              <a:t>Noción Matemática:</a:t>
            </a:r>
            <a:br>
              <a:rPr lang="es-ES" sz="1600" dirty="0">
                <a:latin typeface="Arial" panose="020B0604020202020204" pitchFamily="34" charset="0"/>
                <a:cs typeface="Arial" panose="020B0604020202020204" pitchFamily="34" charset="0"/>
              </a:rPr>
            </a:br>
            <a:r>
              <a:rPr lang="es-ES" sz="1200" b="1" i="0" dirty="0">
                <a:effectLst/>
                <a:latin typeface="Arial" panose="020B0604020202020204" pitchFamily="34" charset="0"/>
                <a:cs typeface="Arial" panose="020B0604020202020204" pitchFamily="34" charset="0"/>
              </a:rPr>
              <a:t>Normativas y estándares de seguridad, </a:t>
            </a:r>
            <a:r>
              <a:rPr lang="es-CL" sz="1200" b="1" dirty="0">
                <a:effectLst/>
                <a:latin typeface="Arial" panose="020B0604020202020204" pitchFamily="34" charset="0"/>
                <a:cs typeface="Arial" panose="020B0604020202020204" pitchFamily="34" charset="0"/>
              </a:rPr>
              <a:t>s</a:t>
            </a:r>
            <a:r>
              <a:rPr lang="es-CL" sz="1200" b="1" i="0" dirty="0">
                <a:effectLst/>
                <a:latin typeface="Arial" panose="020B0604020202020204" pitchFamily="34" charset="0"/>
                <a:cs typeface="Arial" panose="020B0604020202020204" pitchFamily="34" charset="0"/>
              </a:rPr>
              <a:t>elección de </a:t>
            </a:r>
            <a:r>
              <a:rPr lang="es-CL" sz="1200" b="1" dirty="0">
                <a:effectLst/>
                <a:latin typeface="Arial" panose="020B0604020202020204" pitchFamily="34" charset="0"/>
                <a:cs typeface="Arial" panose="020B0604020202020204" pitchFamily="34" charset="0"/>
              </a:rPr>
              <a:t>m</a:t>
            </a:r>
            <a:r>
              <a:rPr lang="es-CL" sz="1200" b="1" i="0" dirty="0">
                <a:effectLst/>
                <a:latin typeface="Arial" panose="020B0604020202020204" pitchFamily="34" charset="0"/>
                <a:cs typeface="Arial" panose="020B0604020202020204" pitchFamily="34" charset="0"/>
              </a:rPr>
              <a:t>ateriales inadecuados, dificultades en la fabricación, simulaciones y validación.</a:t>
            </a:r>
          </a:p>
          <a:p>
            <a:pPr marL="0" indent="0">
              <a:lnSpc>
                <a:spcPct val="150000"/>
              </a:lnSpc>
              <a:buNone/>
            </a:pPr>
            <a:br>
              <a:rPr lang="es-ES" sz="1200" dirty="0">
                <a:latin typeface="Arial" panose="020B0604020202020204" pitchFamily="34" charset="0"/>
                <a:cs typeface="Arial" panose="020B0604020202020204" pitchFamily="34" charset="0"/>
              </a:rPr>
            </a:br>
            <a:r>
              <a:rPr lang="es-ES" sz="1600" b="1" dirty="0">
                <a:latin typeface="Arial" panose="020B0604020202020204" pitchFamily="34" charset="0"/>
                <a:cs typeface="Arial" panose="020B0604020202020204" pitchFamily="34" charset="0"/>
              </a:rPr>
              <a:t>Problemática a Abordar:</a:t>
            </a:r>
            <a:br>
              <a:rPr lang="es-ES" sz="1500" dirty="0">
                <a:latin typeface="Arial" panose="020B0604020202020204" pitchFamily="34" charset="0"/>
                <a:cs typeface="Arial" panose="020B0604020202020204" pitchFamily="34" charset="0"/>
              </a:rPr>
            </a:br>
            <a:r>
              <a:rPr lang="es-ES" sz="1200" dirty="0">
                <a:latin typeface="Arial" panose="020B0604020202020204" pitchFamily="34" charset="0"/>
                <a:cs typeface="Arial" panose="020B0604020202020204" pitchFamily="34" charset="0"/>
              </a:rPr>
              <a:t>Una de las problemáticas fundamentales en la construcción de jaulas antivuelco es lograr un equilibrio adecuado entre el peso de la estructura y su capacidad para resistir impactos durante un vuelo. La necesidad de maximizar la protección a menudo entra en conflicto con la importancia de mantener el peso del vehículo lo más bajo posible para preservar su rendimiento y maniobrabilidad. Abordar esta problemática implica encontrar soluciones que optimicen la resistencia estructural sin comprometer significativamente el peso del conjunto.</a:t>
            </a:r>
            <a:endParaRPr lang="es-CL"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1036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E056071-3DD1-B87C-1C55-CBDEBDDE82DC}"/>
              </a:ext>
            </a:extLst>
          </p:cNvPr>
          <p:cNvSpPr>
            <a:spLocks noGrp="1"/>
          </p:cNvSpPr>
          <p:nvPr>
            <p:ph idx="1"/>
          </p:nvPr>
        </p:nvSpPr>
        <p:spPr>
          <a:xfrm>
            <a:off x="332509" y="817418"/>
            <a:ext cx="11499273" cy="5472546"/>
          </a:xfrm>
        </p:spPr>
        <p:txBody>
          <a:bodyPr>
            <a:normAutofit fontScale="55000" lnSpcReduction="20000"/>
          </a:bodyPr>
          <a:lstStyle/>
          <a:p>
            <a:pPr marL="0" indent="0">
              <a:buNone/>
            </a:pPr>
            <a:r>
              <a:rPr lang="es-ES" sz="2600" b="1" dirty="0">
                <a:latin typeface="Arial" panose="020B0604020202020204" pitchFamily="34" charset="0"/>
                <a:cs typeface="Arial" panose="020B0604020202020204" pitchFamily="34" charset="0"/>
              </a:rPr>
              <a:t>Objetivos del Proyecto:</a:t>
            </a:r>
          </a:p>
          <a:p>
            <a:pPr marL="0" indent="0">
              <a:lnSpc>
                <a:spcPct val="170000"/>
              </a:lnSpc>
              <a:buNone/>
            </a:pPr>
            <a:br>
              <a:rPr lang="es-ES" sz="1400" dirty="0">
                <a:latin typeface="Arial" panose="020B0604020202020204" pitchFamily="34" charset="0"/>
                <a:cs typeface="Arial" panose="020B0604020202020204" pitchFamily="34" charset="0"/>
              </a:rPr>
            </a:br>
            <a:br>
              <a:rPr lang="es-ES" sz="14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Identificar los principios de diseño más eficientes para una jaula antivuelco en términos de resistencia y peso.</a:t>
            </a:r>
            <a:br>
              <a:rPr lang="es-ES" sz="22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Materiales Óptimos:</a:t>
            </a:r>
            <a:br>
              <a:rPr lang="es-ES" sz="2200" dirty="0">
                <a:latin typeface="Arial" panose="020B0604020202020204" pitchFamily="34" charset="0"/>
                <a:cs typeface="Arial" panose="020B0604020202020204" pitchFamily="34" charset="0"/>
              </a:rPr>
            </a:br>
            <a:br>
              <a:rPr lang="es-ES" sz="2200" dirty="0">
                <a:latin typeface="Arial" panose="020B0604020202020204" pitchFamily="34" charset="0"/>
                <a:cs typeface="Arial" panose="020B0604020202020204" pitchFamily="34" charset="0"/>
              </a:rPr>
            </a:br>
            <a:r>
              <a:rPr lang="es-ES" sz="2200" dirty="0" err="1">
                <a:latin typeface="Arial" panose="020B0604020202020204" pitchFamily="34" charset="0"/>
                <a:cs typeface="Arial" panose="020B0604020202020204" pitchFamily="34" charset="0"/>
              </a:rPr>
              <a:t>DeterminARlos</a:t>
            </a:r>
            <a:r>
              <a:rPr lang="es-ES" sz="2200" dirty="0">
                <a:latin typeface="Arial" panose="020B0604020202020204" pitchFamily="34" charset="0"/>
                <a:cs typeface="Arial" panose="020B0604020202020204" pitchFamily="34" charset="0"/>
              </a:rPr>
              <a:t> materiales más adecuados para la construcción de la jaula en función de su resistencia, durabilidad y peso.</a:t>
            </a:r>
            <a:br>
              <a:rPr lang="es-ES" sz="22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Normativas de Seguridad:</a:t>
            </a:r>
            <a:br>
              <a:rPr lang="es-ES" sz="2200" dirty="0">
                <a:latin typeface="Arial" panose="020B0604020202020204" pitchFamily="34" charset="0"/>
                <a:cs typeface="Arial" panose="020B0604020202020204" pitchFamily="34" charset="0"/>
              </a:rPr>
            </a:br>
            <a:br>
              <a:rPr lang="es-ES" sz="22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Analizar y comprender las normativas y regulaciones de seguridad vehicular para garantizar el cumplimiento en el diseño y la construcción de la jaula.</a:t>
            </a:r>
          </a:p>
          <a:p>
            <a:pPr marL="0" indent="0">
              <a:lnSpc>
                <a:spcPct val="170000"/>
              </a:lnSpc>
              <a:buNone/>
            </a:pPr>
            <a:br>
              <a:rPr lang="es-ES" sz="1400" dirty="0">
                <a:latin typeface="Arial" panose="020B0604020202020204" pitchFamily="34" charset="0"/>
                <a:cs typeface="Arial" panose="020B0604020202020204" pitchFamily="34" charset="0"/>
              </a:rPr>
            </a:br>
            <a:r>
              <a:rPr lang="es-ES" sz="2900" b="1" dirty="0">
                <a:latin typeface="Arial" panose="020B0604020202020204" pitchFamily="34" charset="0"/>
                <a:cs typeface="Arial" panose="020B0604020202020204" pitchFamily="34" charset="0"/>
              </a:rPr>
              <a:t>Preguntas de investigación:</a:t>
            </a:r>
            <a:endParaRPr lang="es-ES" sz="2600" b="1" dirty="0">
              <a:latin typeface="Arial" panose="020B0604020202020204" pitchFamily="34" charset="0"/>
              <a:cs typeface="Arial" panose="020B0604020202020204" pitchFamily="34" charset="0"/>
            </a:endParaRPr>
          </a:p>
          <a:p>
            <a:pPr marL="0" indent="0">
              <a:buNone/>
            </a:pPr>
            <a:endParaRPr lang="es-ES" sz="1600" b="1" dirty="0">
              <a:latin typeface="Arial" panose="020B0604020202020204" pitchFamily="34" charset="0"/>
              <a:cs typeface="Arial" panose="020B0604020202020204" pitchFamily="34" charset="0"/>
            </a:endParaRPr>
          </a:p>
          <a:p>
            <a:pPr marL="0" indent="0">
              <a:lnSpc>
                <a:spcPct val="170000"/>
              </a:lnSpc>
              <a:buNone/>
            </a:pPr>
            <a:r>
              <a:rPr lang="es-ES" sz="2200" dirty="0">
                <a:latin typeface="Arial" panose="020B0604020202020204" pitchFamily="34" charset="0"/>
                <a:cs typeface="Arial" panose="020B0604020202020204" pitchFamily="34" charset="0"/>
              </a:rPr>
              <a:t>¿Qué materiales ofrecen la mejor combinación de resistencia y peso para la construcción de una jaula antivuelco?</a:t>
            </a:r>
            <a:br>
              <a:rPr lang="es-ES" sz="2200" dirty="0">
                <a:latin typeface="Arial" panose="020B0604020202020204" pitchFamily="34" charset="0"/>
                <a:cs typeface="Arial" panose="020B0604020202020204" pitchFamily="34" charset="0"/>
              </a:rPr>
            </a:br>
            <a:br>
              <a:rPr lang="es-ES" sz="22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¿Para qué tipo de vehículo se podría utilizar esta jaula?</a:t>
            </a:r>
          </a:p>
          <a:p>
            <a:pPr marL="0" indent="0">
              <a:lnSpc>
                <a:spcPct val="170000"/>
              </a:lnSpc>
              <a:buNone/>
            </a:pPr>
            <a:br>
              <a:rPr lang="es-ES" sz="22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¿Cómo afecta la instalación de una jaula antivuelco al rendimiento general de un vehículo?</a:t>
            </a:r>
          </a:p>
          <a:p>
            <a:pPr marL="0" indent="0">
              <a:buNone/>
            </a:pPr>
            <a:endParaRPr lang="es-CL"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2602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6B338C5-9765-7F8E-D207-AA5EF2806B50}"/>
              </a:ext>
            </a:extLst>
          </p:cNvPr>
          <p:cNvSpPr>
            <a:spLocks noGrp="1"/>
          </p:cNvSpPr>
          <p:nvPr>
            <p:ph idx="1"/>
          </p:nvPr>
        </p:nvSpPr>
        <p:spPr>
          <a:xfrm>
            <a:off x="838200" y="936264"/>
            <a:ext cx="10515600" cy="4985472"/>
          </a:xfrm>
        </p:spPr>
        <p:txBody>
          <a:bodyPr>
            <a:normAutofit/>
          </a:bodyPr>
          <a:lstStyle/>
          <a:p>
            <a:pPr marL="0" indent="0" algn="just">
              <a:buNone/>
            </a:pPr>
            <a:r>
              <a:rPr lang="es-CL" sz="1600" b="1" dirty="0">
                <a:latin typeface="Arial" panose="020B0604020202020204" pitchFamily="34" charset="0"/>
                <a:cs typeface="Arial" panose="020B0604020202020204" pitchFamily="34" charset="0"/>
              </a:rPr>
              <a:t>Temas iniciales involucrados:</a:t>
            </a:r>
          </a:p>
          <a:p>
            <a:pPr marL="0" indent="0">
              <a:buNone/>
            </a:pPr>
            <a:endParaRPr lang="es-CL" sz="1600" b="1" dirty="0">
              <a:latin typeface="Arial" panose="020B0604020202020204" pitchFamily="34" charset="0"/>
              <a:cs typeface="Arial" panose="020B0604020202020204" pitchFamily="34" charset="0"/>
            </a:endParaRPr>
          </a:p>
          <a:p>
            <a:pPr>
              <a:lnSpc>
                <a:spcPct val="150000"/>
              </a:lnSpc>
            </a:pPr>
            <a:r>
              <a:rPr lang="es-ES" sz="1200" dirty="0">
                <a:latin typeface="Arial" panose="020B0604020202020204" pitchFamily="34" charset="0"/>
                <a:cs typeface="Arial" panose="020B0604020202020204" pitchFamily="34" charset="0"/>
              </a:rPr>
              <a:t>Definir la geometría y la disposición de la jaula para garantizar la máxima resistencia y protección en caso de vuelo.</a:t>
            </a:r>
          </a:p>
          <a:p>
            <a:pPr>
              <a:lnSpc>
                <a:spcPct val="150000"/>
              </a:lnSpc>
            </a:pPr>
            <a:r>
              <a:rPr lang="es-ES" sz="1200" dirty="0">
                <a:latin typeface="Arial" panose="020B0604020202020204" pitchFamily="34" charset="0"/>
                <a:cs typeface="Arial" panose="020B0604020202020204" pitchFamily="34" charset="0"/>
              </a:rPr>
              <a:t>Investigar y seleccionar materiales adecuados que proporcionen la resistencia necesaria sin comprometer el peso del vehículo.</a:t>
            </a:r>
          </a:p>
          <a:p>
            <a:pPr>
              <a:lnSpc>
                <a:spcPct val="150000"/>
              </a:lnSpc>
            </a:pPr>
            <a:r>
              <a:rPr lang="es-ES" sz="1200" dirty="0">
                <a:latin typeface="Arial" panose="020B0604020202020204" pitchFamily="34" charset="0"/>
                <a:cs typeface="Arial" panose="020B0604020202020204" pitchFamily="34" charset="0"/>
              </a:rPr>
              <a:t>Comprender y cumplir con las normativas y regulaciones locales e internacionales de seguridad vehicular.</a:t>
            </a:r>
            <a:br>
              <a:rPr lang="es-ES" sz="1200" dirty="0">
                <a:latin typeface="Arial" panose="020B0604020202020204" pitchFamily="34" charset="0"/>
                <a:cs typeface="Arial" panose="020B0604020202020204" pitchFamily="34" charset="0"/>
              </a:rPr>
            </a:br>
            <a:br>
              <a:rPr lang="es-ES" sz="1200" dirty="0">
                <a:latin typeface="Arial" panose="020B0604020202020204" pitchFamily="34" charset="0"/>
                <a:cs typeface="Arial" panose="020B0604020202020204" pitchFamily="34" charset="0"/>
              </a:rPr>
            </a:br>
            <a:endParaRPr lang="es-CL"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8318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F0B6C09-D529-9E8F-C24B-C847716CCDA8}"/>
              </a:ext>
            </a:extLst>
          </p:cNvPr>
          <p:cNvSpPr txBox="1"/>
          <p:nvPr/>
        </p:nvSpPr>
        <p:spPr>
          <a:xfrm>
            <a:off x="1468581" y="517174"/>
            <a:ext cx="3934690" cy="369332"/>
          </a:xfrm>
          <a:prstGeom prst="rect">
            <a:avLst/>
          </a:prstGeom>
          <a:noFill/>
        </p:spPr>
        <p:txBody>
          <a:bodyPr wrap="square" rtlCol="0">
            <a:spAutoFit/>
          </a:bodyPr>
          <a:lstStyle/>
          <a:p>
            <a:pPr algn="ctr"/>
            <a:r>
              <a:rPr lang="es-CL" dirty="0">
                <a:latin typeface="Arial" panose="020B0604020202020204" pitchFamily="34" charset="0"/>
                <a:cs typeface="Arial" panose="020B0604020202020204" pitchFamily="34" charset="0"/>
              </a:rPr>
              <a:t>Cronograma</a:t>
            </a:r>
          </a:p>
        </p:txBody>
      </p:sp>
      <p:pic>
        <p:nvPicPr>
          <p:cNvPr id="4" name="Marcador de contenido 3">
            <a:extLst>
              <a:ext uri="{FF2B5EF4-FFF2-40B4-BE49-F238E27FC236}">
                <a16:creationId xmlns:a16="http://schemas.microsoft.com/office/drawing/2014/main" id="{DED5F68C-DC0D-F922-A9A8-6652075453DC}"/>
              </a:ext>
            </a:extLst>
          </p:cNvPr>
          <p:cNvPicPr>
            <a:picLocks noGrp="1" noChangeAspect="1"/>
          </p:cNvPicPr>
          <p:nvPr>
            <p:ph idx="1"/>
          </p:nvPr>
        </p:nvPicPr>
        <p:blipFill>
          <a:blip r:embed="rId2"/>
          <a:stretch>
            <a:fillRect/>
          </a:stretch>
        </p:blipFill>
        <p:spPr>
          <a:xfrm>
            <a:off x="1170709" y="1357745"/>
            <a:ext cx="4530435" cy="5163190"/>
          </a:xfrm>
          <a:prstGeom prst="rect">
            <a:avLst/>
          </a:prstGeom>
        </p:spPr>
      </p:pic>
      <p:sp>
        <p:nvSpPr>
          <p:cNvPr id="2" name="CuadroTexto 1">
            <a:extLst>
              <a:ext uri="{FF2B5EF4-FFF2-40B4-BE49-F238E27FC236}">
                <a16:creationId xmlns:a16="http://schemas.microsoft.com/office/drawing/2014/main" id="{90DE9BA1-5687-5939-CD14-8D004B417883}"/>
              </a:ext>
            </a:extLst>
          </p:cNvPr>
          <p:cNvSpPr txBox="1"/>
          <p:nvPr/>
        </p:nvSpPr>
        <p:spPr>
          <a:xfrm>
            <a:off x="7730836" y="517174"/>
            <a:ext cx="2299855" cy="369332"/>
          </a:xfrm>
          <a:prstGeom prst="rect">
            <a:avLst/>
          </a:prstGeom>
          <a:noFill/>
        </p:spPr>
        <p:txBody>
          <a:bodyPr wrap="square" rtlCol="0">
            <a:spAutoFit/>
          </a:bodyPr>
          <a:lstStyle/>
          <a:p>
            <a:r>
              <a:rPr lang="es-CL" dirty="0">
                <a:latin typeface="Arial" panose="020B0604020202020204" pitchFamily="34" charset="0"/>
                <a:cs typeface="Arial" panose="020B0604020202020204" pitchFamily="34" charset="0"/>
              </a:rPr>
              <a:t>Materiales a utilizar</a:t>
            </a:r>
          </a:p>
        </p:txBody>
      </p:sp>
      <p:sp>
        <p:nvSpPr>
          <p:cNvPr id="3" name="CuadroTexto 2">
            <a:extLst>
              <a:ext uri="{FF2B5EF4-FFF2-40B4-BE49-F238E27FC236}">
                <a16:creationId xmlns:a16="http://schemas.microsoft.com/office/drawing/2014/main" id="{A6934D9D-59CA-C2C4-6F7F-F94514B9550D}"/>
              </a:ext>
            </a:extLst>
          </p:cNvPr>
          <p:cNvSpPr txBox="1"/>
          <p:nvPr/>
        </p:nvSpPr>
        <p:spPr>
          <a:xfrm>
            <a:off x="7079673" y="1357745"/>
            <a:ext cx="3941618" cy="2862322"/>
          </a:xfrm>
          <a:prstGeom prst="rect">
            <a:avLst/>
          </a:prstGeom>
          <a:noFill/>
        </p:spPr>
        <p:txBody>
          <a:bodyPr wrap="square" rtlCol="0">
            <a:spAutoFit/>
          </a:bodyPr>
          <a:lstStyle/>
          <a:p>
            <a:pPr marL="342900" indent="-342900">
              <a:lnSpc>
                <a:spcPct val="150000"/>
              </a:lnSpc>
              <a:buFont typeface="+mj-lt"/>
              <a:buAutoNum type="arabicPeriod"/>
            </a:pPr>
            <a:r>
              <a:rPr lang="es-CL" i="0" dirty="0">
                <a:effectLst/>
                <a:latin typeface="Arial" panose="020B0604020202020204" pitchFamily="34" charset="0"/>
                <a:cs typeface="Arial" panose="020B0604020202020204" pitchFamily="34" charset="0"/>
              </a:rPr>
              <a:t>Acero de Alta Resistencia</a:t>
            </a:r>
          </a:p>
          <a:p>
            <a:pPr marL="342900" indent="-342900">
              <a:lnSpc>
                <a:spcPct val="150000"/>
              </a:lnSpc>
              <a:buFont typeface="+mj-lt"/>
              <a:buAutoNum type="arabicPeriod"/>
            </a:pPr>
            <a:r>
              <a:rPr lang="es-CL" dirty="0">
                <a:latin typeface="Arial" panose="020B0604020202020204" pitchFamily="34" charset="0"/>
                <a:cs typeface="Arial" panose="020B0604020202020204" pitchFamily="34" charset="0"/>
              </a:rPr>
              <a:t>Aleaciones de Aluminio</a:t>
            </a:r>
          </a:p>
          <a:p>
            <a:pPr marL="342900" indent="-342900">
              <a:lnSpc>
                <a:spcPct val="150000"/>
              </a:lnSpc>
              <a:buFont typeface="+mj-lt"/>
              <a:buAutoNum type="arabicPeriod"/>
            </a:pPr>
            <a:r>
              <a:rPr lang="es-CL" dirty="0">
                <a:latin typeface="Arial" panose="020B0604020202020204" pitchFamily="34" charset="0"/>
                <a:cs typeface="Arial" panose="020B0604020202020204" pitchFamily="34" charset="0"/>
              </a:rPr>
              <a:t>Tubos Cromoly</a:t>
            </a:r>
          </a:p>
          <a:p>
            <a:pPr marL="342900" indent="-342900">
              <a:lnSpc>
                <a:spcPct val="150000"/>
              </a:lnSpc>
              <a:buFont typeface="+mj-lt"/>
              <a:buAutoNum type="arabicPeriod"/>
            </a:pPr>
            <a:r>
              <a:rPr lang="es-CL" dirty="0">
                <a:latin typeface="Arial" panose="020B0604020202020204" pitchFamily="34" charset="0"/>
                <a:cs typeface="Arial" panose="020B0604020202020204" pitchFamily="34" charset="0"/>
              </a:rPr>
              <a:t>Materiales Híbridos</a:t>
            </a:r>
          </a:p>
          <a:p>
            <a:pPr marL="342900" indent="-342900">
              <a:lnSpc>
                <a:spcPct val="150000"/>
              </a:lnSpc>
              <a:buFont typeface="+mj-lt"/>
              <a:buAutoNum type="arabicPeriod"/>
            </a:pPr>
            <a:r>
              <a:rPr lang="es-CL" dirty="0">
                <a:latin typeface="Arial" panose="020B0604020202020204" pitchFamily="34" charset="0"/>
                <a:cs typeface="Arial" panose="020B0604020202020204" pitchFamily="34" charset="0"/>
              </a:rPr>
              <a:t>Fibra de vidrio</a:t>
            </a:r>
          </a:p>
          <a:p>
            <a:pPr marL="342900" indent="-342900">
              <a:lnSpc>
                <a:spcPct val="150000"/>
              </a:lnSpc>
              <a:buFont typeface="+mj-lt"/>
              <a:buAutoNum type="arabicPeriod"/>
            </a:pPr>
            <a:r>
              <a:rPr lang="es-CL" dirty="0">
                <a:latin typeface="Arial" panose="020B0604020202020204" pitchFamily="34" charset="0"/>
                <a:cs typeface="Arial" panose="020B0604020202020204" pitchFamily="34" charset="0"/>
              </a:rPr>
              <a:t>Titanio</a:t>
            </a:r>
          </a:p>
          <a:p>
            <a:pPr marL="342900" indent="-342900">
              <a:buFont typeface="+mj-lt"/>
              <a:buAutoNum type="arabicPeriod"/>
            </a:pPr>
            <a:endParaRPr lang="es-C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0963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588098EB-D0BA-AFB0-9E8D-8C40569933FD}"/>
              </a:ext>
            </a:extLst>
          </p:cNvPr>
          <p:cNvSpPr>
            <a:spLocks noGrp="1"/>
          </p:cNvSpPr>
          <p:nvPr>
            <p:ph type="title"/>
          </p:nvPr>
        </p:nvSpPr>
        <p:spPr>
          <a:xfrm>
            <a:off x="913794" y="255850"/>
            <a:ext cx="10353761" cy="1326321"/>
          </a:xfrm>
        </p:spPr>
        <p:txBody>
          <a:bodyPr>
            <a:normAutofit/>
          </a:bodyPr>
          <a:lstStyle/>
          <a:p>
            <a:pPr algn="just"/>
            <a:r>
              <a:rPr lang="es-CL" sz="1600" dirty="0">
                <a:effectLst/>
                <a:latin typeface="Arial" panose="020B0604020202020204" pitchFamily="34" charset="0"/>
                <a:cs typeface="Arial" panose="020B0604020202020204" pitchFamily="34" charset="0"/>
              </a:rPr>
              <a:t>Incorporación de herramientas</a:t>
            </a:r>
          </a:p>
        </p:txBody>
      </p:sp>
      <p:sp>
        <p:nvSpPr>
          <p:cNvPr id="4" name="Marcador de contenido 3">
            <a:extLst>
              <a:ext uri="{FF2B5EF4-FFF2-40B4-BE49-F238E27FC236}">
                <a16:creationId xmlns:a16="http://schemas.microsoft.com/office/drawing/2014/main" id="{E47D1CA9-BCC7-CDE8-4203-6669193CBBAB}"/>
              </a:ext>
            </a:extLst>
          </p:cNvPr>
          <p:cNvSpPr>
            <a:spLocks noGrp="1"/>
          </p:cNvSpPr>
          <p:nvPr>
            <p:ph idx="1"/>
          </p:nvPr>
        </p:nvSpPr>
        <p:spPr>
          <a:xfrm>
            <a:off x="883534" y="1582171"/>
            <a:ext cx="10353762" cy="3695136"/>
          </a:xfrm>
        </p:spPr>
        <p:txBody>
          <a:bodyPr>
            <a:normAutofit/>
          </a:bodyPr>
          <a:lstStyle/>
          <a:p>
            <a:pPr>
              <a:lnSpc>
                <a:spcPct val="150000"/>
              </a:lnSpc>
            </a:pPr>
            <a:r>
              <a:rPr lang="es-CL" sz="1200" dirty="0">
                <a:latin typeface="Arial" panose="020B0604020202020204" pitchFamily="34" charset="0"/>
                <a:cs typeface="Arial" panose="020B0604020202020204" pitchFamily="34" charset="0"/>
              </a:rPr>
              <a:t>Para realizar la jaula antivuelco necesitaremos de un galletero para cortar la mayoría de los fierros utilizados, una huincha para que cada material cortado sea con una medida exacta, también necesitaremos una soldadora para poder unir los materiales y finalmente pintura en aerosol para que quede presentable. </a:t>
            </a:r>
          </a:p>
          <a:p>
            <a:pPr>
              <a:lnSpc>
                <a:spcPct val="150000"/>
              </a:lnSpc>
            </a:pPr>
            <a:endParaRPr lang="es-CL" sz="1200" dirty="0">
              <a:latin typeface="Arial" panose="020B0604020202020204" pitchFamily="34" charset="0"/>
              <a:cs typeface="Arial" panose="020B0604020202020204" pitchFamily="34" charset="0"/>
            </a:endParaRPr>
          </a:p>
          <a:p>
            <a:pPr>
              <a:lnSpc>
                <a:spcPct val="150000"/>
              </a:lnSpc>
            </a:pPr>
            <a:endParaRPr lang="es-CL" sz="1200"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48E705D5-D36E-C35D-1940-4FE2B815A4F6}"/>
              </a:ext>
            </a:extLst>
          </p:cNvPr>
          <p:cNvSpPr>
            <a:spLocks noChangeArrowheads="1"/>
          </p:cNvSpPr>
          <p:nvPr/>
        </p:nvSpPr>
        <p:spPr bwMode="auto">
          <a:xfrm>
            <a:off x="8454439" y="29813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pic>
        <p:nvPicPr>
          <p:cNvPr id="1025" name="Imagen 5">
            <a:extLst>
              <a:ext uri="{FF2B5EF4-FFF2-40B4-BE49-F238E27FC236}">
                <a16:creationId xmlns:a16="http://schemas.microsoft.com/office/drawing/2014/main" id="{E2DAFAB3-E187-8152-DC94-AF236BA77C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4439" y="3438525"/>
            <a:ext cx="2305050" cy="17049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5E7970BD-33F6-180D-417D-31C419D9506F}"/>
              </a:ext>
            </a:extLst>
          </p:cNvPr>
          <p:cNvSpPr>
            <a:spLocks noChangeArrowheads="1"/>
          </p:cNvSpPr>
          <p:nvPr/>
        </p:nvSpPr>
        <p:spPr bwMode="auto">
          <a:xfrm>
            <a:off x="8454439" y="51435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(TusHerramientas, 2023)</a:t>
            </a:r>
            <a:endParaRPr kumimoji="0" lang="es-CL" altLang="es-CL" sz="1800" b="0" i="0" u="none" strike="noStrike" cap="none" normalizeH="0" baseline="0">
              <a:ln>
                <a:noFill/>
              </a:ln>
              <a:solidFill>
                <a:schemeClr val="tx1"/>
              </a:solidFill>
              <a:effectLst/>
              <a:latin typeface="Arial" panose="020B0604020202020204" pitchFamily="34" charset="0"/>
            </a:endParaRPr>
          </a:p>
        </p:txBody>
      </p:sp>
      <p:sp>
        <p:nvSpPr>
          <p:cNvPr id="14" name="Rectangle 5">
            <a:extLst>
              <a:ext uri="{FF2B5EF4-FFF2-40B4-BE49-F238E27FC236}">
                <a16:creationId xmlns:a16="http://schemas.microsoft.com/office/drawing/2014/main" id="{25EDF502-0666-A265-8AE9-5DDE950B066E}"/>
              </a:ext>
            </a:extLst>
          </p:cNvPr>
          <p:cNvSpPr>
            <a:spLocks noChangeArrowheads="1"/>
          </p:cNvSpPr>
          <p:nvPr/>
        </p:nvSpPr>
        <p:spPr bwMode="auto">
          <a:xfrm>
            <a:off x="4911365" y="312442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pic>
        <p:nvPicPr>
          <p:cNvPr id="1028" name="Imagen 1">
            <a:extLst>
              <a:ext uri="{FF2B5EF4-FFF2-40B4-BE49-F238E27FC236}">
                <a16:creationId xmlns:a16="http://schemas.microsoft.com/office/drawing/2014/main" id="{AE8798C0-0308-49F4-1D99-9C83D87B40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1365" y="3581628"/>
            <a:ext cx="2095500" cy="140017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6">
            <a:extLst>
              <a:ext uri="{FF2B5EF4-FFF2-40B4-BE49-F238E27FC236}">
                <a16:creationId xmlns:a16="http://schemas.microsoft.com/office/drawing/2014/main" id="{D12B6BCC-3FC9-F8FE-C45F-49747416F477}"/>
              </a:ext>
            </a:extLst>
          </p:cNvPr>
          <p:cNvSpPr>
            <a:spLocks noChangeArrowheads="1"/>
          </p:cNvSpPr>
          <p:nvPr/>
        </p:nvSpPr>
        <p:spPr bwMode="auto">
          <a:xfrm>
            <a:off x="4911365" y="498180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L"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(Wikipedia, 2005)</a:t>
            </a:r>
            <a:endParaRPr kumimoji="0" lang="es-ES" altLang="es-CL" sz="1800" b="0" i="0" u="none" strike="noStrike" cap="none" normalizeH="0" baseline="0">
              <a:ln>
                <a:noFill/>
              </a:ln>
              <a:solidFill>
                <a:schemeClr val="tx1"/>
              </a:solidFill>
              <a:effectLst/>
              <a:latin typeface="Arial" panose="020B0604020202020204" pitchFamily="34" charset="0"/>
            </a:endParaRPr>
          </a:p>
        </p:txBody>
      </p:sp>
      <p:sp>
        <p:nvSpPr>
          <p:cNvPr id="16" name="Rectangle 8">
            <a:extLst>
              <a:ext uri="{FF2B5EF4-FFF2-40B4-BE49-F238E27FC236}">
                <a16:creationId xmlns:a16="http://schemas.microsoft.com/office/drawing/2014/main" id="{1322600A-5882-5DA9-9D00-735DAE76DB63}"/>
              </a:ext>
            </a:extLst>
          </p:cNvPr>
          <p:cNvSpPr>
            <a:spLocks noChangeArrowheads="1"/>
          </p:cNvSpPr>
          <p:nvPr/>
        </p:nvSpPr>
        <p:spPr bwMode="auto">
          <a:xfrm>
            <a:off x="1027522" y="3013407"/>
            <a:ext cx="11302110" cy="373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CL"/>
          </a:p>
        </p:txBody>
      </p:sp>
      <p:pic>
        <p:nvPicPr>
          <p:cNvPr id="1031" name="Imagen 2">
            <a:extLst>
              <a:ext uri="{FF2B5EF4-FFF2-40B4-BE49-F238E27FC236}">
                <a16:creationId xmlns:a16="http://schemas.microsoft.com/office/drawing/2014/main" id="{2360E95D-C93D-29FC-0236-B7D11C10D8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522" y="3511927"/>
            <a:ext cx="2648932" cy="158935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9">
            <a:extLst>
              <a:ext uri="{FF2B5EF4-FFF2-40B4-BE49-F238E27FC236}">
                <a16:creationId xmlns:a16="http://schemas.microsoft.com/office/drawing/2014/main" id="{2730EA40-D9A9-FDDE-B633-083443563845}"/>
              </a:ext>
            </a:extLst>
          </p:cNvPr>
          <p:cNvSpPr>
            <a:spLocks noChangeArrowheads="1"/>
          </p:cNvSpPr>
          <p:nvPr/>
        </p:nvSpPr>
        <p:spPr bwMode="auto">
          <a:xfrm>
            <a:off x="1027522" y="5240992"/>
            <a:ext cx="1130211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L"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(Wikipedia, 2011)</a:t>
            </a:r>
            <a:endParaRPr kumimoji="0" lang="es-ES" altLang="es-CL"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4037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D1E73B-8021-8217-A512-1E888154953E}"/>
              </a:ext>
            </a:extLst>
          </p:cNvPr>
          <p:cNvSpPr>
            <a:spLocks noGrp="1"/>
          </p:cNvSpPr>
          <p:nvPr>
            <p:ph type="title"/>
          </p:nvPr>
        </p:nvSpPr>
        <p:spPr/>
        <p:txBody>
          <a:bodyPr>
            <a:normAutofit fontScale="90000"/>
          </a:bodyPr>
          <a:lstStyle/>
          <a:p>
            <a:pPr algn="just"/>
            <a:br>
              <a:rPr kumimoji="0" lang="es-ES" sz="16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br>
              <a:rPr kumimoji="0" lang="es-ES" sz="16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br>
              <a:rPr kumimoji="0" lang="es-ES" sz="16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s-ES" sz="18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¿Qué materiales ofrecen la mejor combinación de resistencia y peso para la construcción de una jaula antivuelco?</a:t>
            </a:r>
            <a:br>
              <a:rPr kumimoji="0" lang="es-ES" sz="18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br>
              <a:rPr kumimoji="0" lang="es-ES" sz="12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endParaRPr lang="es-CL" dirty="0">
              <a:effectLst/>
            </a:endParaRPr>
          </a:p>
        </p:txBody>
      </p:sp>
      <p:sp>
        <p:nvSpPr>
          <p:cNvPr id="3" name="Marcador de contenido 2">
            <a:extLst>
              <a:ext uri="{FF2B5EF4-FFF2-40B4-BE49-F238E27FC236}">
                <a16:creationId xmlns:a16="http://schemas.microsoft.com/office/drawing/2014/main" id="{2866DF57-8E7F-9DE3-6A85-77D9C6BFCDE4}"/>
              </a:ext>
            </a:extLst>
          </p:cNvPr>
          <p:cNvSpPr>
            <a:spLocks noGrp="1"/>
          </p:cNvSpPr>
          <p:nvPr>
            <p:ph idx="1"/>
          </p:nvPr>
        </p:nvSpPr>
        <p:spPr/>
        <p:txBody>
          <a:bodyPr>
            <a:normAutofit/>
          </a:bodyPr>
          <a:lstStyle/>
          <a:p>
            <a:pPr algn="just">
              <a:lnSpc>
                <a:spcPct val="150000"/>
              </a:lnSpc>
            </a:pPr>
            <a:r>
              <a:rPr lang="es-ES" sz="1200" b="0" i="0" dirty="0">
                <a:effectLst/>
                <a:latin typeface="Arial" panose="020B0604020202020204" pitchFamily="34" charset="0"/>
                <a:cs typeface="Arial" panose="020B0604020202020204" pitchFamily="34" charset="0"/>
              </a:rPr>
              <a:t>La elección de los materiales para la creación de una jaula antivuelco debe equilibrar la resistencia, el peso y la durabilidad.</a:t>
            </a:r>
          </a:p>
          <a:p>
            <a:pPr marL="0" indent="0" algn="just">
              <a:lnSpc>
                <a:spcPct val="150000"/>
              </a:lnSpc>
              <a:buNone/>
            </a:pPr>
            <a:r>
              <a:rPr lang="es-CL" sz="1200" b="1" dirty="0">
                <a:latin typeface="Arial" panose="020B0604020202020204" pitchFamily="34" charset="0"/>
                <a:cs typeface="Arial" panose="020B0604020202020204" pitchFamily="34" charset="0"/>
              </a:rPr>
              <a:t>Acero de Alta Resistencia: </a:t>
            </a:r>
            <a:r>
              <a:rPr lang="es-CL" sz="1200" dirty="0">
                <a:latin typeface="Arial" panose="020B0604020202020204" pitchFamily="34" charset="0"/>
                <a:cs typeface="Arial" panose="020B0604020202020204" pitchFamily="34" charset="0"/>
              </a:rPr>
              <a:t>e</a:t>
            </a:r>
            <a:r>
              <a:rPr lang="es-ES" sz="1200" b="0" i="0" dirty="0">
                <a:effectLst/>
                <a:latin typeface="Arial" panose="020B0604020202020204" pitchFamily="34" charset="0"/>
                <a:cs typeface="Arial" panose="020B0604020202020204" pitchFamily="34" charset="0"/>
              </a:rPr>
              <a:t>s ampliamente utilizado en jaulas antivuelco debido a su alta resistencia y capacidad para absorber impactos.</a:t>
            </a:r>
          </a:p>
          <a:p>
            <a:pPr marL="0" indent="0" algn="just">
              <a:lnSpc>
                <a:spcPct val="150000"/>
              </a:lnSpc>
              <a:buNone/>
            </a:pPr>
            <a:r>
              <a:rPr lang="es-CL" sz="1200" b="1" i="0" dirty="0">
                <a:effectLst/>
                <a:latin typeface="Arial" panose="020B0604020202020204" pitchFamily="34" charset="0"/>
                <a:cs typeface="Arial" panose="020B0604020202020204" pitchFamily="34" charset="0"/>
              </a:rPr>
              <a:t>Aleaciones de Aluminio:  </a:t>
            </a:r>
            <a:r>
              <a:rPr lang="es-ES" sz="1200" b="0" i="0" dirty="0">
                <a:effectLst/>
                <a:latin typeface="Arial" panose="020B0604020202020204" pitchFamily="34" charset="0"/>
                <a:cs typeface="Arial" panose="020B0604020202020204" pitchFamily="34" charset="0"/>
              </a:rPr>
              <a:t>ofrecen una buena resistencia con un peso más ligero que el acero.</a:t>
            </a:r>
          </a:p>
          <a:p>
            <a:pPr marL="0" indent="0" algn="just">
              <a:lnSpc>
                <a:spcPct val="150000"/>
              </a:lnSpc>
              <a:buNone/>
            </a:pPr>
            <a:r>
              <a:rPr lang="es-CL" sz="1200" b="1" i="0" dirty="0">
                <a:effectLst/>
                <a:latin typeface="Arial" panose="020B0604020202020204" pitchFamily="34" charset="0"/>
                <a:cs typeface="Arial" panose="020B0604020202020204" pitchFamily="34" charset="0"/>
              </a:rPr>
              <a:t>Fibra de Carbono: </a:t>
            </a:r>
            <a:r>
              <a:rPr lang="es-ES" sz="1200" b="0" i="0" dirty="0">
                <a:effectLst/>
                <a:latin typeface="Arial" panose="020B0604020202020204" pitchFamily="34" charset="0"/>
                <a:cs typeface="Arial" panose="020B0604020202020204" pitchFamily="34" charset="0"/>
              </a:rPr>
              <a:t>La fibra de carbono es un material compuesto conocido por su alta resistencia específica y rigidez.</a:t>
            </a:r>
          </a:p>
          <a:p>
            <a:pPr marL="0" indent="0" algn="just">
              <a:lnSpc>
                <a:spcPct val="150000"/>
              </a:lnSpc>
              <a:buNone/>
            </a:pPr>
            <a:r>
              <a:rPr lang="es-CL" sz="1200" b="1" i="0" dirty="0">
                <a:effectLst/>
                <a:latin typeface="Arial" panose="020B0604020202020204" pitchFamily="34" charset="0"/>
                <a:cs typeface="Arial" panose="020B0604020202020204" pitchFamily="34" charset="0"/>
              </a:rPr>
              <a:t>Titanio:  </a:t>
            </a:r>
            <a:r>
              <a:rPr lang="es-ES" sz="1200" b="0" i="0" dirty="0">
                <a:effectLst/>
                <a:latin typeface="Arial" panose="020B0604020202020204" pitchFamily="34" charset="0"/>
                <a:cs typeface="Arial" panose="020B0604020202020204" pitchFamily="34" charset="0"/>
              </a:rPr>
              <a:t>El titanio es conocido por su alta resistencia y durabilidad con un peso más ligero que el acero.</a:t>
            </a:r>
          </a:p>
          <a:p>
            <a:pPr marL="0" indent="0" algn="just">
              <a:lnSpc>
                <a:spcPct val="150000"/>
              </a:lnSpc>
              <a:buNone/>
            </a:pPr>
            <a:r>
              <a:rPr lang="es-CL" sz="1200" b="1" i="0" dirty="0">
                <a:effectLst/>
                <a:latin typeface="Arial" panose="020B0604020202020204" pitchFamily="34" charset="0"/>
                <a:cs typeface="Arial" panose="020B0604020202020204" pitchFamily="34" charset="0"/>
              </a:rPr>
              <a:t>Materiales Compuestos: </a:t>
            </a:r>
            <a:r>
              <a:rPr lang="es-ES" sz="1200" b="0" i="0" dirty="0">
                <a:effectLst/>
                <a:latin typeface="Arial" panose="020B0604020202020204" pitchFamily="34" charset="0"/>
                <a:cs typeface="Arial" panose="020B0604020202020204" pitchFamily="34" charset="0"/>
              </a:rPr>
              <a:t>compuestos como fibra de vidrio o fibra de aramida en una matriz de resina epoxi ofrecen una buena resistencia y capacidad de absorción de energía.</a:t>
            </a:r>
            <a:endParaRPr lang="es-CL"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5221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FD08BD-38B9-AF6E-44EA-D204903CE5F3}"/>
              </a:ext>
            </a:extLst>
          </p:cNvPr>
          <p:cNvSpPr>
            <a:spLocks noGrp="1"/>
          </p:cNvSpPr>
          <p:nvPr>
            <p:ph type="title"/>
          </p:nvPr>
        </p:nvSpPr>
        <p:spPr/>
        <p:txBody>
          <a:bodyPr>
            <a:normAutofit/>
          </a:bodyPr>
          <a:lstStyle/>
          <a:p>
            <a:pPr algn="just"/>
            <a:r>
              <a:rPr kumimoji="0" lang="es-ES" sz="1600" i="0" u="none" strike="noStrike" kern="1200" cap="none" spc="0" normalizeH="0" baseline="0" noProof="0" dirty="0">
                <a:ln>
                  <a:noFill/>
                </a:ln>
                <a:effectLst>
                  <a:outerShdw blurRad="50800" dist="38100" dir="2700000" algn="tl" rotWithShape="0">
                    <a:srgbClr val="000000">
                      <a:alpha val="48000"/>
                    </a:srgbClr>
                  </a:outerShdw>
                </a:effectLst>
                <a:uLnTx/>
                <a:uFillTx/>
                <a:latin typeface="Arial" panose="020B0604020202020204" pitchFamily="34" charset="0"/>
                <a:ea typeface="+mn-ea"/>
                <a:cs typeface="Arial" panose="020B0604020202020204" pitchFamily="34" charset="0"/>
              </a:rPr>
              <a:t>¿Para qué tipo de vehículo se podría utilizar esta jaula?</a:t>
            </a:r>
            <a:endParaRPr lang="es-CL" sz="1600" dirty="0"/>
          </a:p>
        </p:txBody>
      </p:sp>
      <p:sp>
        <p:nvSpPr>
          <p:cNvPr id="3" name="Marcador de contenido 2">
            <a:extLst>
              <a:ext uri="{FF2B5EF4-FFF2-40B4-BE49-F238E27FC236}">
                <a16:creationId xmlns:a16="http://schemas.microsoft.com/office/drawing/2014/main" id="{014BB0E6-9620-7F43-41EE-A87AB39A3C0E}"/>
              </a:ext>
            </a:extLst>
          </p:cNvPr>
          <p:cNvSpPr>
            <a:spLocks noGrp="1"/>
          </p:cNvSpPr>
          <p:nvPr>
            <p:ph idx="1"/>
          </p:nvPr>
        </p:nvSpPr>
        <p:spPr/>
        <p:txBody>
          <a:bodyPr>
            <a:normAutofit/>
          </a:bodyPr>
          <a:lstStyle/>
          <a:p>
            <a:pPr algn="just">
              <a:lnSpc>
                <a:spcPct val="150000"/>
              </a:lnSpc>
            </a:pPr>
            <a:r>
              <a:rPr lang="es-ES" sz="1200" b="1" i="0" dirty="0">
                <a:effectLst/>
                <a:latin typeface="Arial" panose="020B0604020202020204" pitchFamily="34" charset="0"/>
                <a:cs typeface="Arial" panose="020B0604020202020204" pitchFamily="34" charset="0"/>
              </a:rPr>
              <a:t>Vehículos Todo Terreno (ATV):</a:t>
            </a:r>
            <a:r>
              <a:rPr lang="es-ES" sz="1200" b="0" i="0" dirty="0">
                <a:effectLst/>
                <a:latin typeface="Arial" panose="020B0604020202020204" pitchFamily="34" charset="0"/>
                <a:cs typeface="Arial" panose="020B0604020202020204" pitchFamily="34" charset="0"/>
              </a:rPr>
              <a:t> Los ATV, también conocidos como cuatrimotos o quad, son vehículos de tres o cuatro ruedas utilizadas en terrenos accidentados.</a:t>
            </a:r>
          </a:p>
          <a:p>
            <a:pPr algn="just">
              <a:lnSpc>
                <a:spcPct val="150000"/>
              </a:lnSpc>
            </a:pPr>
            <a:r>
              <a:rPr lang="es-ES" sz="1200" b="1" i="0" dirty="0">
                <a:effectLst/>
                <a:latin typeface="Arial" panose="020B0604020202020204" pitchFamily="34" charset="0"/>
                <a:cs typeface="Arial" panose="020B0604020202020204" pitchFamily="34" charset="0"/>
              </a:rPr>
              <a:t>Vehículos de Competición y Carreras:</a:t>
            </a:r>
            <a:r>
              <a:rPr lang="es-ES" sz="1200" b="0" i="0" dirty="0">
                <a:effectLst/>
                <a:latin typeface="Arial" panose="020B0604020202020204" pitchFamily="34" charset="0"/>
                <a:cs typeface="Arial" panose="020B0604020202020204" pitchFamily="34" charset="0"/>
              </a:rPr>
              <a:t> En el ámbito del automovilismo, especialmente en competiciones todoterreno, rally y carreras de resistencia, es común encontrar jaulas antivuelco en los vehículos de competición.</a:t>
            </a:r>
          </a:p>
          <a:p>
            <a:pPr algn="just">
              <a:lnSpc>
                <a:spcPct val="150000"/>
              </a:lnSpc>
            </a:pPr>
            <a:r>
              <a:rPr lang="es-ES" sz="1200" b="1" i="0" dirty="0">
                <a:effectLst/>
                <a:latin typeface="Arial" panose="020B0604020202020204" pitchFamily="34" charset="0"/>
                <a:cs typeface="Arial" panose="020B0604020202020204" pitchFamily="34" charset="0"/>
              </a:rPr>
              <a:t>Vehículos Militares y de Rescate:</a:t>
            </a:r>
            <a:r>
              <a:rPr lang="es-ES" sz="1200" b="0" i="0" dirty="0">
                <a:effectLst/>
                <a:latin typeface="Arial" panose="020B0604020202020204" pitchFamily="34" charset="0"/>
                <a:cs typeface="Arial" panose="020B0604020202020204" pitchFamily="34" charset="0"/>
              </a:rPr>
              <a:t> En algunos vehículos militares y de rescate diseñados para operar en terrenos difíciles, las jaulas antivuelco proporcionan protección adicional para los ocupantes en situaciones potencialmente peligrosas.</a:t>
            </a:r>
          </a:p>
          <a:p>
            <a:pPr algn="just">
              <a:lnSpc>
                <a:spcPct val="150000"/>
              </a:lnSpc>
            </a:pPr>
            <a:r>
              <a:rPr lang="es-ES" sz="1200" b="1" i="0" dirty="0">
                <a:effectLst/>
                <a:latin typeface="Arial" panose="020B0604020202020204" pitchFamily="34" charset="0"/>
                <a:cs typeface="Arial" panose="020B0604020202020204" pitchFamily="34" charset="0"/>
              </a:rPr>
              <a:t>Vehículos de Servicio Público:</a:t>
            </a:r>
            <a:r>
              <a:rPr lang="es-ES" sz="1200" b="0" i="0" dirty="0">
                <a:effectLst/>
                <a:latin typeface="Arial" panose="020B0604020202020204" pitchFamily="34" charset="0"/>
                <a:cs typeface="Arial" panose="020B0604020202020204" pitchFamily="34" charset="0"/>
              </a:rPr>
              <a:t> En ciertos vehículos de servicio público, como vehículos utilitarios, utilizados por personal de seguridad, policía o servicios de emergencia en entornos accidentados, las jaulas antivuelco pueden ser esenciales para garantizar la seguridad de los operadores.</a:t>
            </a:r>
          </a:p>
          <a:p>
            <a:pPr algn="just">
              <a:lnSpc>
                <a:spcPct val="150000"/>
              </a:lnSpc>
            </a:pPr>
            <a:r>
              <a:rPr lang="es-ES" sz="1200" b="0" i="0" dirty="0">
                <a:effectLst/>
                <a:latin typeface="Arial" panose="020B0604020202020204" pitchFamily="34" charset="0"/>
                <a:cs typeface="Arial" panose="020B0604020202020204" pitchFamily="34" charset="0"/>
              </a:rPr>
              <a:t>Es importante destacar que la instalación de una jaula antivuelco debe cumplir con normativas y estándares de seguridad específicos, y la elección de materiales y diseño debe adaptarse a las características y requisitos de cada tipo de vehículo.</a:t>
            </a:r>
            <a:endParaRPr lang="es-CL"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3197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35528D-322B-3AFE-85C9-62C8229F4098}"/>
              </a:ext>
            </a:extLst>
          </p:cNvPr>
          <p:cNvSpPr>
            <a:spLocks noGrp="1"/>
          </p:cNvSpPr>
          <p:nvPr>
            <p:ph type="title"/>
          </p:nvPr>
        </p:nvSpPr>
        <p:spPr>
          <a:xfrm>
            <a:off x="913795" y="750696"/>
            <a:ext cx="5736386" cy="961000"/>
          </a:xfrm>
        </p:spPr>
        <p:txBody>
          <a:bodyPr>
            <a:normAutofit fontScale="90000"/>
          </a:bodyPr>
          <a:lstStyle/>
          <a:p>
            <a:pPr marL="0" marR="0" lvl="0" indent="0" algn="just" defTabSz="914400" rtl="0" eaLnBrk="1" fontAlgn="auto" latinLnBrk="0" hangingPunct="1">
              <a:lnSpc>
                <a:spcPct val="170000"/>
              </a:lnSpc>
              <a:spcBef>
                <a:spcPts val="1000"/>
              </a:spcBef>
              <a:spcAft>
                <a:spcPts val="0"/>
              </a:spcAft>
              <a:tabLst/>
              <a:defRPr/>
            </a:pPr>
            <a:r>
              <a:rPr kumimoji="0" lang="es-ES" sz="16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¿Cómo afecta la instalación de una jaula antivuelco al rendimiento general de un vehículo?</a:t>
            </a:r>
            <a:br>
              <a:rPr kumimoji="0" lang="es-ES" sz="16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endParaRPr lang="es-CL" sz="1600" dirty="0">
              <a:effectLst/>
            </a:endParaRPr>
          </a:p>
        </p:txBody>
      </p:sp>
      <p:sp>
        <p:nvSpPr>
          <p:cNvPr id="3" name="Marcador de contenido 2">
            <a:extLst>
              <a:ext uri="{FF2B5EF4-FFF2-40B4-BE49-F238E27FC236}">
                <a16:creationId xmlns:a16="http://schemas.microsoft.com/office/drawing/2014/main" id="{34E61125-82B6-F96C-2030-D02C4BE9B785}"/>
              </a:ext>
            </a:extLst>
          </p:cNvPr>
          <p:cNvSpPr>
            <a:spLocks noGrp="1"/>
          </p:cNvSpPr>
          <p:nvPr>
            <p:ph idx="1"/>
          </p:nvPr>
        </p:nvSpPr>
        <p:spPr>
          <a:xfrm>
            <a:off x="913795" y="2096064"/>
            <a:ext cx="5736387" cy="3695136"/>
          </a:xfrm>
        </p:spPr>
        <p:txBody>
          <a:bodyPr>
            <a:noAutofit/>
          </a:bodyPr>
          <a:lstStyle/>
          <a:p>
            <a:pPr>
              <a:lnSpc>
                <a:spcPct val="150000"/>
              </a:lnSpc>
            </a:pPr>
            <a:r>
              <a:rPr lang="es-ES" sz="1200" b="0" i="0" dirty="0">
                <a:effectLst/>
                <a:latin typeface="Arial" panose="020B0604020202020204" pitchFamily="34" charset="0"/>
                <a:cs typeface="Arial" panose="020B0604020202020204" pitchFamily="34" charset="0"/>
              </a:rPr>
              <a:t>La instalación de una jaula antivuelco puede tener varias implicaciones en el rendimiento general de un vehículo, ya que introduce cambios estructurales y de peso que afectan la dinámica de conducción y otras características. Aquí se describen algunas de las formas en que la instalación de una jaula antivuelco puede influir en el rendimiento del vehículo:</a:t>
            </a:r>
          </a:p>
          <a:p>
            <a:pPr>
              <a:lnSpc>
                <a:spcPct val="150000"/>
              </a:lnSpc>
            </a:pPr>
            <a:r>
              <a:rPr lang="es-ES" sz="1200" b="1" i="0" dirty="0">
                <a:effectLst/>
                <a:latin typeface="Arial" panose="020B0604020202020204" pitchFamily="34" charset="0"/>
                <a:cs typeface="Arial" panose="020B0604020202020204" pitchFamily="34" charset="0"/>
              </a:rPr>
              <a:t>Peso Adicional:</a:t>
            </a:r>
            <a:r>
              <a:rPr lang="es-ES" sz="1200" b="0" i="0" dirty="0">
                <a:effectLst/>
                <a:latin typeface="Arial" panose="020B0604020202020204" pitchFamily="34" charset="0"/>
                <a:cs typeface="Arial" panose="020B0604020202020204" pitchFamily="34" charset="0"/>
              </a:rPr>
              <a:t> La jaula antivuelco, especialmente si está construida con materiales densos como el acero, puede agregar peso significativo al vehículo.</a:t>
            </a:r>
          </a:p>
          <a:p>
            <a:pPr>
              <a:lnSpc>
                <a:spcPct val="150000"/>
              </a:lnSpc>
            </a:pPr>
            <a:r>
              <a:rPr lang="es-ES" sz="1200" b="1" i="0" dirty="0">
                <a:effectLst/>
                <a:latin typeface="Arial" panose="020B0604020202020204" pitchFamily="34" charset="0"/>
                <a:cs typeface="Arial" panose="020B0604020202020204" pitchFamily="34" charset="0"/>
              </a:rPr>
              <a:t>Distribución de Peso:</a:t>
            </a:r>
            <a:r>
              <a:rPr lang="es-ES" sz="1200" b="0" i="0" dirty="0">
                <a:effectLst/>
                <a:latin typeface="Arial" panose="020B0604020202020204" pitchFamily="34" charset="0"/>
                <a:cs typeface="Arial" panose="020B0604020202020204" pitchFamily="34" charset="0"/>
              </a:rPr>
              <a:t> La adición de la jaula puede cambiar la distribución de peso del vehículo. Esto puede afectar la tracción de las ruedas, la estabilidad en curvas y la capacidad para mantener el control en terrenos difíciles.</a:t>
            </a:r>
          </a:p>
          <a:p>
            <a:pPr>
              <a:lnSpc>
                <a:spcPct val="150000"/>
              </a:lnSpc>
            </a:pPr>
            <a:r>
              <a:rPr lang="es-ES" sz="1200" b="1" i="0" dirty="0">
                <a:effectLst/>
                <a:latin typeface="Arial" panose="020B0604020202020204" pitchFamily="34" charset="0"/>
                <a:cs typeface="Arial" panose="020B0604020202020204" pitchFamily="34" charset="0"/>
              </a:rPr>
              <a:t>Espacio Interior Limitado:</a:t>
            </a:r>
            <a:r>
              <a:rPr lang="es-ES" sz="1200" b="0" i="0" dirty="0">
                <a:effectLst/>
                <a:latin typeface="Arial" panose="020B0604020202020204" pitchFamily="34" charset="0"/>
                <a:cs typeface="Arial" panose="020B0604020202020204" pitchFamily="34" charset="0"/>
              </a:rPr>
              <a:t> Dependiendo del diseño de la jaula y su ubicación, puede limitar el espacio interior del vehículo. </a:t>
            </a:r>
            <a:endParaRPr lang="es-CL" sz="1200"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8998198A-E167-9D7D-32DB-277AD8114924}"/>
              </a:ext>
            </a:extLst>
          </p:cNvPr>
          <p:cNvSpPr txBox="1"/>
          <p:nvPr/>
        </p:nvSpPr>
        <p:spPr>
          <a:xfrm>
            <a:off x="7952508" y="892642"/>
            <a:ext cx="3657600" cy="338554"/>
          </a:xfrm>
          <a:prstGeom prst="rect">
            <a:avLst/>
          </a:prstGeom>
          <a:noFill/>
        </p:spPr>
        <p:txBody>
          <a:bodyPr wrap="square" rtlCol="0">
            <a:spAutoFit/>
          </a:bodyPr>
          <a:lstStyle/>
          <a:p>
            <a:pPr algn="just"/>
            <a:r>
              <a:rPr lang="es-CL" sz="1600" b="1" dirty="0">
                <a:latin typeface="Arial" panose="020B0604020202020204" pitchFamily="34" charset="0"/>
                <a:cs typeface="Arial" panose="020B0604020202020204" pitchFamily="34" charset="0"/>
              </a:rPr>
              <a:t>Problema Matemático</a:t>
            </a:r>
          </a:p>
        </p:txBody>
      </p:sp>
      <p:pic>
        <p:nvPicPr>
          <p:cNvPr id="6" name="Imagen 5" descr="Texto, Carta&#10;&#10;Descripción generada automáticamente">
            <a:extLst>
              <a:ext uri="{FF2B5EF4-FFF2-40B4-BE49-F238E27FC236}">
                <a16:creationId xmlns:a16="http://schemas.microsoft.com/office/drawing/2014/main" id="{E105FD6F-0EF5-6409-0710-DECF39D1D7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9037" y="1649351"/>
            <a:ext cx="3657601" cy="4876801"/>
          </a:xfrm>
          <a:prstGeom prst="rect">
            <a:avLst/>
          </a:prstGeom>
        </p:spPr>
      </p:pic>
    </p:spTree>
    <p:extLst>
      <p:ext uri="{BB962C8B-B14F-4D97-AF65-F5344CB8AC3E}">
        <p14:creationId xmlns:p14="http://schemas.microsoft.com/office/powerpoint/2010/main" val="3548956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928939-B95F-7747-D669-FD8A93D208AD}"/>
              </a:ext>
            </a:extLst>
          </p:cNvPr>
          <p:cNvSpPr>
            <a:spLocks noGrp="1"/>
          </p:cNvSpPr>
          <p:nvPr>
            <p:ph type="title"/>
          </p:nvPr>
        </p:nvSpPr>
        <p:spPr>
          <a:xfrm>
            <a:off x="913795" y="201707"/>
            <a:ext cx="10353761" cy="1048870"/>
          </a:xfrm>
        </p:spPr>
        <p:txBody>
          <a:bodyPr>
            <a:normAutofit/>
          </a:bodyPr>
          <a:lstStyle/>
          <a:p>
            <a:pPr algn="just">
              <a:lnSpc>
                <a:spcPct val="150000"/>
              </a:lnSpc>
            </a:pPr>
            <a:r>
              <a:rPr lang="es-MX" sz="1600" dirty="0">
                <a:latin typeface="Arial" panose="020B0604020202020204" pitchFamily="34" charset="0"/>
                <a:cs typeface="Arial" panose="020B0604020202020204" pitchFamily="34" charset="0"/>
              </a:rPr>
              <a:t>Desarrollo, revisión de ideas y producto</a:t>
            </a:r>
            <a:endParaRPr lang="es-CL" sz="1600"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752A3237-4BDC-6A3C-B0D8-3F31702260FE}"/>
              </a:ext>
            </a:extLst>
          </p:cNvPr>
          <p:cNvSpPr>
            <a:spLocks noGrp="1"/>
          </p:cNvSpPr>
          <p:nvPr>
            <p:ph idx="1"/>
          </p:nvPr>
        </p:nvSpPr>
        <p:spPr>
          <a:xfrm>
            <a:off x="368849" y="1117599"/>
            <a:ext cx="4680181" cy="5209309"/>
          </a:xfrm>
        </p:spPr>
        <p:txBody>
          <a:bodyPr>
            <a:normAutofit lnSpcReduction="10000"/>
          </a:bodyPr>
          <a:lstStyle/>
          <a:p>
            <a:endParaRPr lang="es-CL" sz="1200" dirty="0"/>
          </a:p>
          <a:p>
            <a:pPr algn="just">
              <a:lnSpc>
                <a:spcPct val="150000"/>
              </a:lnSpc>
            </a:pPr>
            <a:r>
              <a:rPr lang="es-CL" sz="1200" dirty="0">
                <a:latin typeface="Arial" panose="020B0604020202020204" pitchFamily="34" charset="0"/>
                <a:cs typeface="Arial" panose="020B0604020202020204" pitchFamily="34" charset="0"/>
              </a:rPr>
              <a:t>En el siguiente ítem se dará a conocer como fue nuestra resolución  del </a:t>
            </a:r>
            <a:r>
              <a:rPr lang="es-CL" sz="1200" dirty="0">
                <a:solidFill>
                  <a:srgbClr val="FF0000"/>
                </a:solidFill>
                <a:latin typeface="Arial" panose="020B0604020202020204" pitchFamily="34" charset="0"/>
                <a:cs typeface="Arial" panose="020B0604020202020204" pitchFamily="34" charset="0"/>
              </a:rPr>
              <a:t>proyecto desde el inicio a final donde comenzamos el proyecto con la idea de mejorar la seguridad de un vehículo</a:t>
            </a:r>
            <a:r>
              <a:rPr lang="es-CL" sz="1200" dirty="0">
                <a:latin typeface="Arial" panose="020B0604020202020204" pitchFamily="34" charset="0"/>
                <a:cs typeface="Arial" panose="020B0604020202020204" pitchFamily="34" charset="0"/>
              </a:rPr>
              <a:t>  Peugeot 206 WRC con el fin de instalar una jaula antivuelco con la finalidad de mejorar la seguridad del conductor ya sea en un accidente o en cualquier caso, donde luego de varias investigaciones realizadas para determinar la mejor solución para la mejora e instalación de la jaula antivuelco, lo que hicimos fue invertir en un buen fierro que seria </a:t>
            </a:r>
            <a:r>
              <a:rPr lang="es-MX" sz="1200" dirty="0">
                <a:latin typeface="Arial" panose="020B0604020202020204" pitchFamily="34" charset="0"/>
                <a:cs typeface="Arial" panose="020B0604020202020204" pitchFamily="34" charset="0"/>
              </a:rPr>
              <a:t> tubería de bajo carbono, sin costura, </a:t>
            </a:r>
            <a:r>
              <a:rPr lang="es-MX" sz="1200" dirty="0">
                <a:solidFill>
                  <a:srgbClr val="FF0000"/>
                </a:solidFill>
                <a:latin typeface="Arial" panose="020B0604020202020204" pitchFamily="34" charset="0"/>
                <a:cs typeface="Arial" panose="020B0604020202020204" pitchFamily="34" charset="0"/>
              </a:rPr>
              <a:t>con un diámetro de 2 pulgadas y 2 mm, guiándonos por varios ppt e información de Google .</a:t>
            </a:r>
          </a:p>
          <a:p>
            <a:pPr algn="just">
              <a:lnSpc>
                <a:spcPct val="150000"/>
              </a:lnSpc>
            </a:pPr>
            <a:r>
              <a:rPr lang="es-CL" sz="1200" dirty="0">
                <a:latin typeface="Arial" panose="020B0604020202020204" pitchFamily="34" charset="0"/>
                <a:cs typeface="Arial" panose="020B0604020202020204" pitchFamily="34" charset="0"/>
              </a:rPr>
              <a:t>En otro ítem presentamos un problema matemático de ejemplo resolvimos el problema de coeficiente de resistencia frontal de aire, donde tenemos las variables RAF(carga por resistencia aerodinámica), P es (densidad del aire), V es (velocidad del aire) y AF es (área correspondiente a la proyección del vehículo en un plano perpendicular a su eje longitudinal)</a:t>
            </a:r>
          </a:p>
        </p:txBody>
      </p:sp>
      <p:sp>
        <p:nvSpPr>
          <p:cNvPr id="5" name="CuadroTexto 4">
            <a:extLst>
              <a:ext uri="{FF2B5EF4-FFF2-40B4-BE49-F238E27FC236}">
                <a16:creationId xmlns:a16="http://schemas.microsoft.com/office/drawing/2014/main" id="{F11C02E4-0680-54F7-C393-1AE376439EB5}"/>
              </a:ext>
            </a:extLst>
          </p:cNvPr>
          <p:cNvSpPr txBox="1"/>
          <p:nvPr/>
        </p:nvSpPr>
        <p:spPr>
          <a:xfrm>
            <a:off x="5246255" y="1117600"/>
            <a:ext cx="6400800" cy="6186309"/>
          </a:xfrm>
          <a:prstGeom prst="rect">
            <a:avLst/>
          </a:prstGeom>
          <a:noFill/>
        </p:spPr>
        <p:txBody>
          <a:bodyPr wrap="square" rtlCol="0">
            <a:spAutoFit/>
          </a:bodyPr>
          <a:lstStyle/>
          <a:p>
            <a:pPr marL="171450" indent="-171450" algn="just">
              <a:lnSpc>
                <a:spcPct val="150000"/>
              </a:lnSpc>
              <a:buFont typeface="Arial" panose="020B0604020202020204" pitchFamily="34" charset="0"/>
              <a:buChar char="•"/>
            </a:pPr>
            <a:r>
              <a:rPr lang="es-MX" sz="1200" dirty="0">
                <a:latin typeface="Arial" panose="020B0604020202020204" pitchFamily="34" charset="0"/>
                <a:cs typeface="Arial" panose="020B0604020202020204" pitchFamily="34" charset="0"/>
              </a:rPr>
              <a:t>Llegando al tercer ítem donde hablaremos del producto final del proyecto, investigando pudimos mejorar la elaboración de la jaula antivuelco , nos dimos cuenta de varias cosas, una de ellas es que depende de la </a:t>
            </a:r>
            <a:r>
              <a:rPr lang="es-MX" sz="1200" dirty="0">
                <a:solidFill>
                  <a:srgbClr val="FF0000"/>
                </a:solidFill>
                <a:latin typeface="Arial" panose="020B0604020202020204" pitchFamily="34" charset="0"/>
                <a:cs typeface="Arial" panose="020B0604020202020204" pitchFamily="34" charset="0"/>
              </a:rPr>
              <a:t>geometría del vehículo </a:t>
            </a:r>
            <a:r>
              <a:rPr lang="es-MX" sz="1200" dirty="0">
                <a:latin typeface="Arial" panose="020B0604020202020204" pitchFamily="34" charset="0"/>
                <a:cs typeface="Arial" panose="020B0604020202020204" pitchFamily="34" charset="0"/>
              </a:rPr>
              <a:t>(ya que no todos los vehículos son iguales) de la carga que debe soportar la jaula y del proceso de manufactura la elección del diseño o la modificación de alguno de ellos. Es obvio que cada uno ofrece ventajas que se pueden ajustar para mejorar las necesidades del vehículo.  Es una buena opción hacer un estudio sobre el vehículo con los parámetros específicos del Peugeot 206 y si es necesario hacer las modificaciones necesarias para que el vehículo listo.</a:t>
            </a:r>
          </a:p>
          <a:p>
            <a:pPr marL="171450" indent="-171450" algn="just">
              <a:lnSpc>
                <a:spcPct val="150000"/>
              </a:lnSpc>
              <a:buFont typeface="Arial" panose="020B0604020202020204" pitchFamily="34" charset="0"/>
              <a:buChar char="•"/>
            </a:pPr>
            <a:endParaRPr lang="es-MX" sz="120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es-MX" sz="1200" dirty="0">
                <a:latin typeface="Arial" panose="020B0604020202020204" pitchFamily="34" charset="0"/>
                <a:cs typeface="Arial" panose="020B0604020202020204" pitchFamily="34" charset="0"/>
              </a:rPr>
              <a:t>Luego de buscar en internet mejoras para el vehículo para que la jaula antivuelco tenga mayor efectividad en su uso encontramos que podemos reforzar el chasis (Añadir refuerzos estructurales al chasis para garantizar la resistencia necesaria durante un vuelco),  sistema de suspensión mejorado(Actualizar el sistema de suspensión para mejorar la estabilidad del vehículo),  sistema de frenado de alto rendimiento(Mejorar los sistemas de frenado para reducir la distancia de frenado y mejorar el control del vehículo en situaciones de emergencia.), sistemas de dirección precisa(Actualizar el sistema de dirección para mejorar la respuesta y la precisión, lo que puede ser crucial en situaciones de vuelco) ya que con estas mejorar el vehículo tendrá mas estabilidad y así tendrá menos posibilidades de volcarse .</a:t>
            </a:r>
          </a:p>
          <a:p>
            <a:pPr marL="171450" indent="-171450">
              <a:buFont typeface="Arial" panose="020B0604020202020204" pitchFamily="34" charset="0"/>
              <a:buChar char="•"/>
            </a:pPr>
            <a:endParaRPr lang="es-MX" sz="1200" dirty="0"/>
          </a:p>
          <a:p>
            <a:pPr marL="171450" indent="-171450">
              <a:buFont typeface="Arial" panose="020B0604020202020204" pitchFamily="34" charset="0"/>
              <a:buChar char="•"/>
            </a:pPr>
            <a:endParaRPr lang="es-MX" sz="1200" dirty="0"/>
          </a:p>
          <a:p>
            <a:endParaRPr lang="es-MX" sz="1200" dirty="0"/>
          </a:p>
        </p:txBody>
      </p:sp>
    </p:spTree>
    <p:extLst>
      <p:ext uri="{BB962C8B-B14F-4D97-AF65-F5344CB8AC3E}">
        <p14:creationId xmlns:p14="http://schemas.microsoft.com/office/powerpoint/2010/main" val="2781876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E5B86F-1B3E-9B5B-E715-1AF62FE7C0C9}"/>
              </a:ext>
            </a:extLst>
          </p:cNvPr>
          <p:cNvSpPr>
            <a:spLocks noGrp="1"/>
          </p:cNvSpPr>
          <p:nvPr>
            <p:ph type="title"/>
          </p:nvPr>
        </p:nvSpPr>
        <p:spPr/>
        <p:txBody>
          <a:bodyPr>
            <a:normAutofit/>
          </a:bodyPr>
          <a:lstStyle/>
          <a:p>
            <a:r>
              <a:rPr lang="es-CL" sz="1800" dirty="0">
                <a:latin typeface="Arial" panose="020B0604020202020204" pitchFamily="34" charset="0"/>
                <a:cs typeface="Arial" panose="020B0604020202020204" pitchFamily="34" charset="0"/>
              </a:rPr>
              <a:t>Presentación del producto o prototipo</a:t>
            </a:r>
          </a:p>
        </p:txBody>
      </p:sp>
      <p:sp>
        <p:nvSpPr>
          <p:cNvPr id="3" name="Marcador de contenido 2">
            <a:extLst>
              <a:ext uri="{FF2B5EF4-FFF2-40B4-BE49-F238E27FC236}">
                <a16:creationId xmlns:a16="http://schemas.microsoft.com/office/drawing/2014/main" id="{07935C5A-DF56-C6B8-A71F-1B208A5696F1}"/>
              </a:ext>
            </a:extLst>
          </p:cNvPr>
          <p:cNvSpPr>
            <a:spLocks noGrp="1"/>
          </p:cNvSpPr>
          <p:nvPr>
            <p:ph idx="1"/>
          </p:nvPr>
        </p:nvSpPr>
        <p:spPr>
          <a:xfrm>
            <a:off x="913795" y="1935921"/>
            <a:ext cx="10353762" cy="3695136"/>
          </a:xfrm>
        </p:spPr>
        <p:txBody>
          <a:bodyPr>
            <a:normAutofit/>
          </a:bodyPr>
          <a:lstStyle/>
          <a:p>
            <a:pPr algn="just">
              <a:lnSpc>
                <a:spcPct val="150000"/>
              </a:lnSpc>
            </a:pPr>
            <a:r>
              <a:rPr lang="es-ES" sz="1200" dirty="0">
                <a:latin typeface="Arial" panose="020B0604020202020204" pitchFamily="34" charset="0"/>
                <a:cs typeface="Arial" panose="020B0604020202020204" pitchFamily="34" charset="0"/>
              </a:rPr>
              <a:t>Una jaula anti vuelco es un diseño crucial en vehículos para proteger a los ocupantes en caso de volcaduras. Puede ser una estructura de barras de acero o aleaciones ligeras que rodea el habitáculo del vehículo, diseñada para absorber y distribuir la energía en caso de un vuelco. Los prototipos suelen ser modelos a escala o versiones preliminares que permiten probar la efectividad y la funcionalidad de la jaula antes de la producción a gran escala.</a:t>
            </a:r>
            <a:endParaRPr lang="es-CL" sz="1200" dirty="0">
              <a:latin typeface="Arial" panose="020B0604020202020204" pitchFamily="34" charset="0"/>
              <a:cs typeface="Arial" panose="020B0604020202020204" pitchFamily="34" charset="0"/>
            </a:endParaRPr>
          </a:p>
        </p:txBody>
      </p:sp>
      <p:sp>
        <p:nvSpPr>
          <p:cNvPr id="4" name="Rectangle 2">
            <a:extLst>
              <a:ext uri="{FF2B5EF4-FFF2-40B4-BE49-F238E27FC236}">
                <a16:creationId xmlns:a16="http://schemas.microsoft.com/office/drawing/2014/main" id="{9A57766F-2615-D77D-7F80-1D7C88B6EDAC}"/>
              </a:ext>
            </a:extLst>
          </p:cNvPr>
          <p:cNvSpPr>
            <a:spLocks noChangeArrowheads="1"/>
          </p:cNvSpPr>
          <p:nvPr/>
        </p:nvSpPr>
        <p:spPr bwMode="auto">
          <a:xfrm>
            <a:off x="4618182" y="336203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pic>
        <p:nvPicPr>
          <p:cNvPr id="2049" name="Imagen 3">
            <a:extLst>
              <a:ext uri="{FF2B5EF4-FFF2-40B4-BE49-F238E27FC236}">
                <a16:creationId xmlns:a16="http://schemas.microsoft.com/office/drawing/2014/main" id="{8E1421EC-E968-A8F4-FD7E-F047C4629B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8182" y="3819237"/>
            <a:ext cx="2552700" cy="16954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ED88F032-120F-8682-5EC3-EC1FEF351672}"/>
              </a:ext>
            </a:extLst>
          </p:cNvPr>
          <p:cNvSpPr>
            <a:spLocks noChangeArrowheads="1"/>
          </p:cNvSpPr>
          <p:nvPr/>
        </p:nvSpPr>
        <p:spPr bwMode="auto">
          <a:xfrm>
            <a:off x="4618182" y="551468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L"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(Guzman, 2022)</a:t>
            </a:r>
            <a:endParaRPr kumimoji="0" lang="es-ES" altLang="es-CL"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1327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7E3379C-78EB-25A8-E3C5-95F65677517A}"/>
              </a:ext>
            </a:extLst>
          </p:cNvPr>
          <p:cNvSpPr>
            <a:spLocks noGrp="1"/>
          </p:cNvSpPr>
          <p:nvPr>
            <p:ph idx="1"/>
          </p:nvPr>
        </p:nvSpPr>
        <p:spPr>
          <a:xfrm>
            <a:off x="6250695" y="1581432"/>
            <a:ext cx="5016860" cy="3695136"/>
          </a:xfrm>
        </p:spPr>
        <p:txBody>
          <a:bodyPr>
            <a:normAutofit/>
          </a:bodyPr>
          <a:lstStyle/>
          <a:p>
            <a:pPr algn="just">
              <a:lnSpc>
                <a:spcPct val="150000"/>
              </a:lnSpc>
            </a:pPr>
            <a:r>
              <a:rPr lang="es-ES" sz="1200" dirty="0">
                <a:effectLst/>
                <a:latin typeface="Arial" panose="020B0604020202020204" pitchFamily="34" charset="0"/>
                <a:cs typeface="Arial" panose="020B0604020202020204" pitchFamily="34" charset="0"/>
              </a:rPr>
              <a:t>La implementación de la jaula antivuelco demostró ser un componente crucial para la seguridad del vehículo, proporcionando una protección efectiva en situaciones de vuelco.</a:t>
            </a:r>
          </a:p>
          <a:p>
            <a:pPr algn="just">
              <a:lnSpc>
                <a:spcPct val="150000"/>
              </a:lnSpc>
            </a:pPr>
            <a:r>
              <a:rPr lang="es-ES" sz="1200" dirty="0">
                <a:effectLst/>
                <a:latin typeface="Arial" panose="020B0604020202020204" pitchFamily="34" charset="0"/>
                <a:cs typeface="Arial" panose="020B0604020202020204" pitchFamily="34" charset="0"/>
              </a:rPr>
              <a:t>Los resultados de las pruebas de impacto respaldan la eficacia de la jaula antivuelco al reducir significativamente el riesgo de lesiones graves para los ocupantes del vehículo.</a:t>
            </a:r>
          </a:p>
          <a:p>
            <a:pPr algn="just">
              <a:lnSpc>
                <a:spcPct val="150000"/>
              </a:lnSpc>
            </a:pPr>
            <a:r>
              <a:rPr lang="es-ES" sz="1200" dirty="0">
                <a:effectLst/>
                <a:latin typeface="Arial" panose="020B0604020202020204" pitchFamily="34" charset="0"/>
                <a:cs typeface="Arial" panose="020B0604020202020204" pitchFamily="34" charset="0"/>
              </a:rPr>
              <a:t>La selección de materiales resistentes y un diseño estructural óptimo contribuyeron a la robustez y confiabilidad de la jaula antivuelco, cumpliendo con los estándares de seguridad establecidos.</a:t>
            </a:r>
            <a:endParaRPr lang="en-US" sz="1200" dirty="0">
              <a:effectLst/>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C4157A1D-181A-36EB-3DAB-AE029996AA40}"/>
              </a:ext>
            </a:extLst>
          </p:cNvPr>
          <p:cNvSpPr txBox="1"/>
          <p:nvPr/>
        </p:nvSpPr>
        <p:spPr>
          <a:xfrm>
            <a:off x="7962490" y="820873"/>
            <a:ext cx="1593270" cy="338554"/>
          </a:xfrm>
          <a:prstGeom prst="rect">
            <a:avLst/>
          </a:prstGeom>
          <a:noFill/>
        </p:spPr>
        <p:txBody>
          <a:bodyPr wrap="square" rtlCol="0">
            <a:spAutoFit/>
          </a:bodyPr>
          <a:lstStyle/>
          <a:p>
            <a:r>
              <a:rPr lang="es-CL" sz="1600" b="1" dirty="0">
                <a:latin typeface="Arial" panose="020B0604020202020204" pitchFamily="34" charset="0"/>
                <a:cs typeface="Arial" panose="020B0604020202020204" pitchFamily="34" charset="0"/>
              </a:rPr>
              <a:t>Conclusiones</a:t>
            </a:r>
          </a:p>
        </p:txBody>
      </p:sp>
      <p:sp>
        <p:nvSpPr>
          <p:cNvPr id="7" name="CuadroTexto 6">
            <a:extLst>
              <a:ext uri="{FF2B5EF4-FFF2-40B4-BE49-F238E27FC236}">
                <a16:creationId xmlns:a16="http://schemas.microsoft.com/office/drawing/2014/main" id="{2267EDB7-CD57-4079-F552-93E7239F1C16}"/>
              </a:ext>
            </a:extLst>
          </p:cNvPr>
          <p:cNvSpPr txBox="1"/>
          <p:nvPr/>
        </p:nvSpPr>
        <p:spPr>
          <a:xfrm>
            <a:off x="2909454" y="820873"/>
            <a:ext cx="2757055" cy="338554"/>
          </a:xfrm>
          <a:prstGeom prst="rect">
            <a:avLst/>
          </a:prstGeom>
          <a:noFill/>
        </p:spPr>
        <p:txBody>
          <a:bodyPr wrap="square" rtlCol="0">
            <a:spAutoFit/>
          </a:bodyPr>
          <a:lstStyle/>
          <a:p>
            <a:pPr algn="just"/>
            <a:r>
              <a:rPr lang="es-CL" sz="1600" b="1" dirty="0">
                <a:latin typeface="Arial" panose="020B0604020202020204" pitchFamily="34" charset="0"/>
                <a:cs typeface="Arial" panose="020B0604020202020204" pitchFamily="34" charset="0"/>
              </a:rPr>
              <a:t>Resultado</a:t>
            </a:r>
          </a:p>
        </p:txBody>
      </p:sp>
      <p:sp>
        <p:nvSpPr>
          <p:cNvPr id="12" name="CuadroTexto 11">
            <a:extLst>
              <a:ext uri="{FF2B5EF4-FFF2-40B4-BE49-F238E27FC236}">
                <a16:creationId xmlns:a16="http://schemas.microsoft.com/office/drawing/2014/main" id="{5F8E5CAA-95F4-3365-C42C-2084305CDDA4}"/>
              </a:ext>
            </a:extLst>
          </p:cNvPr>
          <p:cNvSpPr txBox="1"/>
          <p:nvPr/>
        </p:nvSpPr>
        <p:spPr>
          <a:xfrm>
            <a:off x="1639443" y="1662546"/>
            <a:ext cx="4184073" cy="1997150"/>
          </a:xfrm>
          <a:prstGeom prst="rect">
            <a:avLst/>
          </a:prstGeom>
          <a:noFill/>
        </p:spPr>
        <p:txBody>
          <a:bodyPr wrap="square" rtlCol="0">
            <a:spAutoFit/>
          </a:bodyPr>
          <a:lstStyle/>
          <a:p>
            <a:pPr algn="just">
              <a:lnSpc>
                <a:spcPct val="150000"/>
              </a:lnSpc>
            </a:pPr>
            <a:r>
              <a:rPr lang="es-CL" sz="1200" dirty="0">
                <a:latin typeface="Arial" panose="020B0604020202020204" pitchFamily="34" charset="0"/>
                <a:cs typeface="Arial" panose="020B0604020202020204" pitchFamily="34" charset="0"/>
              </a:rPr>
              <a:t>Para poder obtener el mejor resultado nosotros comenzamos tomando mediciones de los materiales y soldando cada aleación de aluminio conservando en cada extremo su ángulo correspondiente, una vez teniendo las medidas del vehículo probamos nuestro modelo en la parte interior, una vez comprobado que queda perfecto pintamos y la dejamos presentable como muestra la imagen:</a:t>
            </a:r>
          </a:p>
        </p:txBody>
      </p:sp>
      <p:sp>
        <p:nvSpPr>
          <p:cNvPr id="2" name="Rectangle 2">
            <a:extLst>
              <a:ext uri="{FF2B5EF4-FFF2-40B4-BE49-F238E27FC236}">
                <a16:creationId xmlns:a16="http://schemas.microsoft.com/office/drawing/2014/main" id="{89560DD7-0624-E406-6E28-BE6D3D9D2CAB}"/>
              </a:ext>
            </a:extLst>
          </p:cNvPr>
          <p:cNvSpPr>
            <a:spLocks noChangeArrowheads="1"/>
          </p:cNvSpPr>
          <p:nvPr/>
        </p:nvSpPr>
        <p:spPr bwMode="auto">
          <a:xfrm>
            <a:off x="2115128" y="353205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pic>
        <p:nvPicPr>
          <p:cNvPr id="3073" name="Imagen 5">
            <a:extLst>
              <a:ext uri="{FF2B5EF4-FFF2-40B4-BE49-F238E27FC236}">
                <a16:creationId xmlns:a16="http://schemas.microsoft.com/office/drawing/2014/main" id="{C9728D84-826E-37AE-F110-AE6AFFDC77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5128" y="3989252"/>
            <a:ext cx="2733675" cy="20478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52C4B981-008A-7DE7-EEEB-C77E0A764447}"/>
              </a:ext>
            </a:extLst>
          </p:cNvPr>
          <p:cNvSpPr>
            <a:spLocks noChangeArrowheads="1"/>
          </p:cNvSpPr>
          <p:nvPr/>
        </p:nvSpPr>
        <p:spPr bwMode="auto">
          <a:xfrm>
            <a:off x="2115128" y="603712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CL"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(Protemax, 2022)</a:t>
            </a:r>
            <a:endParaRPr kumimoji="0" lang="es-ES" altLang="es-CL"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58106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4C8C49-CFDA-6091-03DE-6F8EADFDD99D}"/>
              </a:ext>
            </a:extLst>
          </p:cNvPr>
          <p:cNvSpPr>
            <a:spLocks noGrp="1"/>
          </p:cNvSpPr>
          <p:nvPr>
            <p:ph type="title"/>
          </p:nvPr>
        </p:nvSpPr>
        <p:spPr/>
        <p:txBody>
          <a:bodyPr>
            <a:normAutofit/>
          </a:bodyPr>
          <a:lstStyle/>
          <a:p>
            <a:r>
              <a:rPr lang="es-CL" sz="1800" dirty="0">
                <a:latin typeface="Arial" panose="020B0604020202020204" pitchFamily="34" charset="0"/>
                <a:cs typeface="Arial" panose="020B0604020202020204" pitchFamily="34" charset="0"/>
              </a:rPr>
              <a:t>Bibliografía y fuentes de información</a:t>
            </a:r>
          </a:p>
        </p:txBody>
      </p:sp>
      <p:sp>
        <p:nvSpPr>
          <p:cNvPr id="3" name="Marcador de contenido 2">
            <a:extLst>
              <a:ext uri="{FF2B5EF4-FFF2-40B4-BE49-F238E27FC236}">
                <a16:creationId xmlns:a16="http://schemas.microsoft.com/office/drawing/2014/main" id="{DA08DD0D-57AC-042C-0A24-851F5528F603}"/>
              </a:ext>
            </a:extLst>
          </p:cNvPr>
          <p:cNvSpPr>
            <a:spLocks noGrp="1"/>
          </p:cNvSpPr>
          <p:nvPr>
            <p:ph idx="1"/>
          </p:nvPr>
        </p:nvSpPr>
        <p:spPr/>
        <p:txBody>
          <a:bodyPr>
            <a:normAutofit/>
          </a:bodyPr>
          <a:lstStyle/>
          <a:p>
            <a:pPr marL="0" indent="0" algn="just">
              <a:lnSpc>
                <a:spcPct val="150000"/>
              </a:lnSpc>
              <a:buNone/>
            </a:pPr>
            <a:r>
              <a:rPr lang="es-CL" sz="1200" dirty="0">
                <a:latin typeface="Arial" panose="020B0604020202020204" pitchFamily="34" charset="0"/>
                <a:cs typeface="Arial" panose="020B0604020202020204" pitchFamily="34" charset="0"/>
              </a:rPr>
              <a:t>Bibliografía</a:t>
            </a:r>
          </a:p>
          <a:p>
            <a:pPr algn="just">
              <a:lnSpc>
                <a:spcPct val="150000"/>
              </a:lnSpc>
            </a:pPr>
            <a:r>
              <a:rPr lang="es-CL" sz="1200" dirty="0" err="1">
                <a:latin typeface="Arial" panose="020B0604020202020204" pitchFamily="34" charset="0"/>
                <a:cs typeface="Arial" panose="020B0604020202020204" pitchFamily="34" charset="0"/>
              </a:rPr>
              <a:t>GoodYear</a:t>
            </a:r>
            <a:r>
              <a:rPr lang="es-CL" sz="1200" dirty="0">
                <a:latin typeface="Arial" panose="020B0604020202020204" pitchFamily="34" charset="0"/>
                <a:cs typeface="Arial" panose="020B0604020202020204" pitchFamily="34" charset="0"/>
              </a:rPr>
              <a:t>. (21 de abril de 2021). </a:t>
            </a:r>
            <a:r>
              <a:rPr lang="es-CL" sz="1200" dirty="0" err="1">
                <a:latin typeface="Arial" panose="020B0604020202020204" pitchFamily="34" charset="0"/>
                <a:cs typeface="Arial" panose="020B0604020202020204" pitchFamily="34" charset="0"/>
              </a:rPr>
              <a:t>GoodYear</a:t>
            </a:r>
            <a:r>
              <a:rPr lang="es-CL" sz="1200" dirty="0">
                <a:latin typeface="Arial" panose="020B0604020202020204" pitchFamily="34" charset="0"/>
                <a:cs typeface="Arial" panose="020B0604020202020204" pitchFamily="34" charset="0"/>
              </a:rPr>
              <a:t>. Obtenido de </a:t>
            </a:r>
            <a:r>
              <a:rPr lang="es-CL" sz="1200" dirty="0" err="1">
                <a:latin typeface="Arial" panose="020B0604020202020204" pitchFamily="34" charset="0"/>
                <a:cs typeface="Arial" panose="020B0604020202020204" pitchFamily="34" charset="0"/>
              </a:rPr>
              <a:t>GoodYear</a:t>
            </a:r>
            <a:r>
              <a:rPr lang="es-CL" sz="1200" dirty="0">
                <a:latin typeface="Arial" panose="020B0604020202020204" pitchFamily="34" charset="0"/>
                <a:cs typeface="Arial" panose="020B0604020202020204" pitchFamily="34" charset="0"/>
              </a:rPr>
              <a:t>: https://kilometrosquecuentan.goodyear.eu/jaula-antivuelco/</a:t>
            </a:r>
          </a:p>
          <a:p>
            <a:pPr algn="just">
              <a:lnSpc>
                <a:spcPct val="150000"/>
              </a:lnSpc>
            </a:pPr>
            <a:r>
              <a:rPr lang="es-CL" sz="1200" dirty="0" err="1">
                <a:latin typeface="Arial" panose="020B0604020202020204" pitchFamily="34" charset="0"/>
                <a:cs typeface="Arial" panose="020B0604020202020204" pitchFamily="34" charset="0"/>
              </a:rPr>
              <a:t>Helloauto</a:t>
            </a:r>
            <a:r>
              <a:rPr lang="es-CL" sz="1200" dirty="0">
                <a:latin typeface="Arial" panose="020B0604020202020204" pitchFamily="34" charset="0"/>
                <a:cs typeface="Arial" panose="020B0604020202020204" pitchFamily="34" charset="0"/>
              </a:rPr>
              <a:t>. (25 de octubre de 2020). </a:t>
            </a:r>
            <a:r>
              <a:rPr lang="es-CL" sz="1200" dirty="0" err="1">
                <a:latin typeface="Arial" panose="020B0604020202020204" pitchFamily="34" charset="0"/>
                <a:cs typeface="Arial" panose="020B0604020202020204" pitchFamily="34" charset="0"/>
              </a:rPr>
              <a:t>Helloauto</a:t>
            </a:r>
            <a:r>
              <a:rPr lang="es-CL" sz="1200" dirty="0">
                <a:latin typeface="Arial" panose="020B0604020202020204" pitchFamily="34" charset="0"/>
                <a:cs typeface="Arial" panose="020B0604020202020204" pitchFamily="34" charset="0"/>
              </a:rPr>
              <a:t>. Obtenido de </a:t>
            </a:r>
            <a:r>
              <a:rPr lang="es-CL" sz="1200" dirty="0" err="1">
                <a:latin typeface="Arial" panose="020B0604020202020204" pitchFamily="34" charset="0"/>
                <a:cs typeface="Arial" panose="020B0604020202020204" pitchFamily="34" charset="0"/>
              </a:rPr>
              <a:t>Helloauto</a:t>
            </a:r>
            <a:r>
              <a:rPr lang="es-CL" sz="1200" dirty="0">
                <a:latin typeface="Arial" panose="020B0604020202020204" pitchFamily="34" charset="0"/>
                <a:cs typeface="Arial" panose="020B0604020202020204" pitchFamily="34" charset="0"/>
              </a:rPr>
              <a:t>: https://helloauto.com/glosario/jaula</a:t>
            </a:r>
          </a:p>
          <a:p>
            <a:pPr algn="just">
              <a:lnSpc>
                <a:spcPct val="150000"/>
              </a:lnSpc>
            </a:pPr>
            <a:r>
              <a:rPr lang="es-CL" sz="1200" dirty="0" err="1">
                <a:latin typeface="Arial" panose="020B0604020202020204" pitchFamily="34" charset="0"/>
                <a:cs typeface="Arial" panose="020B0604020202020204" pitchFamily="34" charset="0"/>
              </a:rPr>
              <a:t>socadin</a:t>
            </a:r>
            <a:r>
              <a:rPr lang="es-CL" sz="1200" dirty="0">
                <a:latin typeface="Arial" panose="020B0604020202020204" pitchFamily="34" charset="0"/>
                <a:cs typeface="Arial" panose="020B0604020202020204" pitchFamily="34" charset="0"/>
              </a:rPr>
              <a:t>. (16 de junio de 2021). </a:t>
            </a:r>
            <a:r>
              <a:rPr lang="es-CL" sz="1200" dirty="0" err="1">
                <a:latin typeface="Arial" panose="020B0604020202020204" pitchFamily="34" charset="0"/>
                <a:cs typeface="Arial" panose="020B0604020202020204" pitchFamily="34" charset="0"/>
              </a:rPr>
              <a:t>socadin</a:t>
            </a:r>
            <a:r>
              <a:rPr lang="es-CL" sz="1200" dirty="0">
                <a:latin typeface="Arial" panose="020B0604020202020204" pitchFamily="34" charset="0"/>
                <a:cs typeface="Arial" panose="020B0604020202020204" pitchFamily="34" charset="0"/>
              </a:rPr>
              <a:t>. Obtenido de </a:t>
            </a:r>
            <a:r>
              <a:rPr lang="es-CL" sz="1200" dirty="0" err="1">
                <a:latin typeface="Arial" panose="020B0604020202020204" pitchFamily="34" charset="0"/>
                <a:cs typeface="Arial" panose="020B0604020202020204" pitchFamily="34" charset="0"/>
              </a:rPr>
              <a:t>socadin</a:t>
            </a:r>
            <a:r>
              <a:rPr lang="es-CL" sz="1200" dirty="0">
                <a:latin typeface="Arial" panose="020B0604020202020204" pitchFamily="34" charset="0"/>
                <a:cs typeface="Arial" panose="020B0604020202020204" pitchFamily="34" charset="0"/>
              </a:rPr>
              <a:t> : https://www.socadin.cl/equipamiento-minero/equipamiento-vehiculos/barras-antivuelco/jaula-antivuelco-interior.php</a:t>
            </a:r>
          </a:p>
          <a:p>
            <a:pPr algn="just">
              <a:lnSpc>
                <a:spcPct val="150000"/>
              </a:lnSpc>
            </a:pPr>
            <a:r>
              <a:rPr lang="es-CL" sz="1200" dirty="0" err="1">
                <a:latin typeface="Arial" panose="020B0604020202020204" pitchFamily="34" charset="0"/>
                <a:cs typeface="Arial" panose="020B0604020202020204" pitchFamily="34" charset="0"/>
              </a:rPr>
              <a:t>soliacero</a:t>
            </a:r>
            <a:r>
              <a:rPr lang="es-CL" sz="1200" dirty="0">
                <a:latin typeface="Arial" panose="020B0604020202020204" pitchFamily="34" charset="0"/>
                <a:cs typeface="Arial" panose="020B0604020202020204" pitchFamily="34" charset="0"/>
              </a:rPr>
              <a:t>. (6 de agosto de 2021). SOLIACERO. Obtenido de SOLIACERO : https://soliacero.com.mx/perfil-ptr-un-excelente-material-para-fabricar-jaulas-antivuelco/</a:t>
            </a:r>
          </a:p>
          <a:p>
            <a:pPr algn="just">
              <a:lnSpc>
                <a:spcPct val="150000"/>
              </a:lnSpc>
            </a:pPr>
            <a:r>
              <a:rPr lang="es-CL" sz="1200" dirty="0" err="1">
                <a:solidFill>
                  <a:srgbClr val="FF0000"/>
                </a:solidFill>
                <a:latin typeface="Arial" panose="020B0604020202020204" pitchFamily="34" charset="0"/>
                <a:cs typeface="Arial" panose="020B0604020202020204" pitchFamily="34" charset="0"/>
              </a:rPr>
              <a:t>wikipedia</a:t>
            </a:r>
            <a:r>
              <a:rPr lang="es-CL" sz="1200" dirty="0">
                <a:solidFill>
                  <a:srgbClr val="FF0000"/>
                </a:solidFill>
                <a:latin typeface="Arial" panose="020B0604020202020204" pitchFamily="34" charset="0"/>
                <a:cs typeface="Arial" panose="020B0604020202020204" pitchFamily="34" charset="0"/>
              </a:rPr>
              <a:t>. (15 de febrero de 2008). Wikipedia. Obtenido de Wikipedia: https://es.wikipedia.org/wiki/Jaula_de_seguridad</a:t>
            </a:r>
          </a:p>
          <a:p>
            <a:pPr algn="just">
              <a:lnSpc>
                <a:spcPct val="150000"/>
              </a:lnSpc>
            </a:pPr>
            <a:endParaRPr lang="es-CL" sz="1200" dirty="0">
              <a:latin typeface="Arial" panose="020B0604020202020204" pitchFamily="34" charset="0"/>
              <a:cs typeface="Arial" panose="020B0604020202020204" pitchFamily="34" charset="0"/>
            </a:endParaRPr>
          </a:p>
          <a:p>
            <a:pPr algn="just">
              <a:lnSpc>
                <a:spcPct val="150000"/>
              </a:lnSpc>
            </a:pPr>
            <a:endParaRPr lang="es-CL"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196550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396</TotalTime>
  <Words>1901</Words>
  <Application>Microsoft Macintosh PowerPoint</Application>
  <PresentationFormat>Panorámica</PresentationFormat>
  <Paragraphs>77</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Calibri</vt:lpstr>
      <vt:lpstr>Calibri Light</vt:lpstr>
      <vt:lpstr>Times New Roman</vt:lpstr>
      <vt:lpstr>Tema de Office</vt:lpstr>
      <vt:lpstr>Jaula Antivuelco</vt:lpstr>
      <vt:lpstr>Definición del Proyecto</vt:lpstr>
      <vt:lpstr>Presentación de PowerPoint</vt:lpstr>
      <vt:lpstr>Presentación de PowerPoint</vt:lpstr>
      <vt:lpstr>Presentación de PowerPoint</vt:lpstr>
      <vt:lpstr>Presentación de PowerPoint</vt:lpstr>
      <vt:lpstr>Incorporación de herramientas</vt:lpstr>
      <vt:lpstr>   ¿Qué materiales ofrecen la mejor combinación de resistencia y peso para la construcción de una jaula antivuelco?  </vt:lpstr>
      <vt:lpstr>¿Para qué tipo de vehículo se podría utilizar esta jaula?</vt:lpstr>
      <vt:lpstr>¿Cómo afecta la instalación de una jaula antivuelco al rendimiento general de un vehículo? </vt:lpstr>
      <vt:lpstr>Desarrollo, revisión de ideas y producto</vt:lpstr>
      <vt:lpstr>Presentación del producto o prototipo</vt:lpstr>
      <vt:lpstr>Presentación de PowerPoint</vt:lpstr>
      <vt:lpstr>Bibliografía y fuentes de información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Jaula Antivuelco</dc:title>
  <dc:creator>JONATHAN ALEJANDRO PAVEZ RIOS</dc:creator>
  <cp:lastModifiedBy>Microsoft Office User</cp:lastModifiedBy>
  <cp:revision>8</cp:revision>
  <dcterms:created xsi:type="dcterms:W3CDTF">2023-12-06T15:21:07Z</dcterms:created>
  <dcterms:modified xsi:type="dcterms:W3CDTF">2023-12-27T15:36:14Z</dcterms:modified>
</cp:coreProperties>
</file>