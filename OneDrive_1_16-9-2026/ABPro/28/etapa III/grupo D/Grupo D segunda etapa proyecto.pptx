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notesSlides/notesSlide1.xml" ContentType="application/vnd.openxmlformats-officedocument.presentationml.notesSlide+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8" r:id="rId12"/>
    <p:sldId id="266" r:id="rId13"/>
    <p:sldId id="269" r:id="rId14"/>
    <p:sldId id="267" r:id="rId15"/>
  </p:sldIdLst>
  <p:sldSz cx="9144000" cy="6858000" type="screen4x3"/>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D3B1734-7CDB-49C8-5E64-AB131940C738}" name="FRANK ANIBAL ESPARZA SANDOVAL" initials="FAES" userId="S::frank.esparza@inacapmail.cl::99d3109e-5421-4fb0-856b-ca722249c56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8" clrIdx="0">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0202"/>
    <a:srgbClr val="F402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864" autoAdjust="0"/>
    <p:restoredTop sz="50000" autoAdjust="0"/>
  </p:normalViewPr>
  <p:slideViewPr>
    <p:cSldViewPr snapToGrid="0" snapToObjects="1">
      <p:cViewPr varScale="1">
        <p:scale>
          <a:sx n="31" d="100"/>
          <a:sy n="31" d="100"/>
        </p:scale>
        <p:origin x="192" y="16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27T12:46:13.073" idx="1">
    <p:pos x="5213" y="1035"/>
    <p:text>QUE TIPO DE CARRO DE ARRASTRE?</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27T12:46:38.088" idx="2">
    <p:pos x="10" y="10"/>
    <p:text>NO SE IDENTIFICA LA PROBLEMATICA... FALTA DESCRIPCIÓN DELPROBLEMA O SITUACION PROBLEMATICA</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27T12:47:25.086" idx="3">
    <p:pos x="649" y="1021"/>
    <p:text>BUEN OBJETIVO</p:text>
    <p:extLst>
      <p:ext uri="{C676402C-5697-4E1C-873F-D02D1690AC5C}">
        <p15:threadingInfo xmlns:p15="http://schemas.microsoft.com/office/powerpoint/2012/main" timeZoneBias="180"/>
      </p:ext>
    </p:extLst>
  </p:cm>
  <p:cm authorId="1" dt="2023-12-27T12:47:30.512" idx="4">
    <p:pos x="10" y="10"/>
    <p:text>FALTA 1 PREGUNTA DE ACUERDO A INDICACION</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27T12:48:09.819" idx="5">
    <p:pos x="5140" y="1451"/>
    <p:text>MEJORAR REDACCION</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27T12:48:40.341" idx="6">
    <p:pos x="4054" y="933"/>
    <p:text>QUIEN ES EL MECÁNICO RESPONSABLE?</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3-12-27T12:49:19.897" idx="7">
    <p:pos x="10" y="10"/>
    <p:text>MUY BUENA DESCRIPCION DE LA UTILIZACION DE HERRAMIENTA TECNOLOGICA</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3-12-27T12:50:36.146" idx="8">
    <p:pos x="10" y="10"/>
    <p:text>BUEN USO DE LA INFORMACION (NOTICIA)</p:text>
    <p:extLst>
      <p:ext uri="{C676402C-5697-4E1C-873F-D02D1690AC5C}">
        <p15:threadingInfo xmlns:p15="http://schemas.microsoft.com/office/powerpoint/2012/main" timeZoneBias="1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151813-24C7-40DD-BC63-492E4118A194}" type="datetimeFigureOut">
              <a:rPr lang="es-CL" smtClean="0"/>
              <a:t>27-12-23</a:t>
            </a:fld>
            <a:endParaRPr lang="es-CL"/>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7B93B9-2FDE-44ED-8B62-89D606AB430B}" type="slidenum">
              <a:rPr lang="es-CL" smtClean="0"/>
              <a:t>‹Nº›</a:t>
            </a:fld>
            <a:endParaRPr lang="es-CL"/>
          </a:p>
        </p:txBody>
      </p:sp>
    </p:spTree>
    <p:extLst>
      <p:ext uri="{BB962C8B-B14F-4D97-AF65-F5344CB8AC3E}">
        <p14:creationId xmlns:p14="http://schemas.microsoft.com/office/powerpoint/2010/main" val="1931553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p:txBody>
      </p:sp>
      <p:sp>
        <p:nvSpPr>
          <p:cNvPr id="4" name="Marcador de número de diapositiva 3"/>
          <p:cNvSpPr>
            <a:spLocks noGrp="1"/>
          </p:cNvSpPr>
          <p:nvPr>
            <p:ph type="sldNum" sz="quarter" idx="5"/>
          </p:nvPr>
        </p:nvSpPr>
        <p:spPr/>
        <p:txBody>
          <a:bodyPr/>
          <a:lstStyle/>
          <a:p>
            <a:fld id="{0F7B93B9-2FDE-44ED-8B62-89D606AB430B}" type="slidenum">
              <a:rPr lang="es-CL" smtClean="0"/>
              <a:t>3</a:t>
            </a:fld>
            <a:endParaRPr lang="es-CL"/>
          </a:p>
        </p:txBody>
      </p:sp>
    </p:spTree>
    <p:extLst>
      <p:ext uri="{BB962C8B-B14F-4D97-AF65-F5344CB8AC3E}">
        <p14:creationId xmlns:p14="http://schemas.microsoft.com/office/powerpoint/2010/main" val="19941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_tradnl"/>
              <a:t>Clic para editar título</a:t>
            </a:r>
            <a:endParaRPr lang="es-ES"/>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a:t>Haga clic para modificar el estilo de subtítulo del patrón</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27/12/23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819009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27/12/23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68496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endParaRPr lang="es-ES"/>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Haga clic para modificar el estilo de texto del patrón</a:t>
            </a:r>
          </a:p>
        </p:txBody>
      </p:sp>
      <p:sp>
        <p:nvSpPr>
          <p:cNvPr id="4" name="Marcador de fecha 3"/>
          <p:cNvSpPr>
            <a:spLocks noGrp="1"/>
          </p:cNvSpPr>
          <p:nvPr>
            <p:ph type="dt" sz="half" idx="10"/>
          </p:nvPr>
        </p:nvSpPr>
        <p:spPr/>
        <p:txBody>
          <a:bodyPr/>
          <a:lstStyle/>
          <a:p>
            <a:fld id="{11BFFDA3-703B-5A46-AEFC-E14C30159CAC}" type="datetimeFigureOut">
              <a:rPr lang="es-ES" smtClean="0"/>
              <a:t>27/12/23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310554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conteni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fecha 4"/>
          <p:cNvSpPr>
            <a:spLocks noGrp="1"/>
          </p:cNvSpPr>
          <p:nvPr>
            <p:ph type="dt" sz="half" idx="10"/>
          </p:nvPr>
        </p:nvSpPr>
        <p:spPr/>
        <p:txBody>
          <a:bodyPr/>
          <a:lstStyle/>
          <a:p>
            <a:fld id="{11BFFDA3-703B-5A46-AEFC-E14C30159CAC}" type="datetimeFigureOut">
              <a:rPr lang="es-ES" smtClean="0"/>
              <a:t>27/12/23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055683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es-ES_tradnl"/>
              <a:t>Clic para editar título</a:t>
            </a:r>
            <a:endParaRPr lang="es-ES"/>
          </a:p>
        </p:txBody>
      </p:sp>
      <p:sp>
        <p:nvSpPr>
          <p:cNvPr id="3" name="Marcador de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4" name="Marcador de conteni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6" name="Marcador de conteni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7" name="Marcador de fecha 6"/>
          <p:cNvSpPr>
            <a:spLocks noGrp="1"/>
          </p:cNvSpPr>
          <p:nvPr>
            <p:ph type="dt" sz="half" idx="10"/>
          </p:nvPr>
        </p:nvSpPr>
        <p:spPr/>
        <p:txBody>
          <a:bodyPr/>
          <a:lstStyle/>
          <a:p>
            <a:fld id="{11BFFDA3-703B-5A46-AEFC-E14C30159CAC}" type="datetimeFigureOut">
              <a:rPr lang="es-ES" smtClean="0"/>
              <a:t>27/12/23</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1737575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fecha 2"/>
          <p:cNvSpPr>
            <a:spLocks noGrp="1"/>
          </p:cNvSpPr>
          <p:nvPr>
            <p:ph type="dt" sz="half" idx="10"/>
          </p:nvPr>
        </p:nvSpPr>
        <p:spPr/>
        <p:txBody>
          <a:bodyPr/>
          <a:lstStyle/>
          <a:p>
            <a:fld id="{11BFFDA3-703B-5A46-AEFC-E14C30159CAC}" type="datetimeFigureOut">
              <a:rPr lang="es-ES" smtClean="0"/>
              <a:t>27/12/23</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798476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11BFFDA3-703B-5A46-AEFC-E14C30159CAC}" type="datetimeFigureOut">
              <a:rPr lang="es-ES" smtClean="0"/>
              <a:t>27/12/23</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733729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11BFFDA3-703B-5A46-AEFC-E14C30159CAC}" type="datetimeFigureOut">
              <a:rPr lang="es-ES" smtClean="0"/>
              <a:t>27/12/23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328048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es-ES_tradnl"/>
              <a:t>Clic para editar título</a:t>
            </a:r>
            <a:endParaRPr lang="es-ES"/>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11BFFDA3-703B-5A46-AEFC-E14C30159CAC}" type="datetimeFigureOut">
              <a:rPr lang="es-ES" smtClean="0"/>
              <a:t>27/12/23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067530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27/12/23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079421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es-ES_tradnl"/>
              <a:t>Clic para editar título</a:t>
            </a:r>
            <a:endParaRPr lang="es-ES"/>
          </a:p>
        </p:txBody>
      </p:sp>
      <p:sp>
        <p:nvSpPr>
          <p:cNvPr id="3" name="Marcador de texto vertical 2"/>
          <p:cNvSpPr>
            <a:spLocks noGrp="1"/>
          </p:cNvSpPr>
          <p:nvPr>
            <p:ph type="body" orient="vert" idx="1"/>
          </p:nvPr>
        </p:nvSpPr>
        <p:spPr>
          <a:xfrm>
            <a:off x="457200" y="274638"/>
            <a:ext cx="6019800" cy="5851525"/>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27/12/23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342463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_tradnl"/>
              <a:t>Clic para editar título</a:t>
            </a:r>
            <a:endParaRPr lang="es-ES"/>
          </a:p>
        </p:txBody>
      </p:sp>
      <p:sp>
        <p:nvSpPr>
          <p:cNvPr id="3" name="Marcador de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BFFDA3-703B-5A46-AEFC-E14C30159CAC}" type="datetimeFigureOut">
              <a:rPr lang="es-ES" smtClean="0"/>
              <a:t>27/12/23</a:t>
            </a:fld>
            <a:endParaRPr lang="es-ES"/>
          </a:p>
        </p:txBody>
      </p:sp>
      <p:sp>
        <p:nvSpPr>
          <p:cNvPr id="5" name="Marcador de pie de pá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BE25F8-CB20-F449-B4F4-A964C31BB732}" type="slidenum">
              <a:rPr lang="es-ES" smtClean="0"/>
              <a:t>‹Nº›</a:t>
            </a:fld>
            <a:endParaRPr lang="es-ES"/>
          </a:p>
        </p:txBody>
      </p:sp>
    </p:spTree>
    <p:extLst>
      <p:ext uri="{BB962C8B-B14F-4D97-AF65-F5344CB8AC3E}">
        <p14:creationId xmlns:p14="http://schemas.microsoft.com/office/powerpoint/2010/main" val="2875313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comments" Target="../comments/comment2.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comments" Target="../comments/comment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omments" Target="../comments/comment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inacapmailcl-my.sharepoint.com/:v:/g/personal/frank_esparza_inacapmail_cl/EVpo-bX_AWFPk1rXcwXdriUBZn82dG60qSucMyZfWokQuA?e=77EO2I"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a:spLocks noGrp="1"/>
          </p:cNvSpPr>
          <p:nvPr>
            <p:ph type="ctrTitle"/>
          </p:nvPr>
        </p:nvSpPr>
        <p:spPr>
          <a:xfrm>
            <a:off x="611560" y="2947566"/>
            <a:ext cx="7772400" cy="685347"/>
          </a:xfrm>
        </p:spPr>
        <p:txBody>
          <a:bodyPr>
            <a:normAutofit fontScale="90000"/>
          </a:bodyPr>
          <a:lstStyle/>
          <a:p>
            <a:r>
              <a:rPr lang="es-CL" sz="3600" b="1" dirty="0">
                <a:solidFill>
                  <a:srgbClr val="D40202"/>
                </a:solidFill>
                <a:latin typeface="Myriad Pro"/>
                <a:cs typeface="Myriad Pro"/>
              </a:rPr>
              <a:t>Mejora de Seguridad de un Carro de Arrastre </a:t>
            </a:r>
          </a:p>
        </p:txBody>
      </p:sp>
      <p:sp>
        <p:nvSpPr>
          <p:cNvPr id="10" name="Rectángulo 9"/>
          <p:cNvSpPr/>
          <p:nvPr/>
        </p:nvSpPr>
        <p:spPr>
          <a:xfrm>
            <a:off x="469608" y="1"/>
            <a:ext cx="1867756" cy="1867756"/>
          </a:xfrm>
          <a:prstGeom prst="rect">
            <a:avLst/>
          </a:prstGeom>
          <a:solidFill>
            <a:srgbClr val="D402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11" name="Título 1"/>
          <p:cNvSpPr txBox="1">
            <a:spLocks/>
          </p:cNvSpPr>
          <p:nvPr/>
        </p:nvSpPr>
        <p:spPr>
          <a:xfrm>
            <a:off x="469607" y="160081"/>
            <a:ext cx="1867757" cy="757701"/>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s-ES" sz="1400" kern="1400" dirty="0">
                <a:solidFill>
                  <a:schemeClr val="bg1"/>
                </a:solidFill>
                <a:latin typeface="Myriad Pro Light"/>
                <a:cs typeface="Myriad Pro Light"/>
              </a:rPr>
              <a:t>Área Mecánica</a:t>
            </a:r>
            <a:endParaRPr lang="es-CL" sz="1400" kern="1400" dirty="0">
              <a:solidFill>
                <a:schemeClr val="bg1"/>
              </a:solidFill>
              <a:latin typeface="Myriad Pro Light"/>
              <a:cs typeface="Myriad Pro Light"/>
            </a:endParaRPr>
          </a:p>
        </p:txBody>
      </p:sp>
      <p:pic>
        <p:nvPicPr>
          <p:cNvPr id="12" name="Imagen 11" desc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447" y="1332361"/>
            <a:ext cx="1270076" cy="342346"/>
          </a:xfrm>
          <a:prstGeom prst="rect">
            <a:avLst/>
          </a:prstGeom>
        </p:spPr>
      </p:pic>
      <p:cxnSp>
        <p:nvCxnSpPr>
          <p:cNvPr id="14" name="Conector recto 13"/>
          <p:cNvCxnSpPr/>
          <p:nvPr/>
        </p:nvCxnSpPr>
        <p:spPr>
          <a:xfrm>
            <a:off x="615294" y="1077855"/>
            <a:ext cx="1576383" cy="0"/>
          </a:xfrm>
          <a:prstGeom prst="line">
            <a:avLst/>
          </a:prstGeom>
          <a:ln w="9525"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5" name="Subtítulo 2"/>
          <p:cNvSpPr>
            <a:spLocks noGrp="1"/>
          </p:cNvSpPr>
          <p:nvPr>
            <p:ph type="subTitle" idx="1"/>
          </p:nvPr>
        </p:nvSpPr>
        <p:spPr>
          <a:xfrm>
            <a:off x="1297360" y="3712724"/>
            <a:ext cx="6400800" cy="362194"/>
          </a:xfrm>
        </p:spPr>
        <p:txBody>
          <a:bodyPr>
            <a:normAutofit fontScale="62500" lnSpcReduction="20000"/>
          </a:bodyPr>
          <a:lstStyle/>
          <a:p>
            <a:pPr marL="0" indent="0" algn="ctr">
              <a:buNone/>
            </a:pPr>
            <a:endParaRPr lang="es-CL" dirty="0">
              <a:latin typeface="Myriad Pro"/>
              <a:cs typeface="Myriad Pro"/>
            </a:endParaRPr>
          </a:p>
        </p:txBody>
      </p:sp>
      <p:sp>
        <p:nvSpPr>
          <p:cNvPr id="16" name="CuadroTexto 15"/>
          <p:cNvSpPr txBox="1"/>
          <p:nvPr/>
        </p:nvSpPr>
        <p:spPr>
          <a:xfrm>
            <a:off x="469608" y="5331580"/>
            <a:ext cx="6456704" cy="1126462"/>
          </a:xfrm>
          <a:prstGeom prst="rect">
            <a:avLst/>
          </a:prstGeom>
          <a:noFill/>
        </p:spPr>
        <p:txBody>
          <a:bodyPr wrap="none" rtlCol="0">
            <a:spAutoFit/>
          </a:bodyPr>
          <a:lstStyle/>
          <a:p>
            <a:pPr>
              <a:lnSpc>
                <a:spcPct val="120000"/>
              </a:lnSpc>
            </a:pPr>
            <a:r>
              <a:rPr lang="es-CL" sz="1400" dirty="0">
                <a:latin typeface="Myriad Pro"/>
                <a:cs typeface="Myriad Pro"/>
              </a:rPr>
              <a:t>NOMBRE: Javiera Jiménez, Cesar Bascuñán, Yeison Ramírez, Frank Esparza </a:t>
            </a:r>
          </a:p>
          <a:p>
            <a:pPr>
              <a:lnSpc>
                <a:spcPct val="120000"/>
              </a:lnSpc>
            </a:pPr>
            <a:r>
              <a:rPr lang="es-CL" sz="1400" dirty="0">
                <a:latin typeface="Myriad Pro"/>
                <a:cs typeface="Myriad Pro"/>
              </a:rPr>
              <a:t>CARRERA: Tec. Mecánica y electromovilidad automotriz</a:t>
            </a:r>
          </a:p>
          <a:p>
            <a:pPr>
              <a:lnSpc>
                <a:spcPct val="120000"/>
              </a:lnSpc>
            </a:pPr>
            <a:r>
              <a:rPr lang="es-CL" sz="1400" dirty="0">
                <a:latin typeface="Myriad Pro"/>
                <a:cs typeface="Myriad Pro"/>
              </a:rPr>
              <a:t>ASIGNTATURA: Funciones y Geometría</a:t>
            </a:r>
          </a:p>
          <a:p>
            <a:pPr>
              <a:lnSpc>
                <a:spcPct val="120000"/>
              </a:lnSpc>
            </a:pPr>
            <a:r>
              <a:rPr lang="es-CL" sz="1400" dirty="0">
                <a:latin typeface="Myriad Pro"/>
                <a:cs typeface="Myriad Pro"/>
              </a:rPr>
              <a:t>PROFESOR: Lissette Salamanca</a:t>
            </a:r>
          </a:p>
        </p:txBody>
      </p:sp>
      <p:pic>
        <p:nvPicPr>
          <p:cNvPr id="18" name="Imagen 17"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pic>
    </p:spTree>
    <p:extLst>
      <p:ext uri="{BB962C8B-B14F-4D97-AF65-F5344CB8AC3E}">
        <p14:creationId xmlns:p14="http://schemas.microsoft.com/office/powerpoint/2010/main" val="808890695"/>
      </p:ext>
    </p:extLst>
  </p:cSld>
  <p:clrMapOvr>
    <a:masterClrMapping/>
  </p:clrMapOvr>
  <mc:AlternateContent xmlns:mc="http://schemas.openxmlformats.org/markup-compatibility/2006" xmlns:p14="http://schemas.microsoft.com/office/powerpoint/2010/main">
    <mc:Choice Requires="p14">
      <p:transition spd="slow" p14:dur="3400" advTm="15642">
        <p14:reveal/>
      </p:transition>
    </mc:Choice>
    <mc:Fallback xmlns="">
      <p:transition spd="slow" advTm="15642">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descr="Logo.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pic>
      <p:sp>
        <p:nvSpPr>
          <p:cNvPr id="13" name="Título 1"/>
          <p:cNvSpPr txBox="1">
            <a:spLocks/>
          </p:cNvSpPr>
          <p:nvPr/>
        </p:nvSpPr>
        <p:spPr>
          <a:xfrm>
            <a:off x="307821" y="1332380"/>
            <a:ext cx="322196" cy="46775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endParaRPr lang="es-CL" sz="1800" b="1" dirty="0">
              <a:solidFill>
                <a:schemeClr val="bg1"/>
              </a:solidFill>
              <a:latin typeface="Myriad Pro"/>
              <a:cs typeface="Myriad Pro"/>
            </a:endParaRPr>
          </a:p>
        </p:txBody>
      </p:sp>
      <p:sp>
        <p:nvSpPr>
          <p:cNvPr id="4" name="Título 3">
            <a:extLst>
              <a:ext uri="{FF2B5EF4-FFF2-40B4-BE49-F238E27FC236}">
                <a16:creationId xmlns:a16="http://schemas.microsoft.com/office/drawing/2014/main" id="{BCC903CF-7382-C751-C8AB-628D248543A7}"/>
              </a:ext>
            </a:extLst>
          </p:cNvPr>
          <p:cNvSpPr>
            <a:spLocks noGrp="1"/>
          </p:cNvSpPr>
          <p:nvPr>
            <p:ph type="ctrTitle"/>
          </p:nvPr>
        </p:nvSpPr>
        <p:spPr>
          <a:xfrm>
            <a:off x="685800" y="69008"/>
            <a:ext cx="7772400" cy="1470025"/>
          </a:xfrm>
        </p:spPr>
        <p:txBody>
          <a:bodyPr>
            <a:normAutofit/>
          </a:bodyPr>
          <a:lstStyle/>
          <a:p>
            <a:r>
              <a:rPr lang="es-CL" sz="3200" b="1" dirty="0">
                <a:solidFill>
                  <a:srgbClr val="C00000"/>
                </a:solidFill>
                <a:latin typeface="Myriad Pro"/>
              </a:rPr>
              <a:t>Definición </a:t>
            </a:r>
            <a:br>
              <a:rPr lang="es-CL" sz="3200" b="1" dirty="0">
                <a:solidFill>
                  <a:srgbClr val="C00000"/>
                </a:solidFill>
                <a:latin typeface="Myriad Pro"/>
              </a:rPr>
            </a:br>
            <a:endParaRPr lang="es-CL" sz="3200" b="1" dirty="0">
              <a:solidFill>
                <a:srgbClr val="C00000"/>
              </a:solidFill>
              <a:latin typeface="Myriad Pro"/>
            </a:endParaRPr>
          </a:p>
        </p:txBody>
      </p:sp>
      <p:sp>
        <p:nvSpPr>
          <p:cNvPr id="2" name="CuadroTexto 1">
            <a:extLst>
              <a:ext uri="{FF2B5EF4-FFF2-40B4-BE49-F238E27FC236}">
                <a16:creationId xmlns:a16="http://schemas.microsoft.com/office/drawing/2014/main" id="{B00E6D2C-7A47-60C6-D326-D4B488898E3F}"/>
              </a:ext>
            </a:extLst>
          </p:cNvPr>
          <p:cNvSpPr txBox="1"/>
          <p:nvPr/>
        </p:nvSpPr>
        <p:spPr>
          <a:xfrm>
            <a:off x="457200" y="1613647"/>
            <a:ext cx="8229600" cy="2246769"/>
          </a:xfrm>
          <a:prstGeom prst="rect">
            <a:avLst/>
          </a:prstGeom>
          <a:noFill/>
        </p:spPr>
        <p:txBody>
          <a:bodyPr wrap="square" rtlCol="0">
            <a:spAutoFit/>
          </a:bodyPr>
          <a:lstStyle/>
          <a:p>
            <a:r>
              <a:rPr lang="es-CL" sz="2800" dirty="0"/>
              <a:t>Implementar mayor seguridad a los carros de arrastre, esto se hará debido a que en la actualidad los carros de arrastre presentan una gran cantidad de accidentes, esto ocurre habitualmente por la pérdida de control que hay en estos</a:t>
            </a:r>
          </a:p>
        </p:txBody>
      </p:sp>
    </p:spTree>
    <p:extLst>
      <p:ext uri="{BB962C8B-B14F-4D97-AF65-F5344CB8AC3E}">
        <p14:creationId xmlns:p14="http://schemas.microsoft.com/office/powerpoint/2010/main" val="91649654"/>
      </p:ext>
    </p:extLst>
  </p:cSld>
  <p:clrMapOvr>
    <a:masterClrMapping/>
  </p:clrMapOvr>
  <mc:AlternateContent xmlns:mc="http://schemas.openxmlformats.org/markup-compatibility/2006" xmlns:p14="http://schemas.microsoft.com/office/powerpoint/2010/main">
    <mc:Choice Requires="p14">
      <p:transition spd="slow" p14:dur="3400" advTm="17210">
        <p14:reveal/>
      </p:transition>
    </mc:Choice>
    <mc:Fallback xmlns="">
      <p:transition spd="slow" advTm="1721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a:spLocks noGrp="1"/>
          </p:cNvSpPr>
          <p:nvPr>
            <p:ph type="title"/>
          </p:nvPr>
        </p:nvSpPr>
        <p:spPr/>
        <p:txBody>
          <a:bodyPr>
            <a:normAutofit/>
          </a:bodyPr>
          <a:lstStyle/>
          <a:p>
            <a:pPr algn="l"/>
            <a:r>
              <a:rPr lang="es-CL" sz="3200" b="1" dirty="0">
                <a:solidFill>
                  <a:srgbClr val="D40202"/>
                </a:solidFill>
                <a:latin typeface="Myriad Pro"/>
                <a:cs typeface="Myriad Pro"/>
              </a:rPr>
              <a:t>Temas de investigación, nociones matemáticas y problemática a abordar</a:t>
            </a:r>
          </a:p>
        </p:txBody>
      </p:sp>
      <p:pic>
        <p:nvPicPr>
          <p:cNvPr id="18" name="Imagen 17"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pic>
      <p:sp>
        <p:nvSpPr>
          <p:cNvPr id="2" name="CuadroTexto 1">
            <a:extLst>
              <a:ext uri="{FF2B5EF4-FFF2-40B4-BE49-F238E27FC236}">
                <a16:creationId xmlns:a16="http://schemas.microsoft.com/office/drawing/2014/main" id="{74A6435D-DFBC-5482-D7C4-542922EF9983}"/>
              </a:ext>
            </a:extLst>
          </p:cNvPr>
          <p:cNvSpPr txBox="1"/>
          <p:nvPr/>
        </p:nvSpPr>
        <p:spPr>
          <a:xfrm>
            <a:off x="457200" y="1613647"/>
            <a:ext cx="8229600" cy="2246769"/>
          </a:xfrm>
          <a:prstGeom prst="rect">
            <a:avLst/>
          </a:prstGeom>
          <a:noFill/>
        </p:spPr>
        <p:txBody>
          <a:bodyPr wrap="square" rtlCol="0">
            <a:spAutoFit/>
          </a:bodyPr>
          <a:lstStyle/>
          <a:p>
            <a:r>
              <a:rPr lang="es-CL" sz="2800" dirty="0"/>
              <a:t>Pérdida de control de los carros de arrastre.</a:t>
            </a:r>
          </a:p>
          <a:p>
            <a:r>
              <a:rPr lang="es-CL" sz="2800" dirty="0"/>
              <a:t>Las nociones matemáticas abordadas son el centro de masa, mejorar el centro de masa de los carros de arrastre para evitar la problemática de las pérdidas de control.</a:t>
            </a:r>
          </a:p>
        </p:txBody>
      </p:sp>
    </p:spTree>
    <p:extLst>
      <p:ext uri="{BB962C8B-B14F-4D97-AF65-F5344CB8AC3E}">
        <p14:creationId xmlns:p14="http://schemas.microsoft.com/office/powerpoint/2010/main" val="2557372561"/>
      </p:ext>
    </p:extLst>
  </p:cSld>
  <p:clrMapOvr>
    <a:masterClrMapping/>
  </p:clrMapOvr>
  <mc:AlternateContent xmlns:mc="http://schemas.openxmlformats.org/markup-compatibility/2006" xmlns:p14="http://schemas.microsoft.com/office/powerpoint/2010/main">
    <mc:Choice Requires="p14">
      <p:transition spd="slow" p14:dur="3400" advTm="16200">
        <p14:reveal/>
      </p:transition>
    </mc:Choice>
    <mc:Fallback xmlns="">
      <p:transition spd="slow" advTm="162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49F32B-B09B-2BF5-D03E-D814E884B816}"/>
              </a:ext>
            </a:extLst>
          </p:cNvPr>
          <p:cNvSpPr>
            <a:spLocks noGrp="1"/>
          </p:cNvSpPr>
          <p:nvPr>
            <p:ph type="title"/>
          </p:nvPr>
        </p:nvSpPr>
        <p:spPr/>
        <p:txBody>
          <a:bodyPr>
            <a:normAutofit/>
          </a:bodyPr>
          <a:lstStyle/>
          <a:p>
            <a:r>
              <a:rPr lang="es-CL" sz="3200" b="1" dirty="0">
                <a:solidFill>
                  <a:srgbClr val="C00000"/>
                </a:solidFill>
                <a:latin typeface="Myriad Pro"/>
              </a:rPr>
              <a:t>Objetivos y preguntas de investigación </a:t>
            </a:r>
          </a:p>
        </p:txBody>
      </p:sp>
      <p:sp>
        <p:nvSpPr>
          <p:cNvPr id="6" name="CuadroTexto 5">
            <a:extLst>
              <a:ext uri="{FF2B5EF4-FFF2-40B4-BE49-F238E27FC236}">
                <a16:creationId xmlns:a16="http://schemas.microsoft.com/office/drawing/2014/main" id="{912157C9-6468-8E08-AA6E-6B626B241DD5}"/>
              </a:ext>
            </a:extLst>
          </p:cNvPr>
          <p:cNvSpPr txBox="1"/>
          <p:nvPr/>
        </p:nvSpPr>
        <p:spPr>
          <a:xfrm>
            <a:off x="457201" y="1586753"/>
            <a:ext cx="8229600" cy="4401205"/>
          </a:xfrm>
          <a:prstGeom prst="rect">
            <a:avLst/>
          </a:prstGeom>
          <a:noFill/>
        </p:spPr>
        <p:txBody>
          <a:bodyPr wrap="square" rtlCol="0">
            <a:spAutoFit/>
          </a:bodyPr>
          <a:lstStyle/>
          <a:p>
            <a:r>
              <a:rPr lang="es-CL" sz="2800" dirty="0"/>
              <a:t>Crear un carro de arrastre con todas las medidas de seguridad correspondientes según la normativa chilena actual para evitar accidentes por la pérdida de control de aquellos.</a:t>
            </a:r>
            <a:r>
              <a:rPr lang="es-MX" sz="2800" dirty="0"/>
              <a:t> </a:t>
            </a:r>
          </a:p>
          <a:p>
            <a:r>
              <a:rPr lang="es-MX" sz="2800" dirty="0"/>
              <a:t>¿Por qué surgen las pérdidas de control en los carros de arrastre?</a:t>
            </a:r>
          </a:p>
          <a:p>
            <a:r>
              <a:rPr lang="es-MX" sz="2800" dirty="0"/>
              <a:t>¿Como evitar accidentes del carro de arrastre a través de la matemática?</a:t>
            </a:r>
          </a:p>
          <a:p>
            <a:pPr marL="0" indent="0">
              <a:buNone/>
            </a:pPr>
            <a:r>
              <a:rPr lang="es-MX" sz="2800" dirty="0"/>
              <a:t>¿Qué características debe tener un carro de arrastre según la normativa chilena?</a:t>
            </a:r>
          </a:p>
        </p:txBody>
      </p:sp>
    </p:spTree>
    <p:extLst>
      <p:ext uri="{BB962C8B-B14F-4D97-AF65-F5344CB8AC3E}">
        <p14:creationId xmlns:p14="http://schemas.microsoft.com/office/powerpoint/2010/main" val="3194347140"/>
      </p:ext>
    </p:extLst>
  </p:cSld>
  <p:clrMapOvr>
    <a:masterClrMapping/>
  </p:clrMapOvr>
  <mc:AlternateContent xmlns:mc="http://schemas.openxmlformats.org/markup-compatibility/2006" xmlns:p14="http://schemas.microsoft.com/office/powerpoint/2010/main">
    <mc:Choice Requires="p14">
      <p:transition spd="slow" p14:dur="3400" advTm="33260">
        <p14:reveal/>
      </p:transition>
    </mc:Choice>
    <mc:Fallback xmlns="">
      <p:transition spd="slow" advTm="3326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4FD695-4911-879E-8514-B8A3666F6CD0}"/>
              </a:ext>
            </a:extLst>
          </p:cNvPr>
          <p:cNvSpPr>
            <a:spLocks noGrp="1"/>
          </p:cNvSpPr>
          <p:nvPr>
            <p:ph type="title"/>
          </p:nvPr>
        </p:nvSpPr>
        <p:spPr/>
        <p:txBody>
          <a:bodyPr>
            <a:normAutofit/>
          </a:bodyPr>
          <a:lstStyle/>
          <a:p>
            <a:r>
              <a:rPr lang="es-CL" sz="3200" b="1" dirty="0">
                <a:solidFill>
                  <a:srgbClr val="C00000"/>
                </a:solidFill>
                <a:latin typeface="Myriad Pro"/>
              </a:rPr>
              <a:t>Tema inicial involucrado</a:t>
            </a:r>
          </a:p>
        </p:txBody>
      </p:sp>
      <p:sp>
        <p:nvSpPr>
          <p:cNvPr id="3" name="Marcador de contenido 2">
            <a:extLst>
              <a:ext uri="{FF2B5EF4-FFF2-40B4-BE49-F238E27FC236}">
                <a16:creationId xmlns:a16="http://schemas.microsoft.com/office/drawing/2014/main" id="{53519AEB-5F73-D024-D2F0-240B1204FF5F}"/>
              </a:ext>
            </a:extLst>
          </p:cNvPr>
          <p:cNvSpPr>
            <a:spLocks noGrp="1"/>
          </p:cNvSpPr>
          <p:nvPr>
            <p:ph sz="half" idx="1"/>
          </p:nvPr>
        </p:nvSpPr>
        <p:spPr>
          <a:xfrm>
            <a:off x="457200" y="1417638"/>
            <a:ext cx="8229600" cy="4525963"/>
          </a:xfrm>
        </p:spPr>
        <p:txBody>
          <a:bodyPr>
            <a:normAutofit/>
          </a:bodyPr>
          <a:lstStyle/>
          <a:p>
            <a:pPr marL="0" indent="0">
              <a:buNone/>
            </a:pPr>
            <a:r>
              <a:rPr lang="es-CL" dirty="0"/>
              <a:t>Seguridad del carro de arrastre y sus variables, las cuales son:</a:t>
            </a:r>
          </a:p>
          <a:p>
            <a:r>
              <a:rPr lang="es-CL" dirty="0"/>
              <a:t>Una correcta carga del carro de arrastre según su peso</a:t>
            </a:r>
          </a:p>
          <a:p>
            <a:r>
              <a:rPr lang="es-CL" dirty="0"/>
              <a:t>Buena distribución de peso en el carro de arrastre</a:t>
            </a:r>
          </a:p>
          <a:p>
            <a:r>
              <a:rPr lang="es-CL" dirty="0"/>
              <a:t>Que cumpla con la normativa chilena</a:t>
            </a:r>
          </a:p>
          <a:p>
            <a:r>
              <a:rPr lang="es-CL" dirty="0"/>
              <a:t>Buen acople con al automóvil</a:t>
            </a:r>
          </a:p>
          <a:p>
            <a:r>
              <a:rPr lang="es-CL" dirty="0"/>
              <a:t>Manejo adecuado a la carga</a:t>
            </a:r>
          </a:p>
          <a:p>
            <a:pPr marL="0" indent="0">
              <a:buNone/>
            </a:pPr>
            <a:endParaRPr lang="es-CL" dirty="0"/>
          </a:p>
          <a:p>
            <a:pPr marL="0" indent="0">
              <a:buNone/>
            </a:pPr>
            <a:endParaRPr lang="es-CL" dirty="0"/>
          </a:p>
        </p:txBody>
      </p:sp>
    </p:spTree>
    <p:extLst>
      <p:ext uri="{BB962C8B-B14F-4D97-AF65-F5344CB8AC3E}">
        <p14:creationId xmlns:p14="http://schemas.microsoft.com/office/powerpoint/2010/main" val="3961406715"/>
      </p:ext>
    </p:extLst>
  </p:cSld>
  <p:clrMapOvr>
    <a:masterClrMapping/>
  </p:clrMapOvr>
  <mc:AlternateContent xmlns:mc="http://schemas.openxmlformats.org/markup-compatibility/2006" xmlns:p14="http://schemas.microsoft.com/office/powerpoint/2010/main">
    <mc:Choice Requires="p14">
      <p:transition spd="slow" p14:dur="3400" advTm="26673">
        <p14:reveal/>
      </p:transition>
    </mc:Choice>
    <mc:Fallback xmlns="">
      <p:transition spd="slow" advTm="26673">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9F57D4-F0B8-944B-3596-411DC48CB264}"/>
              </a:ext>
            </a:extLst>
          </p:cNvPr>
          <p:cNvSpPr>
            <a:spLocks noGrp="1"/>
          </p:cNvSpPr>
          <p:nvPr>
            <p:ph type="title"/>
          </p:nvPr>
        </p:nvSpPr>
        <p:spPr/>
        <p:txBody>
          <a:bodyPr/>
          <a:lstStyle/>
          <a:p>
            <a:endParaRPr lang="es-CL" dirty="0"/>
          </a:p>
        </p:txBody>
      </p:sp>
      <p:sp>
        <p:nvSpPr>
          <p:cNvPr id="4" name="Marcador de contenido 3">
            <a:extLst>
              <a:ext uri="{FF2B5EF4-FFF2-40B4-BE49-F238E27FC236}">
                <a16:creationId xmlns:a16="http://schemas.microsoft.com/office/drawing/2014/main" id="{139E3B57-0101-6B08-28A1-948D54A34FB9}"/>
              </a:ext>
            </a:extLst>
          </p:cNvPr>
          <p:cNvSpPr>
            <a:spLocks noGrp="1"/>
          </p:cNvSpPr>
          <p:nvPr>
            <p:ph sz="half" idx="2"/>
          </p:nvPr>
        </p:nvSpPr>
        <p:spPr/>
        <p:txBody>
          <a:bodyPr/>
          <a:lstStyle/>
          <a:p>
            <a:endParaRPr lang="es-CL"/>
          </a:p>
        </p:txBody>
      </p:sp>
      <p:graphicFrame>
        <p:nvGraphicFramePr>
          <p:cNvPr id="8" name="Marcador de contenido 7">
            <a:extLst>
              <a:ext uri="{FF2B5EF4-FFF2-40B4-BE49-F238E27FC236}">
                <a16:creationId xmlns:a16="http://schemas.microsoft.com/office/drawing/2014/main" id="{1DE1B05C-026C-FF6C-D692-93C89B038383}"/>
              </a:ext>
            </a:extLst>
          </p:cNvPr>
          <p:cNvGraphicFramePr>
            <a:graphicFrameLocks noGrp="1"/>
          </p:cNvGraphicFramePr>
          <p:nvPr>
            <p:ph sz="half" idx="1"/>
            <p:extLst>
              <p:ext uri="{D42A27DB-BD31-4B8C-83A1-F6EECF244321}">
                <p14:modId xmlns:p14="http://schemas.microsoft.com/office/powerpoint/2010/main" val="253785267"/>
              </p:ext>
            </p:extLst>
          </p:nvPr>
        </p:nvGraphicFramePr>
        <p:xfrm>
          <a:off x="457200" y="526808"/>
          <a:ext cx="8229600" cy="5577840"/>
        </p:xfrm>
        <a:graphic>
          <a:graphicData uri="http://schemas.openxmlformats.org/drawingml/2006/table">
            <a:tbl>
              <a:tblPr firstRow="1" bandRow="1">
                <a:tableStyleId>{21E4AEA4-8DFA-4A89-87EB-49C32662AFE0}</a:tableStyleId>
              </a:tblPr>
              <a:tblGrid>
                <a:gridCol w="1645920">
                  <a:extLst>
                    <a:ext uri="{9D8B030D-6E8A-4147-A177-3AD203B41FA5}">
                      <a16:colId xmlns:a16="http://schemas.microsoft.com/office/drawing/2014/main" val="4237485858"/>
                    </a:ext>
                  </a:extLst>
                </a:gridCol>
                <a:gridCol w="1645920">
                  <a:extLst>
                    <a:ext uri="{9D8B030D-6E8A-4147-A177-3AD203B41FA5}">
                      <a16:colId xmlns:a16="http://schemas.microsoft.com/office/drawing/2014/main" val="2235569032"/>
                    </a:ext>
                  </a:extLst>
                </a:gridCol>
                <a:gridCol w="1645920">
                  <a:extLst>
                    <a:ext uri="{9D8B030D-6E8A-4147-A177-3AD203B41FA5}">
                      <a16:colId xmlns:a16="http://schemas.microsoft.com/office/drawing/2014/main" val="3282868674"/>
                    </a:ext>
                  </a:extLst>
                </a:gridCol>
                <a:gridCol w="1645920">
                  <a:extLst>
                    <a:ext uri="{9D8B030D-6E8A-4147-A177-3AD203B41FA5}">
                      <a16:colId xmlns:a16="http://schemas.microsoft.com/office/drawing/2014/main" val="344178912"/>
                    </a:ext>
                  </a:extLst>
                </a:gridCol>
                <a:gridCol w="1645920">
                  <a:extLst>
                    <a:ext uri="{9D8B030D-6E8A-4147-A177-3AD203B41FA5}">
                      <a16:colId xmlns:a16="http://schemas.microsoft.com/office/drawing/2014/main" val="2054209063"/>
                    </a:ext>
                  </a:extLst>
                </a:gridCol>
              </a:tblGrid>
              <a:tr h="773206">
                <a:tc>
                  <a:txBody>
                    <a:bodyPr/>
                    <a:lstStyle/>
                    <a:p>
                      <a:r>
                        <a:rPr lang="es-CL" dirty="0"/>
                        <a:t>1. ¿Qué haremos?</a:t>
                      </a:r>
                    </a:p>
                  </a:txBody>
                  <a:tcPr/>
                </a:tc>
                <a:tc>
                  <a:txBody>
                    <a:bodyPr/>
                    <a:lstStyle/>
                    <a:p>
                      <a:r>
                        <a:rPr lang="es-CL" dirty="0"/>
                        <a:t>2. ¿Qué resultados obtendremos?</a:t>
                      </a:r>
                    </a:p>
                  </a:txBody>
                  <a:tcPr/>
                </a:tc>
                <a:tc>
                  <a:txBody>
                    <a:bodyPr/>
                    <a:lstStyle/>
                    <a:p>
                      <a:r>
                        <a:rPr lang="es-CL" dirty="0"/>
                        <a:t>3. ¿Para cuándo estará hecho?</a:t>
                      </a:r>
                    </a:p>
                  </a:txBody>
                  <a:tcPr/>
                </a:tc>
                <a:tc>
                  <a:txBody>
                    <a:bodyPr/>
                    <a:lstStyle/>
                    <a:p>
                      <a:r>
                        <a:rPr lang="es-CL" dirty="0"/>
                        <a:t>¿Quiénes o quienes lo harán?</a:t>
                      </a:r>
                    </a:p>
                  </a:txBody>
                  <a:tcPr/>
                </a:tc>
                <a:tc>
                  <a:txBody>
                    <a:bodyPr/>
                    <a:lstStyle/>
                    <a:p>
                      <a:r>
                        <a:rPr lang="es-CL" dirty="0"/>
                        <a:t>¿Qué necesitamos para hacerlo?</a:t>
                      </a:r>
                    </a:p>
                  </a:txBody>
                  <a:tcPr/>
                </a:tc>
                <a:extLst>
                  <a:ext uri="{0D108BD9-81ED-4DB2-BD59-A6C34878D82A}">
                    <a16:rowId xmlns:a16="http://schemas.microsoft.com/office/drawing/2014/main" val="2073435000"/>
                  </a:ext>
                </a:extLst>
              </a:tr>
              <a:tr h="773206">
                <a:tc>
                  <a:txBody>
                    <a:bodyPr/>
                    <a:lstStyle/>
                    <a:p>
                      <a:r>
                        <a:rPr lang="es-CL" dirty="0"/>
                        <a:t>1. Mejora de acople</a:t>
                      </a:r>
                    </a:p>
                  </a:txBody>
                  <a:tcPr/>
                </a:tc>
                <a:tc>
                  <a:txBody>
                    <a:bodyPr/>
                    <a:lstStyle/>
                    <a:p>
                      <a:r>
                        <a:rPr lang="es-CL" dirty="0"/>
                        <a:t>Un menor esfuerzo cortante</a:t>
                      </a:r>
                    </a:p>
                  </a:txBody>
                  <a:tcPr/>
                </a:tc>
                <a:tc>
                  <a:txBody>
                    <a:bodyPr/>
                    <a:lstStyle/>
                    <a:p>
                      <a:r>
                        <a:rPr lang="es-CL" dirty="0"/>
                        <a:t>14-12</a:t>
                      </a:r>
                    </a:p>
                  </a:txBody>
                  <a:tcPr/>
                </a:tc>
                <a:tc>
                  <a:txBody>
                    <a:bodyPr/>
                    <a:lstStyle/>
                    <a:p>
                      <a:r>
                        <a:rPr lang="es-CL" dirty="0"/>
                        <a:t>Mecánico</a:t>
                      </a:r>
                    </a:p>
                  </a:txBody>
                  <a:tcPr/>
                </a:tc>
                <a:tc>
                  <a:txBody>
                    <a:bodyPr/>
                    <a:lstStyle/>
                    <a:p>
                      <a:r>
                        <a:rPr lang="es-CL" dirty="0"/>
                        <a:t>Cálculo de esfuerzo cortante, el peso del carro de arrastre, fierro grueso.</a:t>
                      </a:r>
                    </a:p>
                  </a:txBody>
                  <a:tcPr/>
                </a:tc>
                <a:extLst>
                  <a:ext uri="{0D108BD9-81ED-4DB2-BD59-A6C34878D82A}">
                    <a16:rowId xmlns:a16="http://schemas.microsoft.com/office/drawing/2014/main" val="2675747369"/>
                  </a:ext>
                </a:extLst>
              </a:tr>
              <a:tr h="773206">
                <a:tc>
                  <a:txBody>
                    <a:bodyPr/>
                    <a:lstStyle/>
                    <a:p>
                      <a:r>
                        <a:rPr lang="es-CL" dirty="0"/>
                        <a:t>2. Incorporar tecnología led a las luces</a:t>
                      </a:r>
                    </a:p>
                  </a:txBody>
                  <a:tcPr/>
                </a:tc>
                <a:tc>
                  <a:txBody>
                    <a:bodyPr/>
                    <a:lstStyle/>
                    <a:p>
                      <a:r>
                        <a:rPr lang="es-CL" dirty="0"/>
                        <a:t>Mayor visibilidad para los vehículos que lo ven </a:t>
                      </a:r>
                    </a:p>
                  </a:txBody>
                  <a:tcPr/>
                </a:tc>
                <a:tc>
                  <a:txBody>
                    <a:bodyPr/>
                    <a:lstStyle/>
                    <a:p>
                      <a:r>
                        <a:rPr lang="es-CL" dirty="0"/>
                        <a:t>14-12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CL" dirty="0"/>
                        <a:t>Mecánico</a:t>
                      </a:r>
                    </a:p>
                    <a:p>
                      <a:endParaRPr lang="es-CL" dirty="0"/>
                    </a:p>
                  </a:txBody>
                  <a:tcPr/>
                </a:tc>
                <a:tc>
                  <a:txBody>
                    <a:bodyPr/>
                    <a:lstStyle/>
                    <a:p>
                      <a:r>
                        <a:rPr lang="es-CL" dirty="0"/>
                        <a:t>Luces led, cálculo de la resistencia y cálculo de voltaje</a:t>
                      </a:r>
                    </a:p>
                  </a:txBody>
                  <a:tcPr/>
                </a:tc>
                <a:extLst>
                  <a:ext uri="{0D108BD9-81ED-4DB2-BD59-A6C34878D82A}">
                    <a16:rowId xmlns:a16="http://schemas.microsoft.com/office/drawing/2014/main" val="1422634127"/>
                  </a:ext>
                </a:extLst>
              </a:tr>
              <a:tr h="773206">
                <a:tc>
                  <a:txBody>
                    <a:bodyPr/>
                    <a:lstStyle/>
                    <a:p>
                      <a:r>
                        <a:rPr lang="es-CL" dirty="0"/>
                        <a:t>3. Mejorar el centro de gravedad</a:t>
                      </a:r>
                    </a:p>
                  </a:txBody>
                  <a:tcPr/>
                </a:tc>
                <a:tc>
                  <a:txBody>
                    <a:bodyPr/>
                    <a:lstStyle/>
                    <a:p>
                      <a:r>
                        <a:rPr lang="es-CL" dirty="0"/>
                        <a:t>Evitar las pérdidas de control del carro de arrastre</a:t>
                      </a:r>
                    </a:p>
                  </a:txBody>
                  <a:tcPr/>
                </a:tc>
                <a:tc>
                  <a:txBody>
                    <a:bodyPr/>
                    <a:lstStyle/>
                    <a:p>
                      <a:r>
                        <a:rPr lang="es-CL" dirty="0"/>
                        <a:t>14-12</a:t>
                      </a:r>
                    </a:p>
                  </a:txBody>
                  <a:tcPr/>
                </a:tc>
                <a:tc>
                  <a:txBody>
                    <a:bodyPr/>
                    <a:lstStyle/>
                    <a:p>
                      <a:r>
                        <a:rPr lang="es-CL" dirty="0"/>
                        <a:t>Mecánico</a:t>
                      </a:r>
                    </a:p>
                  </a:txBody>
                  <a:tcPr/>
                </a:tc>
                <a:tc>
                  <a:txBody>
                    <a:bodyPr/>
                    <a:lstStyle/>
                    <a:p>
                      <a:r>
                        <a:rPr lang="es-CL" dirty="0" err="1"/>
                        <a:t>Algodoo</a:t>
                      </a:r>
                      <a:r>
                        <a:rPr lang="es-CL" dirty="0"/>
                        <a:t>, eje de torsión movible, cálculo del centro de masa</a:t>
                      </a:r>
                    </a:p>
                  </a:txBody>
                  <a:tcPr/>
                </a:tc>
                <a:extLst>
                  <a:ext uri="{0D108BD9-81ED-4DB2-BD59-A6C34878D82A}">
                    <a16:rowId xmlns:a16="http://schemas.microsoft.com/office/drawing/2014/main" val="392936539"/>
                  </a:ext>
                </a:extLst>
              </a:tr>
            </a:tbl>
          </a:graphicData>
        </a:graphic>
      </p:graphicFrame>
    </p:spTree>
    <p:extLst>
      <p:ext uri="{BB962C8B-B14F-4D97-AF65-F5344CB8AC3E}">
        <p14:creationId xmlns:p14="http://schemas.microsoft.com/office/powerpoint/2010/main" val="2072017714"/>
      </p:ext>
    </p:extLst>
  </p:cSld>
  <p:clrMapOvr>
    <a:masterClrMapping/>
  </p:clrMapOvr>
  <mc:AlternateContent xmlns:mc="http://schemas.openxmlformats.org/markup-compatibility/2006" xmlns:p14="http://schemas.microsoft.com/office/powerpoint/2010/main">
    <mc:Choice Requires="p14">
      <p:transition spd="slow" p14:dur="3400" advTm="74469">
        <p14:reveal/>
      </p:transition>
    </mc:Choice>
    <mc:Fallback xmlns="">
      <p:transition spd="slow" advTm="74469">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812" y="365125"/>
            <a:ext cx="8375585"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4 Título"/>
          <p:cNvSpPr>
            <a:spLocks noGrp="1"/>
          </p:cNvSpPr>
          <p:nvPr>
            <p:ph type="title"/>
          </p:nvPr>
        </p:nvSpPr>
        <p:spPr>
          <a:xfrm>
            <a:off x="785059" y="586822"/>
            <a:ext cx="2670189" cy="1645920"/>
          </a:xfrm>
        </p:spPr>
        <p:txBody>
          <a:bodyPr>
            <a:normAutofit/>
          </a:bodyPr>
          <a:lstStyle/>
          <a:p>
            <a:r>
              <a:rPr lang="es-CL" sz="2800" b="1" dirty="0">
                <a:latin typeface="Myriad Pro"/>
              </a:rPr>
              <a:t>Algodoo y su utilización </a:t>
            </a:r>
          </a:p>
        </p:txBody>
      </p:sp>
      <p:sp>
        <p:nvSpPr>
          <p:cNvPr id="15" name="Rectangle 14">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06" y="1057739"/>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7" name="Rectangle 16">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99776" y="1402924"/>
            <a:ext cx="146304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5 Marcador de contenido"/>
          <p:cNvSpPr>
            <a:spLocks noGrp="1"/>
          </p:cNvSpPr>
          <p:nvPr>
            <p:ph idx="1"/>
          </p:nvPr>
        </p:nvSpPr>
        <p:spPr>
          <a:xfrm>
            <a:off x="4013373" y="586822"/>
            <a:ext cx="4501977" cy="1645920"/>
          </a:xfrm>
        </p:spPr>
        <p:txBody>
          <a:bodyPr anchor="ctr">
            <a:normAutofit fontScale="92500"/>
          </a:bodyPr>
          <a:lstStyle/>
          <a:p>
            <a:pPr marL="0" indent="0">
              <a:buNone/>
            </a:pPr>
            <a:r>
              <a:rPr lang="es-CL" sz="1900" dirty="0"/>
              <a:t>Debido a la falta de recursos, implementamos un sistema que permita verificar el centro de gravedad en diferentes situaciones y pesos para así poder verificar la influencia e importancia de este.</a:t>
            </a:r>
          </a:p>
          <a:p>
            <a:pPr marL="0" indent="0">
              <a:buNone/>
            </a:pPr>
            <a:endParaRPr lang="es-CL" sz="1600" dirty="0"/>
          </a:p>
        </p:txBody>
      </p:sp>
      <p:pic>
        <p:nvPicPr>
          <p:cNvPr id="3" name="Imagen 2" descr="Forma&#10;&#10;Descripción generada automáticamente">
            <a:extLst>
              <a:ext uri="{FF2B5EF4-FFF2-40B4-BE49-F238E27FC236}">
                <a16:creationId xmlns:a16="http://schemas.microsoft.com/office/drawing/2014/main" id="{5A7C0412-6798-DC85-6913-EBD36D686F44}"/>
              </a:ext>
            </a:extLst>
          </p:cNvPr>
          <p:cNvPicPr>
            <a:picLocks noChangeAspect="1"/>
          </p:cNvPicPr>
          <p:nvPr/>
        </p:nvPicPr>
        <p:blipFill>
          <a:blip r:embed="rId2"/>
          <a:stretch>
            <a:fillRect/>
          </a:stretch>
        </p:blipFill>
        <p:spPr>
          <a:xfrm>
            <a:off x="1757305" y="2838501"/>
            <a:ext cx="5257800" cy="3194113"/>
          </a:xfrm>
          <a:prstGeom prst="rect">
            <a:avLst/>
          </a:prstGeom>
        </p:spPr>
      </p:pic>
      <p:sp>
        <p:nvSpPr>
          <p:cNvPr id="7" name="CuadroTexto 6">
            <a:extLst>
              <a:ext uri="{FF2B5EF4-FFF2-40B4-BE49-F238E27FC236}">
                <a16:creationId xmlns:a16="http://schemas.microsoft.com/office/drawing/2014/main" id="{09E98843-44E9-735C-62F9-444F626486E9}"/>
              </a:ext>
            </a:extLst>
          </p:cNvPr>
          <p:cNvSpPr txBox="1"/>
          <p:nvPr/>
        </p:nvSpPr>
        <p:spPr>
          <a:xfrm>
            <a:off x="1757305" y="2414936"/>
            <a:ext cx="4211695" cy="461665"/>
          </a:xfrm>
          <a:prstGeom prst="rect">
            <a:avLst/>
          </a:prstGeom>
          <a:noFill/>
        </p:spPr>
        <p:txBody>
          <a:bodyPr wrap="square" rtlCol="0">
            <a:spAutoFit/>
          </a:bodyPr>
          <a:lstStyle/>
          <a:p>
            <a:r>
              <a:rPr lang="es-CL" sz="1200" dirty="0"/>
              <a:t>Figura 1</a:t>
            </a:r>
          </a:p>
          <a:p>
            <a:r>
              <a:rPr lang="es-CL" sz="1200" dirty="0"/>
              <a:t>Carro de arrastre y su centro de gravedad en Algodoo</a:t>
            </a:r>
          </a:p>
        </p:txBody>
      </p:sp>
      <p:sp>
        <p:nvSpPr>
          <p:cNvPr id="8" name="CuadroTexto 7">
            <a:extLst>
              <a:ext uri="{FF2B5EF4-FFF2-40B4-BE49-F238E27FC236}">
                <a16:creationId xmlns:a16="http://schemas.microsoft.com/office/drawing/2014/main" id="{DD61667C-E24B-92FC-6329-88868FCC26F6}"/>
              </a:ext>
            </a:extLst>
          </p:cNvPr>
          <p:cNvSpPr txBox="1"/>
          <p:nvPr/>
        </p:nvSpPr>
        <p:spPr>
          <a:xfrm>
            <a:off x="1757305" y="6040345"/>
            <a:ext cx="4211695" cy="646331"/>
          </a:xfrm>
          <a:prstGeom prst="rect">
            <a:avLst/>
          </a:prstGeom>
          <a:noFill/>
        </p:spPr>
        <p:txBody>
          <a:bodyPr wrap="square" rtlCol="0">
            <a:spAutoFit/>
          </a:bodyPr>
          <a:lstStyle/>
          <a:p>
            <a:r>
              <a:rPr lang="es-CL" sz="1200" dirty="0"/>
              <a:t>Nota. Se presenta un modelo de carro de arrastre y su centro de masa en la plataforma Algodoo</a:t>
            </a:r>
          </a:p>
          <a:p>
            <a:endParaRPr lang="es-CL" sz="1200" dirty="0"/>
          </a:p>
        </p:txBody>
      </p:sp>
    </p:spTree>
    <p:extLst>
      <p:ext uri="{BB962C8B-B14F-4D97-AF65-F5344CB8AC3E}">
        <p14:creationId xmlns:p14="http://schemas.microsoft.com/office/powerpoint/2010/main" val="4139453777"/>
      </p:ext>
    </p:extLst>
  </p:cSld>
  <p:clrMapOvr>
    <a:masterClrMapping/>
  </p:clrMapOvr>
  <mc:AlternateContent xmlns:mc="http://schemas.openxmlformats.org/markup-compatibility/2006" xmlns:p14="http://schemas.microsoft.com/office/powerpoint/2010/main">
    <mc:Choice Requires="p14">
      <p:transition spd="slow" p14:dur="3400" advTm="33190">
        <p14:reveal/>
      </p:transition>
    </mc:Choice>
    <mc:Fallback xmlns="">
      <p:transition spd="slow" advTm="3319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3200" b="1" dirty="0">
                <a:solidFill>
                  <a:srgbClr val="C00000"/>
                </a:solidFill>
                <a:latin typeface="Myriad Pro"/>
              </a:rPr>
              <a:t>Respuestas</a:t>
            </a:r>
          </a:p>
        </p:txBody>
      </p:sp>
      <p:sp>
        <p:nvSpPr>
          <p:cNvPr id="3" name="2 Marcador de contenido"/>
          <p:cNvSpPr>
            <a:spLocks noGrp="1"/>
          </p:cNvSpPr>
          <p:nvPr>
            <p:ph idx="1"/>
          </p:nvPr>
        </p:nvSpPr>
        <p:spPr/>
        <p:txBody>
          <a:bodyPr>
            <a:normAutofit/>
          </a:bodyPr>
          <a:lstStyle/>
          <a:p>
            <a:pPr marL="0" indent="0" algn="just">
              <a:buNone/>
            </a:pPr>
            <a:r>
              <a:rPr lang="es-MX" sz="2400" dirty="0"/>
              <a:t>¿Por qué surgen las pérdidas de control en los carros de arrastre?</a:t>
            </a:r>
          </a:p>
          <a:p>
            <a:pPr marL="0" indent="0" algn="just">
              <a:buNone/>
            </a:pPr>
            <a:r>
              <a:rPr lang="es-MX" sz="1800" dirty="0">
                <a:effectLst/>
                <a:ea typeface="Calibri" panose="020F0502020204030204" pitchFamily="34" charset="0"/>
                <a:cs typeface="Times New Roman" panose="02020603050405020304" pitchFamily="18" charset="0"/>
              </a:rPr>
              <a:t>Los accidentes por perdidas de control son muy habituales, tanto dentro del país como fuera, y esto ocurre habitualmente debido a las pérdidas de control que sufren los vehículos en el carro de arrastre</a:t>
            </a:r>
            <a:endParaRPr lang="es-CL" sz="1800" dirty="0">
              <a:effectLst/>
              <a:ea typeface="Calibri" panose="020F0502020204030204" pitchFamily="34" charset="0"/>
              <a:cs typeface="Times New Roman" panose="02020603050405020304" pitchFamily="18" charset="0"/>
            </a:endParaRPr>
          </a:p>
          <a:p>
            <a:pPr marL="0" indent="0" algn="just">
              <a:buNone/>
            </a:pPr>
            <a:r>
              <a:rPr lang="es-MX" sz="1800" dirty="0">
                <a:cs typeface="Arial" panose="020B0604020202020204" pitchFamily="34" charset="0"/>
              </a:rPr>
              <a:t>“Más antecedentes del siniestro entregó el capitán Jaime Aros, de la unidad de Rescate de la Primera Compañía del Cuerpo de Bomberos de Los Ángeles, dijo que "en camino a María Dolores se registró un accidente que involucró dos vehículos quienes colisionaron resultando cuatro personas lesionadas, a baja energía, debido a que uno de los vehículos llevaba un carro que se descontroló y produjo la colisión. También hay un paciente pediátrico que no registró lesiones considerables, por lo que no fue trasladado hasta el complejo asistencial“ (Ahumada2023).</a:t>
            </a:r>
            <a:endParaRPr lang="es-CL" sz="1800" dirty="0">
              <a:cs typeface="Arial" panose="020B0604020202020204" pitchFamily="34" charset="0"/>
            </a:endParaRPr>
          </a:p>
        </p:txBody>
      </p:sp>
    </p:spTree>
    <p:extLst>
      <p:ext uri="{BB962C8B-B14F-4D97-AF65-F5344CB8AC3E}">
        <p14:creationId xmlns:p14="http://schemas.microsoft.com/office/powerpoint/2010/main" val="2181416482"/>
      </p:ext>
    </p:extLst>
  </p:cSld>
  <p:clrMapOvr>
    <a:masterClrMapping/>
  </p:clrMapOvr>
  <mc:AlternateContent xmlns:mc="http://schemas.openxmlformats.org/markup-compatibility/2006" xmlns:p14="http://schemas.microsoft.com/office/powerpoint/2010/main">
    <mc:Choice Requires="p14">
      <p:transition spd="slow" p14:dur="3400" advTm="70185">
        <p14:reveal/>
      </p:transition>
    </mc:Choice>
    <mc:Fallback xmlns="">
      <p:transition spd="slow" advTm="70185">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34C303-6EF9-4DA3-9167-3AD1437A6972}"/>
              </a:ext>
            </a:extLst>
          </p:cNvPr>
          <p:cNvSpPr>
            <a:spLocks noGrp="1"/>
          </p:cNvSpPr>
          <p:nvPr>
            <p:ph type="title"/>
          </p:nvPr>
        </p:nvSpPr>
        <p:spPr>
          <a:xfrm>
            <a:off x="457200" y="858837"/>
            <a:ext cx="8229600" cy="1143000"/>
          </a:xfrm>
        </p:spPr>
        <p:txBody>
          <a:bodyPr>
            <a:normAutofit fontScale="90000"/>
          </a:bodyPr>
          <a:lstStyle/>
          <a:p>
            <a:r>
              <a:rPr lang="es-MX" sz="4000" b="1" dirty="0">
                <a:solidFill>
                  <a:srgbClr val="C00000"/>
                </a:solidFill>
                <a:latin typeface="Myriad Pro"/>
              </a:rPr>
              <a:t>¿Como evitar accidentes por medio del carro de arrastre?</a:t>
            </a:r>
            <a:br>
              <a:rPr lang="es-MX" sz="4400" dirty="0"/>
            </a:br>
            <a:endParaRPr lang="es-CL"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6238278-D80E-998C-C9F2-6969B53645B6}"/>
                  </a:ext>
                </a:extLst>
              </p:cNvPr>
              <p:cNvSpPr>
                <a:spLocks noGrp="1"/>
              </p:cNvSpPr>
              <p:nvPr>
                <p:ph idx="1"/>
              </p:nvPr>
            </p:nvSpPr>
            <p:spPr>
              <a:xfrm>
                <a:off x="457200" y="2001837"/>
                <a:ext cx="8229600" cy="4525963"/>
              </a:xfrm>
            </p:spPr>
            <p:txBody>
              <a:bodyPr>
                <a:normAutofit/>
              </a:bodyPr>
              <a:lstStyle/>
              <a:p>
                <a:pPr marL="0" indent="0" algn="just">
                  <a:buNone/>
                </a:pPr>
                <a:r>
                  <a:rPr lang="es-MX" sz="1800" dirty="0">
                    <a:effectLst/>
                    <a:ea typeface="Calibri" panose="020F0502020204030204" pitchFamily="34" charset="0"/>
                    <a:cs typeface="Times New Roman" panose="02020603050405020304" pitchFamily="18" charset="0"/>
                  </a:rPr>
                  <a:t>Para evitar accidentes del carro de arrastre existen diferentes conceptos para mejorarlo, el primero es mejorar el enganche del carro de arrastre, cambiar el acople por uno que tenga un menor esfuerzo cortante a una mayor cantidad de kilogramos.</a:t>
                </a:r>
                <a:endParaRPr lang="es-MX" sz="1800" dirty="0"/>
              </a:p>
              <a:p>
                <a:pPr marL="0" indent="0">
                  <a:buNone/>
                </a:pPr>
                <a:r>
                  <a:rPr lang="es-CL" sz="1800" dirty="0"/>
                  <a:t>Además, se puede evitar buscando el centro de masa ideal para cada tipo de peso, esto se haría de la forma en que el eje se pueda mover de un lado hacia otro dependiendo del centro de masa para cada tipo de situación, este disminuiría considerablemente los accidentes, perdidas de control, poca seguridad. </a:t>
                </a:r>
              </a:p>
              <a:p>
                <a:pPr marL="0" indent="0">
                  <a:buNone/>
                </a:pPr>
                <a:r>
                  <a:rPr lang="es-CL" sz="1800" dirty="0"/>
                  <a:t>Fórmula del centro de masa:</a:t>
                </a:r>
              </a:p>
              <a:p>
                <a:pPr marL="0" indent="0">
                  <a:buNone/>
                </a:pPr>
                <a14:m>
                  <m:oMath xmlns:m="http://schemas.openxmlformats.org/officeDocument/2006/math">
                    <m:r>
                      <a:rPr lang="es-CL" sz="24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MX" sz="2400" i="1" smtClean="0">
                        <a:effectLst/>
                        <a:latin typeface="Cambria Math" panose="02040503050406030204" pitchFamily="18" charset="0"/>
                        <a:ea typeface="Calibri" panose="020F0502020204030204" pitchFamily="34" charset="0"/>
                        <a:cs typeface="Times New Roman" panose="02020603050405020304" pitchFamily="18" charset="0"/>
                      </a:rPr>
                      <m:t>𝐶𝐷𝑀𝑥</m:t>
                    </m:r>
                    <m:r>
                      <a:rPr lang="es-MX" sz="2400" i="1"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s-CL" sz="24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MX" sz="2400" i="1">
                            <a:effectLst/>
                            <a:latin typeface="Cambria Math" panose="02040503050406030204" pitchFamily="18" charset="0"/>
                            <a:ea typeface="Calibri" panose="020F0502020204030204" pitchFamily="34" charset="0"/>
                            <a:cs typeface="Times New Roman" panose="02020603050405020304" pitchFamily="18" charset="0"/>
                          </a:rPr>
                          <m:t>𝑚</m:t>
                        </m:r>
                        <m:r>
                          <a:rPr lang="es-MX" sz="2400" i="1">
                            <a:effectLst/>
                            <a:latin typeface="Cambria Math" panose="02040503050406030204" pitchFamily="18" charset="0"/>
                            <a:ea typeface="Calibri" panose="020F0502020204030204" pitchFamily="34" charset="0"/>
                            <a:cs typeface="Times New Roman" panose="02020603050405020304" pitchFamily="18" charset="0"/>
                          </a:rPr>
                          <m:t>1∙</m:t>
                        </m:r>
                        <m:r>
                          <a:rPr lang="es-MX" sz="2400" i="1">
                            <a:effectLst/>
                            <a:latin typeface="Cambria Math" panose="02040503050406030204" pitchFamily="18" charset="0"/>
                            <a:ea typeface="Calibri" panose="020F0502020204030204" pitchFamily="34" charset="0"/>
                            <a:cs typeface="Times New Roman" panose="02020603050405020304" pitchFamily="18" charset="0"/>
                          </a:rPr>
                          <m:t>𝑥</m:t>
                        </m:r>
                        <m:r>
                          <a:rPr lang="es-MX" sz="2400" i="1">
                            <a:effectLst/>
                            <a:latin typeface="Cambria Math" panose="02040503050406030204" pitchFamily="18" charset="0"/>
                            <a:ea typeface="Calibri" panose="020F0502020204030204" pitchFamily="34" charset="0"/>
                            <a:cs typeface="Times New Roman" panose="02020603050405020304" pitchFamily="18" charset="0"/>
                          </a:rPr>
                          <m:t>2+</m:t>
                        </m:r>
                        <m:r>
                          <a:rPr lang="es-MX" sz="2400" i="1">
                            <a:effectLst/>
                            <a:latin typeface="Cambria Math" panose="02040503050406030204" pitchFamily="18" charset="0"/>
                            <a:ea typeface="Calibri" panose="020F0502020204030204" pitchFamily="34" charset="0"/>
                            <a:cs typeface="Times New Roman" panose="02020603050405020304" pitchFamily="18" charset="0"/>
                          </a:rPr>
                          <m:t>𝑚</m:t>
                        </m:r>
                        <m:r>
                          <a:rPr lang="es-MX" sz="2400" i="1">
                            <a:effectLst/>
                            <a:latin typeface="Cambria Math" panose="02040503050406030204" pitchFamily="18" charset="0"/>
                            <a:ea typeface="Calibri" panose="020F0502020204030204" pitchFamily="34" charset="0"/>
                            <a:cs typeface="Times New Roman" panose="02020603050405020304" pitchFamily="18" charset="0"/>
                          </a:rPr>
                          <m:t>2∙</m:t>
                        </m:r>
                        <m:r>
                          <a:rPr lang="es-MX" sz="2400" i="1">
                            <a:effectLst/>
                            <a:latin typeface="Cambria Math" panose="02040503050406030204" pitchFamily="18" charset="0"/>
                            <a:ea typeface="Calibri" panose="020F0502020204030204" pitchFamily="34" charset="0"/>
                            <a:cs typeface="Times New Roman" panose="02020603050405020304" pitchFamily="18" charset="0"/>
                          </a:rPr>
                          <m:t>𝑥</m:t>
                        </m:r>
                        <m:r>
                          <a:rPr lang="es-MX" sz="2400" i="1">
                            <a:effectLst/>
                            <a:latin typeface="Cambria Math" panose="02040503050406030204" pitchFamily="18" charset="0"/>
                            <a:ea typeface="Calibri" panose="020F0502020204030204" pitchFamily="34" charset="0"/>
                            <a:cs typeface="Times New Roman" panose="02020603050405020304" pitchFamily="18" charset="0"/>
                          </a:rPr>
                          <m:t>2+</m:t>
                        </m:r>
                        <m:r>
                          <a:rPr lang="es-MX" sz="2400" i="1">
                            <a:effectLst/>
                            <a:latin typeface="Cambria Math" panose="02040503050406030204" pitchFamily="18" charset="0"/>
                            <a:ea typeface="Calibri" panose="020F0502020204030204" pitchFamily="34" charset="0"/>
                            <a:cs typeface="Times New Roman" panose="02020603050405020304" pitchFamily="18" charset="0"/>
                          </a:rPr>
                          <m:t>𝑚</m:t>
                        </m:r>
                        <m:r>
                          <a:rPr lang="es-MX" sz="2400" i="1">
                            <a:effectLst/>
                            <a:latin typeface="Cambria Math" panose="02040503050406030204" pitchFamily="18" charset="0"/>
                            <a:ea typeface="Calibri" panose="020F0502020204030204" pitchFamily="34" charset="0"/>
                            <a:cs typeface="Times New Roman" panose="02020603050405020304" pitchFamily="18" charset="0"/>
                          </a:rPr>
                          <m:t>3∙</m:t>
                        </m:r>
                        <m:r>
                          <a:rPr lang="es-MX" sz="2400" i="1">
                            <a:effectLst/>
                            <a:latin typeface="Cambria Math" panose="02040503050406030204" pitchFamily="18" charset="0"/>
                            <a:ea typeface="Calibri" panose="020F0502020204030204" pitchFamily="34" charset="0"/>
                            <a:cs typeface="Times New Roman" panose="02020603050405020304" pitchFamily="18" charset="0"/>
                          </a:rPr>
                          <m:t>𝑥</m:t>
                        </m:r>
                        <m:r>
                          <a:rPr lang="es-MX" sz="24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s-MX" sz="2400" i="1">
                            <a:effectLst/>
                            <a:latin typeface="Cambria Math" panose="02040503050406030204" pitchFamily="18" charset="0"/>
                            <a:ea typeface="Calibri" panose="020F0502020204030204" pitchFamily="34" charset="0"/>
                            <a:cs typeface="Times New Roman" panose="02020603050405020304" pitchFamily="18" charset="0"/>
                          </a:rPr>
                          <m:t>𝑚</m:t>
                        </m:r>
                        <m:r>
                          <a:rPr lang="es-MX" sz="2400" i="1">
                            <a:effectLst/>
                            <a:latin typeface="Cambria Math" panose="02040503050406030204" pitchFamily="18" charset="0"/>
                            <a:ea typeface="Calibri" panose="020F0502020204030204" pitchFamily="34" charset="0"/>
                            <a:cs typeface="Times New Roman" panose="02020603050405020304" pitchFamily="18" charset="0"/>
                          </a:rPr>
                          <m:t>1+</m:t>
                        </m:r>
                        <m:r>
                          <a:rPr lang="es-MX" sz="2400" i="1">
                            <a:effectLst/>
                            <a:latin typeface="Cambria Math" panose="02040503050406030204" pitchFamily="18" charset="0"/>
                            <a:ea typeface="Calibri" panose="020F0502020204030204" pitchFamily="34" charset="0"/>
                            <a:cs typeface="Times New Roman" panose="02020603050405020304" pitchFamily="18" charset="0"/>
                          </a:rPr>
                          <m:t>𝑚</m:t>
                        </m:r>
                        <m:r>
                          <a:rPr lang="es-MX" sz="2400" i="1">
                            <a:effectLst/>
                            <a:latin typeface="Cambria Math" panose="02040503050406030204" pitchFamily="18" charset="0"/>
                            <a:ea typeface="Calibri" panose="020F0502020204030204" pitchFamily="34" charset="0"/>
                            <a:cs typeface="Times New Roman" panose="02020603050405020304" pitchFamily="18" charset="0"/>
                          </a:rPr>
                          <m:t>2+</m:t>
                        </m:r>
                        <m:r>
                          <a:rPr lang="es-MX" sz="2400" i="1">
                            <a:effectLst/>
                            <a:latin typeface="Cambria Math" panose="02040503050406030204" pitchFamily="18" charset="0"/>
                            <a:ea typeface="Calibri" panose="020F0502020204030204" pitchFamily="34" charset="0"/>
                            <a:cs typeface="Times New Roman" panose="02020603050405020304" pitchFamily="18" charset="0"/>
                          </a:rPr>
                          <m:t>𝑚</m:t>
                        </m:r>
                        <m:r>
                          <a:rPr lang="es-MX" sz="2400" i="1">
                            <a:effectLst/>
                            <a:latin typeface="Cambria Math" panose="02040503050406030204" pitchFamily="18" charset="0"/>
                            <a:ea typeface="Calibri" panose="020F0502020204030204" pitchFamily="34" charset="0"/>
                            <a:cs typeface="Times New Roman" panose="02020603050405020304" pitchFamily="18" charset="0"/>
                          </a:rPr>
                          <m:t>3+...</m:t>
                        </m:r>
                      </m:den>
                    </m:f>
                  </m:oMath>
                </a14:m>
                <a:r>
                  <a:rPr lang="es-CL" dirty="0"/>
                  <a:t> </a:t>
                </a:r>
                <a:r>
                  <a:rPr lang="es-CL" sz="1600" dirty="0"/>
                  <a:t>(Khan </a:t>
                </a:r>
                <a:r>
                  <a:rPr lang="es-CL" sz="1600" dirty="0" err="1"/>
                  <a:t>Academy</a:t>
                </a:r>
                <a:r>
                  <a:rPr lang="es-CL" sz="1600" dirty="0"/>
                  <a:t>, 2020)</a:t>
                </a:r>
              </a:p>
              <a:p>
                <a:pPr marL="0" indent="0">
                  <a:buNone/>
                </a:pPr>
                <a:r>
                  <a:rPr lang="es-CL" sz="1800" dirty="0">
                    <a:effectLst/>
                    <a:latin typeface="Arial" panose="020B0604020202020204" pitchFamily="34" charset="0"/>
                    <a:ea typeface="Calibri" panose="020F0502020204030204" pitchFamily="34" charset="0"/>
                    <a:cs typeface="Times New Roman" panose="02020603050405020304" pitchFamily="18" charset="0"/>
                  </a:rPr>
                  <a:t>Ejemplo del centro de masa de un carro de arrastre:</a:t>
                </a:r>
              </a:p>
              <a:p>
                <a:pPr marL="0" indent="0">
                  <a:buNone/>
                </a:pPr>
                <a14:m>
                  <m:oMath xmlns:m="http://schemas.openxmlformats.org/officeDocument/2006/math">
                    <m:f>
                      <m:fPr>
                        <m:ctrlPr>
                          <a:rPr lang="es-CL" sz="2800" i="1"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s-CL" sz="2800" b="0" i="1" smtClean="0">
                            <a:effectLst/>
                            <a:latin typeface="Cambria Math" panose="02040503050406030204" pitchFamily="18" charset="0"/>
                            <a:ea typeface="Calibri" panose="020F0502020204030204" pitchFamily="34" charset="0"/>
                            <a:cs typeface="Times New Roman" panose="02020603050405020304" pitchFamily="18" charset="0"/>
                          </a:rPr>
                          <m:t>4</m:t>
                        </m:r>
                        <m:r>
                          <a:rPr lang="es-MX" sz="2800" i="1">
                            <a:effectLst/>
                            <a:latin typeface="Cambria Math" panose="02040503050406030204" pitchFamily="18" charset="0"/>
                            <a:ea typeface="Calibri" panose="020F0502020204030204" pitchFamily="34" charset="0"/>
                            <a:cs typeface="Times New Roman" panose="02020603050405020304" pitchFamily="18" charset="0"/>
                          </a:rPr>
                          <m:t>∙</m:t>
                        </m:r>
                        <m:r>
                          <a:rPr lang="es-CL" sz="2800" b="0" i="1" smtClean="0">
                            <a:effectLst/>
                            <a:latin typeface="Cambria Math" panose="02040503050406030204" pitchFamily="18" charset="0"/>
                            <a:ea typeface="Calibri" panose="020F0502020204030204" pitchFamily="34" charset="0"/>
                            <a:cs typeface="Times New Roman" panose="02020603050405020304" pitchFamily="18" charset="0"/>
                          </a:rPr>
                          <m:t>0</m:t>
                        </m:r>
                        <m:r>
                          <a:rPr lang="es-MX" sz="2800" i="1">
                            <a:effectLst/>
                            <a:latin typeface="Cambria Math" panose="02040503050406030204" pitchFamily="18" charset="0"/>
                            <a:ea typeface="Calibri" panose="020F0502020204030204" pitchFamily="34" charset="0"/>
                            <a:cs typeface="Times New Roman" panose="02020603050405020304" pitchFamily="18" charset="0"/>
                          </a:rPr>
                          <m:t>+</m:t>
                        </m:r>
                        <m:r>
                          <a:rPr lang="es-CL" sz="2800" b="0" i="1" smtClean="0">
                            <a:effectLst/>
                            <a:latin typeface="Cambria Math" panose="02040503050406030204" pitchFamily="18" charset="0"/>
                            <a:ea typeface="Calibri" panose="020F0502020204030204" pitchFamily="34" charset="0"/>
                            <a:cs typeface="Times New Roman" panose="02020603050405020304" pitchFamily="18" charset="0"/>
                          </a:rPr>
                          <m:t>10</m:t>
                        </m:r>
                        <m:r>
                          <a:rPr lang="es-MX" sz="2800" i="1">
                            <a:effectLst/>
                            <a:latin typeface="Cambria Math" panose="02040503050406030204" pitchFamily="18" charset="0"/>
                            <a:ea typeface="Calibri" panose="020F0502020204030204" pitchFamily="34" charset="0"/>
                            <a:cs typeface="Times New Roman" panose="02020603050405020304" pitchFamily="18" charset="0"/>
                          </a:rPr>
                          <m:t>∙</m:t>
                        </m:r>
                        <m:r>
                          <a:rPr lang="es-CL" sz="2800" b="0" i="1" smtClean="0">
                            <a:effectLst/>
                            <a:latin typeface="Cambria Math" panose="02040503050406030204" pitchFamily="18" charset="0"/>
                            <a:ea typeface="Calibri" panose="020F0502020204030204" pitchFamily="34" charset="0"/>
                            <a:cs typeface="Times New Roman" panose="02020603050405020304" pitchFamily="18" charset="0"/>
                          </a:rPr>
                          <m:t>4</m:t>
                        </m:r>
                        <m:r>
                          <a:rPr lang="es-MX" sz="2800" i="1">
                            <a:effectLst/>
                            <a:latin typeface="Cambria Math" panose="02040503050406030204" pitchFamily="18" charset="0"/>
                            <a:ea typeface="Calibri" panose="020F0502020204030204" pitchFamily="34" charset="0"/>
                            <a:cs typeface="Times New Roman" panose="02020603050405020304" pitchFamily="18" charset="0"/>
                          </a:rPr>
                          <m:t>+</m:t>
                        </m:r>
                        <m:r>
                          <a:rPr lang="es-CL" sz="2800" b="0" i="1" smtClean="0">
                            <a:effectLst/>
                            <a:latin typeface="Cambria Math" panose="02040503050406030204" pitchFamily="18" charset="0"/>
                            <a:ea typeface="Calibri" panose="020F0502020204030204" pitchFamily="34" charset="0"/>
                            <a:cs typeface="Times New Roman" panose="02020603050405020304" pitchFamily="18" charset="0"/>
                          </a:rPr>
                          <m:t>10</m:t>
                        </m:r>
                        <m:r>
                          <a:rPr lang="es-MX" sz="2800" i="1">
                            <a:effectLst/>
                            <a:latin typeface="Cambria Math" panose="02040503050406030204" pitchFamily="18" charset="0"/>
                            <a:ea typeface="Calibri" panose="020F0502020204030204" pitchFamily="34" charset="0"/>
                            <a:cs typeface="Times New Roman" panose="02020603050405020304" pitchFamily="18" charset="0"/>
                          </a:rPr>
                          <m:t>∙</m:t>
                        </m:r>
                        <m:r>
                          <a:rPr lang="es-CL" sz="2800" b="0" i="1" smtClean="0">
                            <a:effectLst/>
                            <a:latin typeface="Cambria Math" panose="02040503050406030204" pitchFamily="18" charset="0"/>
                            <a:ea typeface="Calibri" panose="020F0502020204030204" pitchFamily="34" charset="0"/>
                            <a:cs typeface="Times New Roman" panose="02020603050405020304" pitchFamily="18" charset="0"/>
                          </a:rPr>
                          <m:t>2</m:t>
                        </m:r>
                      </m:num>
                      <m:den>
                        <m:r>
                          <a:rPr lang="es-CL" sz="2800" b="0" i="1" smtClean="0">
                            <a:effectLst/>
                            <a:latin typeface="Cambria Math" panose="02040503050406030204" pitchFamily="18" charset="0"/>
                            <a:ea typeface="Calibri" panose="020F0502020204030204" pitchFamily="34" charset="0"/>
                            <a:cs typeface="Times New Roman" panose="02020603050405020304" pitchFamily="18" charset="0"/>
                          </a:rPr>
                          <m:t>4+10+10</m:t>
                        </m:r>
                      </m:den>
                    </m:f>
                  </m:oMath>
                </a14:m>
                <a:r>
                  <a:rPr lang="es-CL" sz="1800" b="1" dirty="0">
                    <a:effectLst/>
                    <a:latin typeface="Cambria Math" panose="02040503050406030204" pitchFamily="18" charset="0"/>
                    <a:ea typeface="Cambria Math" panose="02040503050406030204" pitchFamily="18" charset="0"/>
                    <a:cs typeface="Times New Roman" panose="02020603050405020304" pitchFamily="18" charset="0"/>
                  </a:rPr>
                  <a:t>=2.5m  El centro de masa de un carro de arrastre que mida 4 metros y contenga 4 kilos en la posición 0m y 10 kilos en la posición 4m es 2.5m</a:t>
                </a:r>
              </a:p>
            </p:txBody>
          </p:sp>
        </mc:Choice>
        <mc:Fallback xmlns="">
          <p:sp>
            <p:nvSpPr>
              <p:cNvPr id="3" name="Marcador de contenido 2">
                <a:extLst>
                  <a:ext uri="{FF2B5EF4-FFF2-40B4-BE49-F238E27FC236}">
                    <a16:creationId xmlns:a16="http://schemas.microsoft.com/office/drawing/2014/main" id="{46238278-D80E-998C-C9F2-6969B53645B6}"/>
                  </a:ext>
                </a:extLst>
              </p:cNvPr>
              <p:cNvSpPr>
                <a:spLocks noGrp="1" noRot="1" noChangeAspect="1" noMove="1" noResize="1" noEditPoints="1" noAdjustHandles="1" noChangeArrowheads="1" noChangeShapeType="1" noTextEdit="1"/>
              </p:cNvSpPr>
              <p:nvPr>
                <p:ph idx="1"/>
              </p:nvPr>
            </p:nvSpPr>
            <p:spPr>
              <a:xfrm>
                <a:off x="457200" y="2001837"/>
                <a:ext cx="8229600" cy="4525963"/>
              </a:xfrm>
              <a:blipFill>
                <a:blip r:embed="rId4"/>
                <a:stretch>
                  <a:fillRect l="-593" t="-673" r="-593"/>
                </a:stretch>
              </a:blipFill>
            </p:spPr>
            <p:txBody>
              <a:bodyPr/>
              <a:lstStyle/>
              <a:p>
                <a:r>
                  <a:rPr lang="es-CL">
                    <a:noFill/>
                  </a:rPr>
                  <a:t> </a:t>
                </a:r>
              </a:p>
            </p:txBody>
          </p:sp>
        </mc:Fallback>
      </mc:AlternateContent>
    </p:spTree>
    <p:extLst>
      <p:ext uri="{BB962C8B-B14F-4D97-AF65-F5344CB8AC3E}">
        <p14:creationId xmlns:p14="http://schemas.microsoft.com/office/powerpoint/2010/main" val="1257214625"/>
      </p:ext>
    </p:extLst>
  </p:cSld>
  <p:clrMapOvr>
    <a:masterClrMapping/>
  </p:clrMapOvr>
  <mc:AlternateContent xmlns:mc="http://schemas.openxmlformats.org/markup-compatibility/2006" xmlns:p14="http://schemas.microsoft.com/office/powerpoint/2010/main">
    <mc:Choice Requires="p14">
      <p:transition spd="slow" p14:dur="3400" advTm="75482">
        <p14:reveal/>
      </p:transition>
    </mc:Choice>
    <mc:Fallback xmlns="">
      <p:transition spd="slow" advTm="75482">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7FC7B3F-1FCC-DCCF-CE73-A0839FDA8F29}"/>
              </a:ext>
            </a:extLst>
          </p:cNvPr>
          <p:cNvSpPr>
            <a:spLocks noGrp="1"/>
          </p:cNvSpPr>
          <p:nvPr>
            <p:ph idx="1"/>
          </p:nvPr>
        </p:nvSpPr>
        <p:spPr>
          <a:xfrm>
            <a:off x="457200" y="894159"/>
            <a:ext cx="8229600" cy="5069682"/>
          </a:xfrm>
        </p:spPr>
        <p:txBody>
          <a:bodyPr>
            <a:normAutofit fontScale="92500" lnSpcReduction="10000"/>
          </a:bodyPr>
          <a:lstStyle/>
          <a:p>
            <a:pPr marL="0" indent="0" algn="just">
              <a:buNone/>
            </a:pPr>
            <a:r>
              <a:rPr lang="es-MX" sz="2600" b="1" dirty="0"/>
              <a:t>¿Como evitar accidentes del carro de arrastre a través de la matemática?</a:t>
            </a:r>
          </a:p>
          <a:p>
            <a:pPr marL="0" indent="0" algn="just">
              <a:buNone/>
            </a:pPr>
            <a:r>
              <a:rPr lang="es-MX" sz="1900" dirty="0">
                <a:effectLst/>
                <a:ea typeface="Calibri" panose="020F0502020204030204" pitchFamily="34" charset="0"/>
                <a:cs typeface="Times New Roman" panose="02020603050405020304" pitchFamily="18" charset="0"/>
              </a:rPr>
              <a:t>Las matemáticas pueden ayudar a calcular la fuerza necesaria para empujar o arrastrar una carga, también pueden ayudar a calcular el centro de masa para tener una mejor estabilidad. Existen algunas ecuaciones que permiten estimar estas fuerzas en función del peso y la forma de la carga, así como del ángulo y la distancia entre el carro y el suelo. Estas ecuaciones pueden ser útiles para diseñar carros de arrastre más seguros y eficientes.</a:t>
            </a:r>
            <a:endParaRPr lang="es-MX" sz="1900" dirty="0"/>
          </a:p>
          <a:p>
            <a:pPr marL="0" indent="0" algn="just">
              <a:buNone/>
            </a:pPr>
            <a:r>
              <a:rPr lang="es-MX" sz="2600" b="1" dirty="0"/>
              <a:t>¿Qué características debe tener un carro de arrastre según la normativa chilena?</a:t>
            </a:r>
          </a:p>
          <a:p>
            <a:pPr algn="l">
              <a:buFont typeface="Arial" panose="020B0604020202020204" pitchFamily="34" charset="0"/>
              <a:buChar char="•"/>
            </a:pPr>
            <a:r>
              <a:rPr lang="es-MX" sz="1900" b="0" i="0" dirty="0">
                <a:solidFill>
                  <a:srgbClr val="14171C"/>
                </a:solidFill>
                <a:effectLst/>
              </a:rPr>
              <a:t>“Tiene que poseer un peso máximo de 750 kilogramos</a:t>
            </a:r>
          </a:p>
          <a:p>
            <a:pPr algn="l">
              <a:buFont typeface="Arial" panose="020B0604020202020204" pitchFamily="34" charset="0"/>
              <a:buChar char="•"/>
            </a:pPr>
            <a:r>
              <a:rPr lang="es-MX" sz="1900" b="0" i="0" dirty="0">
                <a:solidFill>
                  <a:srgbClr val="14171C"/>
                </a:solidFill>
                <a:effectLst/>
              </a:rPr>
              <a:t>Necesita contar con dos o más ruedas</a:t>
            </a:r>
          </a:p>
          <a:p>
            <a:pPr algn="l">
              <a:buFont typeface="Arial" panose="020B0604020202020204" pitchFamily="34" charset="0"/>
              <a:buChar char="•"/>
            </a:pPr>
            <a:r>
              <a:rPr lang="es-MX" sz="1900" b="0" i="0" dirty="0">
                <a:solidFill>
                  <a:srgbClr val="14171C"/>
                </a:solidFill>
                <a:effectLst/>
              </a:rPr>
              <a:t>Requiere un elemento de sujeción que funciona con cadenas de acero</a:t>
            </a:r>
          </a:p>
          <a:p>
            <a:pPr algn="l">
              <a:buFont typeface="Arial" panose="020B0604020202020204" pitchFamily="34" charset="0"/>
              <a:buChar char="•"/>
            </a:pPr>
            <a:r>
              <a:rPr lang="es-MX" sz="1900" b="0" i="0" dirty="0">
                <a:solidFill>
                  <a:srgbClr val="14171C"/>
                </a:solidFill>
                <a:effectLst/>
              </a:rPr>
              <a:t>El peso total del carro de arrastre y el vehículo al que será sujetado no debe ser mayor a los 3.860 kilos</a:t>
            </a:r>
          </a:p>
          <a:p>
            <a:pPr>
              <a:buFont typeface="Arial" panose="020B0604020202020204" pitchFamily="34" charset="0"/>
              <a:buChar char="•"/>
            </a:pPr>
            <a:r>
              <a:rPr lang="es-MX" sz="1900" b="0" i="0" dirty="0">
                <a:solidFill>
                  <a:srgbClr val="14171C"/>
                </a:solidFill>
                <a:effectLst/>
              </a:rPr>
              <a:t>Debe contar con un sistema de luces amarillas, rojas, intermitentes y de freno (las mismas deben estar sincronizadas con el auto que lo arrastrará)”</a:t>
            </a:r>
            <a:r>
              <a:rPr lang="es-CL" sz="1900" kern="100" dirty="0">
                <a:effectLst/>
                <a:ea typeface="Aptos" panose="020B0004020202020204" pitchFamily="34" charset="0"/>
                <a:cs typeface="Times New Roman" panose="02020603050405020304" pitchFamily="18" charset="0"/>
              </a:rPr>
              <a:t> (Muñoz, 2023)</a:t>
            </a:r>
          </a:p>
          <a:p>
            <a:pPr algn="l">
              <a:buFont typeface="Arial" panose="020B0604020202020204" pitchFamily="34" charset="0"/>
              <a:buChar char="•"/>
            </a:pPr>
            <a:endParaRPr lang="es-MX" sz="1700" b="0" i="0" dirty="0">
              <a:solidFill>
                <a:srgbClr val="14171C"/>
              </a:solidFill>
              <a:effectLst/>
            </a:endParaRPr>
          </a:p>
          <a:p>
            <a:pPr marL="0" indent="0" algn="just">
              <a:buNone/>
            </a:pPr>
            <a:endParaRPr lang="es-MX" sz="2800" dirty="0"/>
          </a:p>
          <a:p>
            <a:pPr marL="0" indent="0" algn="just">
              <a:buNone/>
            </a:pPr>
            <a:endParaRPr lang="es-MX" sz="2800" dirty="0"/>
          </a:p>
          <a:p>
            <a:pPr marL="0" indent="0" algn="just">
              <a:buNone/>
            </a:pPr>
            <a:endParaRPr lang="es-MX" sz="2600" b="1" dirty="0"/>
          </a:p>
          <a:p>
            <a:pPr marL="0" indent="0" algn="just">
              <a:buNone/>
            </a:pPr>
            <a:endParaRPr lang="es-CL" dirty="0"/>
          </a:p>
        </p:txBody>
      </p:sp>
    </p:spTree>
    <p:extLst>
      <p:ext uri="{BB962C8B-B14F-4D97-AF65-F5344CB8AC3E}">
        <p14:creationId xmlns:p14="http://schemas.microsoft.com/office/powerpoint/2010/main" val="1014885881"/>
      </p:ext>
    </p:extLst>
  </p:cSld>
  <p:clrMapOvr>
    <a:masterClrMapping/>
  </p:clrMapOvr>
  <mc:AlternateContent xmlns:mc="http://schemas.openxmlformats.org/markup-compatibility/2006" xmlns:p14="http://schemas.microsoft.com/office/powerpoint/2010/main">
    <mc:Choice Requires="p14">
      <p:transition spd="slow" p14:dur="3400" advTm="74512">
        <p14:reveal/>
      </p:transition>
    </mc:Choice>
    <mc:Fallback xmlns="">
      <p:transition spd="slow" advTm="74512">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46E97B-5C08-45DF-D537-349578470378}"/>
              </a:ext>
            </a:extLst>
          </p:cNvPr>
          <p:cNvSpPr>
            <a:spLocks noGrp="1"/>
          </p:cNvSpPr>
          <p:nvPr>
            <p:ph type="title"/>
          </p:nvPr>
        </p:nvSpPr>
        <p:spPr/>
        <p:txBody>
          <a:bodyPr>
            <a:normAutofit fontScale="90000"/>
          </a:bodyPr>
          <a:lstStyle/>
          <a:p>
            <a:r>
              <a:rPr lang="es-MX" b="1" dirty="0">
                <a:solidFill>
                  <a:srgbClr val="C00000"/>
                </a:solidFill>
                <a:latin typeface="Myriad Pro"/>
              </a:rPr>
              <a:t>Desarrollo, revisión de ideas y producto</a:t>
            </a:r>
            <a:endParaRPr lang="es-CL" dirty="0"/>
          </a:p>
        </p:txBody>
      </p:sp>
      <p:sp>
        <p:nvSpPr>
          <p:cNvPr id="3" name="Marcador de contenido 2">
            <a:extLst>
              <a:ext uri="{FF2B5EF4-FFF2-40B4-BE49-F238E27FC236}">
                <a16:creationId xmlns:a16="http://schemas.microsoft.com/office/drawing/2014/main" id="{9CA35822-3C3D-7964-EB2D-BA6B47411BB0}"/>
              </a:ext>
            </a:extLst>
          </p:cNvPr>
          <p:cNvSpPr>
            <a:spLocks noGrp="1"/>
          </p:cNvSpPr>
          <p:nvPr>
            <p:ph idx="1"/>
          </p:nvPr>
        </p:nvSpPr>
        <p:spPr/>
        <p:txBody>
          <a:bodyPr>
            <a:normAutofit fontScale="92500" lnSpcReduction="10000"/>
          </a:bodyPr>
          <a:lstStyle/>
          <a:p>
            <a:r>
              <a:rPr lang="es-MX" dirty="0"/>
              <a:t>Debido a las pérdidas de control de los carros de arrastre debido a su carga, se ha diseñado un proyecto en donde se muestre la importancia de posicionar bien el eje de torsión del carro de arrastre según el peso y su distribución, esto se hace buscando el centro de masa según cada situación, esto se haría para disminuir el alza de accidentes por culpa de la poca importancia en la relación de la posición del eje de torsión con la distribución de la carga y su peso.</a:t>
            </a:r>
            <a:endParaRPr lang="es-CL" dirty="0"/>
          </a:p>
        </p:txBody>
      </p:sp>
    </p:spTree>
    <p:extLst>
      <p:ext uri="{BB962C8B-B14F-4D97-AF65-F5344CB8AC3E}">
        <p14:creationId xmlns:p14="http://schemas.microsoft.com/office/powerpoint/2010/main" val="3563350365"/>
      </p:ext>
    </p:extLst>
  </p:cSld>
  <p:clrMapOvr>
    <a:masterClrMapping/>
  </p:clrMapOvr>
  <mc:AlternateContent xmlns:mc="http://schemas.openxmlformats.org/markup-compatibility/2006" xmlns:p14="http://schemas.microsoft.com/office/powerpoint/2010/main">
    <mc:Choice Requires="p14">
      <p:transition spd="slow" p14:dur="3400" advTm="43288">
        <p14:reveal/>
      </p:transition>
    </mc:Choice>
    <mc:Fallback xmlns="">
      <p:transition spd="slow" advTm="43288">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C1A6E2-F34A-C85C-A758-C9F6828405E2}"/>
              </a:ext>
            </a:extLst>
          </p:cNvPr>
          <p:cNvSpPr>
            <a:spLocks noGrp="1"/>
          </p:cNvSpPr>
          <p:nvPr>
            <p:ph type="title"/>
          </p:nvPr>
        </p:nvSpPr>
        <p:spPr>
          <a:xfrm>
            <a:off x="457200" y="244476"/>
            <a:ext cx="8229600" cy="1143000"/>
          </a:xfrm>
        </p:spPr>
        <p:txBody>
          <a:bodyPr>
            <a:noAutofit/>
          </a:bodyPr>
          <a:lstStyle/>
          <a:p>
            <a:r>
              <a:rPr lang="es-MX" sz="3600" b="1" dirty="0">
                <a:solidFill>
                  <a:srgbClr val="C00000"/>
                </a:solidFill>
                <a:latin typeface="Myriad Pro"/>
              </a:rPr>
              <a:t>Presentación del proyecto</a:t>
            </a:r>
            <a:endParaRPr lang="es-CL" sz="3600" b="1" dirty="0">
              <a:solidFill>
                <a:srgbClr val="C00000"/>
              </a:solidFill>
              <a:latin typeface="Myriad Pro"/>
            </a:endParaRPr>
          </a:p>
        </p:txBody>
      </p:sp>
      <p:pic>
        <p:nvPicPr>
          <p:cNvPr id="5" name="Marcador de contenido 4">
            <a:extLst>
              <a:ext uri="{FF2B5EF4-FFF2-40B4-BE49-F238E27FC236}">
                <a16:creationId xmlns:a16="http://schemas.microsoft.com/office/drawing/2014/main" id="{AA69BE72-8AAD-09A8-0BAF-21F07FF4C395}"/>
              </a:ext>
            </a:extLst>
          </p:cNvPr>
          <p:cNvPicPr>
            <a:picLocks noGrp="1" noChangeAspect="1"/>
          </p:cNvPicPr>
          <p:nvPr>
            <p:ph idx="1"/>
          </p:nvPr>
        </p:nvPicPr>
        <p:blipFill>
          <a:blip r:embed="rId2"/>
          <a:stretch>
            <a:fillRect/>
          </a:stretch>
        </p:blipFill>
        <p:spPr>
          <a:xfrm>
            <a:off x="457200" y="2493072"/>
            <a:ext cx="8229600" cy="3427255"/>
          </a:xfrm>
        </p:spPr>
      </p:pic>
      <p:sp>
        <p:nvSpPr>
          <p:cNvPr id="6" name="CuadroTexto 5">
            <a:extLst>
              <a:ext uri="{FF2B5EF4-FFF2-40B4-BE49-F238E27FC236}">
                <a16:creationId xmlns:a16="http://schemas.microsoft.com/office/drawing/2014/main" id="{16F0D73D-250A-5629-EA81-3DBEC65F3BCF}"/>
              </a:ext>
            </a:extLst>
          </p:cNvPr>
          <p:cNvSpPr txBox="1"/>
          <p:nvPr/>
        </p:nvSpPr>
        <p:spPr>
          <a:xfrm>
            <a:off x="457200" y="1940273"/>
            <a:ext cx="4211695" cy="461665"/>
          </a:xfrm>
          <a:prstGeom prst="rect">
            <a:avLst/>
          </a:prstGeom>
          <a:noFill/>
        </p:spPr>
        <p:txBody>
          <a:bodyPr wrap="square" rtlCol="0">
            <a:spAutoFit/>
          </a:bodyPr>
          <a:lstStyle/>
          <a:p>
            <a:r>
              <a:rPr lang="es-CL" sz="1200" dirty="0"/>
              <a:t>Figura 2</a:t>
            </a:r>
          </a:p>
          <a:p>
            <a:r>
              <a:rPr lang="es-CL" sz="1200" dirty="0"/>
              <a:t>Proyecto carro de arrastre y su centro de mas</a:t>
            </a:r>
          </a:p>
        </p:txBody>
      </p:sp>
      <p:sp>
        <p:nvSpPr>
          <p:cNvPr id="7" name="CuadroTexto 6">
            <a:extLst>
              <a:ext uri="{FF2B5EF4-FFF2-40B4-BE49-F238E27FC236}">
                <a16:creationId xmlns:a16="http://schemas.microsoft.com/office/drawing/2014/main" id="{0A1F7912-055C-AC1D-EA78-1F5B7E1F97D7}"/>
              </a:ext>
            </a:extLst>
          </p:cNvPr>
          <p:cNvSpPr txBox="1"/>
          <p:nvPr/>
        </p:nvSpPr>
        <p:spPr>
          <a:xfrm>
            <a:off x="457200" y="6035490"/>
            <a:ext cx="7454900" cy="461665"/>
          </a:xfrm>
          <a:prstGeom prst="rect">
            <a:avLst/>
          </a:prstGeom>
          <a:noFill/>
        </p:spPr>
        <p:txBody>
          <a:bodyPr wrap="square" rtlCol="0">
            <a:spAutoFit/>
          </a:bodyPr>
          <a:lstStyle/>
          <a:p>
            <a:r>
              <a:rPr lang="es-CL" sz="1200" dirty="0"/>
              <a:t>Nota. Se presenta un proyecto de carro de arrastre y su centro de masa en la plataforma Algodoo</a:t>
            </a:r>
          </a:p>
          <a:p>
            <a:endParaRPr lang="es-CL" sz="1200" dirty="0"/>
          </a:p>
        </p:txBody>
      </p:sp>
      <p:sp>
        <p:nvSpPr>
          <p:cNvPr id="3" name="CuadroTexto 2">
            <a:extLst>
              <a:ext uri="{FF2B5EF4-FFF2-40B4-BE49-F238E27FC236}">
                <a16:creationId xmlns:a16="http://schemas.microsoft.com/office/drawing/2014/main" id="{06A0AB64-62CD-0A13-2CB3-20C8E206E43B}"/>
              </a:ext>
            </a:extLst>
          </p:cNvPr>
          <p:cNvSpPr txBox="1"/>
          <p:nvPr/>
        </p:nvSpPr>
        <p:spPr>
          <a:xfrm>
            <a:off x="457200" y="1300294"/>
            <a:ext cx="6654800" cy="461665"/>
          </a:xfrm>
          <a:prstGeom prst="rect">
            <a:avLst/>
          </a:prstGeom>
          <a:noFill/>
        </p:spPr>
        <p:txBody>
          <a:bodyPr wrap="square" rtlCol="0">
            <a:spAutoFit/>
          </a:bodyPr>
          <a:lstStyle/>
          <a:p>
            <a:r>
              <a:rPr lang="es-CL" sz="1200" dirty="0">
                <a:hlinkClick r:id="rId3"/>
              </a:rPr>
              <a:t>Https://inacapmailcl-my.sharepoint.com/:v:/g/personal/frank_esparza_inacapmail_cl/EVpo-bX_AWFPk1rXcwXdriUBZn82dG60qSucMyZfWokQuA?e=77EO2I</a:t>
            </a:r>
            <a:endParaRPr lang="es-CL" sz="1200" dirty="0"/>
          </a:p>
        </p:txBody>
      </p:sp>
      <p:sp>
        <p:nvSpPr>
          <p:cNvPr id="4" name="CuadroTexto 3">
            <a:extLst>
              <a:ext uri="{FF2B5EF4-FFF2-40B4-BE49-F238E27FC236}">
                <a16:creationId xmlns:a16="http://schemas.microsoft.com/office/drawing/2014/main" id="{2F8581D6-6760-0852-707A-983EDA4C0DFC}"/>
              </a:ext>
            </a:extLst>
          </p:cNvPr>
          <p:cNvSpPr txBox="1"/>
          <p:nvPr/>
        </p:nvSpPr>
        <p:spPr>
          <a:xfrm>
            <a:off x="457199" y="1104213"/>
            <a:ext cx="4211695" cy="276999"/>
          </a:xfrm>
          <a:prstGeom prst="rect">
            <a:avLst/>
          </a:prstGeom>
          <a:noFill/>
        </p:spPr>
        <p:txBody>
          <a:bodyPr wrap="square" rtlCol="0">
            <a:spAutoFit/>
          </a:bodyPr>
          <a:lstStyle/>
          <a:p>
            <a:r>
              <a:rPr lang="es-CL" sz="1200" dirty="0"/>
              <a:t>Vínculo del video de presentación</a:t>
            </a:r>
          </a:p>
        </p:txBody>
      </p:sp>
    </p:spTree>
    <p:extLst>
      <p:ext uri="{BB962C8B-B14F-4D97-AF65-F5344CB8AC3E}">
        <p14:creationId xmlns:p14="http://schemas.microsoft.com/office/powerpoint/2010/main" val="3506382924"/>
      </p:ext>
    </p:extLst>
  </p:cSld>
  <p:clrMapOvr>
    <a:masterClrMapping/>
  </p:clrMapOvr>
  <mc:AlternateContent xmlns:mc="http://schemas.openxmlformats.org/markup-compatibility/2006" xmlns:p14="http://schemas.microsoft.com/office/powerpoint/2010/main">
    <mc:Choice Requires="p14">
      <p:transition spd="slow" p14:dur="3400" advTm="8722">
        <p14:reveal/>
      </p:transition>
    </mc:Choice>
    <mc:Fallback xmlns="">
      <p:transition spd="slow" advTm="8722">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5B0018-CC56-2DA0-C352-08472F5447ED}"/>
              </a:ext>
            </a:extLst>
          </p:cNvPr>
          <p:cNvSpPr>
            <a:spLocks noGrp="1"/>
          </p:cNvSpPr>
          <p:nvPr>
            <p:ph type="title"/>
          </p:nvPr>
        </p:nvSpPr>
        <p:spPr>
          <a:xfrm>
            <a:off x="457200" y="261937"/>
            <a:ext cx="8229600" cy="1143000"/>
          </a:xfrm>
        </p:spPr>
        <p:txBody>
          <a:bodyPr/>
          <a:lstStyle/>
          <a:p>
            <a:r>
              <a:rPr lang="es-MX" b="1" dirty="0">
                <a:solidFill>
                  <a:srgbClr val="C00000"/>
                </a:solidFill>
                <a:latin typeface="Myriad Pro"/>
              </a:rPr>
              <a:t>Conclusiones</a:t>
            </a:r>
            <a:endParaRPr lang="es-CL" dirty="0"/>
          </a:p>
        </p:txBody>
      </p:sp>
      <p:sp>
        <p:nvSpPr>
          <p:cNvPr id="3" name="Marcador de contenido 2">
            <a:extLst>
              <a:ext uri="{FF2B5EF4-FFF2-40B4-BE49-F238E27FC236}">
                <a16:creationId xmlns:a16="http://schemas.microsoft.com/office/drawing/2014/main" id="{9BFED0AF-23F7-8E69-DD5E-676FABB3CD0E}"/>
              </a:ext>
            </a:extLst>
          </p:cNvPr>
          <p:cNvSpPr>
            <a:spLocks noGrp="1"/>
          </p:cNvSpPr>
          <p:nvPr>
            <p:ph idx="1"/>
          </p:nvPr>
        </p:nvSpPr>
        <p:spPr/>
        <p:txBody>
          <a:bodyPr>
            <a:normAutofit lnSpcReduction="10000"/>
          </a:bodyPr>
          <a:lstStyle/>
          <a:p>
            <a:pPr marL="0" indent="0">
              <a:buNone/>
            </a:pPr>
            <a:r>
              <a:rPr lang="es-ES" dirty="0"/>
              <a:t>En resumen, al considera el centro de masa en un carro de arrastre, se puede optimizar su diseño para lograr un equilibrio adecuado. Para colocar la carga de manera estratégica con respecto al centro de masas contribuye a una distribución equitativa del peso y así mejorando la estabilidad del carro durante el transporte. Este enfoque resulta crucial para garantizar un rendimiento eficiente y seguro en diversas situaciones de carga y remolque.    </a:t>
            </a:r>
            <a:endParaRPr lang="es-CL" dirty="0"/>
          </a:p>
        </p:txBody>
      </p:sp>
    </p:spTree>
    <p:extLst>
      <p:ext uri="{BB962C8B-B14F-4D97-AF65-F5344CB8AC3E}">
        <p14:creationId xmlns:p14="http://schemas.microsoft.com/office/powerpoint/2010/main" val="402456337"/>
      </p:ext>
    </p:extLst>
  </p:cSld>
  <p:clrMapOvr>
    <a:masterClrMapping/>
  </p:clrMapOvr>
  <mc:AlternateContent xmlns:mc="http://schemas.openxmlformats.org/markup-compatibility/2006" xmlns:p14="http://schemas.microsoft.com/office/powerpoint/2010/main">
    <mc:Choice Requires="p14">
      <p:transition spd="slow" p14:dur="3400" advTm="35323">
        <p14:reveal/>
      </p:transition>
    </mc:Choice>
    <mc:Fallback xmlns="">
      <p:transition spd="slow" advTm="35323">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A37FA0-CB46-6465-A90C-EA7128ACDAC7}"/>
              </a:ext>
            </a:extLst>
          </p:cNvPr>
          <p:cNvSpPr>
            <a:spLocks noGrp="1"/>
          </p:cNvSpPr>
          <p:nvPr>
            <p:ph type="title"/>
          </p:nvPr>
        </p:nvSpPr>
        <p:spPr/>
        <p:txBody>
          <a:bodyPr/>
          <a:lstStyle/>
          <a:p>
            <a:r>
              <a:rPr lang="es-MX" b="1" dirty="0">
                <a:solidFill>
                  <a:srgbClr val="C00000"/>
                </a:solidFill>
                <a:latin typeface="Myriad Pro"/>
              </a:rPr>
              <a:t>Referencias bibliográficas</a:t>
            </a:r>
            <a:endParaRPr lang="es-CL" dirty="0"/>
          </a:p>
        </p:txBody>
      </p:sp>
      <p:sp>
        <p:nvSpPr>
          <p:cNvPr id="4" name="Marcador de contenido 2">
            <a:extLst>
              <a:ext uri="{FF2B5EF4-FFF2-40B4-BE49-F238E27FC236}">
                <a16:creationId xmlns:a16="http://schemas.microsoft.com/office/drawing/2014/main" id="{245A3725-7148-EEFF-BCEE-AE3E008DF120}"/>
              </a:ext>
            </a:extLst>
          </p:cNvPr>
          <p:cNvSpPr>
            <a:spLocks noGrp="1"/>
          </p:cNvSpPr>
          <p:nvPr>
            <p:ph idx="1"/>
          </p:nvPr>
        </p:nvSpPr>
        <p:spPr>
          <a:xfrm>
            <a:off x="457200" y="1600200"/>
            <a:ext cx="8229600" cy="4525963"/>
          </a:xfrm>
        </p:spPr>
        <p:txBody>
          <a:bodyPr>
            <a:normAutofit lnSpcReduction="10000"/>
          </a:bodyPr>
          <a:lstStyle/>
          <a:p>
            <a:pPr marL="0" indent="0">
              <a:buNone/>
            </a:pPr>
            <a:r>
              <a:rPr lang="es-MX" dirty="0"/>
              <a:t>Khan </a:t>
            </a:r>
            <a:r>
              <a:rPr lang="es-MX" dirty="0" err="1"/>
              <a:t>Academy</a:t>
            </a:r>
            <a:r>
              <a:rPr lang="es-MX" dirty="0"/>
              <a:t>. (22 de enero de 2020). Khan </a:t>
            </a:r>
            <a:r>
              <a:rPr lang="es-MX" dirty="0" err="1"/>
              <a:t>Academy</a:t>
            </a:r>
            <a:r>
              <a:rPr lang="es-MX" dirty="0"/>
              <a:t>. Obtenido de https://es.khanacademy.org/science/physics/linear-momentum/center-of-mass/a/what-is-center-of-mass</a:t>
            </a:r>
          </a:p>
          <a:p>
            <a:pPr marL="0" indent="0">
              <a:buNone/>
            </a:pPr>
            <a:r>
              <a:rPr lang="es-MX" dirty="0"/>
              <a:t>Muñoz, J. (26 de octubre de 2023). Revisión vehicular. Obtenido de https://revisionvehicular.cl/como-inscribir-un-carro-de-arrastre</a:t>
            </a:r>
          </a:p>
          <a:p>
            <a:endParaRPr lang="es-MX" dirty="0"/>
          </a:p>
          <a:p>
            <a:endParaRPr lang="es-CL" dirty="0"/>
          </a:p>
        </p:txBody>
      </p:sp>
    </p:spTree>
    <p:extLst>
      <p:ext uri="{BB962C8B-B14F-4D97-AF65-F5344CB8AC3E}">
        <p14:creationId xmlns:p14="http://schemas.microsoft.com/office/powerpoint/2010/main" val="104055209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9856</TotalTime>
  <Words>1260</Words>
  <Application>Microsoft Macintosh PowerPoint</Application>
  <PresentationFormat>Presentación en pantalla (4:3)</PresentationFormat>
  <Paragraphs>84</Paragraphs>
  <Slides>14</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14</vt:i4>
      </vt:variant>
    </vt:vector>
  </HeadingPairs>
  <TitlesOfParts>
    <vt:vector size="22" baseType="lpstr">
      <vt:lpstr>Aptos</vt:lpstr>
      <vt:lpstr>Arial</vt:lpstr>
      <vt:lpstr>Calibri</vt:lpstr>
      <vt:lpstr>Cambria Math</vt:lpstr>
      <vt:lpstr>Myriad Pro</vt:lpstr>
      <vt:lpstr>Myriad Pro Light</vt:lpstr>
      <vt:lpstr>Times New Roman</vt:lpstr>
      <vt:lpstr>Tema de Office</vt:lpstr>
      <vt:lpstr>Mejora de Seguridad de un Carro de Arrastre </vt:lpstr>
      <vt:lpstr>Definición  </vt:lpstr>
      <vt:lpstr>Temas de investigación, nociones matemáticas y problemática a abordar</vt:lpstr>
      <vt:lpstr>Objetivos y preguntas de investigación </vt:lpstr>
      <vt:lpstr>Tema inicial involucrado</vt:lpstr>
      <vt:lpstr>Presentación de PowerPoint</vt:lpstr>
      <vt:lpstr>Algodoo y su utilización </vt:lpstr>
      <vt:lpstr>Respuestas</vt:lpstr>
      <vt:lpstr>¿Como evitar accidentes por medio del carro de arrastre? </vt:lpstr>
      <vt:lpstr>Presentación de PowerPoint</vt:lpstr>
      <vt:lpstr>Desarrollo, revisión de ideas y producto</vt:lpstr>
      <vt:lpstr>Presentación del proyecto</vt:lpstr>
      <vt:lpstr>Conclusiones</vt:lpstr>
      <vt:lpstr>Referencias bibliográficas</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Titulo de la Presentación</dc:title>
  <dc:creator>agencia</dc:creator>
  <cp:lastModifiedBy>Microsoft Office User</cp:lastModifiedBy>
  <cp:revision>40</cp:revision>
  <dcterms:created xsi:type="dcterms:W3CDTF">2015-06-26T15:52:47Z</dcterms:created>
  <dcterms:modified xsi:type="dcterms:W3CDTF">2023-12-27T15:55:13Z</dcterms:modified>
</cp:coreProperties>
</file>