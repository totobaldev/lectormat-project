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9" r:id="rId3"/>
    <p:sldId id="260" r:id="rId4"/>
    <p:sldId id="261" r:id="rId5"/>
    <p:sldId id="262" r:id="rId6"/>
    <p:sldId id="258" r:id="rId7"/>
    <p:sldId id="263" r:id="rId8"/>
    <p:sldId id="278" r:id="rId9"/>
    <p:sldId id="277" r:id="rId10"/>
    <p:sldId id="276" r:id="rId11"/>
    <p:sldId id="267" r:id="rId12"/>
    <p:sldId id="266" r:id="rId13"/>
    <p:sldId id="270" r:id="rId14"/>
    <p:sldId id="271" r:id="rId15"/>
    <p:sldId id="272" r:id="rId16"/>
    <p:sldId id="273" r:id="rId17"/>
    <p:sldId id="279" r:id="rId18"/>
    <p:sldId id="280" r:id="rId19"/>
    <p:sldId id="281"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1"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A36D30-03DE-4822-AB0D-5D9EC6B864E5}" v="137" dt="2023-12-15T02:58:31.910"/>
    <p1510:client id="{3A299B64-160B-4D7A-932C-592D69CC000D}" v="135" dt="2023-12-15T03:32:37.11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72"/>
    <p:restoredTop sz="94671"/>
  </p:normalViewPr>
  <p:slideViewPr>
    <p:cSldViewPr snapToGrid="0">
      <p:cViewPr varScale="1">
        <p:scale>
          <a:sx n="86" d="100"/>
          <a:sy n="86" d="100"/>
        </p:scale>
        <p:origin x="240" y="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7T16:44:59.131" idx="1">
    <p:pos x="10" y="10"/>
    <p:text>FALTA REFERENCIA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7T17:01:45.558" idx="2">
    <p:pos x="10" y="10"/>
    <p:text>FALTA REFERENCIA APA EN LA IMAGEN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7T17:10:35.754" idx="3">
    <p:pos x="10" y="10"/>
    <p:text>SOLO TRABAJARON 8 DIAS?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7T17:12:09.825" idx="4">
    <p:pos x="10" y="10"/>
    <p:text>FALTA EXPLICAR QUE REPRESENTA LA IMAGEN PRESENTADA REPRESENTADA </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7T17:12:47.191" idx="5">
    <p:pos x="10" y="10"/>
    <p:text>BUEN USO DE EXCEL... AUNQUE DEBERIAN REVISAR EL TIEMPO UTILIZADO EN EL CRONOGRAMA</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7T17:13:31.685" idx="6">
    <p:pos x="10" y="10"/>
    <p:text>¿CÓMO LO UTILIZARON EN LA BUSQUEDA DE SOLUCION?</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27T17:13:57.526" idx="7">
    <p:pos x="4070" y="1246"/>
    <p:text>COMO SE CALCULA LA RESISTENCIA?</p:text>
    <p:extLst>
      <p:ext uri="{C676402C-5697-4E1C-873F-D02D1690AC5C}">
        <p15:threadingInfo xmlns:p15="http://schemas.microsoft.com/office/powerpoint/2012/main" timeZoneBias="180"/>
      </p:ext>
    </p:extLst>
  </p:cm>
  <p:cm authorId="1" dt="2023-12-27T17:14:24.694" idx="8">
    <p:pos x="2096" y="2313"/>
    <p:text>¿CUAL ES LA TABLA EXCEL DE LOS PRESUPUESTOS?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27T17:15:08.191" idx="9">
    <p:pos x="10" y="10"/>
    <p:text>MUY BIEN</p:text>
    <p:extLst>
      <p:ext uri="{C676402C-5697-4E1C-873F-D02D1690AC5C}">
        <p15:threadingInfo xmlns:p15="http://schemas.microsoft.com/office/powerpoint/2012/main" timeZoneBias="1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3-12-27T17:15:34.745" idx="10">
    <p:pos x="633" y="1794"/>
    <p:text>¿QUE QUIERE DECIR CALIDAD 3.6 O 8.8?.... ¿CUAL ES LA DIFERENCIA ENTRE UNO U OTRO?</p:text>
    <p:extLst>
      <p:ext uri="{C676402C-5697-4E1C-873F-D02D1690AC5C}">
        <p15:threadingInfo xmlns:p15="http://schemas.microsoft.com/office/powerpoint/2012/main" timeZoneBias="18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3-12-27T17:16:16.013" idx="11">
    <p:pos x="10" y="10"/>
    <p:text>MUY BUENAS IMAGENES</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A4940-AEDA-465F-8ED7-870916534C2D}" type="datetimeFigureOut">
              <a:rPr lang="es-CL" smtClean="0"/>
              <a:t>27-12-23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92D8F-3EAA-47B3-BB2D-4D1377748CA1}" type="slidenum">
              <a:rPr lang="es-CL" smtClean="0"/>
              <a:t>‹Nº›</a:t>
            </a:fld>
            <a:endParaRPr lang="es-CL"/>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hasCustomPrompt="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a:p>
        </p:txBody>
      </p:sp>
      <p:sp>
        <p:nvSpPr>
          <p:cNvPr id="3" name="Content Placeholder 2"/>
          <p:cNvSpPr>
            <a:spLocks noGrp="1"/>
          </p:cNvSpPr>
          <p:nvPr>
            <p:ph idx="1" hasCustomPrompt="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hasCustomPrompt="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hasCustomPrompt="1"/>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87B0CA04-1199-4870-BF4D-4B0A1630597E}" type="datetimeFigureOut">
              <a:rPr lang="es-ES" smtClean="0"/>
              <a:t>27/12/23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hasCustomPrompt="1"/>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hasCustomPrompt="1"/>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hasCustomPrompt="1"/>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87B0CA04-1199-4870-BF4D-4B0A1630597E}" type="datetimeFigureOut">
              <a:rPr lang="es-ES" smtClean="0"/>
              <a:t>27/12/23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87B0CA04-1199-4870-BF4D-4B0A1630597E}" type="datetimeFigureOut">
              <a:rPr lang="es-ES" smtClean="0"/>
              <a:t>27/12/23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0CA04-1199-4870-BF4D-4B0A1630597E}" type="datetimeFigureOut">
              <a:rPr lang="es-ES" smtClean="0"/>
              <a:t>27/12/23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a:p>
        </p:txBody>
      </p:sp>
      <p:sp>
        <p:nvSpPr>
          <p:cNvPr id="3" name="Content Placeholder 2"/>
          <p:cNvSpPr>
            <a:spLocks noGrp="1"/>
          </p:cNvSpPr>
          <p:nvPr>
            <p:ph idx="1" hasCustomPrompt="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hasCustomPrompt="1"/>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B0CA04-1199-4870-BF4D-4B0A1630597E}" type="datetimeFigureOut">
              <a:rPr lang="es-ES" smtClean="0"/>
              <a:t>27/12/23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hasCustomPrompt="1"/>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B0CA04-1199-4870-BF4D-4B0A1630597E}" type="datetimeFigureOut">
              <a:rPr lang="es-ES" smtClean="0"/>
              <a:t>27/12/23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hasCustomPrompt="1"/>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panose="020B0604020202020204"/>
              </a:rPr>
              <a:t>”</a:t>
            </a:r>
            <a:endParaRPr lang="en-US">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hasCustomPrompt="1"/>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hasCustomPrompt="1"/>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hasCustomPrompt="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a:p>
        </p:txBody>
      </p:sp>
      <p:sp>
        <p:nvSpPr>
          <p:cNvPr id="3" name="Vertical Text Placeholder 2"/>
          <p:cNvSpPr>
            <a:spLocks noGrp="1"/>
          </p:cNvSpPr>
          <p:nvPr>
            <p:ph type="body" orient="vert" idx="1" hasCustomPrompt="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27/12/23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B0CA04-1199-4870-BF4D-4B0A1630597E}" type="datetimeFigureOut">
              <a:rPr lang="es-ES" smtClean="0"/>
              <a:t>27/12/23</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577A308-E4E3-4014-B099-126DBA5C08ED}"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comments" Target="../comments/comment6.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comments" Target="../comments/comment8.xml"/><Relationship Id="rId4" Type="http://schemas.openxmlformats.org/officeDocument/2006/relationships/image" Target="../media/image13.png"/><Relationship Id="rId9" Type="http://schemas.openxmlformats.org/officeDocument/2006/relationships/image" Target="../media/image18.svg"/></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comments" Target="../comments/comment10.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ebac.mx/blog/que-es-sketchup" TargetMode="External"/><Relationship Id="rId7" Type="http://schemas.openxmlformats.org/officeDocument/2006/relationships/hyperlink" Target="https://www.youtube.com/watch?v=VDqyRqyK1eA" TargetMode="External"/><Relationship Id="rId2" Type="http://schemas.openxmlformats.org/officeDocument/2006/relationships/hyperlink" Target="https://ideakreativa.net/el-software-geogebra/" TargetMode="External"/><Relationship Id="rId1" Type="http://schemas.openxmlformats.org/officeDocument/2006/relationships/slideLayout" Target="../slideLayouts/slideLayout2.xml"/><Relationship Id="rId6" Type="http://schemas.openxmlformats.org/officeDocument/2006/relationships/hyperlink" Target="https://www.ferrovial.com/es/stem/leyes-de-newton/#:~:text=Primera%20Ley%20de%20Newton%20o%20ley%20de%20inercia&amp;text=Esta%20ley%20del%20movimiento%20establece,una%20o%20varias%20fuerzas%20externas" TargetMode="External"/><Relationship Id="rId5" Type="http://schemas.openxmlformats.org/officeDocument/2006/relationships/hyperlink" Target="https://www.youtube.com/watch?v=F1tbScxJdT0&amp;t=171s" TargetMode="External"/><Relationship Id="rId4" Type="http://schemas.openxmlformats.org/officeDocument/2006/relationships/hyperlink" Target="https://definicion.de/excel/#google_vignet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3913" y="-353428"/>
            <a:ext cx="9144173" cy="1433819"/>
          </a:xfrm>
        </p:spPr>
        <p:txBody>
          <a:bodyPr/>
          <a:lstStyle/>
          <a:p>
            <a:pPr marL="2606675" algn="just"/>
            <a:r>
              <a:rPr lang="es-CL" sz="2400" dirty="0"/>
              <a:t>GRÚA PIVOTANTE DE PARED MTL </a:t>
            </a:r>
          </a:p>
        </p:txBody>
      </p:sp>
      <p:sp>
        <p:nvSpPr>
          <p:cNvPr id="3" name="Subtítulo 2"/>
          <p:cNvSpPr>
            <a:spLocks noGrp="1"/>
          </p:cNvSpPr>
          <p:nvPr>
            <p:ph type="subTitle" idx="1"/>
          </p:nvPr>
        </p:nvSpPr>
        <p:spPr>
          <a:xfrm>
            <a:off x="4425064" y="5389201"/>
            <a:ext cx="7766936" cy="1096899"/>
          </a:xfrm>
        </p:spPr>
        <p:txBody>
          <a:bodyPr>
            <a:noAutofit/>
          </a:bodyPr>
          <a:lstStyle/>
          <a:p>
            <a:pPr algn="r"/>
            <a:r>
              <a:rPr lang="es-ES" sz="1400" b="1">
                <a:solidFill>
                  <a:schemeClr val="tx1"/>
                </a:solidFill>
              </a:rPr>
              <a:t>Integrantes: Ángel Nicolas Rebolledo Vega- José</a:t>
            </a:r>
            <a:r>
              <a:rPr lang="es-CL" altLang="es-ES" sz="1400" b="1">
                <a:solidFill>
                  <a:schemeClr val="tx1"/>
                </a:solidFill>
              </a:rPr>
              <a:t> </a:t>
            </a:r>
            <a:r>
              <a:rPr lang="es-ES" sz="1400" b="1">
                <a:solidFill>
                  <a:schemeClr val="tx1"/>
                </a:solidFill>
                <a:sym typeface="+mn-ea"/>
              </a:rPr>
              <a:t>Matías </a:t>
            </a:r>
            <a:r>
              <a:rPr lang="es-ES" sz="1400" b="1">
                <a:solidFill>
                  <a:schemeClr val="tx1"/>
                </a:solidFill>
              </a:rPr>
              <a:t> Cruz Vásquez</a:t>
            </a:r>
            <a:endParaRPr lang="en-US" sz="1400" b="1">
              <a:solidFill>
                <a:schemeClr val="tx1"/>
              </a:solidFill>
            </a:endParaRPr>
          </a:p>
          <a:p>
            <a:pPr algn="r"/>
            <a:r>
              <a:rPr lang="en-US" sz="1400" b="1" err="1">
                <a:solidFill>
                  <a:schemeClr val="tx1"/>
                </a:solidFill>
              </a:rPr>
              <a:t>Docente</a:t>
            </a:r>
            <a:r>
              <a:rPr lang="en-US" sz="1400" b="1">
                <a:solidFill>
                  <a:schemeClr val="tx1"/>
                </a:solidFill>
              </a:rPr>
              <a:t>: Lissette Andrea Salamanca </a:t>
            </a:r>
            <a:r>
              <a:rPr lang="en-US" sz="1400" b="1" err="1">
                <a:solidFill>
                  <a:schemeClr val="tx1"/>
                </a:solidFill>
              </a:rPr>
              <a:t>Mella</a:t>
            </a:r>
            <a:r>
              <a:rPr lang="en-US" sz="1400" b="1">
                <a:solidFill>
                  <a:schemeClr val="tx1"/>
                </a:solidFill>
              </a:rPr>
              <a:t> </a:t>
            </a:r>
          </a:p>
          <a:p>
            <a:pPr algn="r"/>
            <a:r>
              <a:rPr lang="en-US" sz="1400" b="1" err="1">
                <a:solidFill>
                  <a:schemeClr val="tx1"/>
                </a:solidFill>
              </a:rPr>
              <a:t>Asignatura</a:t>
            </a:r>
            <a:r>
              <a:rPr lang="en-US" sz="1400" b="1">
                <a:solidFill>
                  <a:schemeClr val="tx1"/>
                </a:solidFill>
              </a:rPr>
              <a:t>: </a:t>
            </a:r>
            <a:r>
              <a:rPr lang="en-US" sz="1400" b="1" err="1">
                <a:solidFill>
                  <a:schemeClr val="tx1"/>
                </a:solidFill>
              </a:rPr>
              <a:t>Funciones</a:t>
            </a:r>
            <a:r>
              <a:rPr lang="en-US" sz="1400" b="1">
                <a:solidFill>
                  <a:schemeClr val="tx1"/>
                </a:solidFill>
              </a:rPr>
              <a:t> y </a:t>
            </a:r>
            <a:r>
              <a:rPr lang="en-US" sz="1400" b="1" err="1">
                <a:solidFill>
                  <a:schemeClr val="tx1"/>
                </a:solidFill>
              </a:rPr>
              <a:t>geometría</a:t>
            </a:r>
            <a:endParaRPr lang="en-US" sz="1400" b="1">
              <a:solidFill>
                <a:schemeClr val="tx1"/>
              </a:solidFill>
            </a:endParaRPr>
          </a:p>
          <a:p>
            <a:pPr algn="r"/>
            <a:r>
              <a:rPr lang="es-CL" altLang="en-US" sz="1400" b="1">
                <a:solidFill>
                  <a:schemeClr val="tx1"/>
                </a:solidFill>
              </a:rPr>
              <a:t>     </a:t>
            </a:r>
            <a:r>
              <a:rPr lang="en-US" sz="1400" b="1">
                <a:solidFill>
                  <a:schemeClr val="tx1"/>
                </a:solidFill>
              </a:rPr>
              <a:t>Carrera: Tec. </a:t>
            </a:r>
            <a:r>
              <a:rPr lang="en-US" sz="1400" b="1" err="1">
                <a:solidFill>
                  <a:schemeClr val="tx1"/>
                </a:solidFill>
              </a:rPr>
              <a:t>Mantenimiento</a:t>
            </a:r>
            <a:r>
              <a:rPr lang="en-US" sz="1400" b="1">
                <a:solidFill>
                  <a:schemeClr val="tx1"/>
                </a:solidFill>
              </a:rPr>
              <a:t> Industrial   </a:t>
            </a:r>
          </a:p>
        </p:txBody>
      </p:sp>
      <p:pic>
        <p:nvPicPr>
          <p:cNvPr id="5" name="Imagen 4">
            <a:extLst>
              <a:ext uri="{FF2B5EF4-FFF2-40B4-BE49-F238E27FC236}">
                <a16:creationId xmlns:a16="http://schemas.microsoft.com/office/drawing/2014/main" id="{7989577E-AA1D-2D5B-B88C-0F26EA4D23FD}"/>
              </a:ext>
            </a:extLst>
          </p:cNvPr>
          <p:cNvPicPr>
            <a:picLocks noChangeAspect="1"/>
          </p:cNvPicPr>
          <p:nvPr/>
        </p:nvPicPr>
        <p:blipFill>
          <a:blip r:embed="rId2"/>
          <a:stretch>
            <a:fillRect/>
          </a:stretch>
        </p:blipFill>
        <p:spPr>
          <a:xfrm>
            <a:off x="3933824" y="1064851"/>
            <a:ext cx="4324350" cy="432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t>Definición </a:t>
            </a:r>
            <a:endParaRPr lang="es-ES"/>
          </a:p>
        </p:txBody>
      </p:sp>
      <p:sp>
        <p:nvSpPr>
          <p:cNvPr id="3" name="Marcador de contenido 2"/>
          <p:cNvSpPr>
            <a:spLocks noGrp="1"/>
          </p:cNvSpPr>
          <p:nvPr>
            <p:ph idx="1"/>
          </p:nvPr>
        </p:nvSpPr>
        <p:spPr/>
        <p:txBody>
          <a:bodyPr vert="horz" lIns="91440" tIns="45720" rIns="91440" bIns="45720" rtlCol="0" anchor="t">
            <a:normAutofit/>
          </a:bodyPr>
          <a:lstStyle/>
          <a:p>
            <a:pPr algn="just"/>
            <a:r>
              <a:rPr lang="es-ES" sz="1600" dirty="0">
                <a:latin typeface="Arial" panose="020B0604020202020204" pitchFamily="34" charset="0"/>
                <a:cs typeface="Arial" panose="020B0604020202020204" pitchFamily="34" charset="0"/>
              </a:rPr>
              <a:t>Una grúa pluma pivotante de  pared es un tipo de grúa que se fija a una pared o a otro tipo de soporte, cuenta con un brazo y un radio de giro de 180 grados, se pueden utilizar para diversos trabajos  en los que  se requiera  levantar cualquier tipo de cargas pesadas, son fáciles de instalar y requieren de poco mantenimiento.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t>Tema de investigación </a:t>
            </a:r>
            <a:endParaRPr lang="es-ES"/>
          </a:p>
        </p:txBody>
      </p:sp>
      <p:sp>
        <p:nvSpPr>
          <p:cNvPr id="3" name="Marcador de contenido 2"/>
          <p:cNvSpPr>
            <a:spLocks noGrp="1"/>
          </p:cNvSpPr>
          <p:nvPr>
            <p:ph sz="half" idx="1"/>
          </p:nvPr>
        </p:nvSpPr>
        <p:spPr>
          <a:xfrm>
            <a:off x="677545" y="1489075"/>
            <a:ext cx="7678420" cy="1023620"/>
          </a:xfrm>
        </p:spPr>
        <p:txBody>
          <a:bodyPr/>
          <a:lstStyle/>
          <a:p>
            <a:pPr algn="just"/>
            <a:r>
              <a:rPr lang="es-CL" sz="1600">
                <a:latin typeface="Arial" panose="020B0604020202020204" pitchFamily="34" charset="0"/>
                <a:cs typeface="Arial" panose="020B0604020202020204" pitchFamily="34" charset="0"/>
              </a:rPr>
              <a:t>la problemática que se abordará  se centra en  los sistemas de anclajes, estabilidad del equipo y como calcular sus puntos criticos, para realizar un correcto monateje y el equipo pueda cumplir su funcion de forma correcta.</a:t>
            </a:r>
          </a:p>
        </p:txBody>
      </p:sp>
      <p:pic>
        <p:nvPicPr>
          <p:cNvPr id="101" name="Content Placeholder 100"/>
          <p:cNvPicPr>
            <a:picLocks noGrp="1" noChangeAspect="1"/>
          </p:cNvPicPr>
          <p:nvPr>
            <p:ph sz="half" idx="2"/>
          </p:nvPr>
        </p:nvPicPr>
        <p:blipFill>
          <a:blip r:embed="rId2"/>
          <a:stretch>
            <a:fillRect/>
          </a:stretch>
        </p:blipFill>
        <p:spPr>
          <a:xfrm>
            <a:off x="2140585" y="2644140"/>
            <a:ext cx="5671185" cy="338645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Objetivo</a:t>
            </a:r>
            <a:endParaRPr lang="es-ES" dirty="0"/>
          </a:p>
        </p:txBody>
      </p:sp>
      <p:sp>
        <p:nvSpPr>
          <p:cNvPr id="3" name="Marcador de contenido 2"/>
          <p:cNvSpPr>
            <a:spLocks noGrp="1"/>
          </p:cNvSpPr>
          <p:nvPr>
            <p:ph idx="1"/>
          </p:nvPr>
        </p:nvSpPr>
        <p:spPr>
          <a:xfrm>
            <a:off x="305193" y="1476561"/>
            <a:ext cx="10241227" cy="4771839"/>
          </a:xfrm>
        </p:spPr>
        <p:txBody>
          <a:bodyPr vert="horz" lIns="91440" tIns="45720" rIns="91440" bIns="45720" rtlCol="0" anchor="t">
            <a:noAutofit/>
          </a:bodyPr>
          <a:lstStyle/>
          <a:p>
            <a:pPr algn="just"/>
            <a:r>
              <a:rPr lang="es-CL" sz="1600" dirty="0">
                <a:latin typeface="Arial" panose="020B0604020202020204" pitchFamily="34" charset="0"/>
                <a:cs typeface="Arial" panose="020B0604020202020204" pitchFamily="34" charset="0"/>
              </a:rPr>
              <a:t>El objetivo abordado en este proyecto se centrará en  </a:t>
            </a:r>
            <a:r>
              <a:rPr lang="es-CL" sz="1600" dirty="0">
                <a:solidFill>
                  <a:srgbClr val="FF0000"/>
                </a:solidFill>
                <a:latin typeface="Arial" panose="020B0604020202020204" pitchFamily="34" charset="0"/>
                <a:cs typeface="Arial" panose="020B0604020202020204" pitchFamily="34" charset="0"/>
              </a:rPr>
              <a:t>mejorar</a:t>
            </a:r>
            <a:r>
              <a:rPr lang="es-CL" sz="1600" dirty="0">
                <a:latin typeface="Arial" panose="020B0604020202020204" pitchFamily="34" charset="0"/>
                <a:cs typeface="Arial" panose="020B0604020202020204" pitchFamily="34" charset="0"/>
              </a:rPr>
              <a:t>  la estructura (soporte  y estabilidad) de la grúa pivotante mural modelo MTL de la marca </a:t>
            </a:r>
            <a:r>
              <a:rPr lang="es-CL" sz="1600" dirty="0" err="1">
                <a:latin typeface="Arial" panose="020B0604020202020204" pitchFamily="34" charset="0"/>
                <a:cs typeface="Arial" panose="020B0604020202020204" pitchFamily="34" charset="0"/>
              </a:rPr>
              <a:t>vetter</a:t>
            </a:r>
            <a:r>
              <a:rPr lang="es-CL" sz="1600" dirty="0">
                <a:latin typeface="Arial" panose="020B0604020202020204" pitchFamily="34" charset="0"/>
                <a:cs typeface="Arial" panose="020B0604020202020204" pitchFamily="34" charset="0"/>
              </a:rPr>
              <a:t> </a:t>
            </a:r>
            <a:r>
              <a:rPr lang="es-CL" sz="1600" dirty="0" err="1">
                <a:latin typeface="Arial" panose="020B0604020202020204" pitchFamily="34" charset="0"/>
                <a:cs typeface="Arial" panose="020B0604020202020204" pitchFamily="34" charset="0"/>
              </a:rPr>
              <a:t>krantechink</a:t>
            </a:r>
            <a:r>
              <a:rPr lang="es-CL" sz="1600" dirty="0">
                <a:latin typeface="Arial" panose="020B0604020202020204" pitchFamily="34" charset="0"/>
                <a:cs typeface="Arial" panose="020B0604020202020204" pitchFamily="34" charset="0"/>
              </a:rPr>
              <a:t>, ya que al momento de realizar las mejoras en el equipo abra más seguridad y fiabilidad al momento de utilizarla.</a:t>
            </a:r>
          </a:p>
          <a:p>
            <a:pPr algn="just"/>
            <a:endParaRPr lang="es-ES" sz="1900" dirty="0"/>
          </a:p>
          <a:p>
            <a:pPr algn="just"/>
            <a:endParaRPr lang="es-ES" sz="1900" dirty="0"/>
          </a:p>
          <a:p>
            <a:pPr algn="just"/>
            <a:r>
              <a:rPr lang="es-ES" sz="1600" dirty="0">
                <a:latin typeface="Arial" panose="020B0604020202020204" pitchFamily="34" charset="0"/>
                <a:cs typeface="Arial" panose="020B0604020202020204" pitchFamily="34" charset="0"/>
              </a:rPr>
              <a:t>¿Cuáles son los indicadores de una grúa </a:t>
            </a:r>
            <a:r>
              <a:rPr lang="es-CL" sz="1600" dirty="0">
                <a:latin typeface="Arial" panose="020B0604020202020204" pitchFamily="34" charset="0"/>
                <a:cs typeface="Arial" panose="020B0604020202020204" pitchFamily="34" charset="0"/>
              </a:rPr>
              <a:t>pivotante mural modelo MTL</a:t>
            </a:r>
            <a:r>
              <a:rPr lang="es-ES" sz="1600" dirty="0">
                <a:latin typeface="Arial" panose="020B0604020202020204" pitchFamily="34" charset="0"/>
                <a:cs typeface="Arial" panose="020B0604020202020204" pitchFamily="34" charset="0"/>
              </a:rPr>
              <a:t>, para hacer la implementación de una mejora en su estructura y soporte?</a:t>
            </a:r>
          </a:p>
          <a:p>
            <a:pPr algn="just"/>
            <a:r>
              <a:rPr lang="es-ES" sz="1600" dirty="0">
                <a:latin typeface="Arial" panose="020B0604020202020204" pitchFamily="34" charset="0"/>
                <a:cs typeface="Arial" panose="020B0604020202020204" pitchFamily="34" charset="0"/>
              </a:rPr>
              <a:t>¿</a:t>
            </a:r>
            <a:r>
              <a:rPr lang="es-ES" sz="1600" dirty="0">
                <a:latin typeface="Arial" panose="020B0604020202020204" pitchFamily="34" charset="0"/>
                <a:ea typeface="+mn-lt"/>
                <a:cs typeface="Arial" panose="020B0604020202020204" pitchFamily="34" charset="0"/>
              </a:rPr>
              <a:t>Cuál es la resistencia que tienen los pernos de sujeción para soportar el peso de las cargas</a:t>
            </a:r>
            <a:r>
              <a:rPr lang="es-ES" sz="1600" dirty="0">
                <a:latin typeface="Arial" panose="020B0604020202020204" pitchFamily="34" charset="0"/>
                <a:cs typeface="Arial" panose="020B0604020202020204" pitchFamily="34" charset="0"/>
              </a:rPr>
              <a:t>?</a:t>
            </a:r>
          </a:p>
          <a:p>
            <a:pPr algn="just"/>
            <a:r>
              <a:rPr lang="es-ES" sz="1600" dirty="0">
                <a:latin typeface="Arial" panose="020B0604020202020204" pitchFamily="34" charset="0"/>
                <a:cs typeface="Arial" panose="020B0604020202020204" pitchFamily="34" charset="0"/>
              </a:rPr>
              <a:t>¿Cuál será el presupuesto destinado a la compra de materiales ?</a:t>
            </a:r>
          </a:p>
          <a:p>
            <a:pPr algn="just"/>
            <a:r>
              <a:rPr lang="es-ES" sz="1600" dirty="0">
                <a:latin typeface="Arial" panose="020B0604020202020204" pitchFamily="34" charset="0"/>
                <a:cs typeface="Arial" panose="020B0604020202020204" pitchFamily="34" charset="0"/>
              </a:rPr>
              <a:t>¿</a:t>
            </a:r>
            <a:r>
              <a:rPr lang="es-ES" sz="1600" dirty="0">
                <a:latin typeface="Arial" panose="020B0604020202020204" pitchFamily="34" charset="0"/>
                <a:ea typeface="+mn-lt"/>
                <a:cs typeface="Arial" panose="020B0604020202020204" pitchFamily="34" charset="0"/>
              </a:rPr>
              <a:t>Cuál es la resistencia del cable de sujeción en este equipo</a:t>
            </a:r>
            <a:r>
              <a:rPr lang="es-ES" sz="1600" dirty="0">
                <a:latin typeface="Arial" panose="020B0604020202020204" pitchFamily="34" charset="0"/>
                <a:cs typeface="Arial" panose="020B0604020202020204" pitchFamily="34" charset="0"/>
              </a:rPr>
              <a:t>?</a:t>
            </a:r>
          </a:p>
        </p:txBody>
      </p:sp>
      <p:sp>
        <p:nvSpPr>
          <p:cNvPr id="4" name="Título 1"/>
          <p:cNvSpPr txBox="1"/>
          <p:nvPr/>
        </p:nvSpPr>
        <p:spPr>
          <a:xfrm>
            <a:off x="598594" y="2430145"/>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L"/>
              <a:t>Preguntas </a:t>
            </a:r>
          </a:p>
          <a:p>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ltLang="es-ES"/>
              <a:t>Temas iniciales involucrados</a:t>
            </a:r>
          </a:p>
        </p:txBody>
      </p:sp>
      <p:sp>
        <p:nvSpPr>
          <p:cNvPr id="3" name="Marcador de contenido 2"/>
          <p:cNvSpPr>
            <a:spLocks noGrp="1"/>
          </p:cNvSpPr>
          <p:nvPr>
            <p:ph sz="half" idx="1"/>
          </p:nvPr>
        </p:nvSpPr>
        <p:spPr>
          <a:xfrm>
            <a:off x="677545" y="1223645"/>
            <a:ext cx="8940165" cy="3880485"/>
          </a:xfrm>
        </p:spPr>
        <p:txBody>
          <a:bodyPr/>
          <a:lstStyle/>
          <a:p>
            <a:pPr marL="0" indent="0" algn="just">
              <a:buNone/>
            </a:pPr>
            <a:r>
              <a:rPr lang="es-CL" altLang="es-ES" sz="1600">
                <a:latin typeface="Arial" panose="020B0604020202020204" pitchFamily="34" charset="0"/>
                <a:cs typeface="Arial" panose="020B0604020202020204" pitchFamily="34" charset="0"/>
              </a:rPr>
              <a:t>Los temas iniciales involucrados dan referencia al problema que presenta un taller para poder movilizar objetos pesados y aumentar la seguridad de los trabajadores dando la certesa que podran cuidar mejor su salud.</a:t>
            </a:r>
          </a:p>
          <a:p>
            <a:pPr marL="0" indent="0" algn="just">
              <a:buNone/>
            </a:pPr>
            <a:endParaRPr lang="es-CL" altLang="es-ES" sz="1600">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sz="half" idx="2"/>
          </p:nvPr>
        </p:nvPicPr>
        <p:blipFill>
          <a:blip r:embed="rId2"/>
          <a:stretch>
            <a:fillRect/>
          </a:stretch>
        </p:blipFill>
        <p:spPr>
          <a:xfrm>
            <a:off x="677545" y="2420620"/>
            <a:ext cx="4184015" cy="3347085"/>
          </a:xfrm>
          <a:prstGeom prst="rect">
            <a:avLst/>
          </a:prstGeom>
        </p:spPr>
      </p:pic>
      <p:pic>
        <p:nvPicPr>
          <p:cNvPr id="5" name="Picture 4"/>
          <p:cNvPicPr>
            <a:picLocks noChangeAspect="1"/>
          </p:cNvPicPr>
          <p:nvPr/>
        </p:nvPicPr>
        <p:blipFill>
          <a:blip r:embed="rId3"/>
          <a:stretch>
            <a:fillRect/>
          </a:stretch>
        </p:blipFill>
        <p:spPr>
          <a:xfrm>
            <a:off x="4946650" y="2420620"/>
            <a:ext cx="4453255" cy="29711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74870" y="828166"/>
            <a:ext cx="8596668" cy="1320800"/>
          </a:xfrm>
        </p:spPr>
        <p:txBody>
          <a:bodyPr/>
          <a:lstStyle/>
          <a:p>
            <a:r>
              <a:rPr lang="es-CL" altLang="es-ES"/>
              <a:t>Cronograma y materiales a utilizar</a:t>
            </a:r>
          </a:p>
        </p:txBody>
      </p:sp>
      <p:pic>
        <p:nvPicPr>
          <p:cNvPr id="4" name="Content Placeholder 3"/>
          <p:cNvPicPr>
            <a:picLocks noGrp="1" noChangeAspect="1"/>
          </p:cNvPicPr>
          <p:nvPr>
            <p:ph idx="1"/>
          </p:nvPr>
        </p:nvPicPr>
        <p:blipFill>
          <a:blip r:embed="rId2"/>
          <a:srcRect r="8681"/>
          <a:stretch>
            <a:fillRect/>
          </a:stretch>
        </p:blipFill>
        <p:spPr>
          <a:xfrm>
            <a:off x="329565" y="2087880"/>
            <a:ext cx="9189720" cy="2970530"/>
          </a:xfrm>
          <a:prstGeom prst="rect">
            <a:avLst/>
          </a:prstGeom>
        </p:spPr>
      </p:pic>
      <p:sp>
        <p:nvSpPr>
          <p:cNvPr id="3" name="Text Box 2"/>
          <p:cNvSpPr txBox="1"/>
          <p:nvPr/>
        </p:nvSpPr>
        <p:spPr>
          <a:xfrm>
            <a:off x="6018530" y="2065020"/>
            <a:ext cx="816610" cy="295910"/>
          </a:xfrm>
          <a:prstGeom prst="rect">
            <a:avLst/>
          </a:prstGeom>
          <a:solidFill>
            <a:schemeClr val="tx2">
              <a:lumMod val="20000"/>
              <a:lumOff val="80000"/>
            </a:schemeClr>
          </a:solidFill>
        </p:spPr>
        <p:txBody>
          <a:bodyPr wrap="square" rtlCol="0">
            <a:noAutofit/>
          </a:bodyPr>
          <a:lstStyle/>
          <a:p>
            <a:pPr algn="ctr"/>
            <a:r>
              <a:rPr lang="es-CL" altLang="en-US" sz="1600" b="1"/>
              <a:t>DIAS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412501" y="718232"/>
            <a:ext cx="5827644" cy="860712"/>
          </a:xfrm>
        </p:spPr>
        <p:txBody>
          <a:bodyPr anchor="b">
            <a:normAutofit fontScale="90000"/>
          </a:bodyPr>
          <a:lstStyle/>
          <a:p>
            <a:r>
              <a:rPr lang="es-CL" dirty="0"/>
              <a:t>Herramientas tecnológicas </a:t>
            </a:r>
            <a:br>
              <a:rPr lang="es-CL" dirty="0"/>
            </a:br>
            <a:br>
              <a:rPr lang="es-CL" dirty="0"/>
            </a:br>
            <a:r>
              <a:rPr lang="es-CL" dirty="0" err="1"/>
              <a:t>SketchUp</a:t>
            </a:r>
            <a:r>
              <a:rPr lang="es-CL" dirty="0"/>
              <a:t> </a:t>
            </a:r>
          </a:p>
        </p:txBody>
      </p:sp>
      <p:sp>
        <p:nvSpPr>
          <p:cNvPr id="3" name="Marcador de contenido 2"/>
          <p:cNvSpPr>
            <a:spLocks noGrp="1"/>
          </p:cNvSpPr>
          <p:nvPr>
            <p:ph idx="1"/>
          </p:nvPr>
        </p:nvSpPr>
        <p:spPr>
          <a:xfrm>
            <a:off x="152400" y="1578944"/>
            <a:ext cx="12039600" cy="5020182"/>
          </a:xfrm>
        </p:spPr>
        <p:txBody>
          <a:bodyPr vert="horz" lIns="91440" tIns="45720" rIns="91440" bIns="45720" rtlCol="0" anchor="t">
            <a:normAutofit/>
          </a:bodyPr>
          <a:lstStyle/>
          <a:p>
            <a:pPr marL="0" indent="0" algn="just">
              <a:lnSpc>
                <a:spcPct val="90000"/>
              </a:lnSpc>
              <a:buNone/>
            </a:pPr>
            <a:r>
              <a:rPr lang="es-ES" sz="1600" dirty="0"/>
              <a:t> </a:t>
            </a:r>
            <a:r>
              <a:rPr lang="es-ES" sz="1600" dirty="0">
                <a:latin typeface="Arial" panose="020B0604020202020204" pitchFamily="34" charset="0"/>
                <a:cs typeface="Arial" panose="020B0604020202020204" pitchFamily="34" charset="0"/>
              </a:rPr>
              <a:t>E</a:t>
            </a:r>
            <a:r>
              <a:rPr lang="es-ES" sz="1600" i="0" dirty="0">
                <a:effectLst/>
                <a:latin typeface="Arial" panose="020B0604020202020204" pitchFamily="34" charset="0"/>
                <a:cs typeface="Arial" panose="020B0604020202020204" pitchFamily="34" charset="0"/>
              </a:rPr>
              <a:t>s un software de diseño que te permite crear modelos tridimensionales. Lo que diferencia este programa del resto es la opción “Instructor”; al seleccionarla, verás un recuadro que te explicará la función de la herramienta, los modos abreviados de acción y te brindará consejos para modelar</a:t>
            </a:r>
            <a:r>
              <a:rPr lang="es-ES" sz="1000" i="0" dirty="0">
                <a:effectLst/>
                <a:latin typeface="Arial" panose="020B0604020202020204" pitchFamily="34" charset="0"/>
                <a:cs typeface="Arial" panose="020B0604020202020204" pitchFamily="34" charset="0"/>
              </a:rPr>
              <a:t>.</a:t>
            </a:r>
            <a:r>
              <a:rPr lang="es-CL" altLang="es-ES" sz="1000" i="0" dirty="0">
                <a:effectLst/>
                <a:latin typeface="Arial" panose="020B0604020202020204" pitchFamily="34" charset="0"/>
                <a:cs typeface="Arial" panose="020B0604020202020204" pitchFamily="34" charset="0"/>
              </a:rPr>
              <a:t>  </a:t>
            </a:r>
            <a:endParaRPr lang="es-ES" altLang="es-ES" sz="1000">
              <a:latin typeface="Arial" panose="020B0604020202020204" pitchFamily="34" charset="0"/>
              <a:cs typeface="Arial" panose="020B0604020202020204" pitchFamily="34" charset="0"/>
            </a:endParaRPr>
          </a:p>
          <a:p>
            <a:pPr marL="0" indent="0" algn="just">
              <a:lnSpc>
                <a:spcPct val="90000"/>
              </a:lnSpc>
              <a:buNone/>
            </a:pPr>
            <a:r>
              <a:rPr lang="es-ES" sz="1600" dirty="0">
                <a:latin typeface="Arial" panose="020B0604020202020204" pitchFamily="34" charset="0"/>
                <a:cs typeface="Arial" panose="020B0604020202020204" pitchFamily="34" charset="0"/>
              </a:rPr>
              <a:t>Lo  que permitirá desarrollar un  modelo  realista  y más exacto del soporte de la grúa </a:t>
            </a:r>
            <a:r>
              <a:rPr lang="es-CL" sz="1600" dirty="0">
                <a:latin typeface="Arial" panose="020B0604020202020204" pitchFamily="34" charset="0"/>
                <a:cs typeface="Arial" panose="020B0604020202020204" pitchFamily="34" charset="0"/>
              </a:rPr>
              <a:t>pivotante mural modelo MTL.</a:t>
            </a:r>
            <a:r>
              <a:rPr lang="es-ES" sz="1600" dirty="0">
                <a:latin typeface="Arial" panose="020B0604020202020204" pitchFamily="34" charset="0"/>
                <a:cs typeface="Arial" panose="020B0604020202020204" pitchFamily="34" charset="0"/>
              </a:rPr>
              <a:t>  </a:t>
            </a:r>
            <a:endParaRPr lang="es-ES" sz="1600">
              <a:latin typeface="Arial" panose="020B0604020202020204" pitchFamily="34" charset="0"/>
              <a:cs typeface="Arial" panose="020B0604020202020204" pitchFamily="34" charset="0"/>
            </a:endParaRPr>
          </a:p>
          <a:p>
            <a:pPr marL="3406775" indent="0" algn="just">
              <a:lnSpc>
                <a:spcPct val="90000"/>
              </a:lnSpc>
              <a:buNone/>
            </a:pPr>
            <a:r>
              <a:rPr lang="es-ES" altLang="es-ES" sz="1100" i="0">
                <a:effectLst/>
                <a:latin typeface="Arial" panose="020B0604020202020204" pitchFamily="34" charset="0"/>
                <a:cs typeface="Arial" panose="020B0604020202020204" pitchFamily="34" charset="0"/>
              </a:rPr>
              <a:t>Escuela británica de artes creativas y tecnológicas . (01 junio 2023). ¿Qué es </a:t>
            </a:r>
            <a:r>
              <a:rPr lang="es-ES" altLang="es-ES" sz="1100" i="0" err="1">
                <a:effectLst/>
                <a:latin typeface="Arial" panose="020B0604020202020204" pitchFamily="34" charset="0"/>
                <a:cs typeface="Arial" panose="020B0604020202020204" pitchFamily="34" charset="0"/>
              </a:rPr>
              <a:t>SketchUp</a:t>
            </a:r>
            <a:r>
              <a:rPr lang="es-ES" altLang="es-ES" sz="1100" i="0">
                <a:effectLst/>
                <a:latin typeface="Arial" panose="020B0604020202020204" pitchFamily="34" charset="0"/>
                <a:cs typeface="Arial" panose="020B0604020202020204" pitchFamily="34" charset="0"/>
              </a:rPr>
              <a:t>?. EBAC. https://ebac.mx/blog/que-es-sketchup</a:t>
            </a:r>
            <a:endParaRPr lang="es-ES" sz="1100">
              <a:latin typeface="Arial" panose="020B0604020202020204" pitchFamily="34" charset="0"/>
              <a:cs typeface="Arial" panose="020B0604020202020204" pitchFamily="34" charset="0"/>
            </a:endParaRPr>
          </a:p>
          <a:p>
            <a:pPr marL="361950" indent="0" algn="just">
              <a:lnSpc>
                <a:spcPct val="90000"/>
              </a:lnSpc>
              <a:buNone/>
            </a:pPr>
            <a:endParaRPr lang="es-ES" sz="1730" dirty="0">
              <a:latin typeface="Arial" panose="020B0604020202020204" pitchFamily="34" charset="0"/>
              <a:cs typeface="Arial" panose="020B0604020202020204" pitchFamily="34" charset="0"/>
            </a:endParaRPr>
          </a:p>
          <a:p>
            <a:pPr marL="0" indent="0" algn="just">
              <a:lnSpc>
                <a:spcPct val="90000"/>
              </a:lnSpc>
              <a:buNone/>
            </a:pPr>
            <a:r>
              <a:rPr lang="es-CL" altLang="es-ES" sz="1730" dirty="0">
                <a:latin typeface="Arial" panose="020B0604020202020204" pitchFamily="34" charset="0"/>
                <a:cs typeface="Arial" panose="020B0604020202020204" pitchFamily="34" charset="0"/>
              </a:rPr>
              <a:t> </a:t>
            </a:r>
          </a:p>
        </p:txBody>
      </p:sp>
      <p:pic>
        <p:nvPicPr>
          <p:cNvPr id="4" name="Picture 3" descr="Puente grua"/>
          <p:cNvPicPr>
            <a:picLocks noChangeAspect="1"/>
          </p:cNvPicPr>
          <p:nvPr/>
        </p:nvPicPr>
        <p:blipFill>
          <a:blip r:embed="rId2"/>
          <a:stretch>
            <a:fillRect/>
          </a:stretch>
        </p:blipFill>
        <p:spPr>
          <a:xfrm>
            <a:off x="3326323" y="3441983"/>
            <a:ext cx="4406775" cy="2479098"/>
          </a:xfrm>
          <a:prstGeom prst="rect">
            <a:avLst/>
          </a:prstGeom>
          <a:ln>
            <a:solidFill>
              <a:schemeClr val="tx1"/>
            </a:solidFill>
          </a:ln>
        </p:spPr>
      </p:pic>
      <p:sp>
        <p:nvSpPr>
          <p:cNvPr id="5" name="Text Box 4"/>
          <p:cNvSpPr txBox="1"/>
          <p:nvPr/>
        </p:nvSpPr>
        <p:spPr>
          <a:xfrm>
            <a:off x="4208145" y="6016196"/>
            <a:ext cx="4064000" cy="275590"/>
          </a:xfrm>
          <a:prstGeom prst="rect">
            <a:avLst/>
          </a:prstGeom>
          <a:noFill/>
        </p:spPr>
        <p:txBody>
          <a:bodyPr wrap="square" rtlCol="0">
            <a:spAutoFit/>
          </a:bodyPr>
          <a:lstStyle/>
          <a:p>
            <a:r>
              <a:rPr lang="es-CL" altLang="en-US" sz="1200" dirty="0">
                <a:latin typeface="Arial" panose="020B0604020202020204" pitchFamily="34" charset="0"/>
                <a:cs typeface="Arial" panose="020B0604020202020204" pitchFamily="34" charset="0"/>
              </a:rPr>
              <a:t>(</a:t>
            </a:r>
            <a:r>
              <a:rPr lang="es-CL" altLang="en-US" sz="1200" dirty="0" err="1">
                <a:latin typeface="Arial" panose="020B0604020202020204" pitchFamily="34" charset="0"/>
                <a:cs typeface="Arial" panose="020B0604020202020204" pitchFamily="34" charset="0"/>
              </a:rPr>
              <a:t>Elavoracion</a:t>
            </a:r>
            <a:r>
              <a:rPr lang="es-CL" altLang="en-US" sz="1200" dirty="0">
                <a:latin typeface="Arial" panose="020B0604020202020204" pitchFamily="34" charset="0"/>
                <a:cs typeface="Arial" panose="020B0604020202020204" pitchFamily="34" charset="0"/>
              </a:rPr>
              <a:t> propia)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4114BD-5CC7-017B-C5D0-EE3ABB7062AE}"/>
              </a:ext>
            </a:extLst>
          </p:cNvPr>
          <p:cNvSpPr>
            <a:spLocks noGrp="1"/>
          </p:cNvSpPr>
          <p:nvPr>
            <p:ph type="title"/>
          </p:nvPr>
        </p:nvSpPr>
        <p:spPr/>
        <p:txBody>
          <a:bodyPr/>
          <a:lstStyle/>
          <a:p>
            <a:r>
              <a:rPr lang="es-ES" dirty="0"/>
              <a:t>Excel </a:t>
            </a:r>
            <a:endParaRPr lang="es-CL" dirty="0"/>
          </a:p>
        </p:txBody>
      </p:sp>
      <p:sp>
        <p:nvSpPr>
          <p:cNvPr id="3" name="Marcador de contenido 2">
            <a:extLst>
              <a:ext uri="{FF2B5EF4-FFF2-40B4-BE49-F238E27FC236}">
                <a16:creationId xmlns:a16="http://schemas.microsoft.com/office/drawing/2014/main" id="{7265C2F9-06D2-387C-D983-044BF5B3D531}"/>
              </a:ext>
            </a:extLst>
          </p:cNvPr>
          <p:cNvSpPr>
            <a:spLocks noGrp="1"/>
          </p:cNvSpPr>
          <p:nvPr>
            <p:ph idx="1"/>
          </p:nvPr>
        </p:nvSpPr>
        <p:spPr>
          <a:xfrm>
            <a:off x="677334" y="1488613"/>
            <a:ext cx="11221296" cy="4157807"/>
          </a:xfrm>
        </p:spPr>
        <p:txBody>
          <a:bodyPr/>
          <a:lstStyle/>
          <a:p>
            <a:r>
              <a:rPr lang="es-ES" sz="1600" dirty="0">
                <a:latin typeface="Arial" panose="020B0604020202020204" pitchFamily="34" charset="0"/>
                <a:cs typeface="Arial" panose="020B0604020202020204" pitchFamily="34" charset="0"/>
              </a:rPr>
              <a:t>Es un programa informático desarrollado y distribuido por Microsoft Corp. Se trata de un software que permite realizar tareas contables y financieras gracias a sus funciones, desarrolladas específicamente para ayudar a crear y trabajar con hojas de cálculo. </a:t>
            </a:r>
            <a:endParaRPr lang="es-ES" sz="1600">
              <a:latin typeface="Arial" panose="020B0604020202020204" pitchFamily="34" charset="0"/>
              <a:cs typeface="Arial" panose="020B0604020202020204" pitchFamily="34" charset="0"/>
            </a:endParaRPr>
          </a:p>
          <a:p>
            <a:r>
              <a:rPr lang="es-ES" sz="1600" dirty="0">
                <a:latin typeface="Arial" panose="020B0604020202020204" pitchFamily="34" charset="0"/>
                <a:cs typeface="Arial" panose="020B0604020202020204" pitchFamily="34" charset="0"/>
              </a:rPr>
              <a:t> Con  el fin de poder tabular  plazos de trabajos , presupuestos de gastos, realizar catastros de material, etc. Ya que este programa  cuenta con calculadora integrada y facilita el orden de datos.</a:t>
            </a:r>
            <a:endParaRPr lang="es-ES" sz="1600">
              <a:latin typeface="Arial" panose="020B0604020202020204" pitchFamily="34" charset="0"/>
              <a:cs typeface="Arial" panose="020B0604020202020204" pitchFamily="34" charset="0"/>
            </a:endParaRPr>
          </a:p>
          <a:p>
            <a:pPr marL="0" indent="0">
              <a:buNone/>
            </a:pPr>
            <a:r>
              <a:rPr lang="es-ES" sz="1050" dirty="0">
                <a:latin typeface="Arial" panose="020B0604020202020204" pitchFamily="34" charset="0"/>
                <a:cs typeface="Arial" panose="020B0604020202020204" pitchFamily="34" charset="0"/>
              </a:rPr>
              <a:t>Publicado por Julián Pérez Porto y Ana Gardey. Actualizado el 13 de abril de 2021. Excel - Qué es, definición, historia y características. Disponible en https://definicion.de/excel/</a:t>
            </a:r>
            <a:endParaRPr lang="es-ES" dirty="0">
              <a:latin typeface="Arial" panose="020B0604020202020204" pitchFamily="34" charset="0"/>
              <a:cs typeface="Arial" panose="020B0604020202020204" pitchFamily="34" charset="0"/>
            </a:endParaRPr>
          </a:p>
          <a:p>
            <a:pPr marL="0" indent="0">
              <a:buNone/>
            </a:pPr>
            <a:endParaRPr lang="es-ES" sz="1600" dirty="0">
              <a:latin typeface="Arial" panose="020B0604020202020204" pitchFamily="34" charset="0"/>
              <a:cs typeface="Arial" panose="020B0604020202020204" pitchFamily="34" charset="0"/>
            </a:endParaRPr>
          </a:p>
          <a:p>
            <a:pPr marL="0" indent="0">
              <a:buNone/>
            </a:pPr>
            <a:r>
              <a:rPr lang="es-ES" sz="1600" dirty="0"/>
              <a:t> </a:t>
            </a:r>
          </a:p>
          <a:p>
            <a:endParaRPr lang="es-CL" dirty="0"/>
          </a:p>
        </p:txBody>
      </p:sp>
      <p:pic>
        <p:nvPicPr>
          <p:cNvPr id="6" name="Imagen 5">
            <a:extLst>
              <a:ext uri="{FF2B5EF4-FFF2-40B4-BE49-F238E27FC236}">
                <a16:creationId xmlns:a16="http://schemas.microsoft.com/office/drawing/2014/main" id="{099D1F89-E6AD-6FA0-D5FF-60E3E1146685}"/>
              </a:ext>
            </a:extLst>
          </p:cNvPr>
          <p:cNvPicPr>
            <a:picLocks noChangeAspect="1"/>
          </p:cNvPicPr>
          <p:nvPr/>
        </p:nvPicPr>
        <p:blipFill>
          <a:blip r:embed="rId2"/>
          <a:stretch>
            <a:fillRect/>
          </a:stretch>
        </p:blipFill>
        <p:spPr>
          <a:xfrm>
            <a:off x="2917998" y="3636072"/>
            <a:ext cx="4619693" cy="2612327"/>
          </a:xfrm>
          <a:prstGeom prst="rect">
            <a:avLst/>
          </a:prstGeom>
        </p:spPr>
      </p:pic>
      <p:pic>
        <p:nvPicPr>
          <p:cNvPr id="7" name="Imagen 6">
            <a:extLst>
              <a:ext uri="{FF2B5EF4-FFF2-40B4-BE49-F238E27FC236}">
                <a16:creationId xmlns:a16="http://schemas.microsoft.com/office/drawing/2014/main" id="{779B6259-2D7A-ADB7-E825-9D36118B03DD}"/>
              </a:ext>
            </a:extLst>
          </p:cNvPr>
          <p:cNvPicPr>
            <a:picLocks noChangeAspect="1"/>
          </p:cNvPicPr>
          <p:nvPr/>
        </p:nvPicPr>
        <p:blipFill>
          <a:blip r:embed="rId3"/>
          <a:stretch>
            <a:fillRect/>
          </a:stretch>
        </p:blipFill>
        <p:spPr>
          <a:xfrm>
            <a:off x="4062808" y="6248399"/>
            <a:ext cx="4066384" cy="499915"/>
          </a:xfrm>
          <a:prstGeom prst="rect">
            <a:avLst/>
          </a:prstGeom>
        </p:spPr>
      </p:pic>
    </p:spTree>
    <p:extLst>
      <p:ext uri="{BB962C8B-B14F-4D97-AF65-F5344CB8AC3E}">
        <p14:creationId xmlns:p14="http://schemas.microsoft.com/office/powerpoint/2010/main" val="109131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E17A0C-0CF1-8DEA-85F7-C353E9193C6A}"/>
              </a:ext>
            </a:extLst>
          </p:cNvPr>
          <p:cNvSpPr>
            <a:spLocks noGrp="1"/>
          </p:cNvSpPr>
          <p:nvPr>
            <p:ph type="title"/>
          </p:nvPr>
        </p:nvSpPr>
        <p:spPr>
          <a:xfrm>
            <a:off x="490979" y="520358"/>
            <a:ext cx="8596668" cy="1320800"/>
          </a:xfrm>
        </p:spPr>
        <p:txBody>
          <a:bodyPr/>
          <a:lstStyle/>
          <a:p>
            <a:r>
              <a:rPr lang="es-ES" dirty="0"/>
              <a:t>GeoGebra </a:t>
            </a:r>
            <a:endParaRPr lang="es-CL" dirty="0"/>
          </a:p>
        </p:txBody>
      </p:sp>
      <p:sp>
        <p:nvSpPr>
          <p:cNvPr id="4" name="CuadroTexto 3">
            <a:extLst>
              <a:ext uri="{FF2B5EF4-FFF2-40B4-BE49-F238E27FC236}">
                <a16:creationId xmlns:a16="http://schemas.microsoft.com/office/drawing/2014/main" id="{11B23B3A-A46F-5247-4EED-A72FBABC532F}"/>
              </a:ext>
            </a:extLst>
          </p:cNvPr>
          <p:cNvSpPr txBox="1"/>
          <p:nvPr/>
        </p:nvSpPr>
        <p:spPr>
          <a:xfrm>
            <a:off x="490979" y="1319994"/>
            <a:ext cx="11210042" cy="1969770"/>
          </a:xfrm>
          <a:prstGeom prst="rect">
            <a:avLst/>
          </a:prstGeom>
          <a:noFill/>
          <a:ln>
            <a:noFill/>
          </a:ln>
        </p:spPr>
        <p:txBody>
          <a:bodyPr wrap="square">
            <a:spAutoFit/>
          </a:bodyPr>
          <a:lstStyle/>
          <a:p>
            <a:pPr marL="285750" indent="-285750">
              <a:buClr>
                <a:srgbClr val="92D050"/>
              </a:buClr>
              <a:buFont typeface="Arial" panose="020B0604020202020204" pitchFamily="34" charset="0"/>
              <a:buChar char="►"/>
            </a:pPr>
            <a:r>
              <a:rPr lang="es-ES" sz="1600" dirty="0">
                <a:latin typeface="Arial" panose="020B0604020202020204" pitchFamily="34" charset="0"/>
                <a:cs typeface="Arial" panose="020B0604020202020204" pitchFamily="34" charset="0"/>
              </a:rPr>
              <a:t>Es un programa de software gratuito que permite a los niños crear construcciones matemáticas, y modelos donde pueden arrastrar objetos y ajustar parámetros, para explorar álgebra y geometría simultáneamente (junto con otros campos matemáticos).   </a:t>
            </a:r>
            <a:r>
              <a:rPr lang="es-ES" sz="1000" dirty="0">
                <a:latin typeface="Arial" panose="020B0604020202020204" pitchFamily="34" charset="0"/>
                <a:cs typeface="Arial" panose="020B0604020202020204" pitchFamily="34" charset="0"/>
              </a:rPr>
              <a:t>Creativo News. ( 28 de noviembre de 2021). ¿Qué es el Software GeoGebra? ¿Para qué se utiliza GeoGebra?. idea </a:t>
            </a:r>
            <a:r>
              <a:rPr lang="es-ES" sz="1000" dirty="0" err="1">
                <a:latin typeface="Arial" panose="020B0604020202020204" pitchFamily="34" charset="0"/>
                <a:cs typeface="Arial" panose="020B0604020202020204" pitchFamily="34" charset="0"/>
              </a:rPr>
              <a:t>kreativa</a:t>
            </a:r>
            <a:r>
              <a:rPr lang="es-ES" sz="1000" dirty="0">
                <a:latin typeface="Arial" panose="020B0604020202020204" pitchFamily="34" charset="0"/>
                <a:cs typeface="Arial" panose="020B0604020202020204" pitchFamily="34" charset="0"/>
              </a:rPr>
              <a:t>. https://ideakreativa.net/el-software-geogebra</a:t>
            </a:r>
            <a:endParaRPr lang="es-ES" sz="1000">
              <a:latin typeface="Arial" panose="020B0604020202020204" pitchFamily="34" charset="0"/>
              <a:cs typeface="Arial" panose="020B0604020202020204" pitchFamily="34" charset="0"/>
            </a:endParaRPr>
          </a:p>
          <a:p>
            <a:r>
              <a:rPr lang="es-ES" sz="1600" dirty="0">
                <a:latin typeface="Arial" panose="020B0604020202020204" pitchFamily="34" charset="0"/>
                <a:cs typeface="Arial" panose="020B0604020202020204" pitchFamily="34" charset="0"/>
              </a:rPr>
              <a:t> </a:t>
            </a:r>
          </a:p>
          <a:p>
            <a:endParaRPr lang="es-ES" sz="1600" dirty="0">
              <a:latin typeface="Arial" panose="020B0604020202020204" pitchFamily="34" charset="0"/>
              <a:cs typeface="Arial" panose="020B0604020202020204" pitchFamily="34" charset="0"/>
            </a:endParaRPr>
          </a:p>
          <a:p>
            <a:r>
              <a:rPr lang="es-ES" sz="1600" dirty="0">
                <a:latin typeface="Arial" panose="020B0604020202020204" pitchFamily="34" charset="0"/>
                <a:cs typeface="Arial" panose="020B0604020202020204" pitchFamily="34" charset="0"/>
              </a:rPr>
              <a:t>En esta aplicación trabajaremos los problemas matemáticos ya se para calcular tensión, resistencia de materiales, ángulos, entre otros cálculos.</a:t>
            </a:r>
          </a:p>
        </p:txBody>
      </p:sp>
      <p:pic>
        <p:nvPicPr>
          <p:cNvPr id="5" name="Imagen 4">
            <a:extLst>
              <a:ext uri="{FF2B5EF4-FFF2-40B4-BE49-F238E27FC236}">
                <a16:creationId xmlns:a16="http://schemas.microsoft.com/office/drawing/2014/main" id="{AE2D0223-CC22-AD52-BF70-B296489C52CA}"/>
              </a:ext>
            </a:extLst>
          </p:cNvPr>
          <p:cNvPicPr>
            <a:picLocks noChangeAspect="1"/>
          </p:cNvPicPr>
          <p:nvPr/>
        </p:nvPicPr>
        <p:blipFill>
          <a:blip r:embed="rId2"/>
          <a:stretch>
            <a:fillRect/>
          </a:stretch>
        </p:blipFill>
        <p:spPr>
          <a:xfrm>
            <a:off x="2391216" y="3568237"/>
            <a:ext cx="5168900" cy="2820331"/>
          </a:xfrm>
          <a:prstGeom prst="rect">
            <a:avLst/>
          </a:prstGeom>
        </p:spPr>
      </p:pic>
      <p:pic>
        <p:nvPicPr>
          <p:cNvPr id="6" name="Imagen 5">
            <a:extLst>
              <a:ext uri="{FF2B5EF4-FFF2-40B4-BE49-F238E27FC236}">
                <a16:creationId xmlns:a16="http://schemas.microsoft.com/office/drawing/2014/main" id="{F70DC2D5-A8BC-547C-6081-7437AE0738B2}"/>
              </a:ext>
            </a:extLst>
          </p:cNvPr>
          <p:cNvPicPr>
            <a:picLocks noChangeAspect="1"/>
          </p:cNvPicPr>
          <p:nvPr/>
        </p:nvPicPr>
        <p:blipFill>
          <a:blip r:embed="rId3"/>
          <a:stretch>
            <a:fillRect/>
          </a:stretch>
        </p:blipFill>
        <p:spPr>
          <a:xfrm>
            <a:off x="4062808" y="6305783"/>
            <a:ext cx="4066384" cy="469433"/>
          </a:xfrm>
          <a:prstGeom prst="rect">
            <a:avLst/>
          </a:prstGeom>
        </p:spPr>
      </p:pic>
    </p:spTree>
    <p:extLst>
      <p:ext uri="{BB962C8B-B14F-4D97-AF65-F5344CB8AC3E}">
        <p14:creationId xmlns:p14="http://schemas.microsoft.com/office/powerpoint/2010/main" val="811190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3C5376-E976-C153-BF1E-8A16D800F67F}"/>
              </a:ext>
            </a:extLst>
          </p:cNvPr>
          <p:cNvSpPr>
            <a:spLocks noGrp="1"/>
          </p:cNvSpPr>
          <p:nvPr>
            <p:ph type="title"/>
          </p:nvPr>
        </p:nvSpPr>
        <p:spPr>
          <a:xfrm>
            <a:off x="566382" y="609600"/>
            <a:ext cx="8596668" cy="1320800"/>
          </a:xfrm>
        </p:spPr>
        <p:txBody>
          <a:bodyPr/>
          <a:lstStyle/>
          <a:p>
            <a:r>
              <a:rPr lang="es-ES" dirty="0"/>
              <a:t>Información de preguntas </a:t>
            </a:r>
            <a:endParaRPr lang="es-CL" dirty="0"/>
          </a:p>
        </p:txBody>
      </p:sp>
      <p:sp>
        <p:nvSpPr>
          <p:cNvPr id="4" name="CuadroTexto 3">
            <a:extLst>
              <a:ext uri="{FF2B5EF4-FFF2-40B4-BE49-F238E27FC236}">
                <a16:creationId xmlns:a16="http://schemas.microsoft.com/office/drawing/2014/main" id="{6A7BF47E-5AD6-B7A4-6E70-A7779B6DB457}"/>
              </a:ext>
            </a:extLst>
          </p:cNvPr>
          <p:cNvSpPr txBox="1"/>
          <p:nvPr/>
        </p:nvSpPr>
        <p:spPr>
          <a:xfrm>
            <a:off x="566382" y="1930400"/>
            <a:ext cx="10948284" cy="4031873"/>
          </a:xfrm>
          <a:prstGeom prst="rect">
            <a:avLst/>
          </a:prstGeom>
          <a:noFill/>
        </p:spPr>
        <p:txBody>
          <a:bodyPr wrap="square">
            <a:spAutoFit/>
          </a:bodyPr>
          <a:lstStyle/>
          <a:p>
            <a:r>
              <a:rPr lang="es-ES" sz="1600" dirty="0">
                <a:latin typeface="Arial" panose="020B0604020202020204" pitchFamily="34" charset="0"/>
                <a:cs typeface="Arial" panose="020B0604020202020204" pitchFamily="34" charset="0"/>
              </a:rPr>
              <a:t>1-.¿Cuál es la resistencia del cable de sujeción en este equipo?</a:t>
            </a:r>
          </a:p>
          <a:p>
            <a:endParaRPr lang="es-ES" sz="1600" dirty="0">
              <a:latin typeface="Arial" panose="020B0604020202020204" pitchFamily="34" charset="0"/>
              <a:cs typeface="Arial" panose="020B0604020202020204" pitchFamily="34" charset="0"/>
            </a:endParaRPr>
          </a:p>
          <a:p>
            <a:r>
              <a:rPr lang="es-ES" sz="1600" dirty="0">
                <a:latin typeface="Arial" panose="020B0604020202020204" pitchFamily="34" charset="0"/>
                <a:cs typeface="Arial" panose="020B0604020202020204" pitchFamily="34" charset="0"/>
              </a:rPr>
              <a:t>El Alambre de acero es el componente básico del cable. Es fabricado con acero de alto contenido de carbono y posee distintos grados o calidades, que dependen exclusivamente de los requerimientos finales del cable. Los alambres no sólo se refieren a la resistencia a la tracción, sino también a la resistencia a las torsiones y flexiones. </a:t>
            </a:r>
          </a:p>
          <a:p>
            <a:endParaRPr lang="es-ES" sz="1600" dirty="0">
              <a:latin typeface="Arial" panose="020B0604020202020204" pitchFamily="34" charset="0"/>
              <a:cs typeface="Arial" panose="020B0604020202020204" pitchFamily="34" charset="0"/>
            </a:endParaRPr>
          </a:p>
          <a:p>
            <a:endParaRPr lang="es-ES" sz="1600" dirty="0">
              <a:latin typeface="Arial" panose="020B0604020202020204" pitchFamily="34" charset="0"/>
              <a:cs typeface="Arial" panose="020B0604020202020204" pitchFamily="34" charset="0"/>
            </a:endParaRPr>
          </a:p>
          <a:p>
            <a:r>
              <a:rPr lang="es-ES" sz="1600" dirty="0">
                <a:latin typeface="Arial" panose="020B0604020202020204" pitchFamily="34" charset="0"/>
                <a:cs typeface="Arial" panose="020B0604020202020204" pitchFamily="34" charset="0"/>
              </a:rPr>
              <a:t>2-.¿Cuál será el presupuesto destinado a la compra de materiales ?</a:t>
            </a:r>
          </a:p>
          <a:p>
            <a:endParaRPr lang="es-ES" sz="1600" dirty="0">
              <a:latin typeface="Arial" panose="020B0604020202020204" pitchFamily="34" charset="0"/>
              <a:cs typeface="Arial" panose="020B0604020202020204" pitchFamily="34" charset="0"/>
            </a:endParaRPr>
          </a:p>
          <a:p>
            <a:r>
              <a:rPr lang="es-ES" sz="1600" dirty="0">
                <a:latin typeface="Arial" panose="020B0604020202020204" pitchFamily="34" charset="0"/>
                <a:cs typeface="Arial" panose="020B0604020202020204" pitchFamily="34" charset="0"/>
              </a:rPr>
              <a:t>Luego de hacer la revisión de la grúa pivotante mural modelo MTL, Para poder realizar el cálculo del presupuesto, hay que tener en cuenta la cantidad de  ingresos con la que se cuenta  para así tener claridad de cuanto se destinará para la  compra de materiales. Una vez  realizando  esto hay que calcular el costo de los materiales,  para luego tabular todo y tener un registro, para esto se realizarán  unos cálculos y se implementará el uso de  Excel  para llevar a cabo el registro.</a:t>
            </a:r>
          </a:p>
          <a:p>
            <a:r>
              <a:rPr lang="es-ES" sz="1600" dirty="0">
                <a:latin typeface="Arial" panose="020B0604020202020204" pitchFamily="34" charset="0"/>
                <a:cs typeface="Arial" panose="020B0604020202020204" pitchFamily="34" charset="0"/>
              </a:rPr>
              <a:t> Esto se realizará implementando diversas sumatorias que permitirán obtener el valor total de los materiales. </a:t>
            </a:r>
          </a:p>
          <a:p>
            <a:endParaRPr lang="es-CL"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4299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94834" y="1488613"/>
            <a:ext cx="8596668" cy="3880773"/>
          </a:xfrm>
        </p:spPr>
        <p:txBody>
          <a:bodyPr vert="horz" lIns="91440" tIns="45720" rIns="91440" bIns="45720" rtlCol="0" anchor="t">
            <a:normAutofit/>
          </a:bodyPr>
          <a:lstStyle/>
          <a:p>
            <a:pPr marL="0" indent="0" algn="just">
              <a:lnSpc>
                <a:spcPct val="90000"/>
              </a:lnSpc>
              <a:buNone/>
            </a:pPr>
            <a:r>
              <a:rPr lang="es-ES" sz="1600" dirty="0">
                <a:latin typeface="Arial" panose="020B0604020202020204" pitchFamily="34" charset="0"/>
                <a:ea typeface="+mn-lt"/>
                <a:cs typeface="Arial" panose="020B0604020202020204" pitchFamily="34" charset="0"/>
              </a:rPr>
              <a:t>3-.¿Cuáles son los indicadores de una grúa pluma, para hacer la implementación de una mejora en su estructura y soporte?                         </a:t>
            </a:r>
            <a:endParaRPr lang="es-ES" sz="1600" dirty="0">
              <a:latin typeface="Arial" panose="020B0604020202020204" pitchFamily="34" charset="0"/>
              <a:cs typeface="Arial" panose="020B0604020202020204" pitchFamily="34" charset="0"/>
            </a:endParaRPr>
          </a:p>
          <a:p>
            <a:pPr marL="0" indent="0" algn="just">
              <a:lnSpc>
                <a:spcPct val="90000"/>
              </a:lnSpc>
              <a:buNone/>
            </a:pPr>
            <a:r>
              <a:rPr lang="es-ES" sz="1600" dirty="0">
                <a:latin typeface="Arial" panose="020B0604020202020204" pitchFamily="34" charset="0"/>
                <a:cs typeface="Arial" panose="020B0604020202020204" pitchFamily="34" charset="0"/>
              </a:rPr>
              <a:t>Los  indicadores serán dados luego de realizar el respectivo testeo, los que nos permitirá tener una idea de cuáles serán los  materiales que requieran la mejora en cuanto a soporte y estructuras, estos pueden ser  que al momento de aplicar una carga el equipo  se tambalee  y tenga un sonido poco habitual.</a:t>
            </a:r>
          </a:p>
          <a:p>
            <a:pPr marL="0" indent="0" algn="just">
              <a:lnSpc>
                <a:spcPct val="90000"/>
              </a:lnSpc>
              <a:buNone/>
            </a:pPr>
            <a:endParaRPr lang="es-ES" sz="1600" dirty="0">
              <a:latin typeface="Arial" panose="020B0604020202020204" pitchFamily="34" charset="0"/>
              <a:cs typeface="Arial" panose="020B0604020202020204" pitchFamily="34" charset="0"/>
            </a:endParaRPr>
          </a:p>
          <a:p>
            <a:pPr marL="0" indent="0" algn="just">
              <a:lnSpc>
                <a:spcPct val="90000"/>
              </a:lnSpc>
              <a:buNone/>
            </a:pPr>
            <a:r>
              <a:rPr lang="es-ES" sz="1600" dirty="0">
                <a:latin typeface="Arial" panose="020B0604020202020204" pitchFamily="34" charset="0"/>
                <a:cs typeface="Arial" panose="020B0604020202020204" pitchFamily="34" charset="0"/>
              </a:rPr>
              <a:t>4-.¿</a:t>
            </a:r>
            <a:r>
              <a:rPr lang="es-ES" sz="1600" dirty="0">
                <a:latin typeface="Arial" panose="020B0604020202020204" pitchFamily="34" charset="0"/>
                <a:ea typeface="+mn-lt"/>
                <a:cs typeface="Arial" panose="020B0604020202020204" pitchFamily="34" charset="0"/>
              </a:rPr>
              <a:t>Cómo se calcula la resistencia que tienen los pernos de sujeción para soportar el peso de las cargas</a:t>
            </a:r>
            <a:r>
              <a:rPr lang="es-ES" sz="1600" dirty="0">
                <a:latin typeface="Arial" panose="020B0604020202020204" pitchFamily="34" charset="0"/>
                <a:cs typeface="Arial" panose="020B0604020202020204" pitchFamily="34" charset="0"/>
              </a:rPr>
              <a:t>?</a:t>
            </a:r>
          </a:p>
          <a:p>
            <a:pPr marL="0" indent="0" algn="just">
              <a:lnSpc>
                <a:spcPct val="90000"/>
              </a:lnSpc>
              <a:buNone/>
            </a:pPr>
            <a:r>
              <a:rPr lang="es-ES" sz="1600" dirty="0">
                <a:latin typeface="Arial" panose="020B0604020202020204" pitchFamily="34" charset="0"/>
                <a:cs typeface="Arial" panose="020B0604020202020204" pitchFamily="34" charset="0"/>
              </a:rPr>
              <a:t>Por lo cual el perno se selecciona al tipo de ambiente donde se  utilizará y para el tipo de proyecto,  siendo la  fórmula para calcular la resistencia de los pernos de sujeción las siguientes:</a:t>
            </a:r>
          </a:p>
          <a:p>
            <a:pPr>
              <a:lnSpc>
                <a:spcPct val="90000"/>
              </a:lnSpc>
            </a:pPr>
            <a:endParaRPr lang="es-ES" sz="1800" dirty="0"/>
          </a:p>
          <a:p>
            <a:pPr>
              <a:lnSpc>
                <a:spcPct val="90000"/>
              </a:lnSpc>
            </a:pPr>
            <a:endParaRPr lang="es-CL" sz="1800" dirty="0"/>
          </a:p>
          <a:p>
            <a:pPr>
              <a:lnSpc>
                <a:spcPct val="90000"/>
              </a:lnSpc>
              <a:buNone/>
            </a:pPr>
            <a:endParaRPr lang="es-ES" sz="1800" dirty="0"/>
          </a:p>
          <a:p>
            <a:endParaRPr lang="es-E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a:t>Formulas a utilizar </a:t>
            </a:r>
            <a:endParaRPr lang="es-ES"/>
          </a:p>
        </p:txBody>
      </p:sp>
      <p:sp>
        <p:nvSpPr>
          <p:cNvPr id="8" name="Text Box 7"/>
          <p:cNvSpPr txBox="1"/>
          <p:nvPr/>
        </p:nvSpPr>
        <p:spPr>
          <a:xfrm>
            <a:off x="520700" y="1285240"/>
            <a:ext cx="4064000" cy="645160"/>
          </a:xfrm>
          <a:prstGeom prst="rect">
            <a:avLst/>
          </a:prstGeom>
          <a:noFill/>
        </p:spPr>
        <p:txBody>
          <a:bodyPr wrap="square" rtlCol="0">
            <a:spAutoFit/>
          </a:bodyPr>
          <a:lstStyle/>
          <a:p>
            <a:r>
              <a:rPr lang="es-CL" altLang="en-US">
                <a:latin typeface="Arial" panose="020B0604020202020204" pitchFamily="34" charset="0"/>
                <a:cs typeface="Arial" panose="020B0604020202020204" pitchFamily="34" charset="0"/>
              </a:rPr>
              <a:t>Primera ley de Newton - Ley de inercia</a:t>
            </a:r>
          </a:p>
        </p:txBody>
      </p:sp>
      <p:pic>
        <p:nvPicPr>
          <p:cNvPr id="9" name="Picture 8"/>
          <p:cNvPicPr>
            <a:picLocks noChangeAspect="1"/>
          </p:cNvPicPr>
          <p:nvPr/>
        </p:nvPicPr>
        <p:blipFill>
          <a:blip r:embed="rId2"/>
          <a:stretch>
            <a:fillRect/>
          </a:stretch>
        </p:blipFill>
        <p:spPr>
          <a:xfrm>
            <a:off x="3583305" y="2117725"/>
            <a:ext cx="2124075" cy="2230755"/>
          </a:xfrm>
          <a:prstGeom prst="rect">
            <a:avLst/>
          </a:prstGeom>
          <a:effectLst>
            <a:glow rad="63500">
              <a:schemeClr val="accent1">
                <a:satMod val="175000"/>
                <a:alpha val="40000"/>
              </a:schemeClr>
            </a:glow>
          </a:effectLst>
        </p:spPr>
      </p:pic>
      <p:pic>
        <p:nvPicPr>
          <p:cNvPr id="10" name="Picture 9"/>
          <p:cNvPicPr>
            <a:picLocks noChangeAspect="1"/>
          </p:cNvPicPr>
          <p:nvPr/>
        </p:nvPicPr>
        <p:blipFill>
          <a:blip r:embed="rId3"/>
          <a:stretch>
            <a:fillRect/>
          </a:stretch>
        </p:blipFill>
        <p:spPr>
          <a:xfrm>
            <a:off x="5908675" y="2117725"/>
            <a:ext cx="1866900" cy="981075"/>
          </a:xfrm>
          <a:prstGeom prst="rect">
            <a:avLst/>
          </a:prstGeom>
          <a:effectLst>
            <a:glow rad="63500">
              <a:schemeClr val="accent1">
                <a:satMod val="175000"/>
                <a:alpha val="40000"/>
              </a:schemeClr>
            </a:glow>
          </a:effectLst>
        </p:spPr>
      </p:pic>
      <p:pic>
        <p:nvPicPr>
          <p:cNvPr id="11" name="Picture 10"/>
          <p:cNvPicPr>
            <a:picLocks noChangeAspect="1"/>
          </p:cNvPicPr>
          <p:nvPr/>
        </p:nvPicPr>
        <p:blipFill>
          <a:blip r:embed="rId4"/>
          <a:stretch>
            <a:fillRect/>
          </a:stretch>
        </p:blipFill>
        <p:spPr>
          <a:xfrm>
            <a:off x="520700" y="2117725"/>
            <a:ext cx="2989580" cy="2231390"/>
          </a:xfrm>
          <a:prstGeom prst="rect">
            <a:avLst/>
          </a:prstGeom>
          <a:effectLst>
            <a:glow rad="63500">
              <a:schemeClr val="accent1">
                <a:satMod val="175000"/>
                <a:alpha val="40000"/>
              </a:schemeClr>
            </a:glow>
          </a:effectLst>
        </p:spPr>
      </p:pic>
      <p:pic>
        <p:nvPicPr>
          <p:cNvPr id="12" name="Picture 11"/>
          <p:cNvPicPr>
            <a:picLocks noChangeAspect="1"/>
          </p:cNvPicPr>
          <p:nvPr/>
        </p:nvPicPr>
        <p:blipFill>
          <a:blip r:embed="rId5"/>
          <a:stretch>
            <a:fillRect/>
          </a:stretch>
        </p:blipFill>
        <p:spPr>
          <a:xfrm>
            <a:off x="5908675" y="3286125"/>
            <a:ext cx="1866900" cy="1059180"/>
          </a:xfrm>
          <a:prstGeom prst="rect">
            <a:avLst/>
          </a:prstGeom>
          <a:effectLst>
            <a:glow rad="63500">
              <a:schemeClr val="accent1">
                <a:satMod val="175000"/>
                <a:alpha val="40000"/>
              </a:schemeClr>
            </a:glow>
          </a:effectLst>
        </p:spPr>
      </p:pic>
      <p:pic>
        <p:nvPicPr>
          <p:cNvPr id="13" name="Picture 12"/>
          <p:cNvPicPr>
            <a:picLocks noChangeAspect="1"/>
          </p:cNvPicPr>
          <p:nvPr/>
        </p:nvPicPr>
        <p:blipFill>
          <a:blip r:embed="rId6"/>
          <a:stretch>
            <a:fillRect/>
          </a:stretch>
        </p:blipFill>
        <p:spPr>
          <a:xfrm>
            <a:off x="7976870" y="2117725"/>
            <a:ext cx="1476375" cy="552450"/>
          </a:xfrm>
          <a:prstGeom prst="rect">
            <a:avLst/>
          </a:prstGeom>
          <a:effectLst>
            <a:glow rad="63500">
              <a:schemeClr val="accent1">
                <a:satMod val="175000"/>
                <a:alpha val="40000"/>
              </a:schemeClr>
            </a:glow>
          </a:effectLst>
        </p:spPr>
      </p:pic>
      <p:pic>
        <p:nvPicPr>
          <p:cNvPr id="14" name="Picture 13"/>
          <p:cNvPicPr>
            <a:picLocks noChangeAspect="1"/>
          </p:cNvPicPr>
          <p:nvPr/>
        </p:nvPicPr>
        <p:blipFill>
          <a:blip r:embed="rId7"/>
          <a:stretch>
            <a:fillRect/>
          </a:stretch>
        </p:blipFill>
        <p:spPr>
          <a:xfrm>
            <a:off x="8011795" y="2731135"/>
            <a:ext cx="1440815" cy="495935"/>
          </a:xfrm>
          <a:prstGeom prst="rect">
            <a:avLst/>
          </a:prstGeom>
          <a:effectLst>
            <a:glow rad="63500">
              <a:schemeClr val="accent1">
                <a:satMod val="175000"/>
                <a:alpha val="40000"/>
              </a:schemeClr>
            </a:glow>
          </a:effectLst>
        </p:spPr>
      </p:pic>
      <p:sp>
        <p:nvSpPr>
          <p:cNvPr id="15" name="Text Box 14"/>
          <p:cNvSpPr txBox="1"/>
          <p:nvPr/>
        </p:nvSpPr>
        <p:spPr>
          <a:xfrm>
            <a:off x="520700" y="4895215"/>
            <a:ext cx="1723390" cy="1322070"/>
          </a:xfrm>
          <a:prstGeom prst="rect">
            <a:avLst/>
          </a:prstGeom>
          <a:noFill/>
        </p:spPr>
        <p:txBody>
          <a:bodyPr wrap="square" rtlCol="0">
            <a:spAutoFit/>
          </a:bodyPr>
          <a:lstStyle/>
          <a:p>
            <a:r>
              <a:rPr lang="es-CL" altLang="en-US" sz="1600">
                <a:latin typeface="Arial" panose="020B0604020202020204" pitchFamily="34" charset="0"/>
                <a:cs typeface="Arial" panose="020B0604020202020204" pitchFamily="34" charset="0"/>
              </a:rPr>
              <a:t>T= Tension</a:t>
            </a:r>
          </a:p>
          <a:p>
            <a:r>
              <a:rPr lang="es-CL" altLang="en-US" sz="1600">
                <a:latin typeface="Arial" panose="020B0604020202020204" pitchFamily="34" charset="0"/>
                <a:cs typeface="Arial" panose="020B0604020202020204" pitchFamily="34" charset="0"/>
              </a:rPr>
              <a:t>    = Sumatoria</a:t>
            </a:r>
          </a:p>
          <a:p>
            <a:r>
              <a:rPr lang="es-CL" altLang="en-US" sz="1600">
                <a:latin typeface="Arial" panose="020B0604020202020204" pitchFamily="34" charset="0"/>
                <a:cs typeface="Arial" panose="020B0604020202020204" pitchFamily="34" charset="0"/>
              </a:rPr>
              <a:t>F= Fuerza</a:t>
            </a:r>
          </a:p>
          <a:p>
            <a:r>
              <a:rPr lang="es-CL" altLang="en-US" sz="1600">
                <a:latin typeface="Arial" panose="020B0604020202020204" pitchFamily="34" charset="0"/>
                <a:cs typeface="Arial" panose="020B0604020202020204" pitchFamily="34" charset="0"/>
              </a:rPr>
              <a:t>W= Peso</a:t>
            </a:r>
          </a:p>
          <a:p>
            <a:r>
              <a:rPr lang="es-CL" altLang="en-US" sz="1600">
                <a:latin typeface="Arial" panose="020B0604020202020204" pitchFamily="34" charset="0"/>
                <a:cs typeface="Arial" panose="020B0604020202020204" pitchFamily="34" charset="0"/>
              </a:rPr>
              <a:t>N= Newton</a:t>
            </a:r>
          </a:p>
        </p:txBody>
      </p:sp>
      <p:pic>
        <p:nvPicPr>
          <p:cNvPr id="100" name="Content Placeholder 99"/>
          <p:cNvPicPr>
            <a:picLocks noGrp="1" noChangeAspect="1"/>
          </p:cNvPicPr>
          <p:nvPr>
            <p:ph idx="1"/>
          </p:nvPr>
        </p:nvPicPr>
        <p:blipFill>
          <a:blip r:embed="rId8">
            <a:extLst>
              <a:ext uri="{96DAC541-7B7A-43D3-8B79-37D633B846F1}">
                <asvg:svgBlip xmlns:asvg="http://schemas.microsoft.com/office/drawing/2016/SVG/main" r:embed="rId9"/>
              </a:ext>
            </a:extLst>
          </a:blip>
          <a:stretch>
            <a:fillRect/>
          </a:stretch>
        </p:blipFill>
        <p:spPr>
          <a:xfrm>
            <a:off x="580496" y="5248274"/>
            <a:ext cx="193675" cy="252095"/>
          </a:xfrm>
          <a:prstGeom prst="rect">
            <a:avLst/>
          </a:prstGeom>
          <a:noFill/>
        </p:spPr>
      </p:pic>
      <p:sp>
        <p:nvSpPr>
          <p:cNvPr id="17" name="Text Box 16"/>
          <p:cNvSpPr txBox="1"/>
          <p:nvPr/>
        </p:nvSpPr>
        <p:spPr>
          <a:xfrm>
            <a:off x="2742565" y="4836160"/>
            <a:ext cx="5269230" cy="1076325"/>
          </a:xfrm>
          <a:prstGeom prst="rect">
            <a:avLst/>
          </a:prstGeom>
          <a:noFill/>
        </p:spPr>
        <p:txBody>
          <a:bodyPr wrap="square" rtlCol="0">
            <a:spAutoFit/>
          </a:bodyPr>
          <a:lstStyle/>
          <a:p>
            <a:pPr algn="just"/>
            <a:r>
              <a:rPr lang="es-CL" altLang="en-US" sz="1600">
                <a:latin typeface="Arial" panose="020B0604020202020204" pitchFamily="34" charset="0"/>
                <a:cs typeface="Arial" panose="020B0604020202020204" pitchFamily="34" charset="0"/>
              </a:rPr>
              <a:t>La primera ley de Newton, también conocida como ley de la inercia, establece que un cuerpo no cambia su estado de reposo o movimiento a menos que se le aplique una fuerza externa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L">
                <a:sym typeface="+mn-ea"/>
              </a:rPr>
              <a:t>Formulas a utilizar </a:t>
            </a:r>
            <a:endParaRPr lang="en-US"/>
          </a:p>
        </p:txBody>
      </p:sp>
      <p:sp>
        <p:nvSpPr>
          <p:cNvPr id="3" name="Content Placeholder 2"/>
          <p:cNvSpPr>
            <a:spLocks noGrp="1"/>
          </p:cNvSpPr>
          <p:nvPr>
            <p:ph idx="1"/>
          </p:nvPr>
        </p:nvSpPr>
        <p:spPr>
          <a:xfrm>
            <a:off x="677545" y="1225550"/>
            <a:ext cx="8780145" cy="5169535"/>
          </a:xfrm>
        </p:spPr>
        <p:txBody>
          <a:bodyPr>
            <a:noAutofit/>
          </a:bodyPr>
          <a:lstStyle/>
          <a:p>
            <a:pPr>
              <a:lnSpc>
                <a:spcPct val="0"/>
              </a:lnSpc>
            </a:pPr>
            <a:endParaRPr lang="es-CL" altLang="en-US" sz="1400" dirty="0"/>
          </a:p>
          <a:p>
            <a:pPr>
              <a:lnSpc>
                <a:spcPct val="0"/>
              </a:lnSpc>
            </a:pPr>
            <a:endParaRPr lang="es-CL" altLang="en-US" sz="1400" dirty="0"/>
          </a:p>
          <a:p>
            <a:pPr>
              <a:lnSpc>
                <a:spcPct val="60000"/>
              </a:lnSpc>
            </a:pPr>
            <a:r>
              <a:rPr lang="es-CL" altLang="en-US" sz="1600" dirty="0">
                <a:latin typeface="Arial" panose="020B0604020202020204" pitchFamily="34" charset="0"/>
                <a:cs typeface="Arial" panose="020B0604020202020204" pitchFamily="34" charset="0"/>
              </a:rPr>
              <a:t>Cálculo de resistencia de pernos</a:t>
            </a:r>
          </a:p>
          <a:p>
            <a:pPr marL="0" indent="0">
              <a:lnSpc>
                <a:spcPct val="60000"/>
              </a:lnSpc>
              <a:buNone/>
            </a:pPr>
            <a:r>
              <a:rPr lang="es-CL" altLang="en-US" sz="1600" dirty="0">
                <a:latin typeface="Arial" panose="020B0604020202020204" pitchFamily="34" charset="0"/>
                <a:cs typeface="Arial" panose="020B0604020202020204" pitchFamily="34" charset="0"/>
              </a:rPr>
              <a:t>π • r² = calcular la resistencia de un perno</a:t>
            </a:r>
          </a:p>
          <a:p>
            <a:pPr marL="0" indent="0">
              <a:lnSpc>
                <a:spcPct val="60000"/>
              </a:lnSpc>
              <a:buNone/>
            </a:pPr>
            <a:r>
              <a:rPr lang="es-CL" altLang="en-US" sz="1600" dirty="0">
                <a:latin typeface="Arial" panose="020B0604020202020204" pitchFamily="34" charset="0"/>
                <a:cs typeface="Arial" panose="020B0604020202020204" pitchFamily="34" charset="0"/>
              </a:rPr>
              <a:t>Estos se calculan segun su calidad:</a:t>
            </a:r>
          </a:p>
          <a:p>
            <a:pPr marL="0" indent="0">
              <a:lnSpc>
                <a:spcPct val="60000"/>
              </a:lnSpc>
              <a:buNone/>
            </a:pPr>
            <a:endParaRPr lang="es-CL" altLang="en-US" sz="1600" dirty="0">
              <a:latin typeface="Arial" panose="020B0604020202020204" pitchFamily="34" charset="0"/>
              <a:cs typeface="Arial" panose="020B0604020202020204" pitchFamily="34" charset="0"/>
            </a:endParaRPr>
          </a:p>
          <a:p>
            <a:pPr marL="0" indent="0">
              <a:lnSpc>
                <a:spcPct val="20000"/>
              </a:lnSpc>
              <a:buNone/>
            </a:pPr>
            <a:r>
              <a:rPr lang="es-CL" altLang="en-US" sz="1600" dirty="0">
                <a:latin typeface="Arial" panose="020B0604020202020204" pitchFamily="34" charset="0"/>
                <a:cs typeface="Arial" panose="020B0604020202020204" pitchFamily="34" charset="0"/>
              </a:rPr>
              <a:t>Clases de calidad</a:t>
            </a:r>
          </a:p>
          <a:p>
            <a:pPr marL="0" indent="0">
              <a:lnSpc>
                <a:spcPct val="20000"/>
              </a:lnSpc>
              <a:buNone/>
            </a:pPr>
            <a:endParaRPr lang="es-CL" altLang="en-US" sz="16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3.6    Acero al carbono.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4.6    Acero al carbono.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4.8    Acero al carbono.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5.6    Acero al carbono.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5.8    Acero al carbono.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6.8    Acero al carbono.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8.8    Acero al carbono con o sin aditivos templado y revenido.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10.9  Acero al carbono con o sin aditivos templado y revenido o acero aleado templado</a:t>
            </a:r>
          </a:p>
          <a:p>
            <a:pPr marL="0" indent="0">
              <a:lnSpc>
                <a:spcPct val="0"/>
              </a:lnSpc>
              <a:buNone/>
            </a:pPr>
            <a:endParaRPr lang="es-CL" altLang="en-US" sz="1400" dirty="0">
              <a:latin typeface="Arial" panose="020B0604020202020204" pitchFamily="34" charset="0"/>
              <a:cs typeface="Arial" panose="020B0604020202020204" pitchFamily="34" charset="0"/>
            </a:endParaRPr>
          </a:p>
          <a:p>
            <a:pPr marL="0" indent="0">
              <a:lnSpc>
                <a:spcPct val="0"/>
              </a:lnSpc>
              <a:buNone/>
            </a:pPr>
            <a:r>
              <a:rPr lang="es-CL" altLang="en-US" sz="1400" dirty="0">
                <a:latin typeface="Arial" panose="020B0604020202020204" pitchFamily="34" charset="0"/>
                <a:cs typeface="Arial" panose="020B0604020202020204" pitchFamily="34" charset="0"/>
              </a:rPr>
              <a:t>12.9  Acero aleado templado y revenido.</a:t>
            </a:r>
          </a:p>
          <a:p>
            <a:pPr marL="0" indent="0">
              <a:lnSpc>
                <a:spcPct val="30000"/>
              </a:lnSpc>
              <a:buNone/>
            </a:pPr>
            <a:endParaRPr lang="es-CL" altLang="en-US" sz="1400" dirty="0">
              <a:latin typeface="Arial" panose="020B0604020202020204" pitchFamily="34" charset="0"/>
              <a:cs typeface="Arial" panose="020B0604020202020204" pitchFamily="34" charset="0"/>
            </a:endParaRPr>
          </a:p>
          <a:p>
            <a:pPr marL="0" indent="0">
              <a:lnSpc>
                <a:spcPct val="30000"/>
              </a:lnSpc>
              <a:buNone/>
            </a:pPr>
            <a:r>
              <a:rPr lang="es-CL" altLang="en-US" sz="1400" dirty="0">
                <a:latin typeface="Arial" panose="020B0604020202020204" pitchFamily="34" charset="0"/>
                <a:cs typeface="Arial" panose="020B0604020202020204" pitchFamily="34" charset="0"/>
              </a:rPr>
              <a:t>En el caso de un tornillo de calidad 10.9, tendría una resistencia a la rotura de 10 • 100 = 1000 N/mm².</a:t>
            </a:r>
          </a:p>
          <a:p>
            <a:pPr marL="0" indent="0">
              <a:lnSpc>
                <a:spcPct val="80000"/>
              </a:lnSpc>
              <a:buNone/>
            </a:pPr>
            <a:r>
              <a:rPr lang="es-CL" altLang="en-US" sz="1400" dirty="0">
                <a:latin typeface="Arial" panose="020B0604020202020204" pitchFamily="34" charset="0"/>
                <a:cs typeface="Arial" panose="020B0604020202020204" pitchFamily="34" charset="0"/>
              </a:rPr>
              <a:t>Como teníamos una resistencia de 1000 N/mm² lo multiplicamos por la sección resultando en 1000 • 50.24 = 50240N/mm².</a:t>
            </a:r>
          </a:p>
          <a:p>
            <a:pPr marL="0" indent="0">
              <a:lnSpc>
                <a:spcPct val="80000"/>
              </a:lnSpc>
              <a:buNone/>
            </a:pPr>
            <a:r>
              <a:rPr lang="es-CL" altLang="en-US" sz="1400" dirty="0">
                <a:latin typeface="Arial" panose="020B0604020202020204" pitchFamily="34" charset="0"/>
                <a:cs typeface="Arial" panose="020B0604020202020204" pitchFamily="34" charset="0"/>
              </a:rPr>
              <a:t>Dado que 10 N son aproximadamente 1 Kg, tenemos como resultado que un tornillo de calidad 10.9, métrica 8 soporta 5024 kg.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46382"/>
            <a:ext cx="8596668" cy="1320800"/>
          </a:xfrm>
        </p:spPr>
        <p:txBody>
          <a:bodyPr/>
          <a:lstStyle/>
          <a:p>
            <a:pPr algn="just"/>
            <a:r>
              <a:rPr lang="es-ES" dirty="0"/>
              <a:t>Desarrollo del producto</a:t>
            </a:r>
            <a:r>
              <a:rPr lang="es-CL" altLang="es-ES" dirty="0"/>
              <a:t> </a:t>
            </a:r>
          </a:p>
        </p:txBody>
      </p:sp>
      <p:pic>
        <p:nvPicPr>
          <p:cNvPr id="5" name="Marcador de contenido 4" descr="Interfaz de usuario gráfica&#10;&#10;Descripción generada automáticamente"/>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r="23477"/>
          <a:stretch>
            <a:fillRect/>
          </a:stretch>
        </p:blipFill>
        <p:spPr>
          <a:xfrm>
            <a:off x="1082407" y="1154078"/>
            <a:ext cx="3671182" cy="2698604"/>
          </a:xfrm>
          <a:ln>
            <a:solidFill>
              <a:schemeClr val="tx1"/>
            </a:solidFill>
          </a:ln>
        </p:spPr>
      </p:pic>
      <p:pic>
        <p:nvPicPr>
          <p:cNvPr id="9" name="Imagen 8"/>
          <p:cNvPicPr>
            <a:picLocks noChangeAspect="1"/>
          </p:cNvPicPr>
          <p:nvPr/>
        </p:nvPicPr>
        <p:blipFill rotWithShape="1">
          <a:blip r:embed="rId3"/>
          <a:srcRect r="23477"/>
          <a:stretch>
            <a:fillRect/>
          </a:stretch>
        </p:blipFill>
        <p:spPr>
          <a:xfrm>
            <a:off x="5056092" y="1154077"/>
            <a:ext cx="3671182" cy="2698605"/>
          </a:xfrm>
          <a:prstGeom prst="rect">
            <a:avLst/>
          </a:prstGeom>
          <a:ln>
            <a:solidFill>
              <a:schemeClr val="tx1"/>
            </a:solidFill>
          </a:ln>
        </p:spPr>
      </p:pic>
      <p:pic>
        <p:nvPicPr>
          <p:cNvPr id="11" name="Imagen 10"/>
          <p:cNvPicPr>
            <a:picLocks noChangeAspect="1"/>
          </p:cNvPicPr>
          <p:nvPr/>
        </p:nvPicPr>
        <p:blipFill rotWithShape="1">
          <a:blip r:embed="rId4"/>
          <a:srcRect r="23581"/>
          <a:stretch>
            <a:fillRect/>
          </a:stretch>
        </p:blipFill>
        <p:spPr>
          <a:xfrm>
            <a:off x="3140077" y="3905219"/>
            <a:ext cx="3671182" cy="2702252"/>
          </a:xfrm>
          <a:prstGeom prst="rect">
            <a:avLst/>
          </a:prstGeom>
          <a:ln>
            <a:solidFill>
              <a:schemeClr val="tx1"/>
            </a:solidFill>
          </a:ln>
        </p:spPr>
      </p:pic>
      <p:sp>
        <p:nvSpPr>
          <p:cNvPr id="3" name="Text Box 2"/>
          <p:cNvSpPr txBox="1"/>
          <p:nvPr/>
        </p:nvSpPr>
        <p:spPr>
          <a:xfrm>
            <a:off x="1082675" y="3852545"/>
            <a:ext cx="1651635" cy="276999"/>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sym typeface="+mn-ea"/>
              </a:rPr>
              <a:t>(Elaboración propia)</a:t>
            </a:r>
            <a:endParaRPr lang="es-CL" altLang="en-US" sz="1200">
              <a:latin typeface="Arial" panose="020B0604020202020204" pitchFamily="34" charset="0"/>
              <a:cs typeface="Arial" panose="020B0604020202020204" pitchFamily="34" charset="0"/>
            </a:endParaRPr>
          </a:p>
        </p:txBody>
      </p:sp>
      <p:sp>
        <p:nvSpPr>
          <p:cNvPr id="4" name="Text Box 3"/>
          <p:cNvSpPr txBox="1"/>
          <p:nvPr/>
        </p:nvSpPr>
        <p:spPr>
          <a:xfrm>
            <a:off x="6811645" y="3852545"/>
            <a:ext cx="2694940" cy="275590"/>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sym typeface="+mn-ea"/>
              </a:rPr>
              <a:t>(Elaboración propia)</a:t>
            </a:r>
            <a:endParaRPr lang="es-CL" altLang="en-US" sz="1200">
              <a:latin typeface="Arial" panose="020B0604020202020204" pitchFamily="34" charset="0"/>
              <a:cs typeface="Arial" panose="020B0604020202020204" pitchFamily="34" charset="0"/>
            </a:endParaRPr>
          </a:p>
        </p:txBody>
      </p:sp>
      <p:sp>
        <p:nvSpPr>
          <p:cNvPr id="6" name="Text Box 5"/>
          <p:cNvSpPr txBox="1"/>
          <p:nvPr/>
        </p:nvSpPr>
        <p:spPr>
          <a:xfrm>
            <a:off x="3140075" y="6551295"/>
            <a:ext cx="2669540" cy="275590"/>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sym typeface="+mn-ea"/>
              </a:rPr>
              <a:t>(Elaboración propia)</a:t>
            </a:r>
            <a:endParaRPr lang="es-CL" altLang="en-US" sz="120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Presentación del producto </a:t>
            </a:r>
            <a:endParaRPr lang="es-CL" dirty="0"/>
          </a:p>
        </p:txBody>
      </p:sp>
      <p:pic>
        <p:nvPicPr>
          <p:cNvPr id="5" name="Content Placeholder 4"/>
          <p:cNvPicPr>
            <a:picLocks noGrp="1" noChangeAspect="1"/>
          </p:cNvPicPr>
          <p:nvPr>
            <p:ph sz="half" idx="1"/>
          </p:nvPr>
        </p:nvPicPr>
        <p:blipFill>
          <a:blip r:embed="rId2"/>
          <a:srcRect l="3527" t="17476" r="23665" b="9262"/>
          <a:stretch>
            <a:fillRect/>
          </a:stretch>
        </p:blipFill>
        <p:spPr>
          <a:xfrm>
            <a:off x="835660" y="1292860"/>
            <a:ext cx="5422900" cy="3049905"/>
          </a:xfrm>
          <a:prstGeom prst="rect">
            <a:avLst/>
          </a:prstGeom>
          <a:ln>
            <a:solidFill>
              <a:schemeClr val="tx1"/>
            </a:solidFill>
          </a:ln>
        </p:spPr>
      </p:pic>
      <p:pic>
        <p:nvPicPr>
          <p:cNvPr id="6" name="Content Placeholder 5"/>
          <p:cNvPicPr>
            <a:picLocks noGrp="1" noChangeAspect="1"/>
          </p:cNvPicPr>
          <p:nvPr>
            <p:ph sz="half" idx="2"/>
          </p:nvPr>
        </p:nvPicPr>
        <p:blipFill>
          <a:blip r:embed="rId3"/>
          <a:srcRect l="12561" t="25553" r="27803" b="12979"/>
          <a:stretch>
            <a:fillRect/>
          </a:stretch>
        </p:blipFill>
        <p:spPr>
          <a:xfrm>
            <a:off x="835660" y="4613275"/>
            <a:ext cx="3314065" cy="1918335"/>
          </a:xfrm>
          <a:prstGeom prst="rect">
            <a:avLst/>
          </a:prstGeom>
          <a:ln>
            <a:solidFill>
              <a:schemeClr val="tx1"/>
            </a:solidFill>
          </a:ln>
        </p:spPr>
      </p:pic>
      <p:pic>
        <p:nvPicPr>
          <p:cNvPr id="7" name="Picture 6"/>
          <p:cNvPicPr>
            <a:picLocks noChangeAspect="1"/>
          </p:cNvPicPr>
          <p:nvPr/>
        </p:nvPicPr>
        <p:blipFill>
          <a:blip r:embed="rId4"/>
          <a:srcRect l="11623" t="23158" r="24013" b="11595"/>
          <a:stretch>
            <a:fillRect/>
          </a:stretch>
        </p:blipFill>
        <p:spPr>
          <a:xfrm>
            <a:off x="4293235" y="4613275"/>
            <a:ext cx="3368675" cy="1920875"/>
          </a:xfrm>
          <a:prstGeom prst="rect">
            <a:avLst/>
          </a:prstGeom>
          <a:ln>
            <a:solidFill>
              <a:schemeClr val="tx1"/>
            </a:solidFill>
          </a:ln>
        </p:spPr>
      </p:pic>
      <p:pic>
        <p:nvPicPr>
          <p:cNvPr id="8" name="Picture 7"/>
          <p:cNvPicPr>
            <a:picLocks noChangeAspect="1"/>
          </p:cNvPicPr>
          <p:nvPr/>
        </p:nvPicPr>
        <p:blipFill>
          <a:blip r:embed="rId5"/>
          <a:srcRect l="11921" t="17304" r="29671" b="9310"/>
          <a:stretch>
            <a:fillRect/>
          </a:stretch>
        </p:blipFill>
        <p:spPr>
          <a:xfrm>
            <a:off x="6442710" y="1292860"/>
            <a:ext cx="3411855" cy="2411730"/>
          </a:xfrm>
          <a:prstGeom prst="rect">
            <a:avLst/>
          </a:prstGeom>
          <a:ln>
            <a:solidFill>
              <a:schemeClr val="tx1"/>
            </a:solidFill>
          </a:ln>
        </p:spPr>
      </p:pic>
      <p:sp>
        <p:nvSpPr>
          <p:cNvPr id="3" name="Text Box 2"/>
          <p:cNvSpPr txBox="1"/>
          <p:nvPr/>
        </p:nvSpPr>
        <p:spPr>
          <a:xfrm>
            <a:off x="835660" y="4306570"/>
            <a:ext cx="4064000" cy="275590"/>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sym typeface="+mn-ea"/>
              </a:rPr>
              <a:t>(Elavoracion propia) Matias Vasquez</a:t>
            </a:r>
          </a:p>
        </p:txBody>
      </p:sp>
      <p:sp>
        <p:nvSpPr>
          <p:cNvPr id="4" name="Text Box 3"/>
          <p:cNvSpPr txBox="1"/>
          <p:nvPr/>
        </p:nvSpPr>
        <p:spPr>
          <a:xfrm>
            <a:off x="6442710" y="3704590"/>
            <a:ext cx="4064000" cy="275590"/>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rPr>
              <a:t>(Elavoracion propia) Matias Vasquez</a:t>
            </a:r>
          </a:p>
        </p:txBody>
      </p:sp>
      <p:sp>
        <p:nvSpPr>
          <p:cNvPr id="9" name="Text Box 8"/>
          <p:cNvSpPr txBox="1"/>
          <p:nvPr/>
        </p:nvSpPr>
        <p:spPr>
          <a:xfrm>
            <a:off x="775970" y="6531610"/>
            <a:ext cx="4064000" cy="275590"/>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sym typeface="+mn-ea"/>
              </a:rPr>
              <a:t>(Elavoracion propia) Matias Vasquez</a:t>
            </a:r>
            <a:endParaRPr lang="es-CL" altLang="en-US" sz="1200">
              <a:latin typeface="Arial" panose="020B0604020202020204" pitchFamily="34" charset="0"/>
              <a:cs typeface="Arial" panose="020B0604020202020204" pitchFamily="34" charset="0"/>
            </a:endParaRPr>
          </a:p>
        </p:txBody>
      </p:sp>
      <p:sp>
        <p:nvSpPr>
          <p:cNvPr id="10" name="Text Box 9"/>
          <p:cNvSpPr txBox="1"/>
          <p:nvPr/>
        </p:nvSpPr>
        <p:spPr>
          <a:xfrm>
            <a:off x="4293235" y="6531610"/>
            <a:ext cx="4064000" cy="275590"/>
          </a:xfrm>
          <a:prstGeom prst="rect">
            <a:avLst/>
          </a:prstGeom>
          <a:noFill/>
        </p:spPr>
        <p:txBody>
          <a:bodyPr wrap="square" rtlCol="0">
            <a:spAutoFit/>
          </a:bodyPr>
          <a:lstStyle/>
          <a:p>
            <a:r>
              <a:rPr lang="es-CL" altLang="en-US" sz="1200">
                <a:latin typeface="Arial" panose="020B0604020202020204" pitchFamily="34" charset="0"/>
                <a:cs typeface="Arial" panose="020B0604020202020204" pitchFamily="34" charset="0"/>
                <a:sym typeface="+mn-ea"/>
              </a:rPr>
              <a:t>(Elavoracion propia) Matias Vasquez</a:t>
            </a:r>
            <a:endParaRPr lang="es-CL" altLang="en-US" sz="120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 Resultados y conclusiones </a:t>
            </a:r>
            <a:endParaRPr lang="es-CL" dirty="0"/>
          </a:p>
        </p:txBody>
      </p:sp>
      <p:sp>
        <p:nvSpPr>
          <p:cNvPr id="3" name="Marcador de contenido 2"/>
          <p:cNvSpPr>
            <a:spLocks noGrp="1"/>
          </p:cNvSpPr>
          <p:nvPr>
            <p:ph idx="1"/>
          </p:nvPr>
        </p:nvSpPr>
        <p:spPr>
          <a:xfrm>
            <a:off x="584200" y="889000"/>
            <a:ext cx="8854902" cy="5359400"/>
          </a:xfrm>
        </p:spPr>
        <p:txBody>
          <a:bodyPr>
            <a:normAutofit fontScale="25000" lnSpcReduction="20000"/>
          </a:bodyPr>
          <a:lstStyle/>
          <a:p>
            <a:endParaRPr lang="es-ES" dirty="0"/>
          </a:p>
          <a:p>
            <a:endParaRPr lang="es-ES" dirty="0"/>
          </a:p>
          <a:p>
            <a:endParaRPr lang="es-ES" dirty="0"/>
          </a:p>
          <a:p>
            <a:endParaRPr lang="es-ES" sz="4900" dirty="0">
              <a:latin typeface="Arial" panose="020B0604020202020204" pitchFamily="34" charset="0"/>
              <a:cs typeface="Arial" panose="020B0604020202020204" pitchFamily="34" charset="0"/>
            </a:endParaRPr>
          </a:p>
          <a:p>
            <a:endParaRPr lang="es-ES" sz="4900" dirty="0">
              <a:latin typeface="Arial" panose="020B0604020202020204" pitchFamily="34" charset="0"/>
              <a:cs typeface="Arial" panose="020B0604020202020204" pitchFamily="34" charset="0"/>
            </a:endParaRPr>
          </a:p>
          <a:p>
            <a:endParaRPr lang="es-ES" sz="4900" dirty="0">
              <a:latin typeface="Arial" panose="020B0604020202020204" pitchFamily="34" charset="0"/>
              <a:cs typeface="Arial" panose="020B0604020202020204" pitchFamily="34" charset="0"/>
            </a:endParaRPr>
          </a:p>
          <a:p>
            <a:r>
              <a:rPr lang="es-ES" sz="6400" dirty="0">
                <a:latin typeface="Arial" panose="020B0604020202020204" pitchFamily="34" charset="0"/>
                <a:cs typeface="Arial" panose="020B0604020202020204" pitchFamily="34" charset="0"/>
              </a:rPr>
              <a:t>Resultados </a:t>
            </a:r>
          </a:p>
          <a:p>
            <a:pPr marL="0" indent="0">
              <a:buNone/>
            </a:pPr>
            <a:r>
              <a:rPr lang="es-ES" sz="6400" dirty="0">
                <a:latin typeface="Arial" panose="020B0604020202020204" pitchFamily="34" charset="0"/>
                <a:cs typeface="Arial" panose="020B0604020202020204" pitchFamily="34" charset="0"/>
              </a:rPr>
              <a:t>Para comprobar los resultados de este equipo una vez ya modificado se le hacen  una serie de pruebas tales como maniobras de </a:t>
            </a:r>
            <a:r>
              <a:rPr lang="es-ES" sz="6400" dirty="0" err="1">
                <a:latin typeface="Arial" panose="020B0604020202020204" pitchFamily="34" charset="0"/>
                <a:cs typeface="Arial" panose="020B0604020202020204" pitchFamily="34" charset="0"/>
              </a:rPr>
              <a:t>izaje</a:t>
            </a:r>
            <a:r>
              <a:rPr lang="es-ES" sz="6400" dirty="0">
                <a:latin typeface="Arial" panose="020B0604020202020204" pitchFamily="34" charset="0"/>
                <a:cs typeface="Arial" panose="020B0604020202020204" pitchFamily="34" charset="0"/>
              </a:rPr>
              <a:t> con el peso que soporte el equipo para verificar su funcionamiento. </a:t>
            </a:r>
          </a:p>
          <a:p>
            <a:pPr marL="0" indent="0">
              <a:buNone/>
            </a:pPr>
            <a:endParaRPr lang="es-ES" sz="6400" dirty="0">
              <a:latin typeface="Arial" panose="020B0604020202020204" pitchFamily="34" charset="0"/>
              <a:cs typeface="Arial" panose="020B0604020202020204" pitchFamily="34" charset="0"/>
            </a:endParaRPr>
          </a:p>
          <a:p>
            <a:endParaRPr lang="es-ES" sz="6400" dirty="0">
              <a:latin typeface="Arial" panose="020B0604020202020204" pitchFamily="34" charset="0"/>
              <a:cs typeface="Arial" panose="020B0604020202020204" pitchFamily="34" charset="0"/>
            </a:endParaRPr>
          </a:p>
          <a:p>
            <a:r>
              <a:rPr lang="es-ES" sz="6400" dirty="0">
                <a:latin typeface="Arial" panose="020B0604020202020204" pitchFamily="34" charset="0"/>
                <a:cs typeface="Arial" panose="020B0604020202020204" pitchFamily="34" charset="0"/>
              </a:rPr>
              <a:t>Conclusión </a:t>
            </a:r>
          </a:p>
          <a:p>
            <a:pPr marL="0" indent="0">
              <a:buNone/>
            </a:pPr>
            <a:r>
              <a:rPr lang="es-ES" sz="6400" dirty="0">
                <a:latin typeface="Arial" panose="020B0604020202020204" pitchFamily="34" charset="0"/>
                <a:cs typeface="Arial" panose="020B0604020202020204" pitchFamily="34" charset="0"/>
              </a:rPr>
              <a:t>En este proyecto adquirimos conocimiento al relacionarlos con distintas plataformas tecnológicas para poder ejecutar diversas tareas que eran necesarias para así lograr el objetivo del proyecto que se basaba en mejorar  una estructura adecuada tanto para el equipo y para el soporte de este, y así mejorar la confianza y seguridad de los operadores de la grúa pivotante MTL. </a:t>
            </a:r>
          </a:p>
          <a:p>
            <a:endParaRPr lang="es-ES" dirty="0"/>
          </a:p>
          <a:p>
            <a:endParaRPr lang="es-CL"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0A0BB-3FDD-463B-924B-5AC1507CC5EF}"/>
              </a:ext>
            </a:extLst>
          </p:cNvPr>
          <p:cNvSpPr>
            <a:spLocks noGrp="1"/>
          </p:cNvSpPr>
          <p:nvPr>
            <p:ph type="title"/>
          </p:nvPr>
        </p:nvSpPr>
        <p:spPr/>
        <p:txBody>
          <a:bodyPr/>
          <a:lstStyle/>
          <a:p>
            <a:r>
              <a:rPr lang="es-ES" dirty="0"/>
              <a:t>Coevaluación </a:t>
            </a:r>
            <a:endParaRPr lang="es-CL" dirty="0"/>
          </a:p>
        </p:txBody>
      </p:sp>
      <p:graphicFrame>
        <p:nvGraphicFramePr>
          <p:cNvPr id="3" name="Tabla 2">
            <a:extLst>
              <a:ext uri="{FF2B5EF4-FFF2-40B4-BE49-F238E27FC236}">
                <a16:creationId xmlns:a16="http://schemas.microsoft.com/office/drawing/2014/main" id="{651C8E03-72F4-4BA0-8A19-66A039EB1AF2}"/>
              </a:ext>
            </a:extLst>
          </p:cNvPr>
          <p:cNvGraphicFramePr>
            <a:graphicFrameLocks noGrp="1"/>
          </p:cNvGraphicFramePr>
          <p:nvPr>
            <p:extLst>
              <p:ext uri="{D42A27DB-BD31-4B8C-83A1-F6EECF244321}">
                <p14:modId xmlns:p14="http://schemas.microsoft.com/office/powerpoint/2010/main" val="746291585"/>
              </p:ext>
            </p:extLst>
          </p:nvPr>
        </p:nvGraphicFramePr>
        <p:xfrm>
          <a:off x="1372433" y="1270000"/>
          <a:ext cx="8127999" cy="5308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39937100"/>
                    </a:ext>
                  </a:extLst>
                </a:gridCol>
                <a:gridCol w="2709333">
                  <a:extLst>
                    <a:ext uri="{9D8B030D-6E8A-4147-A177-3AD203B41FA5}">
                      <a16:colId xmlns:a16="http://schemas.microsoft.com/office/drawing/2014/main" val="1751335275"/>
                    </a:ext>
                  </a:extLst>
                </a:gridCol>
                <a:gridCol w="2709333">
                  <a:extLst>
                    <a:ext uri="{9D8B030D-6E8A-4147-A177-3AD203B41FA5}">
                      <a16:colId xmlns:a16="http://schemas.microsoft.com/office/drawing/2014/main" val="929604601"/>
                    </a:ext>
                  </a:extLst>
                </a:gridCol>
              </a:tblGrid>
              <a:tr h="370840">
                <a:tc>
                  <a:txBody>
                    <a:bodyPr/>
                    <a:lstStyle/>
                    <a:p>
                      <a:r>
                        <a:rPr lang="es-ES" dirty="0"/>
                        <a:t>Criterios:</a:t>
                      </a:r>
                      <a:endParaRPr lang="es-CL" dirty="0"/>
                    </a:p>
                  </a:txBody>
                  <a:tcPr/>
                </a:tc>
                <a:tc>
                  <a:txBody>
                    <a:bodyPr/>
                    <a:lstStyle/>
                    <a:p>
                      <a:r>
                        <a:rPr lang="es-ES" dirty="0"/>
                        <a:t>Nombre: Matías Vázquez </a:t>
                      </a:r>
                      <a:endParaRPr lang="es-CL" dirty="0"/>
                    </a:p>
                  </a:txBody>
                  <a:tcPr/>
                </a:tc>
                <a:tc>
                  <a:txBody>
                    <a:bodyPr/>
                    <a:lstStyle/>
                    <a:p>
                      <a:r>
                        <a:rPr lang="es-ES" dirty="0"/>
                        <a:t>Nombre: Ángel Rebolledo</a:t>
                      </a:r>
                      <a:endParaRPr lang="es-CL" dirty="0"/>
                    </a:p>
                  </a:txBody>
                  <a:tcPr/>
                </a:tc>
                <a:extLst>
                  <a:ext uri="{0D108BD9-81ED-4DB2-BD59-A6C34878D82A}">
                    <a16:rowId xmlns:a16="http://schemas.microsoft.com/office/drawing/2014/main" val="3110759364"/>
                  </a:ext>
                </a:extLst>
              </a:tr>
              <a:tr h="370840">
                <a:tc>
                  <a:txBody>
                    <a:bodyPr/>
                    <a:lstStyle/>
                    <a:p>
                      <a:r>
                        <a:rPr lang="es-ES" dirty="0"/>
                        <a:t>Participa activamente en cada etapa de la evaluación.</a:t>
                      </a:r>
                      <a:endParaRPr lang="es-CL" dirty="0"/>
                    </a:p>
                  </a:txBody>
                  <a:tcPr/>
                </a:tc>
                <a:tc>
                  <a:txBody>
                    <a:bodyPr/>
                    <a:lstStyle/>
                    <a:p>
                      <a:r>
                        <a:rPr lang="es-ES" dirty="0"/>
                        <a:t>7</a:t>
                      </a:r>
                      <a:endParaRPr lang="es-CL" dirty="0"/>
                    </a:p>
                  </a:txBody>
                  <a:tcPr/>
                </a:tc>
                <a:tc>
                  <a:txBody>
                    <a:bodyPr/>
                    <a:lstStyle/>
                    <a:p>
                      <a:r>
                        <a:rPr lang="es-ES" dirty="0"/>
                        <a:t>7</a:t>
                      </a:r>
                      <a:endParaRPr lang="es-CL" dirty="0"/>
                    </a:p>
                  </a:txBody>
                  <a:tcPr/>
                </a:tc>
                <a:extLst>
                  <a:ext uri="{0D108BD9-81ED-4DB2-BD59-A6C34878D82A}">
                    <a16:rowId xmlns:a16="http://schemas.microsoft.com/office/drawing/2014/main" val="3010419678"/>
                  </a:ext>
                </a:extLst>
              </a:tr>
              <a:tr h="370840">
                <a:tc>
                  <a:txBody>
                    <a:bodyPr/>
                    <a:lstStyle/>
                    <a:p>
                      <a:r>
                        <a:rPr lang="es-ES" dirty="0"/>
                        <a:t>Cumple con las tareas asignadas en los plazos estipulados.</a:t>
                      </a:r>
                      <a:endParaRPr lang="es-CL" dirty="0"/>
                    </a:p>
                  </a:txBody>
                  <a:tcPr/>
                </a:tc>
                <a:tc>
                  <a:txBody>
                    <a:bodyPr/>
                    <a:lstStyle/>
                    <a:p>
                      <a:r>
                        <a:rPr lang="es-ES" dirty="0"/>
                        <a:t>7</a:t>
                      </a:r>
                      <a:endParaRPr lang="es-CL" dirty="0"/>
                    </a:p>
                  </a:txBody>
                  <a:tcPr/>
                </a:tc>
                <a:tc>
                  <a:txBody>
                    <a:bodyPr/>
                    <a:lstStyle/>
                    <a:p>
                      <a:r>
                        <a:rPr lang="es-ES" dirty="0"/>
                        <a:t>7</a:t>
                      </a:r>
                      <a:endParaRPr lang="es-CL" dirty="0"/>
                    </a:p>
                  </a:txBody>
                  <a:tcPr/>
                </a:tc>
                <a:extLst>
                  <a:ext uri="{0D108BD9-81ED-4DB2-BD59-A6C34878D82A}">
                    <a16:rowId xmlns:a16="http://schemas.microsoft.com/office/drawing/2014/main" val="1070178556"/>
                  </a:ext>
                </a:extLst>
              </a:tr>
              <a:tr h="370840">
                <a:tc>
                  <a:txBody>
                    <a:bodyPr/>
                    <a:lstStyle/>
                    <a:p>
                      <a:r>
                        <a:rPr lang="es-ES" dirty="0"/>
                        <a:t>Realiza su trabajo con un nivel óptimo de calidad. </a:t>
                      </a:r>
                      <a:endParaRPr lang="es-CL" dirty="0"/>
                    </a:p>
                  </a:txBody>
                  <a:tcPr/>
                </a:tc>
                <a:tc>
                  <a:txBody>
                    <a:bodyPr/>
                    <a:lstStyle/>
                    <a:p>
                      <a:r>
                        <a:rPr lang="es-ES" dirty="0"/>
                        <a:t>7</a:t>
                      </a:r>
                      <a:endParaRPr lang="es-CL" dirty="0"/>
                    </a:p>
                  </a:txBody>
                  <a:tcPr/>
                </a:tc>
                <a:tc>
                  <a:txBody>
                    <a:bodyPr/>
                    <a:lstStyle/>
                    <a:p>
                      <a:r>
                        <a:rPr lang="es-ES" dirty="0"/>
                        <a:t>7</a:t>
                      </a:r>
                      <a:endParaRPr lang="es-CL" dirty="0"/>
                    </a:p>
                  </a:txBody>
                  <a:tcPr/>
                </a:tc>
                <a:extLst>
                  <a:ext uri="{0D108BD9-81ED-4DB2-BD59-A6C34878D82A}">
                    <a16:rowId xmlns:a16="http://schemas.microsoft.com/office/drawing/2014/main" val="1715716008"/>
                  </a:ext>
                </a:extLst>
              </a:tr>
              <a:tr h="370840">
                <a:tc>
                  <a:txBody>
                    <a:bodyPr/>
                    <a:lstStyle/>
                    <a:p>
                      <a:r>
                        <a:rPr lang="es-ES" dirty="0"/>
                        <a:t>Respeta las ideas planteadas por los otros miembros del equipo.</a:t>
                      </a:r>
                      <a:endParaRPr lang="es-CL" dirty="0"/>
                    </a:p>
                  </a:txBody>
                  <a:tcPr/>
                </a:tc>
                <a:tc>
                  <a:txBody>
                    <a:bodyPr/>
                    <a:lstStyle/>
                    <a:p>
                      <a:r>
                        <a:rPr lang="es-ES" dirty="0"/>
                        <a:t>7</a:t>
                      </a:r>
                      <a:endParaRPr lang="es-CL" dirty="0"/>
                    </a:p>
                  </a:txBody>
                  <a:tcPr/>
                </a:tc>
                <a:tc>
                  <a:txBody>
                    <a:bodyPr/>
                    <a:lstStyle/>
                    <a:p>
                      <a:r>
                        <a:rPr lang="es-ES" dirty="0"/>
                        <a:t>7</a:t>
                      </a:r>
                      <a:endParaRPr lang="es-CL" dirty="0"/>
                    </a:p>
                  </a:txBody>
                  <a:tcPr/>
                </a:tc>
                <a:extLst>
                  <a:ext uri="{0D108BD9-81ED-4DB2-BD59-A6C34878D82A}">
                    <a16:rowId xmlns:a16="http://schemas.microsoft.com/office/drawing/2014/main" val="260314005"/>
                  </a:ext>
                </a:extLst>
              </a:tr>
              <a:tr h="370840">
                <a:tc>
                  <a:txBody>
                    <a:bodyPr/>
                    <a:lstStyle/>
                    <a:p>
                      <a:r>
                        <a:rPr lang="es-ES" dirty="0"/>
                        <a:t>Cumple los acuerdos y normas grupales </a:t>
                      </a:r>
                      <a:endParaRPr lang="es-CL" dirty="0"/>
                    </a:p>
                  </a:txBody>
                  <a:tcPr/>
                </a:tc>
                <a:tc>
                  <a:txBody>
                    <a:bodyPr/>
                    <a:lstStyle/>
                    <a:p>
                      <a:r>
                        <a:rPr lang="es-ES" dirty="0"/>
                        <a:t>7</a:t>
                      </a:r>
                      <a:endParaRPr lang="es-CL" dirty="0"/>
                    </a:p>
                  </a:txBody>
                  <a:tcPr/>
                </a:tc>
                <a:tc>
                  <a:txBody>
                    <a:bodyPr/>
                    <a:lstStyle/>
                    <a:p>
                      <a:r>
                        <a:rPr lang="es-ES" dirty="0"/>
                        <a:t>7</a:t>
                      </a:r>
                      <a:endParaRPr lang="es-CL" dirty="0"/>
                    </a:p>
                  </a:txBody>
                  <a:tcPr/>
                </a:tc>
                <a:extLst>
                  <a:ext uri="{0D108BD9-81ED-4DB2-BD59-A6C34878D82A}">
                    <a16:rowId xmlns:a16="http://schemas.microsoft.com/office/drawing/2014/main" val="2308222819"/>
                  </a:ext>
                </a:extLst>
              </a:tr>
              <a:tr h="370840">
                <a:tc>
                  <a:txBody>
                    <a:bodyPr/>
                    <a:lstStyle/>
                    <a:p>
                      <a:r>
                        <a:rPr lang="es-ES" dirty="0"/>
                        <a:t>       Promedio final:  </a:t>
                      </a:r>
                      <a:endParaRPr lang="es-CL" dirty="0"/>
                    </a:p>
                  </a:txBody>
                  <a:tcPr/>
                </a:tc>
                <a:tc>
                  <a:txBody>
                    <a:bodyPr/>
                    <a:lstStyle/>
                    <a:p>
                      <a:r>
                        <a:rPr lang="es-ES" dirty="0"/>
                        <a:t>7</a:t>
                      </a:r>
                      <a:endParaRPr lang="es-CL" dirty="0"/>
                    </a:p>
                  </a:txBody>
                  <a:tcPr/>
                </a:tc>
                <a:tc>
                  <a:txBody>
                    <a:bodyPr/>
                    <a:lstStyle/>
                    <a:p>
                      <a:r>
                        <a:rPr lang="es-ES" dirty="0"/>
                        <a:t>7</a:t>
                      </a:r>
                      <a:endParaRPr lang="es-CL" dirty="0"/>
                    </a:p>
                  </a:txBody>
                  <a:tcPr/>
                </a:tc>
                <a:extLst>
                  <a:ext uri="{0D108BD9-81ED-4DB2-BD59-A6C34878D82A}">
                    <a16:rowId xmlns:a16="http://schemas.microsoft.com/office/drawing/2014/main" val="3504332379"/>
                  </a:ext>
                </a:extLst>
              </a:tr>
            </a:tbl>
          </a:graphicData>
        </a:graphic>
      </p:graphicFrame>
    </p:spTree>
    <p:extLst>
      <p:ext uri="{BB962C8B-B14F-4D97-AF65-F5344CB8AC3E}">
        <p14:creationId xmlns:p14="http://schemas.microsoft.com/office/powerpoint/2010/main" val="1349978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1973B-CFF4-FE2C-3A83-785BB72C98BA}"/>
              </a:ext>
            </a:extLst>
          </p:cNvPr>
          <p:cNvSpPr>
            <a:spLocks noGrp="1"/>
          </p:cNvSpPr>
          <p:nvPr>
            <p:ph type="title"/>
          </p:nvPr>
        </p:nvSpPr>
        <p:spPr>
          <a:xfrm>
            <a:off x="677334" y="399654"/>
            <a:ext cx="8596668" cy="1320800"/>
          </a:xfrm>
        </p:spPr>
        <p:txBody>
          <a:bodyPr/>
          <a:lstStyle/>
          <a:p>
            <a:r>
              <a:rPr lang="es-ES" dirty="0"/>
              <a:t>Autoevaluación </a:t>
            </a:r>
            <a:endParaRPr lang="es-CL" dirty="0"/>
          </a:p>
        </p:txBody>
      </p:sp>
      <p:graphicFrame>
        <p:nvGraphicFramePr>
          <p:cNvPr id="7" name="Tabla 6">
            <a:extLst>
              <a:ext uri="{FF2B5EF4-FFF2-40B4-BE49-F238E27FC236}">
                <a16:creationId xmlns:a16="http://schemas.microsoft.com/office/drawing/2014/main" id="{506D9973-F776-7C15-2CBF-6283C01EB452}"/>
              </a:ext>
            </a:extLst>
          </p:cNvPr>
          <p:cNvGraphicFramePr>
            <a:graphicFrameLocks noGrp="1"/>
          </p:cNvGraphicFramePr>
          <p:nvPr>
            <p:extLst>
              <p:ext uri="{D42A27DB-BD31-4B8C-83A1-F6EECF244321}">
                <p14:modId xmlns:p14="http://schemas.microsoft.com/office/powerpoint/2010/main" val="1098133039"/>
              </p:ext>
            </p:extLst>
          </p:nvPr>
        </p:nvGraphicFramePr>
        <p:xfrm>
          <a:off x="2032000" y="1424066"/>
          <a:ext cx="8128000" cy="5034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506836304"/>
                    </a:ext>
                  </a:extLst>
                </a:gridCol>
                <a:gridCol w="4064000">
                  <a:extLst>
                    <a:ext uri="{9D8B030D-6E8A-4147-A177-3AD203B41FA5}">
                      <a16:colId xmlns:a16="http://schemas.microsoft.com/office/drawing/2014/main" val="142504127"/>
                    </a:ext>
                  </a:extLst>
                </a:gridCol>
              </a:tblGrid>
              <a:tr h="281037">
                <a:tc>
                  <a:txBody>
                    <a:bodyPr/>
                    <a:lstStyle/>
                    <a:p>
                      <a:pPr algn="l"/>
                      <a:r>
                        <a:rPr lang="es-ES" dirty="0"/>
                        <a:t>Criterios:</a:t>
                      </a:r>
                      <a:endParaRPr lang="es-CL" dirty="0"/>
                    </a:p>
                  </a:txBody>
                  <a:tcPr/>
                </a:tc>
                <a:tc>
                  <a:txBody>
                    <a:bodyPr/>
                    <a:lstStyle/>
                    <a:p>
                      <a:pPr algn="l"/>
                      <a:r>
                        <a:rPr lang="es-ES" dirty="0"/>
                        <a:t>Nombre: Ángel Rebolledo </a:t>
                      </a:r>
                      <a:endParaRPr lang="es-CL" dirty="0"/>
                    </a:p>
                  </a:txBody>
                  <a:tcPr/>
                </a:tc>
                <a:extLst>
                  <a:ext uri="{0D108BD9-81ED-4DB2-BD59-A6C34878D82A}">
                    <a16:rowId xmlns:a16="http://schemas.microsoft.com/office/drawing/2014/main" val="3554547193"/>
                  </a:ext>
                </a:extLst>
              </a:tr>
              <a:tr h="370840">
                <a:tc>
                  <a:txBody>
                    <a:bodyPr/>
                    <a:lstStyle/>
                    <a:p>
                      <a:pPr algn="l"/>
                      <a:r>
                        <a:rPr lang="es-ES" dirty="0"/>
                        <a:t>Contribuyo de manera efectiva y participo activamente en el equipo de trabajo.</a:t>
                      </a:r>
                      <a:endParaRPr lang="es-CL" dirty="0"/>
                    </a:p>
                  </a:txBody>
                  <a:tcPr/>
                </a:tc>
                <a:tc>
                  <a:txBody>
                    <a:bodyPr/>
                    <a:lstStyle/>
                    <a:p>
                      <a:pPr algn="l"/>
                      <a:r>
                        <a:rPr lang="es-ES" dirty="0"/>
                        <a:t>7</a:t>
                      </a:r>
                      <a:endParaRPr lang="es-CL" dirty="0"/>
                    </a:p>
                  </a:txBody>
                  <a:tcPr/>
                </a:tc>
                <a:extLst>
                  <a:ext uri="{0D108BD9-81ED-4DB2-BD59-A6C34878D82A}">
                    <a16:rowId xmlns:a16="http://schemas.microsoft.com/office/drawing/2014/main" val="3437563758"/>
                  </a:ext>
                </a:extLst>
              </a:tr>
              <a:tr h="370840">
                <a:tc>
                  <a:txBody>
                    <a:bodyPr/>
                    <a:lstStyle/>
                    <a:p>
                      <a:pPr algn="l"/>
                      <a:r>
                        <a:rPr lang="es-ES" dirty="0"/>
                        <a:t>Mi habilidad para comunicarme y colaborar de manera constructiva.</a:t>
                      </a:r>
                      <a:endParaRPr lang="es-CL" dirty="0"/>
                    </a:p>
                  </a:txBody>
                  <a:tcPr/>
                </a:tc>
                <a:tc>
                  <a:txBody>
                    <a:bodyPr/>
                    <a:lstStyle/>
                    <a:p>
                      <a:pPr algn="l"/>
                      <a:r>
                        <a:rPr lang="es-ES" dirty="0"/>
                        <a:t>7</a:t>
                      </a:r>
                      <a:endParaRPr lang="es-CL" dirty="0"/>
                    </a:p>
                  </a:txBody>
                  <a:tcPr/>
                </a:tc>
                <a:extLst>
                  <a:ext uri="{0D108BD9-81ED-4DB2-BD59-A6C34878D82A}">
                    <a16:rowId xmlns:a16="http://schemas.microsoft.com/office/drawing/2014/main" val="3806383740"/>
                  </a:ext>
                </a:extLst>
              </a:tr>
              <a:tr h="370840">
                <a:tc>
                  <a:txBody>
                    <a:bodyPr/>
                    <a:lstStyle/>
                    <a:p>
                      <a:pPr algn="l"/>
                      <a:r>
                        <a:rPr lang="es-ES" dirty="0"/>
                        <a:t>Resuelvo conflicto y potencio un ambiente de trabajo positivo.</a:t>
                      </a:r>
                      <a:endParaRPr lang="es-CL" dirty="0"/>
                    </a:p>
                  </a:txBody>
                  <a:tcPr/>
                </a:tc>
                <a:tc>
                  <a:txBody>
                    <a:bodyPr/>
                    <a:lstStyle/>
                    <a:p>
                      <a:pPr algn="l"/>
                      <a:r>
                        <a:rPr lang="es-ES" dirty="0"/>
                        <a:t>7</a:t>
                      </a:r>
                      <a:endParaRPr lang="es-CL" dirty="0"/>
                    </a:p>
                  </a:txBody>
                  <a:tcPr/>
                </a:tc>
                <a:extLst>
                  <a:ext uri="{0D108BD9-81ED-4DB2-BD59-A6C34878D82A}">
                    <a16:rowId xmlns:a16="http://schemas.microsoft.com/office/drawing/2014/main" val="4289007136"/>
                  </a:ext>
                </a:extLst>
              </a:tr>
              <a:tr h="370840">
                <a:tc>
                  <a:txBody>
                    <a:bodyPr/>
                    <a:lstStyle/>
                    <a:p>
                      <a:pPr algn="l"/>
                      <a:r>
                        <a:rPr lang="es-ES" dirty="0"/>
                        <a:t>Cumplo responsablemente con las fechas de las tareas asignadas.</a:t>
                      </a:r>
                      <a:endParaRPr lang="es-CL" dirty="0"/>
                    </a:p>
                  </a:txBody>
                  <a:tcPr/>
                </a:tc>
                <a:tc>
                  <a:txBody>
                    <a:bodyPr/>
                    <a:lstStyle/>
                    <a:p>
                      <a:pPr algn="l"/>
                      <a:r>
                        <a:rPr lang="es-ES" dirty="0"/>
                        <a:t>7</a:t>
                      </a:r>
                      <a:endParaRPr lang="es-CL" dirty="0"/>
                    </a:p>
                  </a:txBody>
                  <a:tcPr/>
                </a:tc>
                <a:extLst>
                  <a:ext uri="{0D108BD9-81ED-4DB2-BD59-A6C34878D82A}">
                    <a16:rowId xmlns:a16="http://schemas.microsoft.com/office/drawing/2014/main" val="2712932517"/>
                  </a:ext>
                </a:extLst>
              </a:tr>
              <a:tr h="370840">
                <a:tc>
                  <a:txBody>
                    <a:bodyPr/>
                    <a:lstStyle/>
                    <a:p>
                      <a:pPr algn="l"/>
                      <a:r>
                        <a:rPr lang="es-ES" dirty="0"/>
                        <a:t>Acojo positivamente la retroalimentación hecha por el docente, o bien replanteó la situación observada mejorando sustancialmente.</a:t>
                      </a:r>
                      <a:endParaRPr lang="es-CL" dirty="0"/>
                    </a:p>
                  </a:txBody>
                  <a:tcPr/>
                </a:tc>
                <a:tc>
                  <a:txBody>
                    <a:bodyPr/>
                    <a:lstStyle/>
                    <a:p>
                      <a:pPr algn="l"/>
                      <a:r>
                        <a:rPr lang="es-ES" dirty="0"/>
                        <a:t>7</a:t>
                      </a:r>
                      <a:endParaRPr lang="es-CL" dirty="0"/>
                    </a:p>
                  </a:txBody>
                  <a:tcPr/>
                </a:tc>
                <a:extLst>
                  <a:ext uri="{0D108BD9-81ED-4DB2-BD59-A6C34878D82A}">
                    <a16:rowId xmlns:a16="http://schemas.microsoft.com/office/drawing/2014/main" val="1914857078"/>
                  </a:ext>
                </a:extLst>
              </a:tr>
              <a:tr h="370840">
                <a:tc>
                  <a:txBody>
                    <a:bodyPr/>
                    <a:lstStyle/>
                    <a:p>
                      <a:pPr algn="l"/>
                      <a:r>
                        <a:rPr lang="es-ES" dirty="0"/>
                        <a:t>                        Promedio nota final:</a:t>
                      </a:r>
                      <a:endParaRPr lang="es-CL" dirty="0"/>
                    </a:p>
                  </a:txBody>
                  <a:tcPr/>
                </a:tc>
                <a:tc>
                  <a:txBody>
                    <a:bodyPr/>
                    <a:lstStyle/>
                    <a:p>
                      <a:pPr algn="l"/>
                      <a:r>
                        <a:rPr lang="es-ES" dirty="0"/>
                        <a:t>7</a:t>
                      </a:r>
                      <a:endParaRPr lang="es-CL" dirty="0"/>
                    </a:p>
                  </a:txBody>
                  <a:tcPr/>
                </a:tc>
                <a:extLst>
                  <a:ext uri="{0D108BD9-81ED-4DB2-BD59-A6C34878D82A}">
                    <a16:rowId xmlns:a16="http://schemas.microsoft.com/office/drawing/2014/main" val="3030405112"/>
                  </a:ext>
                </a:extLst>
              </a:tr>
            </a:tbl>
          </a:graphicData>
        </a:graphic>
      </p:graphicFrame>
    </p:spTree>
    <p:extLst>
      <p:ext uri="{BB962C8B-B14F-4D97-AF65-F5344CB8AC3E}">
        <p14:creationId xmlns:p14="http://schemas.microsoft.com/office/powerpoint/2010/main" val="3998204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3D0032-0C7B-9FCC-57CE-115EA8243F0D}"/>
              </a:ext>
            </a:extLst>
          </p:cNvPr>
          <p:cNvSpPr>
            <a:spLocks noGrp="1"/>
          </p:cNvSpPr>
          <p:nvPr>
            <p:ph type="title"/>
          </p:nvPr>
        </p:nvSpPr>
        <p:spPr>
          <a:xfrm>
            <a:off x="692324" y="424240"/>
            <a:ext cx="8596668" cy="1320800"/>
          </a:xfrm>
        </p:spPr>
        <p:txBody>
          <a:bodyPr/>
          <a:lstStyle/>
          <a:p>
            <a:r>
              <a:rPr lang="es-ES" dirty="0"/>
              <a:t>Autoevaluación </a:t>
            </a:r>
            <a:endParaRPr lang="es-CL" dirty="0"/>
          </a:p>
        </p:txBody>
      </p:sp>
      <p:pic>
        <p:nvPicPr>
          <p:cNvPr id="4" name="Imagen 3">
            <a:extLst>
              <a:ext uri="{FF2B5EF4-FFF2-40B4-BE49-F238E27FC236}">
                <a16:creationId xmlns:a16="http://schemas.microsoft.com/office/drawing/2014/main" id="{71AF6A66-C65B-BD70-842A-A4AF51B2DE11}"/>
              </a:ext>
            </a:extLst>
          </p:cNvPr>
          <p:cNvPicPr>
            <a:picLocks noChangeAspect="1"/>
          </p:cNvPicPr>
          <p:nvPr/>
        </p:nvPicPr>
        <p:blipFill>
          <a:blip r:embed="rId2"/>
          <a:stretch>
            <a:fillRect/>
          </a:stretch>
        </p:blipFill>
        <p:spPr>
          <a:xfrm>
            <a:off x="2011326" y="1270000"/>
            <a:ext cx="8169348" cy="5163760"/>
          </a:xfrm>
          <a:prstGeom prst="rect">
            <a:avLst/>
          </a:prstGeom>
        </p:spPr>
      </p:pic>
    </p:spTree>
    <p:extLst>
      <p:ext uri="{BB962C8B-B14F-4D97-AF65-F5344CB8AC3E}">
        <p14:creationId xmlns:p14="http://schemas.microsoft.com/office/powerpoint/2010/main" val="2610017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Bibliografía y fuentes de la información </a:t>
            </a:r>
            <a:endParaRPr lang="es-CL" dirty="0"/>
          </a:p>
        </p:txBody>
      </p:sp>
      <p:sp>
        <p:nvSpPr>
          <p:cNvPr id="3" name="Marcador de contenido 2"/>
          <p:cNvSpPr>
            <a:spLocks noGrp="1"/>
          </p:cNvSpPr>
          <p:nvPr>
            <p:ph idx="1"/>
          </p:nvPr>
        </p:nvSpPr>
        <p:spPr/>
        <p:txBody>
          <a:bodyPr>
            <a:normAutofit fontScale="92500" lnSpcReduction="20000"/>
          </a:bodyPr>
          <a:lstStyle/>
          <a:p>
            <a:r>
              <a:rPr lang="es-CL" dirty="0">
                <a:solidFill>
                  <a:schemeClr val="tx1"/>
                </a:solidFill>
                <a:latin typeface="Arial" panose="020B0604020202020204" pitchFamily="34" charset="0"/>
                <a:cs typeface="Arial" panose="020B0604020202020204" pitchFamily="34" charset="0"/>
              </a:rPr>
              <a:t>Programas tecnológicos: </a:t>
            </a:r>
          </a:p>
          <a:p>
            <a:r>
              <a:rPr lang="es-CL" dirty="0">
                <a:solidFill>
                  <a:schemeClr val="tx1"/>
                </a:solidFill>
                <a:latin typeface="Arial" panose="020B0604020202020204" pitchFamily="34" charset="0"/>
                <a:cs typeface="Arial" panose="020B0604020202020204" pitchFamily="34" charset="0"/>
              </a:rPr>
              <a:t> </a:t>
            </a:r>
            <a:r>
              <a:rPr lang="es-CL" dirty="0">
                <a:solidFill>
                  <a:schemeClr val="tx1"/>
                </a:solidFill>
                <a:latin typeface="Arial" panose="020B0604020202020204" pitchFamily="34" charset="0"/>
                <a:cs typeface="Arial" panose="020B0604020202020204" pitchFamily="34" charset="0"/>
                <a:hlinkClick r:id="rId2"/>
              </a:rPr>
              <a:t>https://ideakreativa.net/el-software-geogebra/</a:t>
            </a:r>
            <a:r>
              <a:rPr lang="es-CL" dirty="0">
                <a:solidFill>
                  <a:schemeClr val="tx1"/>
                </a:solidFill>
                <a:latin typeface="Arial" panose="020B0604020202020204" pitchFamily="34" charset="0"/>
                <a:cs typeface="Arial" panose="020B0604020202020204" pitchFamily="34" charset="0"/>
              </a:rPr>
              <a:t> </a:t>
            </a:r>
          </a:p>
          <a:p>
            <a:r>
              <a:rPr lang="es-CL" dirty="0">
                <a:solidFill>
                  <a:schemeClr val="tx1"/>
                </a:solidFill>
                <a:latin typeface="Arial" panose="020B0604020202020204" pitchFamily="34" charset="0"/>
                <a:cs typeface="Arial" panose="020B0604020202020204" pitchFamily="34" charset="0"/>
                <a:hlinkClick r:id="rId3"/>
              </a:rPr>
              <a:t>https://ebac.mx/blog/que-es-sketchup</a:t>
            </a:r>
            <a:r>
              <a:rPr lang="es-ES" dirty="0">
                <a:solidFill>
                  <a:schemeClr val="tx1"/>
                </a:solidFill>
                <a:latin typeface="Arial" panose="020B0604020202020204" pitchFamily="34" charset="0"/>
                <a:cs typeface="Arial" panose="020B0604020202020204" pitchFamily="34" charset="0"/>
              </a:rPr>
              <a:t> </a:t>
            </a:r>
          </a:p>
          <a:p>
            <a:r>
              <a:rPr lang="es-ES" dirty="0">
                <a:solidFill>
                  <a:schemeClr val="tx1"/>
                </a:solidFill>
                <a:latin typeface="Arial" panose="020B0604020202020204" pitchFamily="34" charset="0"/>
                <a:cs typeface="Arial" panose="020B0604020202020204" pitchFamily="34" charset="0"/>
                <a:hlinkClick r:id="rId4"/>
              </a:rPr>
              <a:t>https://definicion.de/excel/#google_vignette</a:t>
            </a:r>
            <a:endParaRPr lang="es-ES" dirty="0">
              <a:solidFill>
                <a:schemeClr val="tx1"/>
              </a:solidFill>
              <a:latin typeface="Arial" panose="020B0604020202020204" pitchFamily="34" charset="0"/>
              <a:cs typeface="Arial" panose="020B0604020202020204" pitchFamily="34" charset="0"/>
            </a:endParaRPr>
          </a:p>
          <a:p>
            <a:r>
              <a:rPr lang="es-ES" dirty="0">
                <a:solidFill>
                  <a:schemeClr val="tx1"/>
                </a:solidFill>
                <a:latin typeface="Arial" panose="020B0604020202020204" pitchFamily="34" charset="0"/>
                <a:cs typeface="Arial" panose="020B0604020202020204" pitchFamily="34" charset="0"/>
              </a:rPr>
              <a:t>Formulas: </a:t>
            </a:r>
          </a:p>
          <a:p>
            <a:r>
              <a:rPr lang="es-CL" dirty="0">
                <a:solidFill>
                  <a:schemeClr val="tx1"/>
                </a:solidFill>
                <a:latin typeface="Arial" panose="020B0604020202020204" pitchFamily="34" charset="0"/>
                <a:cs typeface="Arial" panose="020B0604020202020204" pitchFamily="34" charset="0"/>
                <a:hlinkClick r:id="rId5"/>
              </a:rPr>
              <a:t>https://www.youtube.com/watch?v=F1tbScxJdT0&amp;t=171s</a:t>
            </a:r>
            <a:r>
              <a:rPr lang="es-CL" dirty="0">
                <a:solidFill>
                  <a:schemeClr val="tx1"/>
                </a:solidFill>
                <a:latin typeface="Arial" panose="020B0604020202020204" pitchFamily="34" charset="0"/>
                <a:cs typeface="Arial" panose="020B0604020202020204" pitchFamily="34" charset="0"/>
              </a:rPr>
              <a:t> </a:t>
            </a:r>
          </a:p>
          <a:p>
            <a:r>
              <a:rPr lang="es-CL" dirty="0">
                <a:solidFill>
                  <a:schemeClr val="tx1"/>
                </a:solidFill>
                <a:latin typeface="Arial" panose="020B0604020202020204" pitchFamily="34" charset="0"/>
                <a:cs typeface="Arial" panose="020B0604020202020204" pitchFamily="34" charset="0"/>
                <a:hlinkClick r:id="rId6"/>
              </a:rPr>
              <a:t>https://www.ferrovial.com/es/stem/leyes-de-newton/#:~:text=Primera%20Ley%20de%20Newton%20o%20ley%20de%20inercia&amp;text=Esta%20ley%20del%20movimiento%20establece,una%20o%20varias%20fuerzas%20externas</a:t>
            </a:r>
            <a:r>
              <a:rPr lang="es-CL" dirty="0">
                <a:solidFill>
                  <a:schemeClr val="tx1"/>
                </a:solidFill>
                <a:latin typeface="Arial" panose="020B0604020202020204" pitchFamily="34" charset="0"/>
                <a:cs typeface="Arial" panose="020B0604020202020204" pitchFamily="34" charset="0"/>
              </a:rPr>
              <a:t>.</a:t>
            </a:r>
            <a:r>
              <a:rPr lang="es-CL" dirty="0">
                <a:solidFill>
                  <a:srgbClr val="434343"/>
                </a:solidFill>
                <a:latin typeface="Arial" panose="020B0604020202020204" pitchFamily="34" charset="0"/>
                <a:cs typeface="Arial" panose="020B0604020202020204" pitchFamily="34" charset="0"/>
              </a:rPr>
              <a:t> </a:t>
            </a:r>
            <a:r>
              <a:rPr lang="es-ES" dirty="0">
                <a:solidFill>
                  <a:srgbClr val="434343"/>
                </a:solidFill>
                <a:latin typeface="Nunito" pitchFamily="2" charset="0"/>
              </a:rPr>
              <a:t> </a:t>
            </a:r>
          </a:p>
          <a:p>
            <a:r>
              <a:rPr lang="es-ES" dirty="0">
                <a:solidFill>
                  <a:srgbClr val="434343"/>
                </a:solidFill>
                <a:latin typeface="Nunito" pitchFamily="2" charset="0"/>
              </a:rPr>
              <a:t>Adjunto link de video y sus formulas desarrolladas</a:t>
            </a:r>
          </a:p>
          <a:p>
            <a:r>
              <a:rPr lang="es-ES" dirty="0">
                <a:solidFill>
                  <a:srgbClr val="434343"/>
                </a:solidFill>
                <a:latin typeface="Nunito" pitchFamily="2" charset="0"/>
              </a:rPr>
              <a:t> </a:t>
            </a:r>
            <a:r>
              <a:rPr lang="es-ES" dirty="0">
                <a:solidFill>
                  <a:srgbClr val="434343"/>
                </a:solidFill>
                <a:latin typeface="Nunito" pitchFamily="2" charset="0"/>
                <a:hlinkClick r:id="rId7"/>
              </a:rPr>
              <a:t>https://www.youtube.com/watch?v=VDqyRqyK1eA</a:t>
            </a:r>
            <a:r>
              <a:rPr lang="es-ES" dirty="0">
                <a:solidFill>
                  <a:srgbClr val="434343"/>
                </a:solidFill>
                <a:latin typeface="Nunito" pitchFamily="2" charset="0"/>
              </a:rPr>
              <a:t> </a:t>
            </a:r>
            <a:endParaRPr lang="es-CL" dirty="0"/>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1733</Words>
  <Application>Microsoft Macintosh PowerPoint</Application>
  <PresentationFormat>Panorámica</PresentationFormat>
  <Paragraphs>165</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Nunito</vt:lpstr>
      <vt:lpstr>Trebuchet MS</vt:lpstr>
      <vt:lpstr>Wingdings 3</vt:lpstr>
      <vt:lpstr>Faceta</vt:lpstr>
      <vt:lpstr>GRÚA PIVOTANTE DE PARED MTL </vt:lpstr>
      <vt:lpstr>Definición </vt:lpstr>
      <vt:lpstr>Tema de investigación </vt:lpstr>
      <vt:lpstr>Objetivo</vt:lpstr>
      <vt:lpstr>Temas iniciales involucrados</vt:lpstr>
      <vt:lpstr>Cronograma y materiales a utilizar</vt:lpstr>
      <vt:lpstr>Herramientas tecnológicas   SketchUp </vt:lpstr>
      <vt:lpstr>Excel </vt:lpstr>
      <vt:lpstr>GeoGebra </vt:lpstr>
      <vt:lpstr>Información de preguntas </vt:lpstr>
      <vt:lpstr>Presentación de PowerPoint</vt:lpstr>
      <vt:lpstr>Formulas a utilizar </vt:lpstr>
      <vt:lpstr>Formulas a utilizar </vt:lpstr>
      <vt:lpstr>Desarrollo del producto </vt:lpstr>
      <vt:lpstr>Presentación del producto </vt:lpstr>
      <vt:lpstr> Resultados y conclusiones </vt:lpstr>
      <vt:lpstr>Coevaluación </vt:lpstr>
      <vt:lpstr>Autoevaluación </vt:lpstr>
      <vt:lpstr>Autoevaluación </vt:lpstr>
      <vt:lpstr>Bibliografía y fuentes de la información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katherine chandia</dc:creator>
  <cp:lastModifiedBy>Microsoft Office User</cp:lastModifiedBy>
  <cp:revision>22</cp:revision>
  <dcterms:created xsi:type="dcterms:W3CDTF">2023-11-17T19:33:00Z</dcterms:created>
  <dcterms:modified xsi:type="dcterms:W3CDTF">2023-12-27T20:18:11Z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A9902B39CB374A829B817831A1D28709_12</vt:lpwstr>
  </property>
  <property fmtid="{D5CDD505-2E9C-101B-9397-08002B2CF9AE}" pid="3" name="KSOProductBuildVer">
    <vt:lpwstr>1033-12.2.0.13359</vt:lpwstr>
  </property>
</Properties>
</file>